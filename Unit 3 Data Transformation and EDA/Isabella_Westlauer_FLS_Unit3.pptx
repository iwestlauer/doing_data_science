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4" r:id="rId7"/>
    <p:sldId id="265" r:id="rId8"/>
    <p:sldId id="268" r:id="rId9"/>
    <p:sldId id="271" r:id="rId10"/>
    <p:sldId id="266" r:id="rId11"/>
    <p:sldId id="272" r:id="rId12"/>
    <p:sldId id="273" r:id="rId13"/>
    <p:sldId id="274" r:id="rId14"/>
    <p:sldId id="279" r:id="rId15"/>
    <p:sldId id="276" r:id="rId16"/>
    <p:sldId id="277" r:id="rId17"/>
    <p:sldId id="278" r:id="rId18"/>
    <p:sldId id="2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B164C65-F91C-4883-A894-30A7DD52B25B}">
          <p14:sldIdLst>
            <p14:sldId id="256"/>
          </p14:sldIdLst>
        </p14:section>
        <p14:section name="Part 1: FIFA Data Analysis" id="{D1E2292D-5733-4523-B6A7-9BF119F47C6B}">
          <p14:sldIdLst>
            <p14:sldId id="257"/>
            <p14:sldId id="258"/>
            <p14:sldId id="259"/>
            <p14:sldId id="260"/>
            <p14:sldId id="264"/>
            <p14:sldId id="265"/>
            <p14:sldId id="268"/>
            <p14:sldId id="271"/>
            <p14:sldId id="266"/>
            <p14:sldId id="272"/>
            <p14:sldId id="273"/>
            <p14:sldId id="274"/>
          </p14:sldIdLst>
        </p14:section>
        <p14:section name="Part 2: EDA" id="{6FE44A98-2417-4014-AEC9-7CDABEE21EEC}">
          <p14:sldIdLst>
            <p14:sldId id="279"/>
            <p14:sldId id="276"/>
            <p14:sldId id="277"/>
            <p14:sldId id="278"/>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938" autoAdjust="0"/>
  </p:normalViewPr>
  <p:slideViewPr>
    <p:cSldViewPr snapToGrid="0">
      <p:cViewPr varScale="1">
        <p:scale>
          <a:sx n="78" d="100"/>
          <a:sy n="78" d="100"/>
        </p:scale>
        <p:origin x="102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199F2-8DB7-4623-88AD-D4186A1496C8}" type="datetimeFigureOut">
              <a:rPr lang="en-US" smtClean="0"/>
              <a:t>3/8/2026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80138A-15AA-4055-86E4-F40AA218D62A}" type="slidenum">
              <a:rPr lang="en-US" smtClean="0"/>
              <a:t>‹#›</a:t>
            </a:fld>
            <a:endParaRPr lang="en-US"/>
          </a:p>
        </p:txBody>
      </p:sp>
    </p:spTree>
    <p:extLst>
      <p:ext uri="{BB962C8B-B14F-4D97-AF65-F5344CB8AC3E}">
        <p14:creationId xmlns:p14="http://schemas.microsoft.com/office/powerpoint/2010/main" val="348702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400" b="1" dirty="0"/>
              <a:t>Part 1: We would like to analyze the Left Midfielders (LM) versus the Left Forwards (LF). (Estimated / expected time: 2 – 4 hours and at least 2+ slides).</a:t>
            </a:r>
          </a:p>
          <a:p>
            <a:r>
              <a:rPr lang="en-US" sz="1200" dirty="0"/>
              <a:t>Using the FIFA player data set, filter the data set to create a </a:t>
            </a:r>
            <a:r>
              <a:rPr lang="en-US" sz="1200" dirty="0" err="1"/>
              <a:t>dataframe</a:t>
            </a:r>
            <a:r>
              <a:rPr lang="en-US" sz="1200" dirty="0"/>
              <a:t> that has just the Left Midfielders (LM) and Left Forwards (LF).</a:t>
            </a:r>
            <a:r>
              <a:rPr lang="en-US" sz="1400" dirty="0"/>
              <a:t>  </a:t>
            </a:r>
          </a:p>
          <a:p>
            <a:endParaRPr lang="en-US" sz="1800" dirty="0"/>
          </a:p>
          <a:p>
            <a:endParaRPr lang="en-US" dirty="0"/>
          </a:p>
          <a:p>
            <a:endParaRPr lang="en-US" dirty="0"/>
          </a:p>
        </p:txBody>
      </p:sp>
      <p:sp>
        <p:nvSpPr>
          <p:cNvPr id="4" name="Slide Number Placeholder 3"/>
          <p:cNvSpPr>
            <a:spLocks noGrp="1"/>
          </p:cNvSpPr>
          <p:nvPr>
            <p:ph type="sldNum" sz="quarter" idx="5"/>
          </p:nvPr>
        </p:nvSpPr>
        <p:spPr/>
        <p:txBody>
          <a:bodyPr/>
          <a:lstStyle/>
          <a:p>
            <a:fld id="{B980138A-15AA-4055-86E4-F40AA218D62A}" type="slidenum">
              <a:rPr lang="en-US" smtClean="0"/>
              <a:t>3</a:t>
            </a:fld>
            <a:endParaRPr lang="en-US"/>
          </a:p>
        </p:txBody>
      </p:sp>
    </p:spTree>
    <p:extLst>
      <p:ext uri="{BB962C8B-B14F-4D97-AF65-F5344CB8AC3E}">
        <p14:creationId xmlns:p14="http://schemas.microsoft.com/office/powerpoint/2010/main" val="27548774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Use </a:t>
            </a:r>
            <a:r>
              <a:rPr lang="en-US" sz="1200" dirty="0" err="1"/>
              <a:t>Ggally</a:t>
            </a:r>
            <a:r>
              <a:rPr lang="en-US" sz="1200" dirty="0"/>
              <a:t> and </a:t>
            </a:r>
            <a:r>
              <a:rPr lang="en-US" sz="1200" dirty="0" err="1"/>
              <a:t>ggpairs</a:t>
            </a:r>
            <a:r>
              <a:rPr lang="en-US" sz="1200" dirty="0"/>
              <a:t>() and the dataset you created above </a:t>
            </a:r>
            <a:r>
              <a:rPr lang="en-US" sz="1200" dirty="0" err="1"/>
              <a:t>above</a:t>
            </a:r>
            <a:r>
              <a:rPr lang="en-US" sz="1200" dirty="0"/>
              <a:t>, to plot the categorical variable Position (LM and LF), versus the continuous variables Acceleration and Agility.  </a:t>
            </a:r>
          </a:p>
          <a:p>
            <a:r>
              <a:rPr lang="en-US" sz="1200" dirty="0"/>
              <a:t>Given the plot above, what relationships do you see?  Comment on these.</a:t>
            </a:r>
          </a:p>
          <a:p>
            <a:endParaRPr lang="en-US" dirty="0"/>
          </a:p>
          <a:p>
            <a:r>
              <a:rPr lang="en-US" dirty="0"/>
              <a:t>Notice the long dotted tail on the box plots for LM</a:t>
            </a:r>
          </a:p>
          <a:p>
            <a:r>
              <a:rPr lang="en-US" dirty="0"/>
              <a:t>Positive trend on the scatterplot</a:t>
            </a:r>
          </a:p>
          <a:p>
            <a:r>
              <a:rPr lang="en-US" dirty="0"/>
              <a:t>Distribution hard to compare on the histogram between LF and LM because of varying sample sizes</a:t>
            </a:r>
          </a:p>
        </p:txBody>
      </p:sp>
      <p:sp>
        <p:nvSpPr>
          <p:cNvPr id="4" name="Slide Number Placeholder 3"/>
          <p:cNvSpPr>
            <a:spLocks noGrp="1"/>
          </p:cNvSpPr>
          <p:nvPr>
            <p:ph type="sldNum" sz="quarter" idx="5"/>
          </p:nvPr>
        </p:nvSpPr>
        <p:spPr/>
        <p:txBody>
          <a:bodyPr/>
          <a:lstStyle/>
          <a:p>
            <a:fld id="{B980138A-15AA-4055-86E4-F40AA218D62A}" type="slidenum">
              <a:rPr lang="en-US" smtClean="0"/>
              <a:t>4</a:t>
            </a:fld>
            <a:endParaRPr lang="en-US"/>
          </a:p>
        </p:txBody>
      </p:sp>
    </p:spTree>
    <p:extLst>
      <p:ext uri="{BB962C8B-B14F-4D97-AF65-F5344CB8AC3E}">
        <p14:creationId xmlns:p14="http://schemas.microsoft.com/office/powerpoint/2010/main" val="2954289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Your client would like to formally test if the mean agility rating of left midfielders is different than that of the left forwards.  </a:t>
            </a:r>
            <a:br>
              <a:rPr lang="en-US" sz="1200" dirty="0"/>
            </a:br>
            <a:br>
              <a:rPr lang="en-US" sz="1200" dirty="0"/>
            </a:br>
            <a:r>
              <a:rPr lang="en-US" sz="1200" dirty="0"/>
              <a:t>Perform a 6 – step t-test to test for the difference in these means.  (You may skip step 2 (draw and shade) if you like.  If you are unfamiliar with the 6-step hypothesis test, see Stat 1 slides or the Bridge Course to review the 6-step hypothesis test.)</a:t>
            </a:r>
          </a:p>
          <a:p>
            <a:endParaRPr lang="en-US" sz="1200" dirty="0"/>
          </a:p>
          <a:p>
            <a:endParaRPr lang="en-US" sz="1200" dirty="0"/>
          </a:p>
          <a:p>
            <a:pPr marL="457200" indent="-457200">
              <a:buAutoNum type="arabicPeriod"/>
            </a:pPr>
            <a:r>
              <a:rPr lang="en-US" dirty="0"/>
              <a:t>State the hypotheses (Null and Alternative)</a:t>
            </a:r>
          </a:p>
          <a:p>
            <a:pPr marL="914400" lvl="1" indent="-457200">
              <a:buAutoNum type="arabicPeriod"/>
            </a:pPr>
            <a:r>
              <a:rPr lang="en-US" dirty="0"/>
              <a:t>H0 : </a:t>
            </a:r>
            <a:r>
              <a:rPr lang="en-US" dirty="0" err="1"/>
              <a:t>AgilityLM</a:t>
            </a:r>
            <a:r>
              <a:rPr lang="en-US" dirty="0"/>
              <a:t> = </a:t>
            </a:r>
            <a:r>
              <a:rPr lang="en-US" dirty="0" err="1"/>
              <a:t>AgilityLF</a:t>
            </a:r>
            <a:r>
              <a:rPr lang="en-US" dirty="0"/>
              <a:t> (they have the same agility rating)</a:t>
            </a:r>
          </a:p>
          <a:p>
            <a:pPr marL="914400" lvl="1" indent="-457200">
              <a:buAutoNum type="arabicPeriod"/>
            </a:pPr>
            <a:r>
              <a:rPr lang="en-US" dirty="0"/>
              <a:t>Ha: </a:t>
            </a:r>
            <a:r>
              <a:rPr lang="en-US" dirty="0" err="1"/>
              <a:t>AgilityLM</a:t>
            </a:r>
            <a:r>
              <a:rPr lang="en-US" dirty="0"/>
              <a:t> != </a:t>
            </a:r>
            <a:r>
              <a:rPr lang="en-US" dirty="0" err="1"/>
              <a:t>AgilityLF</a:t>
            </a:r>
            <a:r>
              <a:rPr lang="en-US" dirty="0"/>
              <a:t> (they have different agility ratings)</a:t>
            </a:r>
          </a:p>
          <a:p>
            <a:pPr marL="457200" indent="-457200">
              <a:buAutoNum type="arabicPeriod"/>
            </a:pPr>
            <a:r>
              <a:rPr lang="en-US" dirty="0"/>
              <a:t>Critical value/ draw and shade default alpha is .05 – there a critical value plot in R studio?</a:t>
            </a:r>
          </a:p>
          <a:p>
            <a:pPr marL="457200" lvl="1" indent="0">
              <a:buNone/>
            </a:pPr>
            <a:r>
              <a:rPr lang="en-US" dirty="0"/>
              <a:t>	How do we know where to put those bars? The </a:t>
            </a:r>
            <a:r>
              <a:rPr lang="en-US" dirty="0" err="1"/>
              <a:t>xbar</a:t>
            </a:r>
            <a:r>
              <a:rPr lang="en-US" dirty="0"/>
              <a:t> is </a:t>
            </a:r>
            <a:r>
              <a:rPr lang="en-US" dirty="0" err="1"/>
              <a:t>agilitylm</a:t>
            </a:r>
            <a:r>
              <a:rPr lang="en-US" dirty="0"/>
              <a:t> – </a:t>
            </a:r>
            <a:r>
              <a:rPr lang="en-US" dirty="0" err="1"/>
              <a:t>agilitylf</a:t>
            </a:r>
            <a:endParaRPr lang="en-US" dirty="0"/>
          </a:p>
          <a:p>
            <a:pPr marL="457200" lvl="1" indent="0">
              <a:buNone/>
            </a:pPr>
            <a:r>
              <a:rPr lang="en-US" dirty="0"/>
              <a:t>	</a:t>
            </a:r>
          </a:p>
          <a:p>
            <a:pPr marL="457200" lvl="1" indent="0">
              <a:buNone/>
            </a:pPr>
            <a:r>
              <a:rPr lang="en-US" dirty="0"/>
              <a:t>	draw a curve and put the boundary on either side?</a:t>
            </a:r>
          </a:p>
          <a:p>
            <a:pPr marL="457200" lvl="1" indent="0">
              <a:buNone/>
            </a:pPr>
            <a:r>
              <a:rPr lang="en-US" dirty="0"/>
              <a:t>	assume </a:t>
            </a:r>
            <a:r>
              <a:rPr lang="en-US" dirty="0" err="1"/>
              <a:t>stdev</a:t>
            </a:r>
            <a:r>
              <a:rPr lang="en-US" dirty="0"/>
              <a:t> = 2? Every assumption adds more uncertainty. Find the </a:t>
            </a:r>
            <a:r>
              <a:rPr lang="en-US" dirty="0" err="1"/>
              <a:t>stdev</a:t>
            </a:r>
            <a:r>
              <a:rPr lang="en-US" dirty="0"/>
              <a:t> of each sample and use a pooled sigma</a:t>
            </a:r>
          </a:p>
          <a:p>
            <a:pPr marL="457200" lvl="1" indent="0">
              <a:buNone/>
            </a:pPr>
            <a:r>
              <a:rPr lang="en-US" dirty="0"/>
              <a:t>	z score is the number of </a:t>
            </a:r>
            <a:r>
              <a:rPr lang="en-US" dirty="0" err="1"/>
              <a:t>stdevs</a:t>
            </a:r>
            <a:r>
              <a:rPr lang="en-US" dirty="0"/>
              <a:t> away from the mean, z = (x-mu)/</a:t>
            </a:r>
            <a:r>
              <a:rPr lang="en-US" dirty="0" err="1"/>
              <a:t>stdev</a:t>
            </a:r>
            <a:endParaRPr lang="en-US" dirty="0"/>
          </a:p>
          <a:p>
            <a:pPr marL="457200" lvl="1" indent="0">
              <a:buNone/>
            </a:pPr>
            <a:endParaRPr lang="en-US" dirty="0"/>
          </a:p>
          <a:p>
            <a:pPr marL="457200" indent="-457200">
              <a:buAutoNum type="arabicPeriod"/>
            </a:pPr>
            <a:r>
              <a:rPr lang="en-US" dirty="0"/>
              <a:t>Choose test statistic, an approximation to the normal distribution, find </a:t>
            </a:r>
            <a:r>
              <a:rPr lang="en-US" dirty="0" err="1"/>
              <a:t>fmla</a:t>
            </a:r>
            <a:r>
              <a:rPr lang="en-US" dirty="0"/>
              <a:t> in bridge to stat</a:t>
            </a:r>
          </a:p>
          <a:p>
            <a:pPr marL="914400" lvl="1" indent="-457200">
              <a:buAutoNum type="arabicPeriod"/>
            </a:pPr>
            <a:r>
              <a:rPr lang="en-US" dirty="0"/>
              <a:t>From our data sample, the </a:t>
            </a:r>
            <a:r>
              <a:rPr lang="en-US" dirty="0" err="1"/>
              <a:t>fifa</a:t>
            </a:r>
            <a:r>
              <a:rPr lang="en-US" dirty="0"/>
              <a:t> dataset, the Mean agility of LM = ___ and the mean agility of LF = ____</a:t>
            </a:r>
          </a:p>
          <a:p>
            <a:pPr marL="914400" lvl="1" indent="-457200">
              <a:buAutoNum type="arabicPeriod"/>
            </a:pPr>
            <a:r>
              <a:rPr lang="en-US" dirty="0"/>
              <a:t>How do I choose test statistic for a two-sample t-test?   Use the formula</a:t>
            </a:r>
          </a:p>
          <a:p>
            <a:pPr marL="1371600" lvl="2" indent="-457200">
              <a:buAutoNum type="arabicPeriod"/>
            </a:pPr>
            <a:r>
              <a:rPr lang="en-US" dirty="0" err="1"/>
              <a:t>Stdev</a:t>
            </a:r>
            <a:r>
              <a:rPr lang="en-US" dirty="0"/>
              <a:t>(</a:t>
            </a:r>
            <a:r>
              <a:rPr lang="en-US" dirty="0" err="1"/>
              <a:t>lm</a:t>
            </a:r>
            <a:r>
              <a:rPr lang="en-US" dirty="0"/>
              <a:t>) – </a:t>
            </a:r>
            <a:r>
              <a:rPr lang="en-US" dirty="0" err="1"/>
              <a:t>stdev</a:t>
            </a:r>
            <a:r>
              <a:rPr lang="en-US" dirty="0"/>
              <a:t>(</a:t>
            </a:r>
            <a:r>
              <a:rPr lang="en-US" dirty="0" err="1"/>
              <a:t>lf</a:t>
            </a:r>
            <a:r>
              <a:rPr lang="en-US" dirty="0"/>
              <a:t>) assume they are equal for the test, pool them together, using the weighted equation (see the </a:t>
            </a:r>
            <a:r>
              <a:rPr lang="en-US" dirty="0" err="1"/>
              <a:t>png</a:t>
            </a:r>
            <a:r>
              <a:rPr lang="en-US" dirty="0"/>
              <a:t>)</a:t>
            </a:r>
          </a:p>
          <a:p>
            <a:pPr marL="1371600" lvl="2" indent="-457200">
              <a:buAutoNum type="arabicPeriod"/>
            </a:pPr>
            <a:r>
              <a:rPr lang="en-US" dirty="0"/>
              <a:t>n(</a:t>
            </a:r>
            <a:r>
              <a:rPr lang="en-US" dirty="0" err="1"/>
              <a:t>lm</a:t>
            </a:r>
            <a:r>
              <a:rPr lang="en-US" dirty="0"/>
              <a:t>) – n(</a:t>
            </a:r>
            <a:r>
              <a:rPr lang="en-US" dirty="0" err="1"/>
              <a:t>lf</a:t>
            </a:r>
            <a:r>
              <a:rPr lang="en-US" dirty="0"/>
              <a:t>)       </a:t>
            </a:r>
          </a:p>
          <a:p>
            <a:pPr marL="914400" lvl="1" indent="-457200">
              <a:buAutoNum type="arabicPeriod"/>
            </a:pPr>
            <a:r>
              <a:rPr lang="en-US" dirty="0"/>
              <a:t>The t stat is the number of </a:t>
            </a:r>
            <a:r>
              <a:rPr lang="en-US" dirty="0" err="1"/>
              <a:t>stdev</a:t>
            </a:r>
            <a:r>
              <a:rPr lang="en-US" dirty="0"/>
              <a:t> our evidence is from 0</a:t>
            </a:r>
          </a:p>
          <a:p>
            <a:pPr marL="457200" indent="-457200">
              <a:buAutoNum type="arabicPeriod"/>
            </a:pPr>
            <a:r>
              <a:rPr lang="en-US" dirty="0"/>
              <a:t>P Value</a:t>
            </a:r>
          </a:p>
          <a:p>
            <a:pPr marL="914400" lvl="1" indent="-457200">
              <a:buAutoNum type="arabicPeriod"/>
            </a:pPr>
            <a:r>
              <a:rPr lang="en-US" dirty="0"/>
              <a:t>What is the likelihood that our sample would show Ha, if H0 were true?</a:t>
            </a:r>
          </a:p>
          <a:p>
            <a:pPr marL="914400" lvl="1" indent="-457200">
              <a:buAutoNum type="arabicPeriod"/>
            </a:pPr>
            <a:r>
              <a:rPr lang="en-US" dirty="0"/>
              <a:t>How do we calculate the p value? The area under the curve beyond the </a:t>
            </a:r>
            <a:r>
              <a:rPr lang="en-US" dirty="0" err="1"/>
              <a:t>tstat</a:t>
            </a:r>
            <a:r>
              <a:rPr lang="en-US" dirty="0"/>
              <a:t>. The calculation is integration by parts, or a table lookup based on T score.  Use an R function to calculate it?</a:t>
            </a:r>
          </a:p>
          <a:p>
            <a:pPr marL="914400" lvl="1" indent="-457200">
              <a:buAutoNum type="arabicPeriod"/>
            </a:pPr>
            <a:r>
              <a:rPr lang="en-US" dirty="0"/>
              <a:t>Run </a:t>
            </a:r>
            <a:r>
              <a:rPr lang="en-US" dirty="0" err="1"/>
              <a:t>t.test</a:t>
            </a:r>
            <a:r>
              <a:rPr lang="en-US" dirty="0"/>
              <a:t> in r</a:t>
            </a:r>
          </a:p>
          <a:p>
            <a:pPr marL="914400" lvl="1" indent="-457200">
              <a:buAutoNum type="arabicPeriod"/>
            </a:pPr>
            <a:r>
              <a:rPr lang="en-US" dirty="0"/>
              <a:t>Look up welch two-sample t-test</a:t>
            </a:r>
          </a:p>
          <a:p>
            <a:pPr marL="457200" indent="-457200">
              <a:buAutoNum type="arabicPeriod"/>
            </a:pPr>
            <a:r>
              <a:rPr lang="en-US" dirty="0"/>
              <a:t>Decision</a:t>
            </a:r>
          </a:p>
          <a:p>
            <a:pPr marL="914400" lvl="1" indent="-457200">
              <a:buAutoNum type="arabicPeriod"/>
            </a:pPr>
            <a:endParaRPr lang="en-US" dirty="0"/>
          </a:p>
          <a:p>
            <a:pPr marL="457200" indent="-457200">
              <a:buAutoNum type="arabicPeriod"/>
            </a:pPr>
            <a:r>
              <a:rPr lang="en-US" dirty="0"/>
              <a:t>Conclusion in client language</a:t>
            </a:r>
          </a:p>
          <a:p>
            <a:endParaRPr lang="en-US" dirty="0"/>
          </a:p>
          <a:p>
            <a:br>
              <a:rPr lang="en-US" sz="1200" dirty="0"/>
            </a:br>
            <a:endParaRPr lang="en-US" sz="1200" dirty="0"/>
          </a:p>
          <a:p>
            <a:r>
              <a:rPr lang="en-US" sz="1200" dirty="0"/>
              <a:t>Are the assumptions of this test reasonably met</a:t>
            </a:r>
            <a:r>
              <a:rPr lang="en-US" sz="1200" b="1" dirty="0"/>
              <a:t>?  If you have not had Stat 1</a:t>
            </a:r>
            <a:r>
              <a:rPr lang="en-US" sz="1200" dirty="0"/>
              <a:t>, simply create a histogram of the agility scores for both groups (LM and LF) and given what you know about the CLT, comment on if you believe the sampling distribution of sample means (of your sample size) will be reasonably normal.  In addition, does there look like there is significant visual evidence to suggest the standard deviations are different? ….. </a:t>
            </a:r>
            <a:br>
              <a:rPr lang="en-US" sz="1200" dirty="0"/>
            </a:br>
            <a:br>
              <a:rPr lang="en-US" sz="1200" dirty="0"/>
            </a:br>
            <a:r>
              <a:rPr lang="en-US" sz="1200" b="1" dirty="0"/>
              <a:t>If you have had Stat 1</a:t>
            </a:r>
            <a:r>
              <a:rPr lang="en-US" sz="1200" dirty="0"/>
              <a:t>, create the plots listed above (and any other plots you might prefer) and be prepared to be a teacher and teach what you know about the assumptions of the t-test and if those are assumption are reasonably met here.</a:t>
            </a:r>
          </a:p>
          <a:p>
            <a:endParaRPr lang="en-US" dirty="0"/>
          </a:p>
        </p:txBody>
      </p:sp>
      <p:sp>
        <p:nvSpPr>
          <p:cNvPr id="4" name="Slide Number Placeholder 3"/>
          <p:cNvSpPr>
            <a:spLocks noGrp="1"/>
          </p:cNvSpPr>
          <p:nvPr>
            <p:ph type="sldNum" sz="quarter" idx="5"/>
          </p:nvPr>
        </p:nvSpPr>
        <p:spPr/>
        <p:txBody>
          <a:bodyPr/>
          <a:lstStyle/>
          <a:p>
            <a:fld id="{B980138A-15AA-4055-86E4-F40AA218D62A}" type="slidenum">
              <a:rPr lang="en-US" smtClean="0"/>
              <a:t>5</a:t>
            </a:fld>
            <a:endParaRPr lang="en-US"/>
          </a:p>
        </p:txBody>
      </p:sp>
    </p:spTree>
    <p:extLst>
      <p:ext uri="{BB962C8B-B14F-4D97-AF65-F5344CB8AC3E}">
        <p14:creationId xmlns:p14="http://schemas.microsoft.com/office/powerpoint/2010/main" val="4131471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 alpha, the significance level is 0.05</a:t>
            </a:r>
          </a:p>
          <a:p>
            <a:r>
              <a:rPr lang="en-US" dirty="0"/>
              <a:t>The shaded area on the right side is alpha/2 = 0.025, as on the left side</a:t>
            </a:r>
          </a:p>
        </p:txBody>
      </p:sp>
      <p:sp>
        <p:nvSpPr>
          <p:cNvPr id="4" name="Slide Number Placeholder 3"/>
          <p:cNvSpPr>
            <a:spLocks noGrp="1"/>
          </p:cNvSpPr>
          <p:nvPr>
            <p:ph type="sldNum" sz="quarter" idx="5"/>
          </p:nvPr>
        </p:nvSpPr>
        <p:spPr/>
        <p:txBody>
          <a:bodyPr/>
          <a:lstStyle/>
          <a:p>
            <a:fld id="{B980138A-15AA-4055-86E4-F40AA218D62A}" type="slidenum">
              <a:rPr lang="en-US" smtClean="0"/>
              <a:t>7</a:t>
            </a:fld>
            <a:endParaRPr lang="en-US"/>
          </a:p>
        </p:txBody>
      </p:sp>
    </p:spTree>
    <p:extLst>
      <p:ext uri="{BB962C8B-B14F-4D97-AF65-F5344CB8AC3E}">
        <p14:creationId xmlns:p14="http://schemas.microsoft.com/office/powerpoint/2010/main" val="2645942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80138A-15AA-4055-86E4-F40AA218D62A}" type="slidenum">
              <a:rPr lang="en-US" smtClean="0"/>
              <a:t>8</a:t>
            </a:fld>
            <a:endParaRPr lang="en-US"/>
          </a:p>
        </p:txBody>
      </p:sp>
    </p:spTree>
    <p:extLst>
      <p:ext uri="{BB962C8B-B14F-4D97-AF65-F5344CB8AC3E}">
        <p14:creationId xmlns:p14="http://schemas.microsoft.com/office/powerpoint/2010/main" val="394512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FEBFF-49CF-74AC-2061-F72BA466AD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2D64A5-61E7-98AB-4DF2-4AF3ABF198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B8CA67-94D9-ABFD-51E2-BFCE9CCBC3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F37DEA-EC5B-4BC9-3F85-A31DAF236820}"/>
              </a:ext>
            </a:extLst>
          </p:cNvPr>
          <p:cNvSpPr>
            <a:spLocks noGrp="1"/>
          </p:cNvSpPr>
          <p:nvPr>
            <p:ph type="sldNum" sz="quarter" idx="5"/>
          </p:nvPr>
        </p:nvSpPr>
        <p:spPr/>
        <p:txBody>
          <a:bodyPr/>
          <a:lstStyle/>
          <a:p>
            <a:fld id="{B980138A-15AA-4055-86E4-F40AA218D62A}" type="slidenum">
              <a:rPr lang="en-US" smtClean="0"/>
              <a:t>9</a:t>
            </a:fld>
            <a:endParaRPr lang="en-US"/>
          </a:p>
        </p:txBody>
      </p:sp>
    </p:spTree>
    <p:extLst>
      <p:ext uri="{BB962C8B-B14F-4D97-AF65-F5344CB8AC3E}">
        <p14:creationId xmlns:p14="http://schemas.microsoft.com/office/powerpoint/2010/main" val="2135443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Are the assumptions of this test reasonably met</a:t>
            </a:r>
            <a:r>
              <a:rPr lang="en-US" b="1" dirty="0"/>
              <a:t>?  If you have not had Stat 1</a:t>
            </a:r>
            <a:r>
              <a:rPr lang="en-US" dirty="0"/>
              <a:t>, simply create a histogram of the agility scores for both groups (LM and LF) and given what you know about the CLT, comment on if you believe the sampling distribution of sample means (of your sample size) will be reasonably normal.  In addition, does there look like there is significant visual evidence to suggest the standard deviations are different? …..</a:t>
            </a:r>
          </a:p>
          <a:p>
            <a:endParaRPr lang="en-US" dirty="0"/>
          </a:p>
        </p:txBody>
      </p:sp>
      <p:sp>
        <p:nvSpPr>
          <p:cNvPr id="4" name="Slide Number Placeholder 3"/>
          <p:cNvSpPr>
            <a:spLocks noGrp="1"/>
          </p:cNvSpPr>
          <p:nvPr>
            <p:ph type="sldNum" sz="quarter" idx="5"/>
          </p:nvPr>
        </p:nvSpPr>
        <p:spPr/>
        <p:txBody>
          <a:bodyPr/>
          <a:lstStyle/>
          <a:p>
            <a:fld id="{B980138A-15AA-4055-86E4-F40AA218D62A}" type="slidenum">
              <a:rPr lang="en-US" smtClean="0"/>
              <a:t>13</a:t>
            </a:fld>
            <a:endParaRPr lang="en-US"/>
          </a:p>
        </p:txBody>
      </p:sp>
    </p:spTree>
    <p:extLst>
      <p:ext uri="{BB962C8B-B14F-4D97-AF65-F5344CB8AC3E}">
        <p14:creationId xmlns:p14="http://schemas.microsoft.com/office/powerpoint/2010/main" val="1038043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400" b="1" dirty="0"/>
              <a:t>Part 2: (Estimated / expected time 3-5 hours and at least 3+ slides) </a:t>
            </a:r>
          </a:p>
          <a:p>
            <a:pPr marL="0" indent="0">
              <a:buNone/>
            </a:pPr>
            <a:r>
              <a:rPr lang="en-US" sz="1400" dirty="0"/>
              <a:t>Select/create at least 2 categorical variables and select two continuous variables and perform an EDA.  </a:t>
            </a:r>
            <a:r>
              <a:rPr lang="en-US" sz="1400" i="1" dirty="0"/>
              <a:t>Also, at least one of the categorical variables should be created from a continuous variable (using the cut() function). </a:t>
            </a:r>
            <a:r>
              <a:rPr lang="en-US" sz="1400" dirty="0"/>
              <a:t>  </a:t>
            </a:r>
          </a:p>
          <a:p>
            <a:pPr marL="0" indent="0">
              <a:buNone/>
            </a:pPr>
            <a:endParaRPr lang="en-US" sz="1400" dirty="0"/>
          </a:p>
          <a:p>
            <a:r>
              <a:rPr lang="en-US" sz="1200" dirty="0"/>
              <a:t>Use these variables to explore the data and tell a story of what you discovered similar to what was shown in the </a:t>
            </a:r>
            <a:r>
              <a:rPr lang="en-US" sz="1200" dirty="0" err="1"/>
              <a:t>asynch</a:t>
            </a:r>
            <a:r>
              <a:rPr lang="en-US" sz="1200" dirty="0"/>
              <a:t> videos.  You do not need to go so far as to use linear regression, but let your curiosity guide you along the way and feel free to use methods you are familiar with that are appropriate to answering those questions. Your evidence could be purely visual or could include additional methods, it is up to you… just do your best and have fun!</a:t>
            </a:r>
          </a:p>
          <a:p>
            <a:endParaRPr lang="en-US" dirty="0"/>
          </a:p>
        </p:txBody>
      </p:sp>
      <p:sp>
        <p:nvSpPr>
          <p:cNvPr id="4" name="Slide Number Placeholder 3"/>
          <p:cNvSpPr>
            <a:spLocks noGrp="1"/>
          </p:cNvSpPr>
          <p:nvPr>
            <p:ph type="sldNum" sz="quarter" idx="5"/>
          </p:nvPr>
        </p:nvSpPr>
        <p:spPr/>
        <p:txBody>
          <a:bodyPr/>
          <a:lstStyle/>
          <a:p>
            <a:fld id="{B980138A-15AA-4055-86E4-F40AA218D62A}" type="slidenum">
              <a:rPr lang="en-US" smtClean="0"/>
              <a:t>15</a:t>
            </a:fld>
            <a:endParaRPr lang="en-US"/>
          </a:p>
        </p:txBody>
      </p:sp>
    </p:spTree>
    <p:extLst>
      <p:ext uri="{BB962C8B-B14F-4D97-AF65-F5344CB8AC3E}">
        <p14:creationId xmlns:p14="http://schemas.microsoft.com/office/powerpoint/2010/main" val="2430697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308E1-4487-CBD3-8273-AA92407952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39E384-471D-81DB-3CAC-585C068B42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17AF21-579D-05C6-696E-DF196E253FD3}"/>
              </a:ext>
            </a:extLst>
          </p:cNvPr>
          <p:cNvSpPr>
            <a:spLocks noGrp="1"/>
          </p:cNvSpPr>
          <p:nvPr>
            <p:ph type="dt" sz="half" idx="10"/>
          </p:nvPr>
        </p:nvSpPr>
        <p:spPr/>
        <p:txBody>
          <a:bodyPr/>
          <a:lstStyle/>
          <a:p>
            <a:fld id="{A095E84C-799E-434B-B555-A2CE91254D07}" type="datetimeFigureOut">
              <a:rPr lang="en-US" smtClean="0"/>
              <a:t>3/8/2026</a:t>
            </a:fld>
            <a:endParaRPr lang="en-US"/>
          </a:p>
        </p:txBody>
      </p:sp>
      <p:sp>
        <p:nvSpPr>
          <p:cNvPr id="5" name="Footer Placeholder 4">
            <a:extLst>
              <a:ext uri="{FF2B5EF4-FFF2-40B4-BE49-F238E27FC236}">
                <a16:creationId xmlns:a16="http://schemas.microsoft.com/office/drawing/2014/main" id="{ECE01432-4C35-4B32-DE7F-50844EB56F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377180-6C71-8EBF-1746-E7C25C5BB19A}"/>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2605335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03186-2B31-777D-2A51-C827E095E5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42BA81-D157-DD1C-4027-6B5FB3AC65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8F64A7-D23D-D2DF-E424-73A1D2C02F2B}"/>
              </a:ext>
            </a:extLst>
          </p:cNvPr>
          <p:cNvSpPr>
            <a:spLocks noGrp="1"/>
          </p:cNvSpPr>
          <p:nvPr>
            <p:ph type="dt" sz="half" idx="10"/>
          </p:nvPr>
        </p:nvSpPr>
        <p:spPr/>
        <p:txBody>
          <a:bodyPr/>
          <a:lstStyle/>
          <a:p>
            <a:fld id="{A095E84C-799E-434B-B555-A2CE91254D07}" type="datetimeFigureOut">
              <a:rPr lang="en-US" smtClean="0"/>
              <a:t>3/8/2026</a:t>
            </a:fld>
            <a:endParaRPr lang="en-US"/>
          </a:p>
        </p:txBody>
      </p:sp>
      <p:sp>
        <p:nvSpPr>
          <p:cNvPr id="5" name="Footer Placeholder 4">
            <a:extLst>
              <a:ext uri="{FF2B5EF4-FFF2-40B4-BE49-F238E27FC236}">
                <a16:creationId xmlns:a16="http://schemas.microsoft.com/office/drawing/2014/main" id="{A15919B2-98CA-F9C7-796C-0FE573B4E5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C1EB07-8F2E-69CC-980B-0AB76B935B0B}"/>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4038915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6ADA4-C327-CEF9-CED3-D308EE5D40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8DA563-2788-11E5-0455-BD523A4780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78FC07-7B29-BCF2-58F0-61BF2720D938}"/>
              </a:ext>
            </a:extLst>
          </p:cNvPr>
          <p:cNvSpPr>
            <a:spLocks noGrp="1"/>
          </p:cNvSpPr>
          <p:nvPr>
            <p:ph type="dt" sz="half" idx="10"/>
          </p:nvPr>
        </p:nvSpPr>
        <p:spPr/>
        <p:txBody>
          <a:bodyPr/>
          <a:lstStyle/>
          <a:p>
            <a:fld id="{A095E84C-799E-434B-B555-A2CE91254D07}" type="datetimeFigureOut">
              <a:rPr lang="en-US" smtClean="0"/>
              <a:t>3/8/2026</a:t>
            </a:fld>
            <a:endParaRPr lang="en-US"/>
          </a:p>
        </p:txBody>
      </p:sp>
      <p:sp>
        <p:nvSpPr>
          <p:cNvPr id="5" name="Footer Placeholder 4">
            <a:extLst>
              <a:ext uri="{FF2B5EF4-FFF2-40B4-BE49-F238E27FC236}">
                <a16:creationId xmlns:a16="http://schemas.microsoft.com/office/drawing/2014/main" id="{9236A549-E42A-C3B5-B30F-133D483F86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A0B446-ED95-FB7E-B183-8FFEDBB5A787}"/>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1140884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E3CE-7F4B-6C85-7B7C-900C84146D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96F095-E1EA-7DAA-1E4D-0FAE1150B6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8710F1-834F-C4E4-5D8E-EF0F71EBF7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2F9F2F-75DD-759C-B002-695EC992957E}"/>
              </a:ext>
            </a:extLst>
          </p:cNvPr>
          <p:cNvSpPr>
            <a:spLocks noGrp="1"/>
          </p:cNvSpPr>
          <p:nvPr>
            <p:ph type="dt" sz="half" idx="10"/>
          </p:nvPr>
        </p:nvSpPr>
        <p:spPr/>
        <p:txBody>
          <a:bodyPr/>
          <a:lstStyle/>
          <a:p>
            <a:fld id="{A095E84C-799E-434B-B555-A2CE91254D07}" type="datetimeFigureOut">
              <a:rPr lang="en-US" smtClean="0"/>
              <a:t>3/8/2026</a:t>
            </a:fld>
            <a:endParaRPr lang="en-US"/>
          </a:p>
        </p:txBody>
      </p:sp>
      <p:sp>
        <p:nvSpPr>
          <p:cNvPr id="6" name="Footer Placeholder 5">
            <a:extLst>
              <a:ext uri="{FF2B5EF4-FFF2-40B4-BE49-F238E27FC236}">
                <a16:creationId xmlns:a16="http://schemas.microsoft.com/office/drawing/2014/main" id="{CC0D5E17-E843-6522-94EF-25EBF682EB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038B0B-4B88-D60D-CD96-14D70EDE005A}"/>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720775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D6FA0-A6AD-047B-1F15-1717E6B231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BFA40C-3AE5-39FC-5308-381D77840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942D25-99D3-E218-530A-1F48DB05E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CC40B0-8675-DF1C-6E63-8E6A2DCAA8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65A5EB-F73F-43D8-A169-4367541CF2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E81735-6BDF-9FAF-CA63-3BB68D81414D}"/>
              </a:ext>
            </a:extLst>
          </p:cNvPr>
          <p:cNvSpPr>
            <a:spLocks noGrp="1"/>
          </p:cNvSpPr>
          <p:nvPr>
            <p:ph type="dt" sz="half" idx="10"/>
          </p:nvPr>
        </p:nvSpPr>
        <p:spPr/>
        <p:txBody>
          <a:bodyPr/>
          <a:lstStyle/>
          <a:p>
            <a:fld id="{A095E84C-799E-434B-B555-A2CE91254D07}" type="datetimeFigureOut">
              <a:rPr lang="en-US" smtClean="0"/>
              <a:t>3/8/2026</a:t>
            </a:fld>
            <a:endParaRPr lang="en-US"/>
          </a:p>
        </p:txBody>
      </p:sp>
      <p:sp>
        <p:nvSpPr>
          <p:cNvPr id="8" name="Footer Placeholder 7">
            <a:extLst>
              <a:ext uri="{FF2B5EF4-FFF2-40B4-BE49-F238E27FC236}">
                <a16:creationId xmlns:a16="http://schemas.microsoft.com/office/drawing/2014/main" id="{AC872F2E-7795-E7B4-B761-DFBC816340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4CDA64-D9E2-74B7-D6A0-C68020296B08}"/>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119085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2995E-55CA-B927-1FF1-5BE5501341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DC5299-4998-A183-44F8-76E4DE39CA96}"/>
              </a:ext>
            </a:extLst>
          </p:cNvPr>
          <p:cNvSpPr>
            <a:spLocks noGrp="1"/>
          </p:cNvSpPr>
          <p:nvPr>
            <p:ph type="dt" sz="half" idx="10"/>
          </p:nvPr>
        </p:nvSpPr>
        <p:spPr/>
        <p:txBody>
          <a:bodyPr/>
          <a:lstStyle/>
          <a:p>
            <a:fld id="{A095E84C-799E-434B-B555-A2CE91254D07}" type="datetimeFigureOut">
              <a:rPr lang="en-US" smtClean="0"/>
              <a:t>3/8/2026</a:t>
            </a:fld>
            <a:endParaRPr lang="en-US"/>
          </a:p>
        </p:txBody>
      </p:sp>
      <p:sp>
        <p:nvSpPr>
          <p:cNvPr id="4" name="Footer Placeholder 3">
            <a:extLst>
              <a:ext uri="{FF2B5EF4-FFF2-40B4-BE49-F238E27FC236}">
                <a16:creationId xmlns:a16="http://schemas.microsoft.com/office/drawing/2014/main" id="{23EA15D3-33F7-CF6F-F2CF-6C55DAB575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0BC562-E8A2-36B0-7FCA-710B49ADB420}"/>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4258964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6E3E9D-394F-138E-3034-50978BEF8EE4}"/>
              </a:ext>
            </a:extLst>
          </p:cNvPr>
          <p:cNvSpPr>
            <a:spLocks noGrp="1"/>
          </p:cNvSpPr>
          <p:nvPr>
            <p:ph type="dt" sz="half" idx="10"/>
          </p:nvPr>
        </p:nvSpPr>
        <p:spPr/>
        <p:txBody>
          <a:bodyPr/>
          <a:lstStyle/>
          <a:p>
            <a:fld id="{A095E84C-799E-434B-B555-A2CE91254D07}" type="datetimeFigureOut">
              <a:rPr lang="en-US" smtClean="0"/>
              <a:t>3/8/2026</a:t>
            </a:fld>
            <a:endParaRPr lang="en-US"/>
          </a:p>
        </p:txBody>
      </p:sp>
      <p:sp>
        <p:nvSpPr>
          <p:cNvPr id="3" name="Footer Placeholder 2">
            <a:extLst>
              <a:ext uri="{FF2B5EF4-FFF2-40B4-BE49-F238E27FC236}">
                <a16:creationId xmlns:a16="http://schemas.microsoft.com/office/drawing/2014/main" id="{738DF2E2-5EBA-FBE3-4EC2-362AD1FF8A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380CB4-8FAB-23F4-CD87-4847D621A63C}"/>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1344319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50F4B-D679-4806-E5B9-C87407D77B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087B31-9883-397A-5CC6-4688044DC7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7C128C-516F-A2BA-4A75-8C11F0A4D9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D7966B-2A53-BA3F-2FA8-9852555D800C}"/>
              </a:ext>
            </a:extLst>
          </p:cNvPr>
          <p:cNvSpPr>
            <a:spLocks noGrp="1"/>
          </p:cNvSpPr>
          <p:nvPr>
            <p:ph type="dt" sz="half" idx="10"/>
          </p:nvPr>
        </p:nvSpPr>
        <p:spPr/>
        <p:txBody>
          <a:bodyPr/>
          <a:lstStyle/>
          <a:p>
            <a:fld id="{A095E84C-799E-434B-B555-A2CE91254D07}" type="datetimeFigureOut">
              <a:rPr lang="en-US" smtClean="0"/>
              <a:t>3/8/2026</a:t>
            </a:fld>
            <a:endParaRPr lang="en-US"/>
          </a:p>
        </p:txBody>
      </p:sp>
      <p:sp>
        <p:nvSpPr>
          <p:cNvPr id="6" name="Footer Placeholder 5">
            <a:extLst>
              <a:ext uri="{FF2B5EF4-FFF2-40B4-BE49-F238E27FC236}">
                <a16:creationId xmlns:a16="http://schemas.microsoft.com/office/drawing/2014/main" id="{998A9909-6A54-AA30-06A2-9F060B2DDF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EB308E-F54D-6910-F906-1280170EB587}"/>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927077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EE04F-B783-28B2-D43C-501226190C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F80EC0-86ED-D2CB-7C8E-9424373F2A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B90542-E046-D6A5-EC55-09663DD846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D56EB7-A784-558B-B63C-B1626C893D86}"/>
              </a:ext>
            </a:extLst>
          </p:cNvPr>
          <p:cNvSpPr>
            <a:spLocks noGrp="1"/>
          </p:cNvSpPr>
          <p:nvPr>
            <p:ph type="dt" sz="half" idx="10"/>
          </p:nvPr>
        </p:nvSpPr>
        <p:spPr/>
        <p:txBody>
          <a:bodyPr/>
          <a:lstStyle/>
          <a:p>
            <a:fld id="{A095E84C-799E-434B-B555-A2CE91254D07}" type="datetimeFigureOut">
              <a:rPr lang="en-US" smtClean="0"/>
              <a:t>3/8/2026</a:t>
            </a:fld>
            <a:endParaRPr lang="en-US"/>
          </a:p>
        </p:txBody>
      </p:sp>
      <p:sp>
        <p:nvSpPr>
          <p:cNvPr id="6" name="Footer Placeholder 5">
            <a:extLst>
              <a:ext uri="{FF2B5EF4-FFF2-40B4-BE49-F238E27FC236}">
                <a16:creationId xmlns:a16="http://schemas.microsoft.com/office/drawing/2014/main" id="{9B7197DC-60BC-865E-B2A4-F9D051F2C8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2A1B62-8D8D-6F5D-5203-3AB5177036CE}"/>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247925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1963A-1AC8-540F-A4F8-84983BD9F6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7C2F5B-2AE0-8C9D-1884-B27B07E2AD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C76CAB-F7FC-1D04-90E2-8C936FC8C72E}"/>
              </a:ext>
            </a:extLst>
          </p:cNvPr>
          <p:cNvSpPr>
            <a:spLocks noGrp="1"/>
          </p:cNvSpPr>
          <p:nvPr>
            <p:ph type="dt" sz="half" idx="10"/>
          </p:nvPr>
        </p:nvSpPr>
        <p:spPr/>
        <p:txBody>
          <a:bodyPr/>
          <a:lstStyle/>
          <a:p>
            <a:fld id="{A095E84C-799E-434B-B555-A2CE91254D07}" type="datetimeFigureOut">
              <a:rPr lang="en-US" smtClean="0"/>
              <a:t>3/8/2026</a:t>
            </a:fld>
            <a:endParaRPr lang="en-US"/>
          </a:p>
        </p:txBody>
      </p:sp>
      <p:sp>
        <p:nvSpPr>
          <p:cNvPr id="5" name="Footer Placeholder 4">
            <a:extLst>
              <a:ext uri="{FF2B5EF4-FFF2-40B4-BE49-F238E27FC236}">
                <a16:creationId xmlns:a16="http://schemas.microsoft.com/office/drawing/2014/main" id="{AE3CF53C-93EB-03F8-680F-5923D6C168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28CA3C-B0B1-8680-C180-DBD9FF19D3D3}"/>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774372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834398-6BAE-A05C-3C0F-133E3D7104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06DF5D-53A3-2411-FA1E-ABC16C270F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94B064-1F56-3165-08CC-E2D4086C80EB}"/>
              </a:ext>
            </a:extLst>
          </p:cNvPr>
          <p:cNvSpPr>
            <a:spLocks noGrp="1"/>
          </p:cNvSpPr>
          <p:nvPr>
            <p:ph type="dt" sz="half" idx="10"/>
          </p:nvPr>
        </p:nvSpPr>
        <p:spPr/>
        <p:txBody>
          <a:bodyPr/>
          <a:lstStyle/>
          <a:p>
            <a:fld id="{A095E84C-799E-434B-B555-A2CE91254D07}" type="datetimeFigureOut">
              <a:rPr lang="en-US" smtClean="0"/>
              <a:t>3/8/2026</a:t>
            </a:fld>
            <a:endParaRPr lang="en-US"/>
          </a:p>
        </p:txBody>
      </p:sp>
      <p:sp>
        <p:nvSpPr>
          <p:cNvPr id="5" name="Footer Placeholder 4">
            <a:extLst>
              <a:ext uri="{FF2B5EF4-FFF2-40B4-BE49-F238E27FC236}">
                <a16:creationId xmlns:a16="http://schemas.microsoft.com/office/drawing/2014/main" id="{9DA3E57F-B3C9-3F4E-765F-CEA04B84AF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BBCBD3-DD10-22B1-99C8-86C02B6C80D8}"/>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1164278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596CD0-2B46-8B9D-F2A1-D843A6D083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C9E834-A0CE-4A1D-D2BA-B8D3A1EFE7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D539A5-42B7-50EA-D013-1914F482E2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95E84C-799E-434B-B555-A2CE91254D07}" type="datetimeFigureOut">
              <a:rPr lang="en-US" smtClean="0"/>
              <a:t>3/8/2026</a:t>
            </a:fld>
            <a:endParaRPr lang="en-US"/>
          </a:p>
        </p:txBody>
      </p:sp>
      <p:sp>
        <p:nvSpPr>
          <p:cNvPr id="5" name="Footer Placeholder 4">
            <a:extLst>
              <a:ext uri="{FF2B5EF4-FFF2-40B4-BE49-F238E27FC236}">
                <a16:creationId xmlns:a16="http://schemas.microsoft.com/office/drawing/2014/main" id="{36CCD56E-5957-AD9F-7F83-D432AB4A4A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D761CFA-3AD2-14EE-2F5D-06968474C8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AB500F-868A-4BEF-936A-CD95339AAD41}" type="slidenum">
              <a:rPr lang="en-US" smtClean="0"/>
              <a:t>‹#›</a:t>
            </a:fld>
            <a:endParaRPr lang="en-US"/>
          </a:p>
        </p:txBody>
      </p:sp>
    </p:spTree>
    <p:extLst>
      <p:ext uri="{BB962C8B-B14F-4D97-AF65-F5344CB8AC3E}">
        <p14:creationId xmlns:p14="http://schemas.microsoft.com/office/powerpoint/2010/main" val="810422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C74E2-B062-D8FA-236A-6245A0DE1EE7}"/>
              </a:ext>
            </a:extLst>
          </p:cNvPr>
          <p:cNvSpPr>
            <a:spLocks noGrp="1"/>
          </p:cNvSpPr>
          <p:nvPr>
            <p:ph type="ctrTitle"/>
          </p:nvPr>
        </p:nvSpPr>
        <p:spPr/>
        <p:txBody>
          <a:bodyPr/>
          <a:lstStyle/>
          <a:p>
            <a:r>
              <a:rPr lang="en-US" dirty="0"/>
              <a:t>Unit  3 For Live Session Assignment	</a:t>
            </a:r>
          </a:p>
        </p:txBody>
      </p:sp>
      <p:sp>
        <p:nvSpPr>
          <p:cNvPr id="3" name="Subtitle 2">
            <a:extLst>
              <a:ext uri="{FF2B5EF4-FFF2-40B4-BE49-F238E27FC236}">
                <a16:creationId xmlns:a16="http://schemas.microsoft.com/office/drawing/2014/main" id="{0849C751-F9E3-A2B9-AF7E-8CE9B5298F13}"/>
              </a:ext>
            </a:extLst>
          </p:cNvPr>
          <p:cNvSpPr>
            <a:spLocks noGrp="1"/>
          </p:cNvSpPr>
          <p:nvPr>
            <p:ph type="subTitle" idx="1"/>
          </p:nvPr>
        </p:nvSpPr>
        <p:spPr/>
        <p:txBody>
          <a:bodyPr/>
          <a:lstStyle/>
          <a:p>
            <a:r>
              <a:rPr lang="en-US" dirty="0"/>
              <a:t>Isabella Westlauer</a:t>
            </a:r>
          </a:p>
          <a:p>
            <a:r>
              <a:rPr lang="en-US"/>
              <a:t>2/9/2026</a:t>
            </a:r>
            <a:endParaRPr lang="en-US" dirty="0"/>
          </a:p>
          <a:p>
            <a:endParaRPr lang="en-US" dirty="0"/>
          </a:p>
        </p:txBody>
      </p:sp>
    </p:spTree>
    <p:extLst>
      <p:ext uri="{BB962C8B-B14F-4D97-AF65-F5344CB8AC3E}">
        <p14:creationId xmlns:p14="http://schemas.microsoft.com/office/powerpoint/2010/main" val="3032043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D1C4CC-A40E-4C8C-A657-7BFC8652B0FD}"/>
              </a:ext>
            </a:extLst>
          </p:cNvPr>
          <p:cNvSpPr>
            <a:spLocks noGrp="1"/>
          </p:cNvSpPr>
          <p:nvPr>
            <p:ph type="title"/>
          </p:nvPr>
        </p:nvSpPr>
        <p:spPr/>
        <p:txBody>
          <a:bodyPr/>
          <a:lstStyle/>
          <a:p>
            <a:r>
              <a:rPr lang="en-US" dirty="0"/>
              <a:t>Analysis of FIFA Dataset</a:t>
            </a:r>
          </a:p>
        </p:txBody>
      </p:sp>
      <p:sp>
        <p:nvSpPr>
          <p:cNvPr id="5" name="Text Placeholder 4">
            <a:extLst>
              <a:ext uri="{FF2B5EF4-FFF2-40B4-BE49-F238E27FC236}">
                <a16:creationId xmlns:a16="http://schemas.microsoft.com/office/drawing/2014/main" id="{5477899D-44B4-1AA0-D602-E7DE97EF87D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13393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74F174C-5A22-864B-1390-F15EB03C884C}"/>
              </a:ext>
            </a:extLst>
          </p:cNvPr>
          <p:cNvPicPr>
            <a:picLocks noChangeAspect="1"/>
          </p:cNvPicPr>
          <p:nvPr/>
        </p:nvPicPr>
        <p:blipFill>
          <a:blip r:embed="rId3"/>
          <a:srcRect r="10357"/>
          <a:stretch>
            <a:fillRect/>
          </a:stretch>
        </p:blipFill>
        <p:spPr>
          <a:xfrm>
            <a:off x="211373" y="1122688"/>
            <a:ext cx="8044352" cy="4429743"/>
          </a:xfrm>
          <a:prstGeom prst="rect">
            <a:avLst/>
          </a:prstGeom>
        </p:spPr>
      </p:pic>
      <p:pic>
        <p:nvPicPr>
          <p:cNvPr id="8" name="Picture 7">
            <a:extLst>
              <a:ext uri="{FF2B5EF4-FFF2-40B4-BE49-F238E27FC236}">
                <a16:creationId xmlns:a16="http://schemas.microsoft.com/office/drawing/2014/main" id="{D4D03E78-4993-0935-E04E-97D3F14A1C06}"/>
              </a:ext>
            </a:extLst>
          </p:cNvPr>
          <p:cNvPicPr>
            <a:picLocks noChangeAspect="1"/>
          </p:cNvPicPr>
          <p:nvPr/>
        </p:nvPicPr>
        <p:blipFill>
          <a:blip r:embed="rId4"/>
          <a:stretch>
            <a:fillRect/>
          </a:stretch>
        </p:blipFill>
        <p:spPr>
          <a:xfrm>
            <a:off x="7388936" y="990259"/>
            <a:ext cx="4591691" cy="4877481"/>
          </a:xfrm>
          <a:prstGeom prst="rect">
            <a:avLst/>
          </a:prstGeom>
        </p:spPr>
      </p:pic>
    </p:spTree>
    <p:extLst>
      <p:ext uri="{BB962C8B-B14F-4D97-AF65-F5344CB8AC3E}">
        <p14:creationId xmlns:p14="http://schemas.microsoft.com/office/powerpoint/2010/main" val="170788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2E2F5-456E-4078-F6CD-45E498F0A386}"/>
              </a:ext>
            </a:extLst>
          </p:cNvPr>
          <p:cNvSpPr>
            <a:spLocks noGrp="1"/>
          </p:cNvSpPr>
          <p:nvPr>
            <p:ph type="title"/>
          </p:nvPr>
        </p:nvSpPr>
        <p:spPr>
          <a:xfrm>
            <a:off x="749411" y="599395"/>
            <a:ext cx="10515600" cy="558799"/>
          </a:xfrm>
        </p:spPr>
        <p:txBody>
          <a:bodyPr>
            <a:normAutofit/>
          </a:bodyPr>
          <a:lstStyle/>
          <a:p>
            <a:r>
              <a:rPr lang="en-US" sz="2800" dirty="0"/>
              <a:t>Acceleration and Agility of Left Midfielders (LM) and Left Forwards (LF)</a:t>
            </a:r>
          </a:p>
        </p:txBody>
      </p:sp>
      <p:sp>
        <p:nvSpPr>
          <p:cNvPr id="3" name="Text Placeholder 2">
            <a:extLst>
              <a:ext uri="{FF2B5EF4-FFF2-40B4-BE49-F238E27FC236}">
                <a16:creationId xmlns:a16="http://schemas.microsoft.com/office/drawing/2014/main" id="{B38A4ABD-5FFD-C371-03AD-CBC3787FBDB3}"/>
              </a:ext>
            </a:extLst>
          </p:cNvPr>
          <p:cNvSpPr>
            <a:spLocks noGrp="1"/>
          </p:cNvSpPr>
          <p:nvPr>
            <p:ph type="body" idx="1"/>
          </p:nvPr>
        </p:nvSpPr>
        <p:spPr>
          <a:xfrm>
            <a:off x="7608302" y="1654714"/>
            <a:ext cx="3834287" cy="3751803"/>
          </a:xfrm>
        </p:spPr>
        <p:txBody>
          <a:bodyPr>
            <a:normAutofit fontScale="92500"/>
          </a:bodyPr>
          <a:lstStyle/>
          <a:p>
            <a:pPr marL="342900" indent="-342900">
              <a:buFont typeface="Arial" panose="020B0604020202020204" pitchFamily="34" charset="0"/>
              <a:buChar char="•"/>
            </a:pPr>
            <a:r>
              <a:rPr lang="en-US" dirty="0">
                <a:solidFill>
                  <a:schemeClr val="tx1"/>
                </a:solidFill>
              </a:rPr>
              <a:t>Significantly more LM than LF samples in the dataset</a:t>
            </a:r>
          </a:p>
          <a:p>
            <a:pPr marL="342900" indent="-342900">
              <a:buFont typeface="Arial" panose="020B0604020202020204" pitchFamily="34" charset="0"/>
              <a:buChar char="•"/>
            </a:pPr>
            <a:r>
              <a:rPr lang="en-US" dirty="0">
                <a:solidFill>
                  <a:schemeClr val="tx1"/>
                </a:solidFill>
              </a:rPr>
              <a:t>Ratings are similar between positions, but LM shows left skew</a:t>
            </a:r>
          </a:p>
          <a:p>
            <a:pPr marL="342900" indent="-342900">
              <a:buFont typeface="Arial" panose="020B0604020202020204" pitchFamily="34" charset="0"/>
              <a:buChar char="•"/>
            </a:pPr>
            <a:r>
              <a:rPr lang="en-US" dirty="0">
                <a:solidFill>
                  <a:schemeClr val="tx1"/>
                </a:solidFill>
              </a:rPr>
              <a:t>Ratings have an IQR between 60-90</a:t>
            </a:r>
          </a:p>
          <a:p>
            <a:pPr marL="342900" indent="-342900">
              <a:buFont typeface="Arial" panose="020B0604020202020204" pitchFamily="34" charset="0"/>
              <a:buChar char="•"/>
            </a:pPr>
            <a:r>
              <a:rPr lang="en-US" dirty="0">
                <a:solidFill>
                  <a:schemeClr val="tx1"/>
                </a:solidFill>
              </a:rPr>
              <a:t>Note a positive covariance between acceleration and agility for both positions</a:t>
            </a:r>
          </a:p>
        </p:txBody>
      </p:sp>
      <p:pic>
        <p:nvPicPr>
          <p:cNvPr id="5" name="Picture 4">
            <a:extLst>
              <a:ext uri="{FF2B5EF4-FFF2-40B4-BE49-F238E27FC236}">
                <a16:creationId xmlns:a16="http://schemas.microsoft.com/office/drawing/2014/main" id="{3E8B7FEB-8145-9AD6-ABFD-892317CCD310}"/>
              </a:ext>
            </a:extLst>
          </p:cNvPr>
          <p:cNvPicPr>
            <a:picLocks noChangeAspect="1"/>
          </p:cNvPicPr>
          <p:nvPr/>
        </p:nvPicPr>
        <p:blipFill>
          <a:blip r:embed="rId3"/>
          <a:stretch>
            <a:fillRect/>
          </a:stretch>
        </p:blipFill>
        <p:spPr>
          <a:xfrm>
            <a:off x="749411" y="1458640"/>
            <a:ext cx="6620799" cy="4143953"/>
          </a:xfrm>
          <a:prstGeom prst="rect">
            <a:avLst/>
          </a:prstGeom>
        </p:spPr>
      </p:pic>
    </p:spTree>
    <p:extLst>
      <p:ext uri="{BB962C8B-B14F-4D97-AF65-F5344CB8AC3E}">
        <p14:creationId xmlns:p14="http://schemas.microsoft.com/office/powerpoint/2010/main" val="2481032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D2B45-4903-8187-4628-3508120BFFB8}"/>
              </a:ext>
            </a:extLst>
          </p:cNvPr>
          <p:cNvSpPr>
            <a:spLocks noGrp="1"/>
          </p:cNvSpPr>
          <p:nvPr>
            <p:ph type="title"/>
          </p:nvPr>
        </p:nvSpPr>
        <p:spPr/>
        <p:txBody>
          <a:bodyPr/>
          <a:lstStyle/>
          <a:p>
            <a:r>
              <a:rPr lang="en-US" dirty="0"/>
              <a:t>Agility Rating of Left Midfielders vs Left Forwards</a:t>
            </a:r>
          </a:p>
        </p:txBody>
      </p:sp>
      <p:sp>
        <p:nvSpPr>
          <p:cNvPr id="3" name="Text Placeholder 2">
            <a:extLst>
              <a:ext uri="{FF2B5EF4-FFF2-40B4-BE49-F238E27FC236}">
                <a16:creationId xmlns:a16="http://schemas.microsoft.com/office/drawing/2014/main" id="{53FD724C-8775-BF00-9ACC-2C4A1A972FBB}"/>
              </a:ext>
            </a:extLst>
          </p:cNvPr>
          <p:cNvSpPr>
            <a:spLocks noGrp="1"/>
          </p:cNvSpPr>
          <p:nvPr>
            <p:ph type="body" idx="1"/>
          </p:nvPr>
        </p:nvSpPr>
        <p:spPr/>
        <p:txBody>
          <a:bodyPr/>
          <a:lstStyle/>
          <a:p>
            <a:r>
              <a:rPr lang="en-US" dirty="0">
                <a:solidFill>
                  <a:schemeClr val="tx1"/>
                </a:solidFill>
              </a:rPr>
              <a:t>Two-sample t-test</a:t>
            </a:r>
          </a:p>
        </p:txBody>
      </p:sp>
    </p:spTree>
    <p:extLst>
      <p:ext uri="{BB962C8B-B14F-4D97-AF65-F5344CB8AC3E}">
        <p14:creationId xmlns:p14="http://schemas.microsoft.com/office/powerpoint/2010/main" val="1967023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4897D-093C-583D-047E-D8FB72B7D639}"/>
              </a:ext>
            </a:extLst>
          </p:cNvPr>
          <p:cNvSpPr>
            <a:spLocks noGrp="1"/>
          </p:cNvSpPr>
          <p:nvPr>
            <p:ph type="title"/>
          </p:nvPr>
        </p:nvSpPr>
        <p:spPr/>
        <p:txBody>
          <a:bodyPr/>
          <a:lstStyle/>
          <a:p>
            <a:r>
              <a:rPr lang="en-US" dirty="0"/>
              <a:t>Step 1. Hypotheses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5D4E9A2-4580-3999-F033-5A5D57A9F967}"/>
                  </a:ext>
                </a:extLst>
              </p:cNvPr>
              <p:cNvSpPr>
                <a:spLocks noGrp="1"/>
              </p:cNvSpPr>
              <p:nvPr>
                <p:ph idx="1"/>
              </p:nvPr>
            </p:nvSpPr>
            <p:spPr>
              <a:xfrm>
                <a:off x="838200" y="1825625"/>
                <a:ext cx="10826931" cy="4351338"/>
              </a:xfrm>
            </p:spPr>
            <p:txBody>
              <a:bodyPr>
                <a:normAutofit fontScale="92500" lnSpcReduction="10000"/>
              </a:bodyPr>
              <a:lstStyle/>
              <a:p>
                <a:r>
                  <a:rPr lang="en-US" dirty="0"/>
                  <a:t>H0 is that the mean agility rating is the same for left midfielders (LM) and left forwards (LF).</a:t>
                </a:r>
              </a:p>
              <a:p>
                <a:pPr marL="457200" lvl="1" indent="0">
                  <a:buNone/>
                </a:pPr>
                <a:r>
                  <a:rPr lang="en-US" dirty="0"/>
                  <a:t>H0: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m:rPr>
                                <m:sty m:val="p"/>
                              </m:rPr>
                              <a:rPr lang="en-US" i="1">
                                <a:latin typeface="Cambria Math" panose="02040503050406030204" pitchFamily="18" charset="0"/>
                              </a:rPr>
                              <m:t>x</m:t>
                            </m:r>
                          </m:e>
                        </m:acc>
                      </m:e>
                      <m:sub>
                        <m:r>
                          <m:rPr>
                            <m:sty m:val="p"/>
                          </m:rPr>
                          <a:rPr lang="en-US" i="1">
                            <a:latin typeface="Cambria Math" panose="02040503050406030204" pitchFamily="18" charset="0"/>
                          </a:rPr>
                          <m:t>LM</m:t>
                        </m:r>
                      </m:sub>
                    </m:sSub>
                    <m:r>
                      <a:rPr lang="en-US" i="1">
                        <a:latin typeface="Cambria Math" panose="02040503050406030204" pitchFamily="18" charset="0"/>
                      </a:rPr>
                      <m:t> −</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m:rPr>
                                <m:sty m:val="p"/>
                              </m:rPr>
                              <a:rPr lang="en-US" i="1">
                                <a:latin typeface="Cambria Math" panose="02040503050406030204" pitchFamily="18" charset="0"/>
                              </a:rPr>
                              <m:t>x</m:t>
                            </m:r>
                          </m:e>
                        </m:acc>
                      </m:e>
                      <m:sub>
                        <m:r>
                          <m:rPr>
                            <m:sty m:val="p"/>
                          </m:rPr>
                          <a:rPr lang="en-US" i="1">
                            <a:latin typeface="Cambria Math" panose="02040503050406030204" pitchFamily="18" charset="0"/>
                          </a:rPr>
                          <m:t>LF</m:t>
                        </m:r>
                      </m:sub>
                    </m:sSub>
                    <m:r>
                      <a:rPr lang="en-US" i="1">
                        <a:latin typeface="Cambria Math" panose="02040503050406030204" pitchFamily="18" charset="0"/>
                      </a:rPr>
                      <m:t>= 0</m:t>
                    </m:r>
                  </m:oMath>
                </a14:m>
                <a:endParaRPr lang="en-US" dirty="0"/>
              </a:p>
              <a:p>
                <a:r>
                  <a:rPr lang="en-US" dirty="0"/>
                  <a:t>Ha is that the mean agility rating is not exactly the same.</a:t>
                </a:r>
              </a:p>
              <a:p>
                <a:pPr marL="457200" lvl="1" indent="0">
                  <a:buNone/>
                </a:pPr>
                <a:r>
                  <a:rPr lang="en-US" dirty="0"/>
                  <a:t>Ha: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m:rPr>
                                <m:sty m:val="p"/>
                              </m:rPr>
                              <a:rPr lang="en-US" i="1">
                                <a:latin typeface="Cambria Math" panose="02040503050406030204" pitchFamily="18" charset="0"/>
                              </a:rPr>
                              <m:t>x</m:t>
                            </m:r>
                          </m:e>
                        </m:acc>
                      </m:e>
                      <m:sub>
                        <m:r>
                          <m:rPr>
                            <m:sty m:val="p"/>
                          </m:rPr>
                          <a:rPr lang="en-US" i="1">
                            <a:latin typeface="Cambria Math" panose="02040503050406030204" pitchFamily="18" charset="0"/>
                          </a:rPr>
                          <m:t>LM</m:t>
                        </m:r>
                      </m:sub>
                    </m:sSub>
                    <m:r>
                      <a:rPr lang="en-US" i="1">
                        <a:latin typeface="Cambria Math" panose="02040503050406030204" pitchFamily="18" charset="0"/>
                      </a:rPr>
                      <m:t> −</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m:rPr>
                                <m:sty m:val="p"/>
                              </m:rPr>
                              <a:rPr lang="en-US" i="1">
                                <a:latin typeface="Cambria Math" panose="02040503050406030204" pitchFamily="18" charset="0"/>
                              </a:rPr>
                              <m:t>x</m:t>
                            </m:r>
                          </m:e>
                        </m:acc>
                      </m:e>
                      <m:sub>
                        <m:r>
                          <m:rPr>
                            <m:sty m:val="p"/>
                          </m:rPr>
                          <a:rPr lang="en-US" i="1">
                            <a:latin typeface="Cambria Math" panose="02040503050406030204" pitchFamily="18" charset="0"/>
                          </a:rPr>
                          <m:t>LF</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 0</m:t>
                    </m:r>
                  </m:oMath>
                </a14:m>
                <a:endParaRPr lang="en-US" dirty="0"/>
              </a:p>
              <a:p>
                <a:r>
                  <a:rPr lang="en-US" dirty="0"/>
                  <a:t>From the </a:t>
                </a:r>
                <a:r>
                  <a:rPr lang="en-US" dirty="0" err="1"/>
                  <a:t>ggpairs</a:t>
                </a:r>
                <a:r>
                  <a:rPr lang="en-US" dirty="0"/>
                  <a:t> plots, it doesn’t look like the standard deviation of acceleration and agility is very different between positions.</a:t>
                </a:r>
              </a:p>
              <a:p>
                <a:r>
                  <a:rPr lang="en-US" i="1" dirty="0"/>
                  <a:t>Concern: The sample sizes are very different for these two positions. 15 LF and 1,095 LM… but Welch’s test is specifically designed for unequal sample size and unequal variance. However, since the sample of LFs is relatively small, the LF mean and variance may be unstable and the test’s power is limited.</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45D4E9A2-4580-3999-F033-5A5D57A9F967}"/>
                  </a:ext>
                </a:extLst>
              </p:cNvPr>
              <p:cNvSpPr>
                <a:spLocks noGrp="1" noRot="1" noChangeAspect="1" noMove="1" noResize="1" noEditPoints="1" noAdjustHandles="1" noChangeArrowheads="1" noChangeShapeType="1" noTextEdit="1"/>
              </p:cNvSpPr>
              <p:nvPr>
                <p:ph idx="1"/>
              </p:nvPr>
            </p:nvSpPr>
            <p:spPr>
              <a:xfrm>
                <a:off x="838200" y="1825625"/>
                <a:ext cx="10826931" cy="4351338"/>
              </a:xfrm>
              <a:blipFill>
                <a:blip r:embed="rId2"/>
                <a:stretch>
                  <a:fillRect l="-901" t="-2801" r="-788" b="-2801"/>
                </a:stretch>
              </a:blipFill>
            </p:spPr>
            <p:txBody>
              <a:bodyPr/>
              <a:lstStyle/>
              <a:p>
                <a:r>
                  <a:rPr lang="en-US">
                    <a:noFill/>
                  </a:rPr>
                  <a:t> </a:t>
                </a:r>
              </a:p>
            </p:txBody>
          </p:sp>
        </mc:Fallback>
      </mc:AlternateContent>
    </p:spTree>
    <p:extLst>
      <p:ext uri="{BB962C8B-B14F-4D97-AF65-F5344CB8AC3E}">
        <p14:creationId xmlns:p14="http://schemas.microsoft.com/office/powerpoint/2010/main" val="2519882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CFFEB-A4C6-3689-60B3-FC8A02B011BD}"/>
              </a:ext>
            </a:extLst>
          </p:cNvPr>
          <p:cNvSpPr>
            <a:spLocks noGrp="1"/>
          </p:cNvSpPr>
          <p:nvPr>
            <p:ph type="title"/>
          </p:nvPr>
        </p:nvSpPr>
        <p:spPr/>
        <p:txBody>
          <a:bodyPr/>
          <a:lstStyle/>
          <a:p>
            <a:r>
              <a:rPr lang="en-US" dirty="0"/>
              <a:t>Step 2. Critical Value Draw and Shade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CF45012-6C74-7231-5349-41B16A7415BE}"/>
                  </a:ext>
                </a:extLst>
              </p:cNvPr>
              <p:cNvSpPr>
                <a:spLocks noGrp="1"/>
              </p:cNvSpPr>
              <p:nvPr>
                <p:ph idx="1"/>
              </p:nvPr>
            </p:nvSpPr>
            <p:spPr>
              <a:xfrm>
                <a:off x="838201" y="1690688"/>
                <a:ext cx="4279119" cy="4486275"/>
              </a:xfrm>
            </p:spPr>
            <p:txBody>
              <a:bodyPr>
                <a:normAutofit fontScale="85000" lnSpcReduction="10000"/>
              </a:bodyPr>
              <a:lstStyle/>
              <a:p>
                <a:r>
                  <a:rPr lang="en-US" dirty="0"/>
                  <a:t>Under the null hypothesis, the sampling distribution of</a:t>
                </a:r>
                <a:br>
                  <a:rPr lang="en-US" dirty="0"/>
                </a:b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m:rPr>
                                <m:sty m:val="p"/>
                              </m:rPr>
                              <a:rPr lang="en-US" i="1">
                                <a:latin typeface="Cambria Math" panose="02040503050406030204" pitchFamily="18" charset="0"/>
                              </a:rPr>
                              <m:t>x</m:t>
                            </m:r>
                          </m:e>
                        </m:acc>
                      </m:e>
                      <m:sub>
                        <m:r>
                          <m:rPr>
                            <m:sty m:val="p"/>
                          </m:rPr>
                          <a:rPr lang="en-US" i="1">
                            <a:latin typeface="Cambria Math" panose="02040503050406030204" pitchFamily="18" charset="0"/>
                          </a:rPr>
                          <m:t>LM</m:t>
                        </m:r>
                      </m:sub>
                    </m:sSub>
                    <m:r>
                      <a:rPr lang="en-US" i="1">
                        <a:latin typeface="Cambria Math" panose="02040503050406030204" pitchFamily="18" charset="0"/>
                      </a:rPr>
                      <m:t> −</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m:rPr>
                                <m:sty m:val="p"/>
                              </m:rPr>
                              <a:rPr lang="en-US" i="1">
                                <a:latin typeface="Cambria Math" panose="02040503050406030204" pitchFamily="18" charset="0"/>
                              </a:rPr>
                              <m:t>x</m:t>
                            </m:r>
                          </m:e>
                        </m:acc>
                      </m:e>
                      <m:sub>
                        <m:r>
                          <m:rPr>
                            <m:sty m:val="p"/>
                          </m:rPr>
                          <a:rPr lang="en-US" i="1">
                            <a:latin typeface="Cambria Math" panose="02040503050406030204" pitchFamily="18" charset="0"/>
                          </a:rPr>
                          <m:t>LF</m:t>
                        </m:r>
                      </m:sub>
                    </m:sSub>
                    <m:r>
                      <a:rPr lang="en-US" i="1">
                        <a:latin typeface="Cambria Math" panose="02040503050406030204" pitchFamily="18" charset="0"/>
                      </a:rPr>
                      <m:t> </m:t>
                    </m:r>
                  </m:oMath>
                </a14:m>
                <a:r>
                  <a:rPr lang="en-US" dirty="0"/>
                  <a:t>is centered at 0.</a:t>
                </a:r>
              </a:p>
              <a:p>
                <a:r>
                  <a:rPr lang="en-US" dirty="0"/>
                  <a:t>For a two-sided test with </a:t>
                </a:r>
                <a:r>
                  <a:rPr lang="el-GR" dirty="0"/>
                  <a:t>α = 0.05</a:t>
                </a:r>
                <a:r>
                  <a:rPr lang="en-US" dirty="0"/>
                  <a:t> (assuming default significance level)</a:t>
                </a:r>
                <a:r>
                  <a:rPr lang="el-GR" dirty="0"/>
                  <a:t>, </a:t>
                </a:r>
                <a:r>
                  <a:rPr lang="en-US" dirty="0" err="1"/>
                  <a:t>df</a:t>
                </a:r>
                <a:r>
                  <a:rPr lang="en-US" dirty="0"/>
                  <a:t> = 30, the rejection regions lie in the two tails of the t distribution, each with area 0.025 beyond the critical values ±t*.</a:t>
                </a:r>
              </a:p>
              <a:p>
                <a:r>
                  <a:rPr lang="en-US" dirty="0"/>
                  <a:t>The sampling distribution follows a </a:t>
                </a:r>
                <a:r>
                  <a:rPr lang="en-US" i="1" dirty="0"/>
                  <a:t>t</a:t>
                </a:r>
                <a:r>
                  <a:rPr lang="en-US" dirty="0"/>
                  <a:t> distribution with appropriate degrees of freedom.</a:t>
                </a:r>
              </a:p>
            </p:txBody>
          </p:sp>
        </mc:Choice>
        <mc:Fallback xmlns="">
          <p:sp>
            <p:nvSpPr>
              <p:cNvPr id="3" name="Content Placeholder 2">
                <a:extLst>
                  <a:ext uri="{FF2B5EF4-FFF2-40B4-BE49-F238E27FC236}">
                    <a16:creationId xmlns:a16="http://schemas.microsoft.com/office/drawing/2014/main" id="{DCF45012-6C74-7231-5349-41B16A7415BE}"/>
                  </a:ext>
                </a:extLst>
              </p:cNvPr>
              <p:cNvSpPr>
                <a:spLocks noGrp="1" noRot="1" noChangeAspect="1" noMove="1" noResize="1" noEditPoints="1" noAdjustHandles="1" noChangeArrowheads="1" noChangeShapeType="1" noTextEdit="1"/>
              </p:cNvSpPr>
              <p:nvPr>
                <p:ph idx="1"/>
              </p:nvPr>
            </p:nvSpPr>
            <p:spPr>
              <a:xfrm>
                <a:off x="838201" y="1690688"/>
                <a:ext cx="4279119" cy="4486275"/>
              </a:xfrm>
              <a:blipFill>
                <a:blip r:embed="rId3"/>
                <a:stretch>
                  <a:fillRect l="-1997" t="-2446" r="-3138" b="-2446"/>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2AD9B77B-AB74-42AC-9E11-F9C2E96BD709}"/>
              </a:ext>
            </a:extLst>
          </p:cNvPr>
          <p:cNvPicPr>
            <a:picLocks noChangeAspect="1"/>
          </p:cNvPicPr>
          <p:nvPr/>
        </p:nvPicPr>
        <p:blipFill>
          <a:blip r:embed="rId4"/>
          <a:stretch>
            <a:fillRect/>
          </a:stretch>
        </p:blipFill>
        <p:spPr>
          <a:xfrm>
            <a:off x="5117320" y="1544595"/>
            <a:ext cx="6823505" cy="4404172"/>
          </a:xfrm>
          <a:prstGeom prst="rect">
            <a:avLst/>
          </a:prstGeom>
        </p:spPr>
      </p:pic>
    </p:spTree>
    <p:extLst>
      <p:ext uri="{BB962C8B-B14F-4D97-AF65-F5344CB8AC3E}">
        <p14:creationId xmlns:p14="http://schemas.microsoft.com/office/powerpoint/2010/main" val="51593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48F3A-FA44-2227-4F11-1D8F5B82EF03}"/>
              </a:ext>
            </a:extLst>
          </p:cNvPr>
          <p:cNvSpPr>
            <a:spLocks noGrp="1"/>
          </p:cNvSpPr>
          <p:nvPr>
            <p:ph type="title"/>
          </p:nvPr>
        </p:nvSpPr>
        <p:spPr/>
        <p:txBody>
          <a:bodyPr/>
          <a:lstStyle/>
          <a:p>
            <a:r>
              <a:rPr lang="en-US" dirty="0"/>
              <a:t>Step 3. Test Statistic for Two-Sample Test </a:t>
            </a:r>
          </a:p>
        </p:txBody>
      </p:sp>
      <p:sp>
        <p:nvSpPr>
          <p:cNvPr id="3" name="Content Placeholder 2">
            <a:extLst>
              <a:ext uri="{FF2B5EF4-FFF2-40B4-BE49-F238E27FC236}">
                <a16:creationId xmlns:a16="http://schemas.microsoft.com/office/drawing/2014/main" id="{A26610C0-0B3C-6B15-50A8-5FDD812EECC2}"/>
              </a:ext>
            </a:extLst>
          </p:cNvPr>
          <p:cNvSpPr>
            <a:spLocks noGrp="1"/>
          </p:cNvSpPr>
          <p:nvPr>
            <p:ph idx="1"/>
          </p:nvPr>
        </p:nvSpPr>
        <p:spPr>
          <a:xfrm>
            <a:off x="838200" y="1825625"/>
            <a:ext cx="4269377" cy="4351338"/>
          </a:xfrm>
        </p:spPr>
        <p:txBody>
          <a:bodyPr>
            <a:normAutofit/>
          </a:bodyPr>
          <a:lstStyle/>
          <a:p>
            <a:endParaRPr lang="en-US" sz="1800" dirty="0">
              <a:ea typeface="Cambria Math" panose="02040503050406030204" pitchFamily="18" charset="0"/>
            </a:endParaRPr>
          </a:p>
          <a:p>
            <a:endParaRPr lang="en-US" sz="1800" dirty="0"/>
          </a:p>
        </p:txBody>
      </p:sp>
      <p:pic>
        <p:nvPicPr>
          <p:cNvPr id="9" name="Picture 8">
            <a:extLst>
              <a:ext uri="{FF2B5EF4-FFF2-40B4-BE49-F238E27FC236}">
                <a16:creationId xmlns:a16="http://schemas.microsoft.com/office/drawing/2014/main" id="{28573687-9C23-361D-F498-D00B5B77189B}"/>
              </a:ext>
            </a:extLst>
          </p:cNvPr>
          <p:cNvPicPr>
            <a:picLocks noChangeAspect="1"/>
          </p:cNvPicPr>
          <p:nvPr/>
        </p:nvPicPr>
        <p:blipFill>
          <a:blip r:embed="rId3"/>
          <a:stretch>
            <a:fillRect/>
          </a:stretch>
        </p:blipFill>
        <p:spPr>
          <a:xfrm>
            <a:off x="6373958" y="1422616"/>
            <a:ext cx="4588670" cy="1488632"/>
          </a:xfrm>
          <a:prstGeom prst="rect">
            <a:avLst/>
          </a:prstGeom>
        </p:spPr>
      </p:pic>
      <p:pic>
        <p:nvPicPr>
          <p:cNvPr id="13" name="Picture 12">
            <a:extLst>
              <a:ext uri="{FF2B5EF4-FFF2-40B4-BE49-F238E27FC236}">
                <a16:creationId xmlns:a16="http://schemas.microsoft.com/office/drawing/2014/main" id="{0990AF4C-6842-573B-FE31-B60597F32B50}"/>
              </a:ext>
            </a:extLst>
          </p:cNvPr>
          <p:cNvPicPr>
            <a:picLocks noChangeAspect="1"/>
          </p:cNvPicPr>
          <p:nvPr/>
        </p:nvPicPr>
        <p:blipFill>
          <a:blip r:embed="rId4"/>
          <a:stretch>
            <a:fillRect/>
          </a:stretch>
        </p:blipFill>
        <p:spPr>
          <a:xfrm>
            <a:off x="746759" y="2911247"/>
            <a:ext cx="9496700" cy="3265715"/>
          </a:xfrm>
          <a:prstGeom prst="rect">
            <a:avLst/>
          </a:prstGeom>
        </p:spPr>
      </p:pic>
      <p:sp>
        <p:nvSpPr>
          <p:cNvPr id="14" name="TextBox 13">
            <a:extLst>
              <a:ext uri="{FF2B5EF4-FFF2-40B4-BE49-F238E27FC236}">
                <a16:creationId xmlns:a16="http://schemas.microsoft.com/office/drawing/2014/main" id="{90F5C6F6-7BF9-B15C-C643-6CC2A1A4652A}"/>
              </a:ext>
            </a:extLst>
          </p:cNvPr>
          <p:cNvSpPr txBox="1"/>
          <p:nvPr/>
        </p:nvSpPr>
        <p:spPr>
          <a:xfrm>
            <a:off x="838200" y="1690688"/>
            <a:ext cx="5889171" cy="369332"/>
          </a:xfrm>
          <a:prstGeom prst="rect">
            <a:avLst/>
          </a:prstGeom>
          <a:noFill/>
        </p:spPr>
        <p:txBody>
          <a:bodyPr wrap="square" rtlCol="0">
            <a:spAutoFit/>
          </a:bodyPr>
          <a:lstStyle/>
          <a:p>
            <a:r>
              <a:rPr lang="en-US" dirty="0"/>
              <a:t>First, pool the standard deviation for both samples</a:t>
            </a:r>
          </a:p>
        </p:txBody>
      </p:sp>
    </p:spTree>
    <p:extLst>
      <p:ext uri="{BB962C8B-B14F-4D97-AF65-F5344CB8AC3E}">
        <p14:creationId xmlns:p14="http://schemas.microsoft.com/office/powerpoint/2010/main" val="2003770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261E0-E1A1-C23E-8EC5-3706F20CB6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322221-D31C-A56E-DABD-80DC0CB36957}"/>
              </a:ext>
            </a:extLst>
          </p:cNvPr>
          <p:cNvSpPr>
            <a:spLocks noGrp="1"/>
          </p:cNvSpPr>
          <p:nvPr>
            <p:ph type="title"/>
          </p:nvPr>
        </p:nvSpPr>
        <p:spPr/>
        <p:txBody>
          <a:bodyPr/>
          <a:lstStyle/>
          <a:p>
            <a:r>
              <a:rPr lang="en-US" dirty="0"/>
              <a:t>Step 3. Test Statistic for Two-Sample Test </a:t>
            </a:r>
          </a:p>
        </p:txBody>
      </p:sp>
      <p:sp>
        <p:nvSpPr>
          <p:cNvPr id="3" name="Content Placeholder 2">
            <a:extLst>
              <a:ext uri="{FF2B5EF4-FFF2-40B4-BE49-F238E27FC236}">
                <a16:creationId xmlns:a16="http://schemas.microsoft.com/office/drawing/2014/main" id="{AEF4F344-40CB-8FCC-2347-9AD247487CD0}"/>
              </a:ext>
            </a:extLst>
          </p:cNvPr>
          <p:cNvSpPr>
            <a:spLocks noGrp="1"/>
          </p:cNvSpPr>
          <p:nvPr>
            <p:ph idx="1"/>
          </p:nvPr>
        </p:nvSpPr>
        <p:spPr>
          <a:xfrm>
            <a:off x="838200" y="1825625"/>
            <a:ext cx="4269377" cy="4351338"/>
          </a:xfrm>
        </p:spPr>
        <p:txBody>
          <a:bodyPr>
            <a:normAutofit/>
          </a:bodyPr>
          <a:lstStyle/>
          <a:p>
            <a:endParaRPr lang="en-US" sz="1800" dirty="0">
              <a:ea typeface="Cambria Math" panose="02040503050406030204" pitchFamily="18" charset="0"/>
            </a:endParaRPr>
          </a:p>
          <a:p>
            <a:endParaRPr lang="en-US" sz="1800" dirty="0"/>
          </a:p>
        </p:txBody>
      </p:sp>
      <p:sp>
        <p:nvSpPr>
          <p:cNvPr id="14" name="TextBox 13">
            <a:extLst>
              <a:ext uri="{FF2B5EF4-FFF2-40B4-BE49-F238E27FC236}">
                <a16:creationId xmlns:a16="http://schemas.microsoft.com/office/drawing/2014/main" id="{4401BAFE-F62F-1E82-298F-8A7FA1B4D07A}"/>
              </a:ext>
            </a:extLst>
          </p:cNvPr>
          <p:cNvSpPr txBox="1"/>
          <p:nvPr/>
        </p:nvSpPr>
        <p:spPr>
          <a:xfrm>
            <a:off x="838200" y="1690688"/>
            <a:ext cx="5889171" cy="369332"/>
          </a:xfrm>
          <a:prstGeom prst="rect">
            <a:avLst/>
          </a:prstGeom>
          <a:noFill/>
        </p:spPr>
        <p:txBody>
          <a:bodyPr wrap="square" rtlCol="0">
            <a:spAutoFit/>
          </a:bodyPr>
          <a:lstStyle/>
          <a:p>
            <a:r>
              <a:rPr lang="en-US" dirty="0"/>
              <a:t>Next, calculate the test statistic</a:t>
            </a:r>
          </a:p>
        </p:txBody>
      </p:sp>
      <p:pic>
        <p:nvPicPr>
          <p:cNvPr id="5" name="Picture 4">
            <a:extLst>
              <a:ext uri="{FF2B5EF4-FFF2-40B4-BE49-F238E27FC236}">
                <a16:creationId xmlns:a16="http://schemas.microsoft.com/office/drawing/2014/main" id="{E1DD3B2A-F1E4-9828-511C-1B2816173376}"/>
              </a:ext>
            </a:extLst>
          </p:cNvPr>
          <p:cNvPicPr>
            <a:picLocks noChangeAspect="1"/>
          </p:cNvPicPr>
          <p:nvPr/>
        </p:nvPicPr>
        <p:blipFill>
          <a:blip r:embed="rId3"/>
          <a:stretch>
            <a:fillRect/>
          </a:stretch>
        </p:blipFill>
        <p:spPr>
          <a:xfrm>
            <a:off x="4776285" y="1419345"/>
            <a:ext cx="2044706" cy="1281349"/>
          </a:xfrm>
          <a:prstGeom prst="rect">
            <a:avLst/>
          </a:prstGeom>
        </p:spPr>
      </p:pic>
      <p:pic>
        <p:nvPicPr>
          <p:cNvPr id="6" name="Picture 5">
            <a:extLst>
              <a:ext uri="{FF2B5EF4-FFF2-40B4-BE49-F238E27FC236}">
                <a16:creationId xmlns:a16="http://schemas.microsoft.com/office/drawing/2014/main" id="{D9F0DBF0-DB47-CCF4-16D3-42C30A601CC5}"/>
              </a:ext>
            </a:extLst>
          </p:cNvPr>
          <p:cNvPicPr>
            <a:picLocks noChangeAspect="1"/>
          </p:cNvPicPr>
          <p:nvPr/>
        </p:nvPicPr>
        <p:blipFill>
          <a:blip r:embed="rId4"/>
          <a:stretch>
            <a:fillRect/>
          </a:stretch>
        </p:blipFill>
        <p:spPr>
          <a:xfrm>
            <a:off x="825519" y="3133859"/>
            <a:ext cx="8564115" cy="1625306"/>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0D263DB-DEF7-E1D1-ABED-277779051B46}"/>
                  </a:ext>
                </a:extLst>
              </p:cNvPr>
              <p:cNvSpPr txBox="1"/>
              <p:nvPr/>
            </p:nvSpPr>
            <p:spPr>
              <a:xfrm>
                <a:off x="868876" y="4894102"/>
                <a:ext cx="210401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ea typeface="Cambria Math" panose="02040503050406030204" pitchFamily="18" charset="0"/>
                        </a:rPr>
                        <m:t>t</m:t>
                      </m:r>
                      <m:r>
                        <a:rPr lang="en-US" b="0" i="1" smtClean="0">
                          <a:latin typeface="Cambria Math" panose="02040503050406030204" pitchFamily="18" charset="0"/>
                          <a:ea typeface="Cambria Math" panose="02040503050406030204" pitchFamily="18" charset="0"/>
                        </a:rPr>
                        <m:t>=±1.810906</m:t>
                      </m:r>
                    </m:oMath>
                  </m:oMathPara>
                </a14:m>
                <a:endParaRPr lang="en-US" dirty="0"/>
              </a:p>
            </p:txBody>
          </p:sp>
        </mc:Choice>
        <mc:Fallback xmlns="">
          <p:sp>
            <p:nvSpPr>
              <p:cNvPr id="7" name="TextBox 6">
                <a:extLst>
                  <a:ext uri="{FF2B5EF4-FFF2-40B4-BE49-F238E27FC236}">
                    <a16:creationId xmlns:a16="http://schemas.microsoft.com/office/drawing/2014/main" id="{E0D263DB-DEF7-E1D1-ABED-277779051B46}"/>
                  </a:ext>
                </a:extLst>
              </p:cNvPr>
              <p:cNvSpPr txBox="1">
                <a:spLocks noRot="1" noChangeAspect="1" noMove="1" noResize="1" noEditPoints="1" noAdjustHandles="1" noChangeArrowheads="1" noChangeShapeType="1" noTextEdit="1"/>
              </p:cNvSpPr>
              <p:nvPr/>
            </p:nvSpPr>
            <p:spPr>
              <a:xfrm>
                <a:off x="868876" y="4894102"/>
                <a:ext cx="2104012" cy="276999"/>
              </a:xfrm>
              <a:prstGeom prst="rect">
                <a:avLst/>
              </a:prstGeom>
              <a:blipFill>
                <a:blip r:embed="rId5"/>
                <a:stretch>
                  <a:fillRect b="-15556"/>
                </a:stretch>
              </a:blipFill>
            </p:spPr>
            <p:txBody>
              <a:bodyPr/>
              <a:lstStyle/>
              <a:p>
                <a:r>
                  <a:rPr lang="en-US">
                    <a:noFill/>
                  </a:rPr>
                  <a:t> </a:t>
                </a:r>
              </a:p>
            </p:txBody>
          </p:sp>
        </mc:Fallback>
      </mc:AlternateContent>
    </p:spTree>
    <p:extLst>
      <p:ext uri="{BB962C8B-B14F-4D97-AF65-F5344CB8AC3E}">
        <p14:creationId xmlns:p14="http://schemas.microsoft.com/office/powerpoint/2010/main" val="1196336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0262F-BED4-36F5-5EE5-065D4C2EF516}"/>
              </a:ext>
            </a:extLst>
          </p:cNvPr>
          <p:cNvSpPr>
            <a:spLocks noGrp="1"/>
          </p:cNvSpPr>
          <p:nvPr>
            <p:ph type="title"/>
          </p:nvPr>
        </p:nvSpPr>
        <p:spPr/>
        <p:txBody>
          <a:bodyPr/>
          <a:lstStyle/>
          <a:p>
            <a:r>
              <a:rPr lang="en-US" dirty="0"/>
              <a:t>Step 4. P Value</a:t>
            </a:r>
          </a:p>
        </p:txBody>
      </p:sp>
      <p:sp>
        <p:nvSpPr>
          <p:cNvPr id="3" name="TextBox 2">
            <a:extLst>
              <a:ext uri="{FF2B5EF4-FFF2-40B4-BE49-F238E27FC236}">
                <a16:creationId xmlns:a16="http://schemas.microsoft.com/office/drawing/2014/main" id="{4F4BEF03-FF0C-ABB1-B47D-59CD7B5E4F79}"/>
              </a:ext>
            </a:extLst>
          </p:cNvPr>
          <p:cNvSpPr txBox="1"/>
          <p:nvPr/>
        </p:nvSpPr>
        <p:spPr>
          <a:xfrm>
            <a:off x="1295400" y="1846489"/>
            <a:ext cx="3219450" cy="2031325"/>
          </a:xfrm>
          <a:prstGeom prst="rect">
            <a:avLst/>
          </a:prstGeom>
          <a:noFill/>
        </p:spPr>
        <p:txBody>
          <a:bodyPr wrap="square" rtlCol="0">
            <a:spAutoFit/>
          </a:bodyPr>
          <a:lstStyle/>
          <a:p>
            <a:r>
              <a:rPr lang="en-US" dirty="0"/>
              <a:t>Find the </a:t>
            </a:r>
            <a:r>
              <a:rPr lang="en-US" b="1" i="1" dirty="0"/>
              <a:t>p</a:t>
            </a:r>
            <a:r>
              <a:rPr lang="en-US" b="1" dirty="0"/>
              <a:t>-value</a:t>
            </a:r>
            <a:r>
              <a:rPr lang="en-US" dirty="0"/>
              <a:t>: the probability of observing something as extreme or more extreme than what was observed, by random chance, under the assumption that the null hypothesis is true.</a:t>
            </a:r>
          </a:p>
        </p:txBody>
      </p:sp>
      <p:sp>
        <p:nvSpPr>
          <p:cNvPr id="6" name="TextBox 5">
            <a:extLst>
              <a:ext uri="{FF2B5EF4-FFF2-40B4-BE49-F238E27FC236}">
                <a16:creationId xmlns:a16="http://schemas.microsoft.com/office/drawing/2014/main" id="{2726AB65-77C3-6F2C-5031-1563E61D2174}"/>
              </a:ext>
            </a:extLst>
          </p:cNvPr>
          <p:cNvSpPr txBox="1"/>
          <p:nvPr/>
        </p:nvSpPr>
        <p:spPr>
          <a:xfrm>
            <a:off x="5598241" y="2688762"/>
            <a:ext cx="3581900" cy="923330"/>
          </a:xfrm>
          <a:prstGeom prst="rect">
            <a:avLst/>
          </a:prstGeom>
          <a:noFill/>
        </p:spPr>
        <p:txBody>
          <a:bodyPr wrap="square" rtlCol="0">
            <a:spAutoFit/>
          </a:bodyPr>
          <a:lstStyle/>
          <a:p>
            <a:r>
              <a:rPr lang="en-US" dirty="0"/>
              <a:t>Using R to calculate the p-value, we see there’s about a 9% chance that our H0 is true.</a:t>
            </a:r>
          </a:p>
        </p:txBody>
      </p:sp>
      <p:pic>
        <p:nvPicPr>
          <p:cNvPr id="8" name="Picture 7">
            <a:extLst>
              <a:ext uri="{FF2B5EF4-FFF2-40B4-BE49-F238E27FC236}">
                <a16:creationId xmlns:a16="http://schemas.microsoft.com/office/drawing/2014/main" id="{20B5925B-EFAE-3441-7A8B-26DDCC5A6C79}"/>
              </a:ext>
            </a:extLst>
          </p:cNvPr>
          <p:cNvPicPr>
            <a:picLocks noChangeAspect="1"/>
          </p:cNvPicPr>
          <p:nvPr/>
        </p:nvPicPr>
        <p:blipFill>
          <a:blip r:embed="rId2"/>
          <a:stretch>
            <a:fillRect/>
          </a:stretch>
        </p:blipFill>
        <p:spPr>
          <a:xfrm>
            <a:off x="1295400" y="3967092"/>
            <a:ext cx="8543834" cy="1817591"/>
          </a:xfrm>
          <a:prstGeom prst="rect">
            <a:avLst/>
          </a:prstGeom>
        </p:spPr>
      </p:pic>
    </p:spTree>
    <p:extLst>
      <p:ext uri="{BB962C8B-B14F-4D97-AF65-F5344CB8AC3E}">
        <p14:creationId xmlns:p14="http://schemas.microsoft.com/office/powerpoint/2010/main" val="1408777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1D4E5-5DA7-2516-04A8-3237AFC198A3}"/>
              </a:ext>
            </a:extLst>
          </p:cNvPr>
          <p:cNvSpPr>
            <a:spLocks noGrp="1"/>
          </p:cNvSpPr>
          <p:nvPr>
            <p:ph type="title"/>
          </p:nvPr>
        </p:nvSpPr>
        <p:spPr/>
        <p:txBody>
          <a:bodyPr/>
          <a:lstStyle/>
          <a:p>
            <a:r>
              <a:rPr lang="en-US" dirty="0"/>
              <a:t>Step 5. Decision</a:t>
            </a:r>
          </a:p>
        </p:txBody>
      </p:sp>
      <p:sp>
        <p:nvSpPr>
          <p:cNvPr id="3" name="TextBox 2">
            <a:extLst>
              <a:ext uri="{FF2B5EF4-FFF2-40B4-BE49-F238E27FC236}">
                <a16:creationId xmlns:a16="http://schemas.microsoft.com/office/drawing/2014/main" id="{0B8427CE-408A-B821-F3EE-492CEF4F1A26}"/>
              </a:ext>
            </a:extLst>
          </p:cNvPr>
          <p:cNvSpPr txBox="1"/>
          <p:nvPr/>
        </p:nvSpPr>
        <p:spPr>
          <a:xfrm>
            <a:off x="1201783" y="1690688"/>
            <a:ext cx="2913017" cy="2031325"/>
          </a:xfrm>
          <a:prstGeom prst="rect">
            <a:avLst/>
          </a:prstGeom>
          <a:noFill/>
        </p:spPr>
        <p:txBody>
          <a:bodyPr wrap="square" rtlCol="0">
            <a:spAutoFit/>
          </a:bodyPr>
          <a:lstStyle/>
          <a:p>
            <a:r>
              <a:rPr lang="en-US" dirty="0"/>
              <a:t>Where does my observed statistic fall relative to the rejection regions?</a:t>
            </a:r>
            <a:br>
              <a:rPr lang="en-US" dirty="0"/>
            </a:br>
            <a:br>
              <a:rPr lang="en-US" dirty="0"/>
            </a:br>
            <a:r>
              <a:rPr lang="en-US" dirty="0"/>
              <a:t>It falls inside the non-shaded area, so we fail to reject the null hypothesis.</a:t>
            </a:r>
          </a:p>
        </p:txBody>
      </p:sp>
      <p:pic>
        <p:nvPicPr>
          <p:cNvPr id="5" name="Picture 4">
            <a:extLst>
              <a:ext uri="{FF2B5EF4-FFF2-40B4-BE49-F238E27FC236}">
                <a16:creationId xmlns:a16="http://schemas.microsoft.com/office/drawing/2014/main" id="{572E4CEB-7CF9-F729-CCB3-18DFA2D5C2E4}"/>
              </a:ext>
            </a:extLst>
          </p:cNvPr>
          <p:cNvPicPr>
            <a:picLocks noChangeAspect="1"/>
          </p:cNvPicPr>
          <p:nvPr/>
        </p:nvPicPr>
        <p:blipFill>
          <a:blip r:embed="rId2"/>
          <a:stretch>
            <a:fillRect/>
          </a:stretch>
        </p:blipFill>
        <p:spPr>
          <a:xfrm>
            <a:off x="4642665" y="1690688"/>
            <a:ext cx="6506483" cy="4182059"/>
          </a:xfrm>
          <a:prstGeom prst="rect">
            <a:avLst/>
          </a:prstGeom>
        </p:spPr>
      </p:pic>
    </p:spTree>
    <p:extLst>
      <p:ext uri="{BB962C8B-B14F-4D97-AF65-F5344CB8AC3E}">
        <p14:creationId xmlns:p14="http://schemas.microsoft.com/office/powerpoint/2010/main" val="700227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C37B6-2308-AF3F-8AFC-5379C7943D9E}"/>
              </a:ext>
            </a:extLst>
          </p:cNvPr>
          <p:cNvSpPr>
            <a:spLocks noGrp="1"/>
          </p:cNvSpPr>
          <p:nvPr>
            <p:ph type="title"/>
          </p:nvPr>
        </p:nvSpPr>
        <p:spPr/>
        <p:txBody>
          <a:bodyPr/>
          <a:lstStyle/>
          <a:p>
            <a:r>
              <a:rPr lang="en-US" dirty="0"/>
              <a:t>Step 6. Conclusion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04C5AD2-2CFF-B517-8223-06066AAC7526}"/>
                  </a:ext>
                </a:extLst>
              </p:cNvPr>
              <p:cNvSpPr txBox="1"/>
              <p:nvPr/>
            </p:nvSpPr>
            <p:spPr>
              <a:xfrm>
                <a:off x="838200" y="1541417"/>
                <a:ext cx="4321629" cy="3693319"/>
              </a:xfrm>
              <a:prstGeom prst="rect">
                <a:avLst/>
              </a:prstGeom>
              <a:noFill/>
            </p:spPr>
            <p:txBody>
              <a:bodyPr wrap="square" rtlCol="0">
                <a:spAutoFit/>
              </a:bodyPr>
              <a:lstStyle/>
              <a:p>
                <a:r>
                  <a:rPr lang="en-US" dirty="0"/>
                  <a:t>Conclusion: Fail to reject H0</a:t>
                </a:r>
                <a:br>
                  <a:rPr lang="en-US" dirty="0"/>
                </a:br>
                <a:br>
                  <a:rPr lang="en-US" dirty="0"/>
                </a:br>
                <a:r>
                  <a:rPr lang="en-US" dirty="0"/>
                  <a:t>There is sufficient evidence to suggest (</a:t>
                </a:r>
                <a:r>
                  <a:rPr lang="en-US" i="1" dirty="0"/>
                  <a:t>p</a:t>
                </a:r>
                <a:r>
                  <a:rPr lang="en-US" dirty="0"/>
                  <a:t>-value = .091) the mean agility rating of left forwards is different than the mean agility rating of left midfielders. </a:t>
                </a:r>
                <a:br>
                  <a:rPr lang="en-US" dirty="0"/>
                </a:br>
                <a:br>
                  <a:rPr lang="en-US" dirty="0"/>
                </a:br>
                <a:r>
                  <a:rPr lang="en-US" dirty="0"/>
                  <a:t>The observed test statistic </a:t>
                </a:r>
                <a14:m>
                  <m:oMath xmlns:m="http://schemas.openxmlformats.org/officeDocument/2006/math">
                    <m:r>
                      <a:rPr lang="en-US" i="1">
                        <a:latin typeface="Cambria Math" panose="02040503050406030204" pitchFamily="18" charset="0"/>
                      </a:rPr>
                      <m:t>𝑡</m:t>
                    </m:r>
                    <m:r>
                      <a:rPr lang="en-US">
                        <a:latin typeface="Cambria Math" panose="02040503050406030204" pitchFamily="18" charset="0"/>
                      </a:rPr>
                      <m:t>=1.81</m:t>
                    </m:r>
                  </m:oMath>
                </a14:m>
                <a:r>
                  <a:rPr lang="en-US" dirty="0"/>
                  <a:t>is shown on the sampling distribution. Because it does not fall within either rejection region, we fail to reject the null hypothesis at the 0.05 significance level.</a:t>
                </a:r>
                <a:br>
                  <a:rPr lang="en-US" dirty="0"/>
                </a:br>
                <a:endParaRPr lang="en-US" dirty="0"/>
              </a:p>
            </p:txBody>
          </p:sp>
        </mc:Choice>
        <mc:Fallback xmlns="">
          <p:sp>
            <p:nvSpPr>
              <p:cNvPr id="3" name="TextBox 2">
                <a:extLst>
                  <a:ext uri="{FF2B5EF4-FFF2-40B4-BE49-F238E27FC236}">
                    <a16:creationId xmlns:a16="http://schemas.microsoft.com/office/drawing/2014/main" id="{D04C5AD2-2CFF-B517-8223-06066AAC7526}"/>
                  </a:ext>
                </a:extLst>
              </p:cNvPr>
              <p:cNvSpPr txBox="1">
                <a:spLocks noRot="1" noChangeAspect="1" noMove="1" noResize="1" noEditPoints="1" noAdjustHandles="1" noChangeArrowheads="1" noChangeShapeType="1" noTextEdit="1"/>
              </p:cNvSpPr>
              <p:nvPr/>
            </p:nvSpPr>
            <p:spPr>
              <a:xfrm>
                <a:off x="838200" y="1541417"/>
                <a:ext cx="4321629" cy="3693319"/>
              </a:xfrm>
              <a:prstGeom prst="rect">
                <a:avLst/>
              </a:prstGeom>
              <a:blipFill>
                <a:blip r:embed="rId2"/>
                <a:stretch>
                  <a:fillRect l="-1271" t="-825" r="-42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AC3B0FCD-1999-BD47-7DED-61D30C5271F6}"/>
              </a:ext>
            </a:extLst>
          </p:cNvPr>
          <p:cNvPicPr>
            <a:picLocks noChangeAspect="1"/>
          </p:cNvPicPr>
          <p:nvPr/>
        </p:nvPicPr>
        <p:blipFill>
          <a:blip r:embed="rId3"/>
          <a:stretch>
            <a:fillRect/>
          </a:stretch>
        </p:blipFill>
        <p:spPr>
          <a:xfrm>
            <a:off x="5413374" y="1337970"/>
            <a:ext cx="6506483" cy="4182059"/>
          </a:xfrm>
          <a:prstGeom prst="rect">
            <a:avLst/>
          </a:prstGeom>
        </p:spPr>
      </p:pic>
    </p:spTree>
    <p:extLst>
      <p:ext uri="{BB962C8B-B14F-4D97-AF65-F5344CB8AC3E}">
        <p14:creationId xmlns:p14="http://schemas.microsoft.com/office/powerpoint/2010/main" val="3326761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2DB86-1F09-93F2-0146-7F9E9685FC90}"/>
              </a:ext>
            </a:extLst>
          </p:cNvPr>
          <p:cNvSpPr>
            <a:spLocks noGrp="1"/>
          </p:cNvSpPr>
          <p:nvPr>
            <p:ph type="title"/>
          </p:nvPr>
        </p:nvSpPr>
        <p:spPr/>
        <p:txBody>
          <a:bodyPr>
            <a:normAutofit/>
          </a:bodyPr>
          <a:lstStyle/>
          <a:p>
            <a:r>
              <a:rPr lang="en-US" sz="4000" dirty="0"/>
              <a:t>Are the assumptions of this test reasonably met?</a:t>
            </a:r>
          </a:p>
        </p:txBody>
      </p:sp>
      <p:pic>
        <p:nvPicPr>
          <p:cNvPr id="5" name="Picture 4">
            <a:extLst>
              <a:ext uri="{FF2B5EF4-FFF2-40B4-BE49-F238E27FC236}">
                <a16:creationId xmlns:a16="http://schemas.microsoft.com/office/drawing/2014/main" id="{EE1C752E-0889-4705-4487-9C225982F484}"/>
              </a:ext>
            </a:extLst>
          </p:cNvPr>
          <p:cNvPicPr>
            <a:picLocks noChangeAspect="1"/>
          </p:cNvPicPr>
          <p:nvPr/>
        </p:nvPicPr>
        <p:blipFill>
          <a:blip r:embed="rId3"/>
          <a:stretch>
            <a:fillRect/>
          </a:stretch>
        </p:blipFill>
        <p:spPr>
          <a:xfrm>
            <a:off x="15684" y="1429079"/>
            <a:ext cx="6080316" cy="3835143"/>
          </a:xfrm>
          <a:prstGeom prst="rect">
            <a:avLst/>
          </a:prstGeom>
        </p:spPr>
      </p:pic>
      <p:pic>
        <p:nvPicPr>
          <p:cNvPr id="7" name="Picture 6">
            <a:extLst>
              <a:ext uri="{FF2B5EF4-FFF2-40B4-BE49-F238E27FC236}">
                <a16:creationId xmlns:a16="http://schemas.microsoft.com/office/drawing/2014/main" id="{A79FCAC4-1E7B-49B4-43A1-CA0C5A7501B9}"/>
              </a:ext>
            </a:extLst>
          </p:cNvPr>
          <p:cNvPicPr>
            <a:picLocks noChangeAspect="1"/>
          </p:cNvPicPr>
          <p:nvPr/>
        </p:nvPicPr>
        <p:blipFill>
          <a:blip r:embed="rId4"/>
          <a:stretch>
            <a:fillRect/>
          </a:stretch>
        </p:blipFill>
        <p:spPr>
          <a:xfrm>
            <a:off x="6087411" y="1429079"/>
            <a:ext cx="6088905" cy="3756984"/>
          </a:xfrm>
          <a:prstGeom prst="rect">
            <a:avLst/>
          </a:prstGeom>
        </p:spPr>
      </p:pic>
      <p:sp>
        <p:nvSpPr>
          <p:cNvPr id="12" name="TextBox 11">
            <a:extLst>
              <a:ext uri="{FF2B5EF4-FFF2-40B4-BE49-F238E27FC236}">
                <a16:creationId xmlns:a16="http://schemas.microsoft.com/office/drawing/2014/main" id="{7EA3740C-1313-84C6-5D5B-5977CAE3C85A}"/>
              </a:ext>
            </a:extLst>
          </p:cNvPr>
          <p:cNvSpPr txBox="1"/>
          <p:nvPr/>
        </p:nvSpPr>
        <p:spPr>
          <a:xfrm>
            <a:off x="548640" y="5378938"/>
            <a:ext cx="10489474" cy="923330"/>
          </a:xfrm>
          <a:prstGeom prst="rect">
            <a:avLst/>
          </a:prstGeom>
          <a:noFill/>
          <a:ln>
            <a:solidFill>
              <a:schemeClr val="tx1"/>
            </a:solidFill>
          </a:ln>
        </p:spPr>
        <p:txBody>
          <a:bodyPr wrap="square" rtlCol="0">
            <a:spAutoFit/>
          </a:bodyPr>
          <a:lstStyle/>
          <a:p>
            <a:r>
              <a:rPr lang="en-US" dirty="0"/>
              <a:t>The sampling distribution of sample means for sample size n=15 will not be reasonably normal, however for n=1095 it is reasonably normal. From the histograms, it is unclear whether the standard deviations are different.</a:t>
            </a:r>
          </a:p>
        </p:txBody>
      </p:sp>
    </p:spTree>
    <p:extLst>
      <p:ext uri="{BB962C8B-B14F-4D97-AF65-F5344CB8AC3E}">
        <p14:creationId xmlns:p14="http://schemas.microsoft.com/office/powerpoint/2010/main" val="2676666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5E7B6-1FF7-C161-FB9C-10F6493A341D}"/>
              </a:ext>
            </a:extLst>
          </p:cNvPr>
          <p:cNvSpPr>
            <a:spLocks noGrp="1"/>
          </p:cNvSpPr>
          <p:nvPr>
            <p:ph type="title"/>
          </p:nvPr>
        </p:nvSpPr>
        <p:spPr/>
        <p:txBody>
          <a:bodyPr/>
          <a:lstStyle/>
          <a:p>
            <a:r>
              <a:rPr lang="en-US" dirty="0"/>
              <a:t>Dataset and Variables of Interest – Heart.csv</a:t>
            </a:r>
          </a:p>
        </p:txBody>
      </p:sp>
      <p:sp>
        <p:nvSpPr>
          <p:cNvPr id="3" name="TextBox 2">
            <a:extLst>
              <a:ext uri="{FF2B5EF4-FFF2-40B4-BE49-F238E27FC236}">
                <a16:creationId xmlns:a16="http://schemas.microsoft.com/office/drawing/2014/main" id="{ECC8C262-20ED-BF5E-79FF-B0EBA943726A}"/>
              </a:ext>
            </a:extLst>
          </p:cNvPr>
          <p:cNvSpPr txBox="1"/>
          <p:nvPr/>
        </p:nvSpPr>
        <p:spPr>
          <a:xfrm>
            <a:off x="533400" y="2594888"/>
            <a:ext cx="8450875" cy="3416320"/>
          </a:xfrm>
          <a:prstGeom prst="rect">
            <a:avLst/>
          </a:prstGeom>
          <a:noFill/>
        </p:spPr>
        <p:txBody>
          <a:bodyPr wrap="square" rtlCol="0">
            <a:spAutoFit/>
          </a:bodyPr>
          <a:lstStyle/>
          <a:p>
            <a:endParaRPr lang="en-US" dirty="0"/>
          </a:p>
          <a:p>
            <a:r>
              <a:rPr lang="en-US" u="sng" dirty="0"/>
              <a:t>Categorical Variables</a:t>
            </a:r>
          </a:p>
          <a:p>
            <a:r>
              <a:rPr lang="en-US" dirty="0"/>
              <a:t>“cp” is type of chest pain: Typical Angina= 0, atypical angina= 1, non-anginal pain= 2, asymptomatic= 3</a:t>
            </a:r>
          </a:p>
          <a:p>
            <a:r>
              <a:rPr lang="en-US" dirty="0"/>
              <a:t>“sex” is male: 0 or female: 1</a:t>
            </a:r>
          </a:p>
          <a:p>
            <a:endParaRPr lang="en-US" dirty="0"/>
          </a:p>
          <a:p>
            <a:r>
              <a:rPr lang="en-US" u="sng" dirty="0"/>
              <a:t>Continuous Variables</a:t>
            </a:r>
          </a:p>
          <a:p>
            <a:r>
              <a:rPr lang="en-US" dirty="0"/>
              <a:t>“age” is the age in years, ranging from 29 to 77</a:t>
            </a:r>
          </a:p>
          <a:p>
            <a:r>
              <a:rPr lang="en-US" dirty="0"/>
              <a:t>“</a:t>
            </a:r>
            <a:r>
              <a:rPr lang="en-US" dirty="0" err="1"/>
              <a:t>oldpeak</a:t>
            </a:r>
            <a:r>
              <a:rPr lang="en-US" dirty="0"/>
              <a:t>” is proportional to the millimeters of ST depression induced by exercise relative to rest. </a:t>
            </a:r>
            <a:r>
              <a:rPr lang="en-US" b="1" dirty="0"/>
              <a:t>ST depression</a:t>
            </a:r>
            <a:r>
              <a:rPr lang="en-US" dirty="0"/>
              <a:t> reflects reduced blood flow to the heart muscle during stress, and larger depressions indicate more severe exercise-induced ischemia. </a:t>
            </a:r>
            <a:r>
              <a:rPr lang="en-US" dirty="0" err="1"/>
              <a:t>Oldpeak</a:t>
            </a:r>
            <a:r>
              <a:rPr lang="en-US" dirty="0"/>
              <a:t> ranges from 0 to 6.2</a:t>
            </a:r>
          </a:p>
        </p:txBody>
      </p:sp>
      <p:pic>
        <p:nvPicPr>
          <p:cNvPr id="5" name="Picture 4">
            <a:extLst>
              <a:ext uri="{FF2B5EF4-FFF2-40B4-BE49-F238E27FC236}">
                <a16:creationId xmlns:a16="http://schemas.microsoft.com/office/drawing/2014/main" id="{762D2EEC-A095-E644-1E40-858868E02663}"/>
              </a:ext>
            </a:extLst>
          </p:cNvPr>
          <p:cNvPicPr>
            <a:picLocks noChangeAspect="1"/>
          </p:cNvPicPr>
          <p:nvPr/>
        </p:nvPicPr>
        <p:blipFill>
          <a:blip r:embed="rId2"/>
          <a:stretch>
            <a:fillRect/>
          </a:stretch>
        </p:blipFill>
        <p:spPr>
          <a:xfrm>
            <a:off x="9035075" y="2828251"/>
            <a:ext cx="2902925" cy="3148012"/>
          </a:xfrm>
          <a:prstGeom prst="rect">
            <a:avLst/>
          </a:prstGeom>
        </p:spPr>
      </p:pic>
      <p:sp>
        <p:nvSpPr>
          <p:cNvPr id="6" name="TextBox 5">
            <a:extLst>
              <a:ext uri="{FF2B5EF4-FFF2-40B4-BE49-F238E27FC236}">
                <a16:creationId xmlns:a16="http://schemas.microsoft.com/office/drawing/2014/main" id="{6EB21841-FE49-2520-7319-E6CD46585DEA}"/>
              </a:ext>
            </a:extLst>
          </p:cNvPr>
          <p:cNvSpPr txBox="1"/>
          <p:nvPr/>
        </p:nvSpPr>
        <p:spPr>
          <a:xfrm>
            <a:off x="533400" y="1502688"/>
            <a:ext cx="11404600" cy="1477328"/>
          </a:xfrm>
          <a:prstGeom prst="rect">
            <a:avLst/>
          </a:prstGeom>
          <a:noFill/>
        </p:spPr>
        <p:txBody>
          <a:bodyPr wrap="square" rtlCol="0">
            <a:spAutoFit/>
          </a:bodyPr>
          <a:lstStyle/>
          <a:p>
            <a:r>
              <a:rPr lang="en-US" dirty="0"/>
              <a:t>This dataset is derived from the </a:t>
            </a:r>
            <a:r>
              <a:rPr lang="en-US" b="1" dirty="0"/>
              <a:t>UCI Heart Disease dataset</a:t>
            </a:r>
            <a:r>
              <a:rPr lang="en-US" dirty="0"/>
              <a:t>, which aggregates clinical data collected from patients </a:t>
            </a:r>
            <a:r>
              <a:rPr lang="en-US" u="sng" dirty="0"/>
              <a:t>undergoing cardiac evaluation </a:t>
            </a:r>
            <a:r>
              <a:rPr lang="en-US" dirty="0"/>
              <a:t>at several hospitals, including Cleveland Clinic and other international centers. The Kaggle version is a cleaned and consolidated subset commonly used for teaching EDA and classification methods.</a:t>
            </a:r>
          </a:p>
          <a:p>
            <a:endParaRPr lang="en-US" dirty="0"/>
          </a:p>
        </p:txBody>
      </p:sp>
    </p:spTree>
    <p:extLst>
      <p:ext uri="{BB962C8B-B14F-4D97-AF65-F5344CB8AC3E}">
        <p14:creationId xmlns:p14="http://schemas.microsoft.com/office/powerpoint/2010/main" val="2157937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E7329-4E87-18CD-C5F1-DEB30152140F}"/>
              </a:ext>
            </a:extLst>
          </p:cNvPr>
          <p:cNvSpPr>
            <a:spLocks noGrp="1"/>
          </p:cNvSpPr>
          <p:nvPr>
            <p:ph type="title"/>
          </p:nvPr>
        </p:nvSpPr>
        <p:spPr/>
        <p:txBody>
          <a:bodyPr/>
          <a:lstStyle/>
          <a:p>
            <a:r>
              <a:rPr lang="en-US" dirty="0" err="1"/>
              <a:t>Ggpairs</a:t>
            </a:r>
            <a:r>
              <a:rPr lang="en-US" dirty="0"/>
              <a:t> plots of 5 selected variables</a:t>
            </a:r>
          </a:p>
        </p:txBody>
      </p:sp>
      <p:pic>
        <p:nvPicPr>
          <p:cNvPr id="4" name="Picture 3">
            <a:extLst>
              <a:ext uri="{FF2B5EF4-FFF2-40B4-BE49-F238E27FC236}">
                <a16:creationId xmlns:a16="http://schemas.microsoft.com/office/drawing/2014/main" id="{8B685261-1608-200A-036A-DAFA60DB3CE9}"/>
              </a:ext>
            </a:extLst>
          </p:cNvPr>
          <p:cNvPicPr>
            <a:picLocks noChangeAspect="1"/>
          </p:cNvPicPr>
          <p:nvPr/>
        </p:nvPicPr>
        <p:blipFill>
          <a:blip r:embed="rId3"/>
          <a:stretch>
            <a:fillRect/>
          </a:stretch>
        </p:blipFill>
        <p:spPr>
          <a:xfrm>
            <a:off x="676729" y="1690688"/>
            <a:ext cx="7987768" cy="4888872"/>
          </a:xfrm>
          <a:prstGeom prst="rect">
            <a:avLst/>
          </a:prstGeom>
        </p:spPr>
      </p:pic>
      <p:sp>
        <p:nvSpPr>
          <p:cNvPr id="5" name="TextBox 4">
            <a:extLst>
              <a:ext uri="{FF2B5EF4-FFF2-40B4-BE49-F238E27FC236}">
                <a16:creationId xmlns:a16="http://schemas.microsoft.com/office/drawing/2014/main" id="{E5D9C0D9-EA10-C345-24D6-1912A44C361A}"/>
              </a:ext>
            </a:extLst>
          </p:cNvPr>
          <p:cNvSpPr txBox="1"/>
          <p:nvPr/>
        </p:nvSpPr>
        <p:spPr>
          <a:xfrm>
            <a:off x="9537700" y="469900"/>
            <a:ext cx="2462957" cy="6278642"/>
          </a:xfrm>
          <a:prstGeom prst="rect">
            <a:avLst/>
          </a:prstGeom>
          <a:noFill/>
        </p:spPr>
        <p:txBody>
          <a:bodyPr wrap="square" rtlCol="0">
            <a:spAutoFit/>
          </a:bodyPr>
          <a:lstStyle/>
          <a:p>
            <a:r>
              <a:rPr lang="en-US" u="sng" dirty="0"/>
              <a:t>Observations</a:t>
            </a:r>
          </a:p>
          <a:p>
            <a:pPr marL="285750" indent="-285750">
              <a:buFont typeface="Arial" panose="020B0604020202020204" pitchFamily="34" charset="0"/>
              <a:buChar char="•"/>
            </a:pPr>
            <a:r>
              <a:rPr lang="en-US" sz="1600" dirty="0"/>
              <a:t>There are more outliers in the age distribution of patients not diagnosed than diagnosed.</a:t>
            </a:r>
          </a:p>
          <a:p>
            <a:pPr marL="285750" indent="-285750">
              <a:buFont typeface="Arial" panose="020B0604020202020204" pitchFamily="34" charset="0"/>
              <a:buChar char="•"/>
            </a:pPr>
            <a:r>
              <a:rPr lang="en-US" sz="1600" dirty="0"/>
              <a:t>In the age histograms, the spread for those diagnosed is centered around a higher age than for those not diagnosed.</a:t>
            </a:r>
          </a:p>
          <a:p>
            <a:pPr marL="285750" indent="-285750">
              <a:buFont typeface="Arial" panose="020B0604020202020204" pitchFamily="34" charset="0"/>
              <a:buChar char="•"/>
            </a:pPr>
            <a:r>
              <a:rPr lang="en-US" sz="1600" dirty="0"/>
              <a:t>In the stacked bar plots of </a:t>
            </a:r>
            <a:r>
              <a:rPr lang="en-US" sz="1600" dirty="0" err="1"/>
              <a:t>oldpeak</a:t>
            </a:r>
            <a:r>
              <a:rPr lang="en-US" sz="1600" dirty="0"/>
              <a:t>, there is a positive correlation between the </a:t>
            </a:r>
            <a:r>
              <a:rPr lang="en-US" sz="1600" dirty="0" err="1"/>
              <a:t>oldpeak</a:t>
            </a:r>
            <a:r>
              <a:rPr lang="en-US" sz="1600" dirty="0"/>
              <a:t> value and the number of patients diagnosed.</a:t>
            </a:r>
          </a:p>
          <a:p>
            <a:pPr marL="285750" indent="-285750">
              <a:buFont typeface="Arial" panose="020B0604020202020204" pitchFamily="34" charset="0"/>
              <a:buChar char="•"/>
            </a:pPr>
            <a:r>
              <a:rPr lang="en-US" sz="1600" dirty="0"/>
              <a:t>In the stacked bar plot of target, it looks like a higher proportion of females are diagnosed with heart disease than males.</a:t>
            </a:r>
          </a:p>
        </p:txBody>
      </p:sp>
      <p:sp>
        <p:nvSpPr>
          <p:cNvPr id="6" name="Rectangle: Rounded Corners 5">
            <a:extLst>
              <a:ext uri="{FF2B5EF4-FFF2-40B4-BE49-F238E27FC236}">
                <a16:creationId xmlns:a16="http://schemas.microsoft.com/office/drawing/2014/main" id="{6C668A04-CECD-8024-AC98-6C9B8843433A}"/>
              </a:ext>
            </a:extLst>
          </p:cNvPr>
          <p:cNvSpPr/>
          <p:nvPr/>
        </p:nvSpPr>
        <p:spPr>
          <a:xfrm>
            <a:off x="6807200" y="5372100"/>
            <a:ext cx="1752600" cy="13081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548A4103-0047-FEF6-022C-093E8FA9A856}"/>
              </a:ext>
            </a:extLst>
          </p:cNvPr>
          <p:cNvSpPr/>
          <p:nvPr/>
        </p:nvSpPr>
        <p:spPr>
          <a:xfrm>
            <a:off x="901700" y="5372100"/>
            <a:ext cx="1752600" cy="13081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3FF71593-7895-EFD6-CE97-3607BCFCD701}"/>
              </a:ext>
            </a:extLst>
          </p:cNvPr>
          <p:cNvSpPr/>
          <p:nvPr/>
        </p:nvSpPr>
        <p:spPr>
          <a:xfrm>
            <a:off x="3632201" y="5321780"/>
            <a:ext cx="1752600" cy="13081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B40D467F-EB8F-CBA0-9676-EAA52A06406C}"/>
              </a:ext>
            </a:extLst>
          </p:cNvPr>
          <p:cNvSpPr/>
          <p:nvPr/>
        </p:nvSpPr>
        <p:spPr>
          <a:xfrm>
            <a:off x="6807200" y="1590048"/>
            <a:ext cx="1752600" cy="13081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AF213FC9-59A9-24B3-7A69-351A3A8CB963}"/>
              </a:ext>
            </a:extLst>
          </p:cNvPr>
          <p:cNvCxnSpPr/>
          <p:nvPr/>
        </p:nvCxnSpPr>
        <p:spPr>
          <a:xfrm flipH="1">
            <a:off x="8191500" y="1066800"/>
            <a:ext cx="1473200" cy="889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42CFB9EC-10E6-AFD7-F606-DC5C34106093}"/>
              </a:ext>
            </a:extLst>
          </p:cNvPr>
          <p:cNvCxnSpPr/>
          <p:nvPr/>
        </p:nvCxnSpPr>
        <p:spPr>
          <a:xfrm flipH="1">
            <a:off x="2425700" y="2362200"/>
            <a:ext cx="7264400" cy="32131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272D0E82-50EA-9EBB-6E3E-048254710B73}"/>
              </a:ext>
            </a:extLst>
          </p:cNvPr>
          <p:cNvCxnSpPr/>
          <p:nvPr/>
        </p:nvCxnSpPr>
        <p:spPr>
          <a:xfrm flipH="1">
            <a:off x="5168900" y="3784600"/>
            <a:ext cx="4495800" cy="21717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B36E5F49-93F6-76FF-73B5-04F120260765}"/>
              </a:ext>
            </a:extLst>
          </p:cNvPr>
          <p:cNvCxnSpPr/>
          <p:nvPr/>
        </p:nvCxnSpPr>
        <p:spPr>
          <a:xfrm flipH="1">
            <a:off x="8559800" y="5575300"/>
            <a:ext cx="1130300" cy="1016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0913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86FF757-320E-8261-90CD-D9CA2D724251}"/>
              </a:ext>
            </a:extLst>
          </p:cNvPr>
          <p:cNvSpPr txBox="1"/>
          <p:nvPr/>
        </p:nvSpPr>
        <p:spPr>
          <a:xfrm>
            <a:off x="7353301" y="642821"/>
            <a:ext cx="4133850" cy="1477328"/>
          </a:xfrm>
          <a:prstGeom prst="rect">
            <a:avLst/>
          </a:prstGeom>
          <a:noFill/>
        </p:spPr>
        <p:txBody>
          <a:bodyPr wrap="square" rtlCol="0">
            <a:spAutoFit/>
          </a:bodyPr>
          <a:lstStyle/>
          <a:p>
            <a:r>
              <a:rPr lang="en-US" dirty="0"/>
              <a:t>Why does this plot show the opposite of what I expected: that the patients diagnosed with heart disease were more likely to have a higher </a:t>
            </a:r>
            <a:r>
              <a:rPr lang="en-US" dirty="0" err="1"/>
              <a:t>Oldpeak</a:t>
            </a:r>
            <a:r>
              <a:rPr lang="en-US" dirty="0"/>
              <a:t>/ST Depression than those not diagnosed?</a:t>
            </a:r>
          </a:p>
        </p:txBody>
      </p:sp>
      <p:sp>
        <p:nvSpPr>
          <p:cNvPr id="9" name="TextBox 8">
            <a:extLst>
              <a:ext uri="{FF2B5EF4-FFF2-40B4-BE49-F238E27FC236}">
                <a16:creationId xmlns:a16="http://schemas.microsoft.com/office/drawing/2014/main" id="{3CD58CD6-5CCA-42ED-3B4A-6952B8CEB373}"/>
              </a:ext>
            </a:extLst>
          </p:cNvPr>
          <p:cNvSpPr txBox="1"/>
          <p:nvPr/>
        </p:nvSpPr>
        <p:spPr>
          <a:xfrm>
            <a:off x="7353301" y="2505670"/>
            <a:ext cx="4238624" cy="2308324"/>
          </a:xfrm>
          <a:prstGeom prst="rect">
            <a:avLst/>
          </a:prstGeom>
          <a:noFill/>
        </p:spPr>
        <p:txBody>
          <a:bodyPr wrap="square">
            <a:spAutoFit/>
          </a:bodyPr>
          <a:lstStyle/>
          <a:p>
            <a:r>
              <a:rPr lang="en-US" dirty="0" err="1"/>
              <a:t>heart_df$oldpeak_cat</a:t>
            </a:r>
            <a:r>
              <a:rPr lang="en-US" dirty="0"/>
              <a:t> &lt;- cut(  </a:t>
            </a:r>
            <a:r>
              <a:rPr lang="en-US" dirty="0" err="1"/>
              <a:t>heart_df$oldpeak</a:t>
            </a:r>
            <a:r>
              <a:rPr lang="en-US" dirty="0"/>
              <a:t>,  breaks = c(-Inf, 0, 1.5, Inf),  labels = c("zero", "normal", "high"))</a:t>
            </a:r>
          </a:p>
          <a:p>
            <a:endParaRPr lang="en-US" dirty="0"/>
          </a:p>
          <a:p>
            <a:r>
              <a:rPr lang="en-US" dirty="0"/>
              <a:t>It would be better to cut the breaks by the quartile range, instead of just choosing random values, but would that be a mistake?</a:t>
            </a:r>
          </a:p>
        </p:txBody>
      </p:sp>
      <p:pic>
        <p:nvPicPr>
          <p:cNvPr id="13" name="Picture 12">
            <a:extLst>
              <a:ext uri="{FF2B5EF4-FFF2-40B4-BE49-F238E27FC236}">
                <a16:creationId xmlns:a16="http://schemas.microsoft.com/office/drawing/2014/main" id="{E9BC02CF-DA00-7C3D-87D0-F751D557285F}"/>
              </a:ext>
            </a:extLst>
          </p:cNvPr>
          <p:cNvPicPr>
            <a:picLocks noChangeAspect="1"/>
          </p:cNvPicPr>
          <p:nvPr/>
        </p:nvPicPr>
        <p:blipFill>
          <a:blip r:embed="rId2"/>
          <a:stretch>
            <a:fillRect/>
          </a:stretch>
        </p:blipFill>
        <p:spPr>
          <a:xfrm>
            <a:off x="363989" y="928197"/>
            <a:ext cx="6482823" cy="4653250"/>
          </a:xfrm>
          <a:prstGeom prst="rect">
            <a:avLst/>
          </a:prstGeom>
        </p:spPr>
      </p:pic>
    </p:spTree>
    <p:extLst>
      <p:ext uri="{BB962C8B-B14F-4D97-AF65-F5344CB8AC3E}">
        <p14:creationId xmlns:p14="http://schemas.microsoft.com/office/powerpoint/2010/main" val="2225498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0AF01-9D72-0FB7-2741-04B26E5F3D0E}"/>
              </a:ext>
            </a:extLst>
          </p:cNvPr>
          <p:cNvSpPr>
            <a:spLocks noGrp="1"/>
          </p:cNvSpPr>
          <p:nvPr>
            <p:ph type="title"/>
          </p:nvPr>
        </p:nvSpPr>
        <p:spPr/>
        <p:txBody>
          <a:bodyPr/>
          <a:lstStyle/>
          <a:p>
            <a:r>
              <a:rPr lang="en-US" dirty="0"/>
              <a:t>Comparison of Age Distribution</a:t>
            </a:r>
          </a:p>
        </p:txBody>
      </p:sp>
      <p:pic>
        <p:nvPicPr>
          <p:cNvPr id="4" name="Picture 3">
            <a:extLst>
              <a:ext uri="{FF2B5EF4-FFF2-40B4-BE49-F238E27FC236}">
                <a16:creationId xmlns:a16="http://schemas.microsoft.com/office/drawing/2014/main" id="{873E055B-97EC-990C-11EB-5F6F6CC71F78}"/>
              </a:ext>
            </a:extLst>
          </p:cNvPr>
          <p:cNvPicPr>
            <a:picLocks noChangeAspect="1"/>
          </p:cNvPicPr>
          <p:nvPr/>
        </p:nvPicPr>
        <p:blipFill>
          <a:blip r:embed="rId2"/>
          <a:stretch>
            <a:fillRect/>
          </a:stretch>
        </p:blipFill>
        <p:spPr>
          <a:xfrm>
            <a:off x="838200" y="1690688"/>
            <a:ext cx="6773220" cy="4382112"/>
          </a:xfrm>
          <a:prstGeom prst="rect">
            <a:avLst/>
          </a:prstGeom>
        </p:spPr>
      </p:pic>
      <p:sp>
        <p:nvSpPr>
          <p:cNvPr id="5" name="TextBox 4">
            <a:extLst>
              <a:ext uri="{FF2B5EF4-FFF2-40B4-BE49-F238E27FC236}">
                <a16:creationId xmlns:a16="http://schemas.microsoft.com/office/drawing/2014/main" id="{784EC681-9E55-D39F-9F28-58F2043B964D}"/>
              </a:ext>
            </a:extLst>
          </p:cNvPr>
          <p:cNvSpPr txBox="1"/>
          <p:nvPr/>
        </p:nvSpPr>
        <p:spPr>
          <a:xfrm>
            <a:off x="7872761" y="2152185"/>
            <a:ext cx="3481039" cy="646331"/>
          </a:xfrm>
          <a:prstGeom prst="rect">
            <a:avLst/>
          </a:prstGeom>
          <a:noFill/>
        </p:spPr>
        <p:txBody>
          <a:bodyPr wrap="square" rtlCol="0">
            <a:spAutoFit/>
          </a:bodyPr>
          <a:lstStyle/>
          <a:p>
            <a:r>
              <a:rPr lang="en-US" dirty="0"/>
              <a:t>What is this comparison telling me?</a:t>
            </a:r>
          </a:p>
        </p:txBody>
      </p:sp>
    </p:spTree>
    <p:extLst>
      <p:ext uri="{BB962C8B-B14F-4D97-AF65-F5344CB8AC3E}">
        <p14:creationId xmlns:p14="http://schemas.microsoft.com/office/powerpoint/2010/main" val="3695312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0EF34B-0C38-E431-91B1-A27D18DF3441}"/>
              </a:ext>
            </a:extLst>
          </p:cNvPr>
          <p:cNvSpPr txBox="1"/>
          <p:nvPr/>
        </p:nvSpPr>
        <p:spPr>
          <a:xfrm>
            <a:off x="927463" y="1948596"/>
            <a:ext cx="10337074" cy="2031325"/>
          </a:xfrm>
          <a:prstGeom prst="rect">
            <a:avLst/>
          </a:prstGeom>
          <a:noFill/>
        </p:spPr>
        <p:txBody>
          <a:bodyPr wrap="square" rtlCol="0">
            <a:spAutoFit/>
          </a:bodyPr>
          <a:lstStyle/>
          <a:p>
            <a:pPr marL="342900" indent="-342900">
              <a:buAutoNum type="arabicPeriod"/>
            </a:pPr>
            <a:r>
              <a:rPr lang="en-US" dirty="0"/>
              <a:t>What does a negative </a:t>
            </a:r>
            <a:r>
              <a:rPr lang="en-US" dirty="0" err="1"/>
              <a:t>tstat</a:t>
            </a:r>
            <a:r>
              <a:rPr lang="en-US" dirty="0"/>
              <a:t> mean? LM probably has a lower mean agility than LF?</a:t>
            </a:r>
          </a:p>
          <a:p>
            <a:pPr marL="342900" indent="-342900">
              <a:buAutoNum type="arabicPeriod"/>
            </a:pPr>
            <a:r>
              <a:rPr lang="en-US" dirty="0"/>
              <a:t>Should we always choose degrees of freedom based on the sample size? I chose 14 here because the smaller sample size is 15.</a:t>
            </a:r>
          </a:p>
          <a:p>
            <a:pPr marL="342900" indent="-342900">
              <a:buAutoNum type="arabicPeriod"/>
            </a:pPr>
            <a:r>
              <a:rPr lang="en-US" dirty="0"/>
              <a:t>Can an exploratory data analysis conclude with a bunch of additional questions about the data, or just a negative conclusion such as “I did not find any correlation between the variables of interest.”?</a:t>
            </a:r>
          </a:p>
          <a:p>
            <a:pPr marL="342900" indent="-342900">
              <a:buAutoNum type="arabicPeriod"/>
            </a:pPr>
            <a:endParaRPr lang="en-US" dirty="0"/>
          </a:p>
          <a:p>
            <a:pPr marL="342900" indent="-342900">
              <a:buAutoNum type="arabicPeriod"/>
            </a:pPr>
            <a:endParaRPr lang="en-US" dirty="0"/>
          </a:p>
        </p:txBody>
      </p:sp>
      <p:sp>
        <p:nvSpPr>
          <p:cNvPr id="2" name="Title 1">
            <a:extLst>
              <a:ext uri="{FF2B5EF4-FFF2-40B4-BE49-F238E27FC236}">
                <a16:creationId xmlns:a16="http://schemas.microsoft.com/office/drawing/2014/main" id="{E2233C12-6EB7-7558-96E5-AD472528B0FB}"/>
              </a:ext>
            </a:extLst>
          </p:cNvPr>
          <p:cNvSpPr>
            <a:spLocks noGrp="1"/>
          </p:cNvSpPr>
          <p:nvPr>
            <p:ph type="title"/>
          </p:nvPr>
        </p:nvSpPr>
        <p:spPr/>
        <p:txBody>
          <a:bodyPr/>
          <a:lstStyle/>
          <a:p>
            <a:r>
              <a:rPr lang="en-US" dirty="0"/>
              <a:t>Takeaways and Questions</a:t>
            </a:r>
          </a:p>
        </p:txBody>
      </p:sp>
    </p:spTree>
    <p:extLst>
      <p:ext uri="{BB962C8B-B14F-4D97-AF65-F5344CB8AC3E}">
        <p14:creationId xmlns:p14="http://schemas.microsoft.com/office/powerpoint/2010/main" val="15405810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4725</TotalTime>
  <Words>1942</Words>
  <Application>Microsoft Office PowerPoint</Application>
  <PresentationFormat>Widescreen</PresentationFormat>
  <Paragraphs>116</Paragraphs>
  <Slides>18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Cambria Math</vt:lpstr>
      <vt:lpstr>Office Theme</vt:lpstr>
      <vt:lpstr>Unit  3 For Live Session Assignment </vt:lpstr>
      <vt:lpstr>Analysis of FIFA Dataset</vt:lpstr>
      <vt:lpstr>PowerPoint Presentation</vt:lpstr>
      <vt:lpstr>Acceleration and Agility of Left Midfielders (LM) and Left Forwards (LF)</vt:lpstr>
      <vt:lpstr>Agility Rating of Left Midfielders vs Left Forwards</vt:lpstr>
      <vt:lpstr>Step 1. Hypotheses</vt:lpstr>
      <vt:lpstr>Step 2. Critical Value Draw and Shade</vt:lpstr>
      <vt:lpstr>Step 3. Test Statistic for Two-Sample Test </vt:lpstr>
      <vt:lpstr>Step 3. Test Statistic for Two-Sample Test </vt:lpstr>
      <vt:lpstr>Step 4. P Value</vt:lpstr>
      <vt:lpstr>Step 5. Decision</vt:lpstr>
      <vt:lpstr>Step 6. Conclusion</vt:lpstr>
      <vt:lpstr>Are the assumptions of this test reasonably met?</vt:lpstr>
      <vt:lpstr>Dataset and Variables of Interest – Heart.csv</vt:lpstr>
      <vt:lpstr>Ggpairs plots of 5 selected variables</vt:lpstr>
      <vt:lpstr>PowerPoint Presentation</vt:lpstr>
      <vt:lpstr>Comparison of Age Distribution</vt:lpstr>
      <vt:lpstr>Takeaways and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Westlauer, Isabella</dc:creator>
  <cp:lastModifiedBy>Westlauer, Isabella</cp:lastModifiedBy>
  <cp:revision>103</cp:revision>
  <dcterms:created xsi:type="dcterms:W3CDTF">2026-01-23T01:05:28Z</dcterms:created>
  <dcterms:modified xsi:type="dcterms:W3CDTF">2026-03-08T20:57:39Z</dcterms:modified>
</cp:coreProperties>
</file>