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5" r:id="rId3"/>
    <p:sldId id="266" r:id="rId4"/>
    <p:sldId id="258" r:id="rId5"/>
    <p:sldId id="259" r:id="rId6"/>
    <p:sldId id="260" r:id="rId7"/>
    <p:sldId id="261" r:id="rId8"/>
    <p:sldId id="262" r:id="rId9"/>
    <p:sldId id="263" r:id="rId10"/>
    <p:sldId id="257" r:id="rId11"/>
    <p:sldId id="267" r:id="rId12"/>
    <p:sldId id="268" r:id="rId13"/>
    <p:sldId id="269" r:id="rId14"/>
    <p:sldId id="270" r:id="rId15"/>
    <p:sldId id="275" r:id="rId16"/>
    <p:sldId id="271" r:id="rId17"/>
    <p:sldId id="272" r:id="rId18"/>
    <p:sldId id="273" r:id="rId19"/>
    <p:sldId id="274" r:id="rId20"/>
    <p:sldId id="27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95" d="100"/>
          <a:sy n="95" d="100"/>
        </p:scale>
        <p:origin x="348" y="-4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832F9-20D8-9F9D-54DF-521E5EECC97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5F7C32B-21D7-18D6-8689-94C7D11321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9E9CB50-A9DB-F53A-C76C-5B22C594FEFB}"/>
              </a:ext>
            </a:extLst>
          </p:cNvPr>
          <p:cNvSpPr>
            <a:spLocks noGrp="1"/>
          </p:cNvSpPr>
          <p:nvPr>
            <p:ph type="dt" sz="half" idx="10"/>
          </p:nvPr>
        </p:nvSpPr>
        <p:spPr/>
        <p:txBody>
          <a:bodyPr/>
          <a:lstStyle/>
          <a:p>
            <a:fld id="{97563D7E-9326-4F39-AD41-FD5247458996}" type="datetimeFigureOut">
              <a:rPr lang="en-US" smtClean="0"/>
              <a:t>1/22/2026</a:t>
            </a:fld>
            <a:endParaRPr lang="en-US"/>
          </a:p>
        </p:txBody>
      </p:sp>
      <p:sp>
        <p:nvSpPr>
          <p:cNvPr id="5" name="Footer Placeholder 4">
            <a:extLst>
              <a:ext uri="{FF2B5EF4-FFF2-40B4-BE49-F238E27FC236}">
                <a16:creationId xmlns:a16="http://schemas.microsoft.com/office/drawing/2014/main" id="{12E74766-218B-65AF-A106-5D3866E6B4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C441BF-2280-0DF4-BEF6-48AE397026B9}"/>
              </a:ext>
            </a:extLst>
          </p:cNvPr>
          <p:cNvSpPr>
            <a:spLocks noGrp="1"/>
          </p:cNvSpPr>
          <p:nvPr>
            <p:ph type="sldNum" sz="quarter" idx="12"/>
          </p:nvPr>
        </p:nvSpPr>
        <p:spPr/>
        <p:txBody>
          <a:bodyPr/>
          <a:lstStyle/>
          <a:p>
            <a:fld id="{3FE55C3F-0C56-4547-9E96-27F9C464062A}" type="slidenum">
              <a:rPr lang="en-US" smtClean="0"/>
              <a:t>‹#›</a:t>
            </a:fld>
            <a:endParaRPr lang="en-US"/>
          </a:p>
        </p:txBody>
      </p:sp>
    </p:spTree>
    <p:extLst>
      <p:ext uri="{BB962C8B-B14F-4D97-AF65-F5344CB8AC3E}">
        <p14:creationId xmlns:p14="http://schemas.microsoft.com/office/powerpoint/2010/main" val="3419232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0B394-D8A9-D3A3-C582-24FFCFB4C5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DFC214-E234-4966-A694-F14671D2F81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7D3C66-5EAB-ECD0-8991-DE0020F6D3E0}"/>
              </a:ext>
            </a:extLst>
          </p:cNvPr>
          <p:cNvSpPr>
            <a:spLocks noGrp="1"/>
          </p:cNvSpPr>
          <p:nvPr>
            <p:ph type="dt" sz="half" idx="10"/>
          </p:nvPr>
        </p:nvSpPr>
        <p:spPr/>
        <p:txBody>
          <a:bodyPr/>
          <a:lstStyle/>
          <a:p>
            <a:fld id="{97563D7E-9326-4F39-AD41-FD5247458996}" type="datetimeFigureOut">
              <a:rPr lang="en-US" smtClean="0"/>
              <a:t>1/22/2026</a:t>
            </a:fld>
            <a:endParaRPr lang="en-US"/>
          </a:p>
        </p:txBody>
      </p:sp>
      <p:sp>
        <p:nvSpPr>
          <p:cNvPr id="5" name="Footer Placeholder 4">
            <a:extLst>
              <a:ext uri="{FF2B5EF4-FFF2-40B4-BE49-F238E27FC236}">
                <a16:creationId xmlns:a16="http://schemas.microsoft.com/office/drawing/2014/main" id="{148F3037-260D-00D5-1C3F-9143340754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7B339E-A4A6-32C9-1778-410B53DA750A}"/>
              </a:ext>
            </a:extLst>
          </p:cNvPr>
          <p:cNvSpPr>
            <a:spLocks noGrp="1"/>
          </p:cNvSpPr>
          <p:nvPr>
            <p:ph type="sldNum" sz="quarter" idx="12"/>
          </p:nvPr>
        </p:nvSpPr>
        <p:spPr/>
        <p:txBody>
          <a:bodyPr/>
          <a:lstStyle/>
          <a:p>
            <a:fld id="{3FE55C3F-0C56-4547-9E96-27F9C464062A}" type="slidenum">
              <a:rPr lang="en-US" smtClean="0"/>
              <a:t>‹#›</a:t>
            </a:fld>
            <a:endParaRPr lang="en-US"/>
          </a:p>
        </p:txBody>
      </p:sp>
    </p:spTree>
    <p:extLst>
      <p:ext uri="{BB962C8B-B14F-4D97-AF65-F5344CB8AC3E}">
        <p14:creationId xmlns:p14="http://schemas.microsoft.com/office/powerpoint/2010/main" val="2944903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82AAF-FA0B-2C05-A980-33F0246C7E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AFB6FEE-AC71-DBDA-4FE0-E2594334034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3969D5-8E48-4B90-8DF6-FF26781FFEA4}"/>
              </a:ext>
            </a:extLst>
          </p:cNvPr>
          <p:cNvSpPr>
            <a:spLocks noGrp="1"/>
          </p:cNvSpPr>
          <p:nvPr>
            <p:ph type="dt" sz="half" idx="10"/>
          </p:nvPr>
        </p:nvSpPr>
        <p:spPr/>
        <p:txBody>
          <a:bodyPr/>
          <a:lstStyle/>
          <a:p>
            <a:fld id="{97563D7E-9326-4F39-AD41-FD5247458996}" type="datetimeFigureOut">
              <a:rPr lang="en-US" smtClean="0"/>
              <a:t>1/22/2026</a:t>
            </a:fld>
            <a:endParaRPr lang="en-US"/>
          </a:p>
        </p:txBody>
      </p:sp>
      <p:sp>
        <p:nvSpPr>
          <p:cNvPr id="5" name="Footer Placeholder 4">
            <a:extLst>
              <a:ext uri="{FF2B5EF4-FFF2-40B4-BE49-F238E27FC236}">
                <a16:creationId xmlns:a16="http://schemas.microsoft.com/office/drawing/2014/main" id="{CEF59A44-509C-23B1-E4CD-3B06CDA2AF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110047-6480-A328-12E9-A0DB41A5F0B6}"/>
              </a:ext>
            </a:extLst>
          </p:cNvPr>
          <p:cNvSpPr>
            <a:spLocks noGrp="1"/>
          </p:cNvSpPr>
          <p:nvPr>
            <p:ph type="sldNum" sz="quarter" idx="12"/>
          </p:nvPr>
        </p:nvSpPr>
        <p:spPr/>
        <p:txBody>
          <a:bodyPr/>
          <a:lstStyle/>
          <a:p>
            <a:fld id="{3FE55C3F-0C56-4547-9E96-27F9C464062A}" type="slidenum">
              <a:rPr lang="en-US" smtClean="0"/>
              <a:t>‹#›</a:t>
            </a:fld>
            <a:endParaRPr lang="en-US"/>
          </a:p>
        </p:txBody>
      </p:sp>
    </p:spTree>
    <p:extLst>
      <p:ext uri="{BB962C8B-B14F-4D97-AF65-F5344CB8AC3E}">
        <p14:creationId xmlns:p14="http://schemas.microsoft.com/office/powerpoint/2010/main" val="4271849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9E03B-A25C-7B76-C6C8-02E598FD89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1620E4-56B1-A4E5-598C-D090233B421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30AADFB-BB1C-A8DE-8268-20F8B6F248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B525F82-9CEF-A6AA-4B1C-0448D995524C}"/>
              </a:ext>
            </a:extLst>
          </p:cNvPr>
          <p:cNvSpPr>
            <a:spLocks noGrp="1"/>
          </p:cNvSpPr>
          <p:nvPr>
            <p:ph type="dt" sz="half" idx="10"/>
          </p:nvPr>
        </p:nvSpPr>
        <p:spPr/>
        <p:txBody>
          <a:bodyPr/>
          <a:lstStyle/>
          <a:p>
            <a:fld id="{97563D7E-9326-4F39-AD41-FD5247458996}" type="datetimeFigureOut">
              <a:rPr lang="en-US" smtClean="0"/>
              <a:t>1/22/2026</a:t>
            </a:fld>
            <a:endParaRPr lang="en-US"/>
          </a:p>
        </p:txBody>
      </p:sp>
      <p:sp>
        <p:nvSpPr>
          <p:cNvPr id="6" name="Footer Placeholder 5">
            <a:extLst>
              <a:ext uri="{FF2B5EF4-FFF2-40B4-BE49-F238E27FC236}">
                <a16:creationId xmlns:a16="http://schemas.microsoft.com/office/drawing/2014/main" id="{2084E905-830E-CFDA-F909-17D9DCE2B2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84C067-584F-A764-B472-DC31EEC3B417}"/>
              </a:ext>
            </a:extLst>
          </p:cNvPr>
          <p:cNvSpPr>
            <a:spLocks noGrp="1"/>
          </p:cNvSpPr>
          <p:nvPr>
            <p:ph type="sldNum" sz="quarter" idx="12"/>
          </p:nvPr>
        </p:nvSpPr>
        <p:spPr/>
        <p:txBody>
          <a:bodyPr/>
          <a:lstStyle/>
          <a:p>
            <a:fld id="{3FE55C3F-0C56-4547-9E96-27F9C464062A}" type="slidenum">
              <a:rPr lang="en-US" smtClean="0"/>
              <a:t>‹#›</a:t>
            </a:fld>
            <a:endParaRPr lang="en-US"/>
          </a:p>
        </p:txBody>
      </p:sp>
    </p:spTree>
    <p:extLst>
      <p:ext uri="{BB962C8B-B14F-4D97-AF65-F5344CB8AC3E}">
        <p14:creationId xmlns:p14="http://schemas.microsoft.com/office/powerpoint/2010/main" val="86254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B4267-CAFE-D94D-2A23-6D2A173FF3E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6F2E1A2-99AB-7765-CED8-E89BB98324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75F78B-21C3-BC76-D801-A21A364B66D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8AE0397-6EFD-0AA9-46C7-F6E36F660F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5F4153-DDD9-58FB-D72D-DA8906F55BA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9655D9-3390-D28A-5190-8C33597F11C3}"/>
              </a:ext>
            </a:extLst>
          </p:cNvPr>
          <p:cNvSpPr>
            <a:spLocks noGrp="1"/>
          </p:cNvSpPr>
          <p:nvPr>
            <p:ph type="dt" sz="half" idx="10"/>
          </p:nvPr>
        </p:nvSpPr>
        <p:spPr/>
        <p:txBody>
          <a:bodyPr/>
          <a:lstStyle/>
          <a:p>
            <a:fld id="{97563D7E-9326-4F39-AD41-FD5247458996}" type="datetimeFigureOut">
              <a:rPr lang="en-US" smtClean="0"/>
              <a:t>1/22/2026</a:t>
            </a:fld>
            <a:endParaRPr lang="en-US"/>
          </a:p>
        </p:txBody>
      </p:sp>
      <p:sp>
        <p:nvSpPr>
          <p:cNvPr id="8" name="Footer Placeholder 7">
            <a:extLst>
              <a:ext uri="{FF2B5EF4-FFF2-40B4-BE49-F238E27FC236}">
                <a16:creationId xmlns:a16="http://schemas.microsoft.com/office/drawing/2014/main" id="{51B5995E-9E7D-00D2-27B7-BD699C30A61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474A25A-ABB6-B269-1A65-7DF7C5047CEC}"/>
              </a:ext>
            </a:extLst>
          </p:cNvPr>
          <p:cNvSpPr>
            <a:spLocks noGrp="1"/>
          </p:cNvSpPr>
          <p:nvPr>
            <p:ph type="sldNum" sz="quarter" idx="12"/>
          </p:nvPr>
        </p:nvSpPr>
        <p:spPr/>
        <p:txBody>
          <a:bodyPr/>
          <a:lstStyle/>
          <a:p>
            <a:fld id="{3FE55C3F-0C56-4547-9E96-27F9C464062A}" type="slidenum">
              <a:rPr lang="en-US" smtClean="0"/>
              <a:t>‹#›</a:t>
            </a:fld>
            <a:endParaRPr lang="en-US"/>
          </a:p>
        </p:txBody>
      </p:sp>
    </p:spTree>
    <p:extLst>
      <p:ext uri="{BB962C8B-B14F-4D97-AF65-F5344CB8AC3E}">
        <p14:creationId xmlns:p14="http://schemas.microsoft.com/office/powerpoint/2010/main" val="594821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8923B-9CF0-2015-2D41-AD5A2D45E13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E00C0BB-C97C-2720-1B14-46E9C752AE70}"/>
              </a:ext>
            </a:extLst>
          </p:cNvPr>
          <p:cNvSpPr>
            <a:spLocks noGrp="1"/>
          </p:cNvSpPr>
          <p:nvPr>
            <p:ph type="dt" sz="half" idx="10"/>
          </p:nvPr>
        </p:nvSpPr>
        <p:spPr/>
        <p:txBody>
          <a:bodyPr/>
          <a:lstStyle/>
          <a:p>
            <a:fld id="{97563D7E-9326-4F39-AD41-FD5247458996}" type="datetimeFigureOut">
              <a:rPr lang="en-US" smtClean="0"/>
              <a:t>1/22/2026</a:t>
            </a:fld>
            <a:endParaRPr lang="en-US"/>
          </a:p>
        </p:txBody>
      </p:sp>
      <p:sp>
        <p:nvSpPr>
          <p:cNvPr id="4" name="Footer Placeholder 3">
            <a:extLst>
              <a:ext uri="{FF2B5EF4-FFF2-40B4-BE49-F238E27FC236}">
                <a16:creationId xmlns:a16="http://schemas.microsoft.com/office/drawing/2014/main" id="{129AC54D-6819-CE15-9E70-5E4D5E60ADA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3DF6474-DB7D-0EEE-BBA2-9C7B504BBCDB}"/>
              </a:ext>
            </a:extLst>
          </p:cNvPr>
          <p:cNvSpPr>
            <a:spLocks noGrp="1"/>
          </p:cNvSpPr>
          <p:nvPr>
            <p:ph type="sldNum" sz="quarter" idx="12"/>
          </p:nvPr>
        </p:nvSpPr>
        <p:spPr/>
        <p:txBody>
          <a:bodyPr/>
          <a:lstStyle/>
          <a:p>
            <a:fld id="{3FE55C3F-0C56-4547-9E96-27F9C464062A}" type="slidenum">
              <a:rPr lang="en-US" smtClean="0"/>
              <a:t>‹#›</a:t>
            </a:fld>
            <a:endParaRPr lang="en-US"/>
          </a:p>
        </p:txBody>
      </p:sp>
    </p:spTree>
    <p:extLst>
      <p:ext uri="{BB962C8B-B14F-4D97-AF65-F5344CB8AC3E}">
        <p14:creationId xmlns:p14="http://schemas.microsoft.com/office/powerpoint/2010/main" val="24154363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9316B0-F9D2-3D85-FDA1-E50ABF5E1277}"/>
              </a:ext>
            </a:extLst>
          </p:cNvPr>
          <p:cNvSpPr>
            <a:spLocks noGrp="1"/>
          </p:cNvSpPr>
          <p:nvPr>
            <p:ph type="dt" sz="half" idx="10"/>
          </p:nvPr>
        </p:nvSpPr>
        <p:spPr/>
        <p:txBody>
          <a:bodyPr/>
          <a:lstStyle/>
          <a:p>
            <a:fld id="{97563D7E-9326-4F39-AD41-FD5247458996}" type="datetimeFigureOut">
              <a:rPr lang="en-US" smtClean="0"/>
              <a:t>1/22/2026</a:t>
            </a:fld>
            <a:endParaRPr lang="en-US"/>
          </a:p>
        </p:txBody>
      </p:sp>
      <p:sp>
        <p:nvSpPr>
          <p:cNvPr id="3" name="Footer Placeholder 2">
            <a:extLst>
              <a:ext uri="{FF2B5EF4-FFF2-40B4-BE49-F238E27FC236}">
                <a16:creationId xmlns:a16="http://schemas.microsoft.com/office/drawing/2014/main" id="{EDE4692F-11DF-65D0-5E49-84CC70F341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23F0ECB-4D97-C662-5E3D-652974324CB9}"/>
              </a:ext>
            </a:extLst>
          </p:cNvPr>
          <p:cNvSpPr>
            <a:spLocks noGrp="1"/>
          </p:cNvSpPr>
          <p:nvPr>
            <p:ph type="sldNum" sz="quarter" idx="12"/>
          </p:nvPr>
        </p:nvSpPr>
        <p:spPr/>
        <p:txBody>
          <a:bodyPr/>
          <a:lstStyle/>
          <a:p>
            <a:fld id="{3FE55C3F-0C56-4547-9E96-27F9C464062A}" type="slidenum">
              <a:rPr lang="en-US" smtClean="0"/>
              <a:t>‹#›</a:t>
            </a:fld>
            <a:endParaRPr lang="en-US"/>
          </a:p>
        </p:txBody>
      </p:sp>
    </p:spTree>
    <p:extLst>
      <p:ext uri="{BB962C8B-B14F-4D97-AF65-F5344CB8AC3E}">
        <p14:creationId xmlns:p14="http://schemas.microsoft.com/office/powerpoint/2010/main" val="35555167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6D50E-6AD4-BD62-68D5-94E1A97EDB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503DCED-D47B-908A-1A2A-8F108DABD5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CED34A-919F-79CF-9D3D-65EEC5BD0F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1D4267-F329-0657-9AAF-ADD159C92AA9}"/>
              </a:ext>
            </a:extLst>
          </p:cNvPr>
          <p:cNvSpPr>
            <a:spLocks noGrp="1"/>
          </p:cNvSpPr>
          <p:nvPr>
            <p:ph type="dt" sz="half" idx="10"/>
          </p:nvPr>
        </p:nvSpPr>
        <p:spPr/>
        <p:txBody>
          <a:bodyPr/>
          <a:lstStyle/>
          <a:p>
            <a:fld id="{97563D7E-9326-4F39-AD41-FD5247458996}" type="datetimeFigureOut">
              <a:rPr lang="en-US" smtClean="0"/>
              <a:t>1/22/2026</a:t>
            </a:fld>
            <a:endParaRPr lang="en-US"/>
          </a:p>
        </p:txBody>
      </p:sp>
      <p:sp>
        <p:nvSpPr>
          <p:cNvPr id="6" name="Footer Placeholder 5">
            <a:extLst>
              <a:ext uri="{FF2B5EF4-FFF2-40B4-BE49-F238E27FC236}">
                <a16:creationId xmlns:a16="http://schemas.microsoft.com/office/drawing/2014/main" id="{CBE7E427-8771-23B0-C891-7E6746BB42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B42DCB-D171-BB94-3B80-1DDAD679FF33}"/>
              </a:ext>
            </a:extLst>
          </p:cNvPr>
          <p:cNvSpPr>
            <a:spLocks noGrp="1"/>
          </p:cNvSpPr>
          <p:nvPr>
            <p:ph type="sldNum" sz="quarter" idx="12"/>
          </p:nvPr>
        </p:nvSpPr>
        <p:spPr/>
        <p:txBody>
          <a:bodyPr/>
          <a:lstStyle/>
          <a:p>
            <a:fld id="{3FE55C3F-0C56-4547-9E96-27F9C464062A}" type="slidenum">
              <a:rPr lang="en-US" smtClean="0"/>
              <a:t>‹#›</a:t>
            </a:fld>
            <a:endParaRPr lang="en-US"/>
          </a:p>
        </p:txBody>
      </p:sp>
    </p:spTree>
    <p:extLst>
      <p:ext uri="{BB962C8B-B14F-4D97-AF65-F5344CB8AC3E}">
        <p14:creationId xmlns:p14="http://schemas.microsoft.com/office/powerpoint/2010/main" val="3068399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95AC1-F2F7-BBF6-6F7E-FB3BE6EB15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1CDA466-2E6F-FC19-C791-AB1C24F615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8B2007C-4932-6B7C-39AC-7D1EC4338C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3A56AC-5362-5A6E-A118-A167A28E154E}"/>
              </a:ext>
            </a:extLst>
          </p:cNvPr>
          <p:cNvSpPr>
            <a:spLocks noGrp="1"/>
          </p:cNvSpPr>
          <p:nvPr>
            <p:ph type="dt" sz="half" idx="10"/>
          </p:nvPr>
        </p:nvSpPr>
        <p:spPr/>
        <p:txBody>
          <a:bodyPr/>
          <a:lstStyle/>
          <a:p>
            <a:fld id="{97563D7E-9326-4F39-AD41-FD5247458996}" type="datetimeFigureOut">
              <a:rPr lang="en-US" smtClean="0"/>
              <a:t>1/22/2026</a:t>
            </a:fld>
            <a:endParaRPr lang="en-US"/>
          </a:p>
        </p:txBody>
      </p:sp>
      <p:sp>
        <p:nvSpPr>
          <p:cNvPr id="6" name="Footer Placeholder 5">
            <a:extLst>
              <a:ext uri="{FF2B5EF4-FFF2-40B4-BE49-F238E27FC236}">
                <a16:creationId xmlns:a16="http://schemas.microsoft.com/office/drawing/2014/main" id="{FACEDB40-29F5-32F5-BAE6-4B3A9AEC26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431313-3CDE-DC41-B5F7-CDBB25858715}"/>
              </a:ext>
            </a:extLst>
          </p:cNvPr>
          <p:cNvSpPr>
            <a:spLocks noGrp="1"/>
          </p:cNvSpPr>
          <p:nvPr>
            <p:ph type="sldNum" sz="quarter" idx="12"/>
          </p:nvPr>
        </p:nvSpPr>
        <p:spPr/>
        <p:txBody>
          <a:bodyPr/>
          <a:lstStyle/>
          <a:p>
            <a:fld id="{3FE55C3F-0C56-4547-9E96-27F9C464062A}" type="slidenum">
              <a:rPr lang="en-US" smtClean="0"/>
              <a:t>‹#›</a:t>
            </a:fld>
            <a:endParaRPr lang="en-US"/>
          </a:p>
        </p:txBody>
      </p:sp>
    </p:spTree>
    <p:extLst>
      <p:ext uri="{BB962C8B-B14F-4D97-AF65-F5344CB8AC3E}">
        <p14:creationId xmlns:p14="http://schemas.microsoft.com/office/powerpoint/2010/main" val="26375622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1AE8F-CB48-A26B-0FA3-225E8162ECF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1B276B5-FDA7-0586-0B24-4E4EAFE010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D37904-FB31-5737-6635-012CD577A929}"/>
              </a:ext>
            </a:extLst>
          </p:cNvPr>
          <p:cNvSpPr>
            <a:spLocks noGrp="1"/>
          </p:cNvSpPr>
          <p:nvPr>
            <p:ph type="dt" sz="half" idx="10"/>
          </p:nvPr>
        </p:nvSpPr>
        <p:spPr/>
        <p:txBody>
          <a:bodyPr/>
          <a:lstStyle/>
          <a:p>
            <a:fld id="{97563D7E-9326-4F39-AD41-FD5247458996}" type="datetimeFigureOut">
              <a:rPr lang="en-US" smtClean="0"/>
              <a:t>1/22/2026</a:t>
            </a:fld>
            <a:endParaRPr lang="en-US"/>
          </a:p>
        </p:txBody>
      </p:sp>
      <p:sp>
        <p:nvSpPr>
          <p:cNvPr id="5" name="Footer Placeholder 4">
            <a:extLst>
              <a:ext uri="{FF2B5EF4-FFF2-40B4-BE49-F238E27FC236}">
                <a16:creationId xmlns:a16="http://schemas.microsoft.com/office/drawing/2014/main" id="{7EEB905F-CBEE-A3AF-4DDF-FE8FC1A221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22A858-7F3B-B133-E3C3-56B15A48EE43}"/>
              </a:ext>
            </a:extLst>
          </p:cNvPr>
          <p:cNvSpPr>
            <a:spLocks noGrp="1"/>
          </p:cNvSpPr>
          <p:nvPr>
            <p:ph type="sldNum" sz="quarter" idx="12"/>
          </p:nvPr>
        </p:nvSpPr>
        <p:spPr/>
        <p:txBody>
          <a:bodyPr/>
          <a:lstStyle/>
          <a:p>
            <a:fld id="{3FE55C3F-0C56-4547-9E96-27F9C464062A}" type="slidenum">
              <a:rPr lang="en-US" smtClean="0"/>
              <a:t>‹#›</a:t>
            </a:fld>
            <a:endParaRPr lang="en-US"/>
          </a:p>
        </p:txBody>
      </p:sp>
    </p:spTree>
    <p:extLst>
      <p:ext uri="{BB962C8B-B14F-4D97-AF65-F5344CB8AC3E}">
        <p14:creationId xmlns:p14="http://schemas.microsoft.com/office/powerpoint/2010/main" val="1712086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17299E-F5F8-83E4-4ADF-4387140026A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109CE10-F7CC-D0B5-045F-07C10A72AE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D56D38-DFED-4001-FF6D-03C857A57E99}"/>
              </a:ext>
            </a:extLst>
          </p:cNvPr>
          <p:cNvSpPr>
            <a:spLocks noGrp="1"/>
          </p:cNvSpPr>
          <p:nvPr>
            <p:ph type="dt" sz="half" idx="10"/>
          </p:nvPr>
        </p:nvSpPr>
        <p:spPr/>
        <p:txBody>
          <a:bodyPr/>
          <a:lstStyle/>
          <a:p>
            <a:fld id="{97563D7E-9326-4F39-AD41-FD5247458996}" type="datetimeFigureOut">
              <a:rPr lang="en-US" smtClean="0"/>
              <a:t>1/22/2026</a:t>
            </a:fld>
            <a:endParaRPr lang="en-US"/>
          </a:p>
        </p:txBody>
      </p:sp>
      <p:sp>
        <p:nvSpPr>
          <p:cNvPr id="5" name="Footer Placeholder 4">
            <a:extLst>
              <a:ext uri="{FF2B5EF4-FFF2-40B4-BE49-F238E27FC236}">
                <a16:creationId xmlns:a16="http://schemas.microsoft.com/office/drawing/2014/main" id="{405D5908-E4D5-09D0-B8B9-9FF188E311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642FB3-38AE-84B7-3346-87B08124CCAB}"/>
              </a:ext>
            </a:extLst>
          </p:cNvPr>
          <p:cNvSpPr>
            <a:spLocks noGrp="1"/>
          </p:cNvSpPr>
          <p:nvPr>
            <p:ph type="sldNum" sz="quarter" idx="12"/>
          </p:nvPr>
        </p:nvSpPr>
        <p:spPr/>
        <p:txBody>
          <a:bodyPr/>
          <a:lstStyle/>
          <a:p>
            <a:fld id="{3FE55C3F-0C56-4547-9E96-27F9C464062A}" type="slidenum">
              <a:rPr lang="en-US" smtClean="0"/>
              <a:t>‹#›</a:t>
            </a:fld>
            <a:endParaRPr lang="en-US"/>
          </a:p>
        </p:txBody>
      </p:sp>
    </p:spTree>
    <p:extLst>
      <p:ext uri="{BB962C8B-B14F-4D97-AF65-F5344CB8AC3E}">
        <p14:creationId xmlns:p14="http://schemas.microsoft.com/office/powerpoint/2010/main" val="292009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6D2071-7744-B705-3A48-F0CC9B4599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45E7136-EBA2-7304-D532-17F34555A2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09A12A-F19C-BFBC-4CC1-73EFD89211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7563D7E-9326-4F39-AD41-FD5247458996}" type="datetimeFigureOut">
              <a:rPr lang="en-US" smtClean="0"/>
              <a:t>1/22/2026</a:t>
            </a:fld>
            <a:endParaRPr lang="en-US"/>
          </a:p>
        </p:txBody>
      </p:sp>
      <p:sp>
        <p:nvSpPr>
          <p:cNvPr id="5" name="Footer Placeholder 4">
            <a:extLst>
              <a:ext uri="{FF2B5EF4-FFF2-40B4-BE49-F238E27FC236}">
                <a16:creationId xmlns:a16="http://schemas.microsoft.com/office/drawing/2014/main" id="{67B14AD2-1B37-F829-71BE-302E430995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75573BC-0A85-AA09-A46C-785C776AB4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E55C3F-0C56-4547-9E96-27F9C464062A}" type="slidenum">
              <a:rPr lang="en-US" smtClean="0"/>
              <a:t>‹#›</a:t>
            </a:fld>
            <a:endParaRPr lang="en-US"/>
          </a:p>
        </p:txBody>
      </p:sp>
    </p:spTree>
    <p:extLst>
      <p:ext uri="{BB962C8B-B14F-4D97-AF65-F5344CB8AC3E}">
        <p14:creationId xmlns:p14="http://schemas.microsoft.com/office/powerpoint/2010/main" val="25605683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chatgpt.com/share/6971d0c3-d664-8010-afdf-595d28dd7e76"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0.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23F77-83B3-F060-C68E-BB4760D2CBB5}"/>
              </a:ext>
            </a:extLst>
          </p:cNvPr>
          <p:cNvSpPr>
            <a:spLocks noGrp="1"/>
          </p:cNvSpPr>
          <p:nvPr>
            <p:ph type="ctrTitle"/>
          </p:nvPr>
        </p:nvSpPr>
        <p:spPr/>
        <p:txBody>
          <a:bodyPr/>
          <a:lstStyle/>
          <a:p>
            <a:r>
              <a:rPr lang="en-US" dirty="0"/>
              <a:t>Unit 1 For Live Session Assignment	</a:t>
            </a:r>
          </a:p>
        </p:txBody>
      </p:sp>
      <p:sp>
        <p:nvSpPr>
          <p:cNvPr id="3" name="Subtitle 2">
            <a:extLst>
              <a:ext uri="{FF2B5EF4-FFF2-40B4-BE49-F238E27FC236}">
                <a16:creationId xmlns:a16="http://schemas.microsoft.com/office/drawing/2014/main" id="{CA351449-48F6-D5C3-D9C1-7B2A2777319C}"/>
              </a:ext>
            </a:extLst>
          </p:cNvPr>
          <p:cNvSpPr>
            <a:spLocks noGrp="1"/>
          </p:cNvSpPr>
          <p:nvPr>
            <p:ph type="subTitle" idx="1"/>
          </p:nvPr>
        </p:nvSpPr>
        <p:spPr/>
        <p:txBody>
          <a:bodyPr/>
          <a:lstStyle/>
          <a:p>
            <a:r>
              <a:rPr lang="en-US" dirty="0"/>
              <a:t>Isabella </a:t>
            </a:r>
            <a:r>
              <a:rPr lang="en-US" dirty="0" err="1"/>
              <a:t>Westlauer</a:t>
            </a:r>
            <a:endParaRPr lang="en-US" dirty="0"/>
          </a:p>
          <a:p>
            <a:r>
              <a:rPr lang="en-US" dirty="0"/>
              <a:t>1/22/2026</a:t>
            </a:r>
          </a:p>
        </p:txBody>
      </p:sp>
    </p:spTree>
    <p:extLst>
      <p:ext uri="{BB962C8B-B14F-4D97-AF65-F5344CB8AC3E}">
        <p14:creationId xmlns:p14="http://schemas.microsoft.com/office/powerpoint/2010/main" val="2335720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DF4E144-29C8-0792-8469-01EF83776F36}"/>
              </a:ext>
            </a:extLst>
          </p:cNvPr>
          <p:cNvPicPr>
            <a:picLocks noGrp="1" noChangeAspect="1"/>
          </p:cNvPicPr>
          <p:nvPr>
            <p:ph idx="1"/>
          </p:nvPr>
        </p:nvPicPr>
        <p:blipFill>
          <a:blip r:embed="rId2"/>
          <a:stretch>
            <a:fillRect/>
          </a:stretch>
        </p:blipFill>
        <p:spPr>
          <a:xfrm>
            <a:off x="2084070" y="153436"/>
            <a:ext cx="8023859" cy="6551127"/>
          </a:xfrm>
          <a:prstGeom prst="rect">
            <a:avLst/>
          </a:prstGeom>
        </p:spPr>
      </p:pic>
    </p:spTree>
    <p:extLst>
      <p:ext uri="{BB962C8B-B14F-4D97-AF65-F5344CB8AC3E}">
        <p14:creationId xmlns:p14="http://schemas.microsoft.com/office/powerpoint/2010/main" val="2499260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467A685-07B8-1092-90AF-087A02472220}"/>
              </a:ext>
            </a:extLst>
          </p:cNvPr>
          <p:cNvSpPr>
            <a:spLocks noGrp="1"/>
          </p:cNvSpPr>
          <p:nvPr>
            <p:ph type="title"/>
          </p:nvPr>
        </p:nvSpPr>
        <p:spPr/>
        <p:txBody>
          <a:bodyPr/>
          <a:lstStyle/>
          <a:p>
            <a:r>
              <a:rPr lang="en-US" dirty="0"/>
              <a:t>CLT</a:t>
            </a:r>
          </a:p>
        </p:txBody>
      </p:sp>
      <p:sp>
        <p:nvSpPr>
          <p:cNvPr id="5" name="Text Placeholder 4">
            <a:extLst>
              <a:ext uri="{FF2B5EF4-FFF2-40B4-BE49-F238E27FC236}">
                <a16:creationId xmlns:a16="http://schemas.microsoft.com/office/drawing/2014/main" id="{08D0E2DC-0C92-DE46-574B-12E77F7AC4F8}"/>
              </a:ext>
            </a:extLst>
          </p:cNvPr>
          <p:cNvSpPr>
            <a:spLocks noGrp="1"/>
          </p:cNvSpPr>
          <p:nvPr>
            <p:ph type="body" idx="1"/>
          </p:nvPr>
        </p:nvSpPr>
        <p:spPr/>
        <p:txBody>
          <a:bodyPr/>
          <a:lstStyle/>
          <a:p>
            <a:r>
              <a:rPr lang="en-US" dirty="0"/>
              <a:t>Using the central limit code from the </a:t>
            </a:r>
            <a:r>
              <a:rPr lang="en-US" dirty="0" err="1"/>
              <a:t>asynch</a:t>
            </a:r>
            <a:r>
              <a:rPr lang="en-US" dirty="0"/>
              <a:t> material (CLT2.Rmd), adapt the code and provide the following analysis</a:t>
            </a:r>
          </a:p>
        </p:txBody>
      </p:sp>
    </p:spTree>
    <p:extLst>
      <p:ext uri="{BB962C8B-B14F-4D97-AF65-F5344CB8AC3E}">
        <p14:creationId xmlns:p14="http://schemas.microsoft.com/office/powerpoint/2010/main" val="3817308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99C42B6-9E0D-2113-23FC-500E7981E675}"/>
              </a:ext>
            </a:extLst>
          </p:cNvPr>
          <p:cNvPicPr>
            <a:picLocks noGrp="1" noChangeAspect="1"/>
          </p:cNvPicPr>
          <p:nvPr>
            <p:ph idx="1"/>
          </p:nvPr>
        </p:nvPicPr>
        <p:blipFill>
          <a:blip r:embed="rId2"/>
          <a:stretch>
            <a:fillRect/>
          </a:stretch>
        </p:blipFill>
        <p:spPr>
          <a:xfrm>
            <a:off x="0" y="594360"/>
            <a:ext cx="11758513" cy="5372100"/>
          </a:xfrm>
          <a:prstGeom prst="rect">
            <a:avLst/>
          </a:prstGeom>
        </p:spPr>
      </p:pic>
    </p:spTree>
    <p:extLst>
      <p:ext uri="{BB962C8B-B14F-4D97-AF65-F5344CB8AC3E}">
        <p14:creationId xmlns:p14="http://schemas.microsoft.com/office/powerpoint/2010/main" val="2979018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A68BDEB-D14A-7768-24E7-6DA4E484A40E}"/>
              </a:ext>
            </a:extLst>
          </p:cNvPr>
          <p:cNvPicPr>
            <a:picLocks noGrp="1" noChangeAspect="1"/>
          </p:cNvPicPr>
          <p:nvPr>
            <p:ph idx="1"/>
          </p:nvPr>
        </p:nvPicPr>
        <p:blipFill>
          <a:blip r:embed="rId2"/>
          <a:stretch>
            <a:fillRect/>
          </a:stretch>
        </p:blipFill>
        <p:spPr>
          <a:xfrm>
            <a:off x="429651" y="282300"/>
            <a:ext cx="7909560" cy="6293399"/>
          </a:xfrm>
          <a:prstGeom prst="rect">
            <a:avLst/>
          </a:prstGeom>
        </p:spPr>
      </p:pic>
      <p:sp>
        <p:nvSpPr>
          <p:cNvPr id="2" name="TextBox 1">
            <a:extLst>
              <a:ext uri="{FF2B5EF4-FFF2-40B4-BE49-F238E27FC236}">
                <a16:creationId xmlns:a16="http://schemas.microsoft.com/office/drawing/2014/main" id="{4B6E19E2-34C9-7004-E394-15824B88ECA5}"/>
              </a:ext>
            </a:extLst>
          </p:cNvPr>
          <p:cNvSpPr txBox="1"/>
          <p:nvPr/>
        </p:nvSpPr>
        <p:spPr>
          <a:xfrm>
            <a:off x="9366738" y="1348154"/>
            <a:ext cx="2395611" cy="2031325"/>
          </a:xfrm>
          <a:prstGeom prst="rect">
            <a:avLst/>
          </a:prstGeom>
          <a:noFill/>
        </p:spPr>
        <p:txBody>
          <a:bodyPr wrap="square" rtlCol="0">
            <a:spAutoFit/>
          </a:bodyPr>
          <a:lstStyle/>
          <a:p>
            <a:r>
              <a:rPr lang="en-US" dirty="0"/>
              <a:t>Does “right skewness” mean the population is all on the positive x-axis? Or, does it mean it’s shifted away from the y-axis more because </a:t>
            </a:r>
            <a:r>
              <a:rPr lang="en-US" dirty="0" err="1"/>
              <a:t>df</a:t>
            </a:r>
            <a:r>
              <a:rPr lang="en-US" dirty="0"/>
              <a:t> = 2?</a:t>
            </a:r>
          </a:p>
        </p:txBody>
      </p:sp>
    </p:spTree>
    <p:extLst>
      <p:ext uri="{BB962C8B-B14F-4D97-AF65-F5344CB8AC3E}">
        <p14:creationId xmlns:p14="http://schemas.microsoft.com/office/powerpoint/2010/main" val="3610644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79F3015-C52C-BC50-1700-3A01A765DD51}"/>
              </a:ext>
            </a:extLst>
          </p:cNvPr>
          <p:cNvPicPr>
            <a:picLocks noGrp="1" noChangeAspect="1"/>
          </p:cNvPicPr>
          <p:nvPr>
            <p:ph idx="1"/>
          </p:nvPr>
        </p:nvPicPr>
        <p:blipFill>
          <a:blip r:embed="rId2"/>
          <a:stretch>
            <a:fillRect/>
          </a:stretch>
        </p:blipFill>
        <p:spPr>
          <a:xfrm>
            <a:off x="0" y="857251"/>
            <a:ext cx="12154634" cy="4393928"/>
          </a:xfrm>
          <a:prstGeom prst="rect">
            <a:avLst/>
          </a:prstGeom>
        </p:spPr>
      </p:pic>
    </p:spTree>
    <p:extLst>
      <p:ext uri="{BB962C8B-B14F-4D97-AF65-F5344CB8AC3E}">
        <p14:creationId xmlns:p14="http://schemas.microsoft.com/office/powerpoint/2010/main" val="3524695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5A1DA38-209D-0526-286E-277BA1CFDDF7}"/>
              </a:ext>
            </a:extLst>
          </p:cNvPr>
          <p:cNvPicPr>
            <a:picLocks noGrp="1" noChangeAspect="1"/>
          </p:cNvPicPr>
          <p:nvPr>
            <p:ph idx="1"/>
          </p:nvPr>
        </p:nvPicPr>
        <p:blipFill>
          <a:blip r:embed="rId2"/>
          <a:stretch>
            <a:fillRect/>
          </a:stretch>
        </p:blipFill>
        <p:spPr>
          <a:xfrm>
            <a:off x="290473" y="354330"/>
            <a:ext cx="8410654" cy="5936933"/>
          </a:xfrm>
          <a:prstGeom prst="rect">
            <a:avLst/>
          </a:prstGeom>
        </p:spPr>
      </p:pic>
      <p:pic>
        <p:nvPicPr>
          <p:cNvPr id="7" name="Picture 6">
            <a:extLst>
              <a:ext uri="{FF2B5EF4-FFF2-40B4-BE49-F238E27FC236}">
                <a16:creationId xmlns:a16="http://schemas.microsoft.com/office/drawing/2014/main" id="{CB5DC43B-2501-DDBC-F960-7FD991E20A5C}"/>
              </a:ext>
            </a:extLst>
          </p:cNvPr>
          <p:cNvPicPr>
            <a:picLocks noChangeAspect="1"/>
          </p:cNvPicPr>
          <p:nvPr/>
        </p:nvPicPr>
        <p:blipFill>
          <a:blip r:embed="rId3"/>
          <a:stretch>
            <a:fillRect/>
          </a:stretch>
        </p:blipFill>
        <p:spPr>
          <a:xfrm>
            <a:off x="6804941" y="4070800"/>
            <a:ext cx="5096586" cy="2648320"/>
          </a:xfrm>
          <a:prstGeom prst="rect">
            <a:avLst/>
          </a:prstGeom>
        </p:spPr>
      </p:pic>
      <p:sp>
        <p:nvSpPr>
          <p:cNvPr id="2" name="TextBox 1">
            <a:extLst>
              <a:ext uri="{FF2B5EF4-FFF2-40B4-BE49-F238E27FC236}">
                <a16:creationId xmlns:a16="http://schemas.microsoft.com/office/drawing/2014/main" id="{BB69042C-7B81-4E11-3A6A-51280CDF6EA0}"/>
              </a:ext>
            </a:extLst>
          </p:cNvPr>
          <p:cNvSpPr txBox="1"/>
          <p:nvPr/>
        </p:nvSpPr>
        <p:spPr>
          <a:xfrm>
            <a:off x="8505185" y="1732772"/>
            <a:ext cx="3396342" cy="1200329"/>
          </a:xfrm>
          <a:prstGeom prst="rect">
            <a:avLst/>
          </a:prstGeom>
          <a:noFill/>
        </p:spPr>
        <p:txBody>
          <a:bodyPr wrap="square" rtlCol="0">
            <a:spAutoFit/>
          </a:bodyPr>
          <a:lstStyle/>
          <a:p>
            <a:r>
              <a:rPr lang="en-US" dirty="0"/>
              <a:t>The theoretical standard deviation of the sampling distribution of the sample mean </a:t>
            </a:r>
          </a:p>
          <a:p>
            <a:endParaRPr lang="en-US" dirty="0"/>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40072319-DA49-64A1-C3AE-0392EFBA15EB}"/>
                  </a:ext>
                </a:extLst>
              </p:cNvPr>
              <p:cNvSpPr txBox="1"/>
              <p:nvPr/>
            </p:nvSpPr>
            <p:spPr>
              <a:xfrm>
                <a:off x="9526727" y="2670945"/>
                <a:ext cx="849079" cy="52431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𝜎</m:t>
                          </m:r>
                        </m:e>
                        <m:sub>
                          <m:acc>
                            <m:accPr>
                              <m:chr m:val="̅"/>
                              <m:ctrlPr>
                                <a:rPr lang="en-US" i="1" smtClean="0">
                                  <a:latin typeface="Cambria Math" panose="02040503050406030204" pitchFamily="18" charset="0"/>
                                </a:rPr>
                              </m:ctrlPr>
                            </m:accPr>
                            <m:e>
                              <m:r>
                                <m:rPr>
                                  <m:sty m:val="p"/>
                                </m:rPr>
                                <a:rPr lang="en-US" b="0" i="1" smtClean="0">
                                  <a:latin typeface="Cambria Math" panose="02040503050406030204" pitchFamily="18" charset="0"/>
                                </a:rPr>
                                <m:t>x</m:t>
                              </m:r>
                            </m:e>
                          </m:acc>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𝜎</m:t>
                          </m:r>
                        </m:num>
                        <m:den>
                          <m:rad>
                            <m:radPr>
                              <m:degHide m:val="on"/>
                              <m:ctrlPr>
                                <a:rPr lang="en-US" b="0" i="1" smtClean="0">
                                  <a:latin typeface="Cambria Math" panose="02040503050406030204" pitchFamily="18" charset="0"/>
                                </a:rPr>
                              </m:ctrlPr>
                            </m:radPr>
                            <m:deg/>
                            <m:e>
                              <m:r>
                                <m:rPr>
                                  <m:sty m:val="p"/>
                                </m:rPr>
                                <a:rPr lang="en-US" b="0" i="1" smtClean="0">
                                  <a:latin typeface="Cambria Math" panose="02040503050406030204" pitchFamily="18" charset="0"/>
                                </a:rPr>
                                <m:t>n</m:t>
                              </m:r>
                            </m:e>
                          </m:rad>
                        </m:den>
                      </m:f>
                    </m:oMath>
                  </m:oMathPara>
                </a14:m>
                <a:endParaRPr lang="en-US" dirty="0"/>
              </a:p>
            </p:txBody>
          </p:sp>
        </mc:Choice>
        <mc:Fallback>
          <p:sp>
            <p:nvSpPr>
              <p:cNvPr id="3" name="TextBox 2">
                <a:extLst>
                  <a:ext uri="{FF2B5EF4-FFF2-40B4-BE49-F238E27FC236}">
                    <a16:creationId xmlns:a16="http://schemas.microsoft.com/office/drawing/2014/main" id="{40072319-DA49-64A1-C3AE-0392EFBA15EB}"/>
                  </a:ext>
                </a:extLst>
              </p:cNvPr>
              <p:cNvSpPr txBox="1">
                <a:spLocks noRot="1" noChangeAspect="1" noMove="1" noResize="1" noEditPoints="1" noAdjustHandles="1" noChangeArrowheads="1" noChangeShapeType="1" noTextEdit="1"/>
              </p:cNvSpPr>
              <p:nvPr/>
            </p:nvSpPr>
            <p:spPr>
              <a:xfrm>
                <a:off x="9526727" y="2670945"/>
                <a:ext cx="849079" cy="52431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868996CB-0DB5-C264-6765-F9CA0FC028A3}"/>
                  </a:ext>
                </a:extLst>
              </p:cNvPr>
              <p:cNvSpPr txBox="1"/>
              <p:nvPr/>
            </p:nvSpPr>
            <p:spPr>
              <a:xfrm>
                <a:off x="9526727" y="3429000"/>
                <a:ext cx="1622495" cy="407547"/>
              </a:xfrm>
              <a:prstGeom prst="rect">
                <a:avLst/>
              </a:prstGeom>
              <a:noFill/>
            </p:spPr>
            <p:txBody>
              <a:bodyPr wrap="none" lIns="0" tIns="0" rIns="0" bIns="0" rtlCol="0">
                <a:spAutoFit/>
              </a:bodyPr>
              <a:lstStyle/>
              <a:p>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𝜎</m:t>
                        </m:r>
                      </m:e>
                      <m:sub>
                        <m:acc>
                          <m:accPr>
                            <m:chr m:val="̅"/>
                            <m:ctrlPr>
                              <a:rPr lang="en-US" i="1" smtClean="0">
                                <a:latin typeface="Cambria Math" panose="02040503050406030204" pitchFamily="18" charset="0"/>
                              </a:rPr>
                            </m:ctrlPr>
                          </m:accPr>
                          <m:e>
                            <m:r>
                              <m:rPr>
                                <m:sty m:val="p"/>
                              </m:rPr>
                              <a:rPr lang="en-US" b="0" i="1" smtClean="0">
                                <a:latin typeface="Cambria Math" panose="02040503050406030204" pitchFamily="18" charset="0"/>
                              </a:rPr>
                              <m:t>x</m:t>
                            </m:r>
                          </m:e>
                        </m:acc>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50</m:t>
                            </m:r>
                          </m:e>
                        </m:rad>
                      </m:den>
                    </m:f>
                    <m:r>
                      <a:rPr lang="en-US" i="1">
                        <a:latin typeface="Cambria Math" panose="02040503050406030204" pitchFamily="18" charset="0"/>
                      </a:rPr>
                      <m:t>≈</m:t>
                    </m:r>
                  </m:oMath>
                </a14:m>
                <a:r>
                  <a:rPr lang="en-US" dirty="0"/>
                  <a:t>0.283</a:t>
                </a:r>
              </a:p>
            </p:txBody>
          </p:sp>
        </mc:Choice>
        <mc:Fallback>
          <p:sp>
            <p:nvSpPr>
              <p:cNvPr id="4" name="TextBox 3">
                <a:extLst>
                  <a:ext uri="{FF2B5EF4-FFF2-40B4-BE49-F238E27FC236}">
                    <a16:creationId xmlns:a16="http://schemas.microsoft.com/office/drawing/2014/main" id="{868996CB-0DB5-C264-6765-F9CA0FC028A3}"/>
                  </a:ext>
                </a:extLst>
              </p:cNvPr>
              <p:cNvSpPr txBox="1">
                <a:spLocks noRot="1" noChangeAspect="1" noMove="1" noResize="1" noEditPoints="1" noAdjustHandles="1" noChangeArrowheads="1" noChangeShapeType="1" noTextEdit="1"/>
              </p:cNvSpPr>
              <p:nvPr/>
            </p:nvSpPr>
            <p:spPr>
              <a:xfrm>
                <a:off x="9526727" y="3429000"/>
                <a:ext cx="1622495" cy="407547"/>
              </a:xfrm>
              <a:prstGeom prst="rect">
                <a:avLst/>
              </a:prstGeom>
              <a:blipFill>
                <a:blip r:embed="rId5"/>
                <a:stretch>
                  <a:fillRect l="-3759" t="-3030" r="-7895" b="-19697"/>
                </a:stretch>
              </a:blipFill>
            </p:spPr>
            <p:txBody>
              <a:bodyPr/>
              <a:lstStyle/>
              <a:p>
                <a:r>
                  <a:rPr lang="en-US">
                    <a:noFill/>
                  </a:rPr>
                  <a:t> </a:t>
                </a:r>
              </a:p>
            </p:txBody>
          </p:sp>
        </mc:Fallback>
      </mc:AlternateContent>
    </p:spTree>
    <p:extLst>
      <p:ext uri="{BB962C8B-B14F-4D97-AF65-F5344CB8AC3E}">
        <p14:creationId xmlns:p14="http://schemas.microsoft.com/office/powerpoint/2010/main" val="3772842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CDEB5DA-D762-0D46-5D40-7F736DBC4C6B}"/>
              </a:ext>
            </a:extLst>
          </p:cNvPr>
          <p:cNvPicPr>
            <a:picLocks noGrp="1" noChangeAspect="1"/>
          </p:cNvPicPr>
          <p:nvPr>
            <p:ph idx="1"/>
          </p:nvPr>
        </p:nvPicPr>
        <p:blipFill>
          <a:blip r:embed="rId2"/>
          <a:stretch>
            <a:fillRect/>
          </a:stretch>
        </p:blipFill>
        <p:spPr>
          <a:xfrm>
            <a:off x="1563890" y="537210"/>
            <a:ext cx="9064220" cy="5783580"/>
          </a:xfrm>
          <a:prstGeom prst="rect">
            <a:avLst/>
          </a:prstGeom>
        </p:spPr>
      </p:pic>
    </p:spTree>
    <p:extLst>
      <p:ext uri="{BB962C8B-B14F-4D97-AF65-F5344CB8AC3E}">
        <p14:creationId xmlns:p14="http://schemas.microsoft.com/office/powerpoint/2010/main" val="11024536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FDFDDE2-022A-4E41-438B-C4B704CDB852}"/>
              </a:ext>
            </a:extLst>
          </p:cNvPr>
          <p:cNvPicPr>
            <a:picLocks noGrp="1" noChangeAspect="1"/>
          </p:cNvPicPr>
          <p:nvPr>
            <p:ph idx="1"/>
          </p:nvPr>
        </p:nvPicPr>
        <p:blipFill>
          <a:blip r:embed="rId2"/>
          <a:stretch>
            <a:fillRect/>
          </a:stretch>
        </p:blipFill>
        <p:spPr>
          <a:xfrm>
            <a:off x="121472" y="753070"/>
            <a:ext cx="11949055" cy="4218979"/>
          </a:xfrm>
          <a:prstGeom prst="rect">
            <a:avLst/>
          </a:prstGeom>
        </p:spPr>
      </p:pic>
      <p:sp>
        <p:nvSpPr>
          <p:cNvPr id="6" name="TextBox 5">
            <a:extLst>
              <a:ext uri="{FF2B5EF4-FFF2-40B4-BE49-F238E27FC236}">
                <a16:creationId xmlns:a16="http://schemas.microsoft.com/office/drawing/2014/main" id="{3AD12FF7-C83E-54F3-BCA6-83521BD4DFCD}"/>
              </a:ext>
            </a:extLst>
          </p:cNvPr>
          <p:cNvSpPr txBox="1"/>
          <p:nvPr/>
        </p:nvSpPr>
        <p:spPr>
          <a:xfrm>
            <a:off x="628650" y="5166360"/>
            <a:ext cx="11235690" cy="923330"/>
          </a:xfrm>
          <a:prstGeom prst="rect">
            <a:avLst/>
          </a:prstGeom>
          <a:noFill/>
        </p:spPr>
        <p:txBody>
          <a:bodyPr wrap="square" rtlCol="0">
            <a:spAutoFit/>
          </a:bodyPr>
          <a:lstStyle/>
          <a:p>
            <a:r>
              <a:rPr lang="en-US" dirty="0"/>
              <a:t>With 10,000 samples, the min is smaller and the max is larger than with our 1,000 samples, which makes sense. The median and the mean are closer to the median and mean of the original population than with 1,000 samples, which makes sense. The standard dev of the </a:t>
            </a:r>
            <a:r>
              <a:rPr lang="en-US" dirty="0" err="1"/>
              <a:t>dist</a:t>
            </a:r>
            <a:r>
              <a:rPr lang="en-US" dirty="0"/>
              <a:t> is still very close to the theoretical, 0.283.</a:t>
            </a:r>
          </a:p>
        </p:txBody>
      </p:sp>
    </p:spTree>
    <p:extLst>
      <p:ext uri="{BB962C8B-B14F-4D97-AF65-F5344CB8AC3E}">
        <p14:creationId xmlns:p14="http://schemas.microsoft.com/office/powerpoint/2010/main" val="2860311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C334A-B515-9FDC-2249-4D4A0E1A005C}"/>
              </a:ext>
            </a:extLst>
          </p:cNvPr>
          <p:cNvSpPr>
            <a:spLocks noGrp="1"/>
          </p:cNvSpPr>
          <p:nvPr>
            <p:ph type="title"/>
          </p:nvPr>
        </p:nvSpPr>
        <p:spPr/>
        <p:txBody>
          <a:bodyPr/>
          <a:lstStyle/>
          <a:p>
            <a:r>
              <a:rPr lang="en-US" dirty="0"/>
              <a:t>Ask ChatGPT to try and address the previous question</a:t>
            </a:r>
          </a:p>
        </p:txBody>
      </p:sp>
      <p:sp>
        <p:nvSpPr>
          <p:cNvPr id="3" name="Content Placeholder 2">
            <a:extLst>
              <a:ext uri="{FF2B5EF4-FFF2-40B4-BE49-F238E27FC236}">
                <a16:creationId xmlns:a16="http://schemas.microsoft.com/office/drawing/2014/main" id="{C1B689B8-8268-1923-E334-E6668098B672}"/>
              </a:ext>
            </a:extLst>
          </p:cNvPr>
          <p:cNvSpPr>
            <a:spLocks noGrp="1"/>
          </p:cNvSpPr>
          <p:nvPr>
            <p:ph idx="1"/>
          </p:nvPr>
        </p:nvSpPr>
        <p:spPr/>
        <p:txBody>
          <a:bodyPr/>
          <a:lstStyle/>
          <a:p>
            <a:r>
              <a:rPr lang="en-US" dirty="0">
                <a:hlinkClick r:id="rId2"/>
              </a:rPr>
              <a:t>https://chatgpt.com/share/6971d0c3-d664-8010-afdf-595d28dd7e76</a:t>
            </a:r>
            <a:endParaRPr lang="en-US" dirty="0"/>
          </a:p>
        </p:txBody>
      </p:sp>
    </p:spTree>
    <p:extLst>
      <p:ext uri="{BB962C8B-B14F-4D97-AF65-F5344CB8AC3E}">
        <p14:creationId xmlns:p14="http://schemas.microsoft.com/office/powerpoint/2010/main" val="1794689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511AB-9C70-D02E-31C3-A1455BD0133F}"/>
              </a:ext>
            </a:extLst>
          </p:cNvPr>
          <p:cNvSpPr>
            <a:spLocks noGrp="1"/>
          </p:cNvSpPr>
          <p:nvPr>
            <p:ph type="title"/>
          </p:nvPr>
        </p:nvSpPr>
        <p:spPr/>
        <p:txBody>
          <a:bodyPr/>
          <a:lstStyle/>
          <a:p>
            <a:r>
              <a:rPr lang="en-US" dirty="0"/>
              <a:t>T-Test</a:t>
            </a:r>
          </a:p>
        </p:txBody>
      </p:sp>
      <p:sp>
        <p:nvSpPr>
          <p:cNvPr id="3" name="Text Placeholder 2">
            <a:extLst>
              <a:ext uri="{FF2B5EF4-FFF2-40B4-BE49-F238E27FC236}">
                <a16:creationId xmlns:a16="http://schemas.microsoft.com/office/drawing/2014/main" id="{A70EA363-09D7-D6F5-0204-B3A4CCAB3414}"/>
              </a:ext>
            </a:extLst>
          </p:cNvPr>
          <p:cNvSpPr>
            <a:spLocks noGrp="1"/>
          </p:cNvSpPr>
          <p:nvPr>
            <p:ph type="body" idx="1"/>
          </p:nvPr>
        </p:nvSpPr>
        <p:spPr/>
        <p:txBody>
          <a:bodyPr/>
          <a:lstStyle/>
          <a:p>
            <a:r>
              <a:rPr lang="en-US" dirty="0"/>
              <a:t>Research in R how to conduct a T-test (</a:t>
            </a:r>
            <a:r>
              <a:rPr lang="en-US" dirty="0" err="1"/>
              <a:t>t.test</a:t>
            </a:r>
            <a:r>
              <a:rPr lang="en-US" dirty="0"/>
              <a:t>) and conduct a six step hypothesis test to answer the question on the next slide.  If you would like to brush up on hypothesis tests, please see the </a:t>
            </a:r>
            <a:r>
              <a:rPr lang="en-US" i="1" dirty="0"/>
              <a:t>Bridge Course for Statistics</a:t>
            </a:r>
            <a:r>
              <a:rPr lang="en-US" dirty="0"/>
              <a:t>. </a:t>
            </a:r>
          </a:p>
          <a:p>
            <a:endParaRPr lang="en-US" dirty="0"/>
          </a:p>
        </p:txBody>
      </p:sp>
    </p:spTree>
    <p:extLst>
      <p:ext uri="{BB962C8B-B14F-4D97-AF65-F5344CB8AC3E}">
        <p14:creationId xmlns:p14="http://schemas.microsoft.com/office/powerpoint/2010/main" val="25019541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9F84C91-D099-FC7B-F814-ABAFD6158F62}"/>
              </a:ext>
            </a:extLst>
          </p:cNvPr>
          <p:cNvSpPr txBox="1"/>
          <p:nvPr/>
        </p:nvSpPr>
        <p:spPr>
          <a:xfrm>
            <a:off x="3047048" y="307409"/>
            <a:ext cx="6097904" cy="1922642"/>
          </a:xfrm>
          <a:prstGeom prst="rect">
            <a:avLst/>
          </a:prstGeom>
          <a:noFill/>
        </p:spPr>
        <p:txBody>
          <a:bodyPr wrap="square">
            <a:spAutoFit/>
          </a:bodyPr>
          <a:lstStyle/>
          <a:p>
            <a:pPr eaLnBrk="1" hangingPunct="1">
              <a:lnSpc>
                <a:spcPct val="90000"/>
              </a:lnSpc>
              <a:buFont typeface="Wingdings" pitchFamily="2" charset="2"/>
              <a:buNone/>
            </a:pPr>
            <a:r>
              <a:rPr lang="en-US" altLang="en-US" sz="1800" dirty="0"/>
              <a:t>The following are ages of 7 randomly chosen patrons seen leaving the Beach Comber in South Mission Beach at 7pm!  We assume that the data come from a normal distribution and would like to test the claim that the mean age of the distribution of Comber patrons is different than 21.  Conduct a 6 step hypothesis test to test this claim.  </a:t>
            </a:r>
          </a:p>
          <a:p>
            <a:pPr algn="ctr" eaLnBrk="1" hangingPunct="1">
              <a:lnSpc>
                <a:spcPct val="90000"/>
              </a:lnSpc>
              <a:buFont typeface="Wingdings" pitchFamily="2" charset="2"/>
              <a:buNone/>
            </a:pPr>
            <a:r>
              <a:rPr lang="en-US" altLang="en-US" sz="1800" dirty="0"/>
              <a:t>	</a:t>
            </a:r>
            <a:r>
              <a:rPr lang="en-US" altLang="en-US" sz="2400" dirty="0"/>
              <a:t>25, 19, 37, 29, 40, 28, 31</a:t>
            </a:r>
          </a:p>
        </p:txBody>
      </p:sp>
      <p:sp>
        <p:nvSpPr>
          <p:cNvPr id="6" name="TextBox 5">
            <a:extLst>
              <a:ext uri="{FF2B5EF4-FFF2-40B4-BE49-F238E27FC236}">
                <a16:creationId xmlns:a16="http://schemas.microsoft.com/office/drawing/2014/main" id="{FC554C34-C175-7C1C-74F2-E146F045E0D8}"/>
              </a:ext>
            </a:extLst>
          </p:cNvPr>
          <p:cNvSpPr txBox="1"/>
          <p:nvPr/>
        </p:nvSpPr>
        <p:spPr>
          <a:xfrm>
            <a:off x="2548890" y="2834640"/>
            <a:ext cx="7700010" cy="3539430"/>
          </a:xfrm>
          <a:prstGeom prst="rect">
            <a:avLst/>
          </a:prstGeom>
          <a:noFill/>
        </p:spPr>
        <p:txBody>
          <a:bodyPr wrap="square" rtlCol="0">
            <a:spAutoFit/>
          </a:bodyPr>
          <a:lstStyle/>
          <a:p>
            <a:r>
              <a:rPr lang="en-US" sz="2800" dirty="0"/>
              <a:t>6 step hypothesis</a:t>
            </a:r>
          </a:p>
          <a:p>
            <a:endParaRPr lang="en-US" sz="2800" dirty="0"/>
          </a:p>
          <a:p>
            <a:pPr marL="342900" indent="-342900">
              <a:buFont typeface="+mj-lt"/>
              <a:buAutoNum type="arabicPeriod"/>
            </a:pPr>
            <a:r>
              <a:rPr lang="en-US" sz="2800" dirty="0"/>
              <a:t>State the hypotheses (null and alternative)</a:t>
            </a:r>
          </a:p>
          <a:p>
            <a:pPr marL="342900" indent="-342900">
              <a:buFont typeface="+mj-lt"/>
              <a:buAutoNum type="arabicPeriod"/>
            </a:pPr>
            <a:r>
              <a:rPr lang="en-US" sz="2800" dirty="0"/>
              <a:t>Set significance level (alpha)</a:t>
            </a:r>
          </a:p>
          <a:p>
            <a:pPr marL="342900" indent="-342900">
              <a:buFont typeface="+mj-lt"/>
              <a:buAutoNum type="arabicPeriod"/>
            </a:pPr>
            <a:r>
              <a:rPr lang="en-US" sz="2800" dirty="0"/>
              <a:t>Choose test statistic</a:t>
            </a:r>
          </a:p>
          <a:p>
            <a:pPr marL="342900" indent="-342900">
              <a:buFont typeface="+mj-lt"/>
              <a:buAutoNum type="arabicPeriod"/>
            </a:pPr>
            <a:r>
              <a:rPr lang="en-US" sz="2800" dirty="0"/>
              <a:t>Collect data and calculate</a:t>
            </a:r>
          </a:p>
          <a:p>
            <a:pPr marL="342900" indent="-342900">
              <a:buFont typeface="+mj-lt"/>
              <a:buAutoNum type="arabicPeriod"/>
            </a:pPr>
            <a:r>
              <a:rPr lang="en-US" sz="2800" dirty="0"/>
              <a:t>Make a decision</a:t>
            </a:r>
          </a:p>
          <a:p>
            <a:pPr marL="342900" indent="-342900">
              <a:buFont typeface="+mj-lt"/>
              <a:buAutoNum type="arabicPeriod"/>
            </a:pPr>
            <a:r>
              <a:rPr lang="en-US" sz="2800" dirty="0"/>
              <a:t>Interpret results</a:t>
            </a:r>
          </a:p>
        </p:txBody>
      </p:sp>
    </p:spTree>
    <p:extLst>
      <p:ext uri="{BB962C8B-B14F-4D97-AF65-F5344CB8AC3E}">
        <p14:creationId xmlns:p14="http://schemas.microsoft.com/office/powerpoint/2010/main" val="3147365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AACF7-1EC3-ABDE-9B80-A2D2AA757E81}"/>
              </a:ext>
            </a:extLst>
          </p:cNvPr>
          <p:cNvSpPr>
            <a:spLocks noGrp="1"/>
          </p:cNvSpPr>
          <p:nvPr>
            <p:ph type="title"/>
          </p:nvPr>
        </p:nvSpPr>
        <p:spPr/>
        <p:txBody>
          <a:bodyPr/>
          <a:lstStyle/>
          <a:p>
            <a:r>
              <a:rPr lang="en-US" dirty="0"/>
              <a:t>1. State hypotheses (null and alternative)</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B8B3A6D-7D00-0DE6-559A-A0FF3C1870A8}"/>
                  </a:ext>
                </a:extLst>
              </p:cNvPr>
              <p:cNvSpPr txBox="1"/>
              <p:nvPr/>
            </p:nvSpPr>
            <p:spPr>
              <a:xfrm>
                <a:off x="1194435" y="1714738"/>
                <a:ext cx="3434715" cy="830997"/>
              </a:xfrm>
              <a:prstGeom prst="rect">
                <a:avLst/>
              </a:prstGeom>
              <a:noFill/>
              <a:ln>
                <a:noFill/>
              </a:ln>
            </p:spPr>
            <p:txBody>
              <a:bodyPr wrap="square" lIns="0" tIns="0" rIns="0" bIns="0"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oMath>
                </a14:m>
                <a:r>
                  <a:rPr lang="en-US" dirty="0"/>
                  <a:t> : </a:t>
                </a:r>
                <a14:m>
                  <m:oMath xmlns:m="http://schemas.openxmlformats.org/officeDocument/2006/math">
                    <m:r>
                      <a:rPr lang="en-US" i="1" smtClean="0">
                        <a:latin typeface="Cambria Math" panose="02040503050406030204" pitchFamily="18" charset="0"/>
                        <a:ea typeface="Cambria Math" panose="02040503050406030204" pitchFamily="18" charset="0"/>
                      </a:rPr>
                      <m:t>𝜇</m:t>
                    </m:r>
                    <m:r>
                      <a:rPr lang="en-US"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21</m:t>
                    </m:r>
                  </m:oMath>
                </a14:m>
                <a:br>
                  <a:rPr lang="en-US" dirty="0"/>
                </a:br>
                <a:r>
                  <a:rPr lang="en-US" dirty="0"/>
                  <a:t>The mean age is different than 21</a:t>
                </a:r>
              </a:p>
              <a:p>
                <a:endParaRPr lang="en-US" dirty="0"/>
              </a:p>
            </p:txBody>
          </p:sp>
        </mc:Choice>
        <mc:Fallback xmlns="">
          <p:sp>
            <p:nvSpPr>
              <p:cNvPr id="3" name="TextBox 2">
                <a:extLst>
                  <a:ext uri="{FF2B5EF4-FFF2-40B4-BE49-F238E27FC236}">
                    <a16:creationId xmlns:a16="http://schemas.microsoft.com/office/drawing/2014/main" id="{3B8B3A6D-7D00-0DE6-559A-A0FF3C1870A8}"/>
                  </a:ext>
                </a:extLst>
              </p:cNvPr>
              <p:cNvSpPr txBox="1">
                <a:spLocks noRot="1" noChangeAspect="1" noMove="1" noResize="1" noEditPoints="1" noAdjustHandles="1" noChangeArrowheads="1" noChangeShapeType="1" noTextEdit="1"/>
              </p:cNvSpPr>
              <p:nvPr/>
            </p:nvSpPr>
            <p:spPr>
              <a:xfrm>
                <a:off x="1194435" y="1714738"/>
                <a:ext cx="3434715" cy="830997"/>
              </a:xfrm>
              <a:prstGeom prst="rect">
                <a:avLst/>
              </a:prstGeom>
              <a:blipFill>
                <a:blip r:embed="rId2"/>
                <a:stretch>
                  <a:fillRect l="-4263" t="-8759"/>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EE7D20F-72DF-6800-4BC2-95FEE39884B7}"/>
                  </a:ext>
                </a:extLst>
              </p:cNvPr>
              <p:cNvSpPr txBox="1"/>
              <p:nvPr/>
            </p:nvSpPr>
            <p:spPr>
              <a:xfrm>
                <a:off x="1194434" y="2545735"/>
                <a:ext cx="3434715" cy="830997"/>
              </a:xfrm>
              <a:prstGeom prst="rect">
                <a:avLst/>
              </a:prstGeom>
              <a:noFill/>
              <a:ln>
                <a:noFill/>
              </a:ln>
            </p:spPr>
            <p:txBody>
              <a:bodyPr wrap="square" lIns="0" tIns="0" rIns="0" bIns="0"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𝑎</m:t>
                        </m:r>
                      </m:sub>
                    </m:sSub>
                  </m:oMath>
                </a14:m>
                <a:r>
                  <a:rPr lang="en-US" dirty="0"/>
                  <a:t> : </a:t>
                </a:r>
                <a14:m>
                  <m:oMath xmlns:m="http://schemas.openxmlformats.org/officeDocument/2006/math">
                    <m:r>
                      <a:rPr lang="en-US" i="1" smtClean="0">
                        <a:latin typeface="Cambria Math" panose="02040503050406030204" pitchFamily="18" charset="0"/>
                        <a:ea typeface="Cambria Math" panose="02040503050406030204" pitchFamily="18" charset="0"/>
                      </a:rPr>
                      <m:t>𝜇</m:t>
                    </m:r>
                    <m:r>
                      <a:rPr lang="en-US"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21</m:t>
                    </m:r>
                  </m:oMath>
                </a14:m>
                <a:endParaRPr lang="en-US" dirty="0"/>
              </a:p>
              <a:p>
                <a:r>
                  <a:rPr lang="en-US" dirty="0"/>
                  <a:t>The mean age is exactly 21</a:t>
                </a:r>
              </a:p>
              <a:p>
                <a:endParaRPr lang="en-US" dirty="0"/>
              </a:p>
            </p:txBody>
          </p:sp>
        </mc:Choice>
        <mc:Fallback xmlns="">
          <p:sp>
            <p:nvSpPr>
              <p:cNvPr id="4" name="TextBox 3">
                <a:extLst>
                  <a:ext uri="{FF2B5EF4-FFF2-40B4-BE49-F238E27FC236}">
                    <a16:creationId xmlns:a16="http://schemas.microsoft.com/office/drawing/2014/main" id="{4EE7D20F-72DF-6800-4BC2-95FEE39884B7}"/>
                  </a:ext>
                </a:extLst>
              </p:cNvPr>
              <p:cNvSpPr txBox="1">
                <a:spLocks noRot="1" noChangeAspect="1" noMove="1" noResize="1" noEditPoints="1" noAdjustHandles="1" noChangeArrowheads="1" noChangeShapeType="1" noTextEdit="1"/>
              </p:cNvSpPr>
              <p:nvPr/>
            </p:nvSpPr>
            <p:spPr>
              <a:xfrm>
                <a:off x="1194434" y="2545735"/>
                <a:ext cx="3434715" cy="830997"/>
              </a:xfrm>
              <a:prstGeom prst="rect">
                <a:avLst/>
              </a:prstGeom>
              <a:blipFill>
                <a:blip r:embed="rId3"/>
                <a:stretch>
                  <a:fillRect l="-4263" t="-8824"/>
                </a:stretch>
              </a:blipFill>
              <a:ln>
                <a:noFill/>
              </a:ln>
            </p:spPr>
            <p:txBody>
              <a:bodyPr/>
              <a:lstStyle/>
              <a:p>
                <a:r>
                  <a:rPr lang="en-US">
                    <a:noFill/>
                  </a:rPr>
                  <a:t> </a:t>
                </a:r>
              </a:p>
            </p:txBody>
          </p:sp>
        </mc:Fallback>
      </mc:AlternateContent>
      <p:sp>
        <p:nvSpPr>
          <p:cNvPr id="5" name="TextBox 4">
            <a:extLst>
              <a:ext uri="{FF2B5EF4-FFF2-40B4-BE49-F238E27FC236}">
                <a16:creationId xmlns:a16="http://schemas.microsoft.com/office/drawing/2014/main" id="{D8557621-A1A6-276E-23EA-E0A07607B3A4}"/>
              </a:ext>
            </a:extLst>
          </p:cNvPr>
          <p:cNvSpPr txBox="1"/>
          <p:nvPr/>
        </p:nvSpPr>
        <p:spPr>
          <a:xfrm>
            <a:off x="1194434" y="3474720"/>
            <a:ext cx="5177790" cy="646331"/>
          </a:xfrm>
          <a:prstGeom prst="rect">
            <a:avLst/>
          </a:prstGeom>
          <a:noFill/>
        </p:spPr>
        <p:txBody>
          <a:bodyPr wrap="square" rtlCol="0">
            <a:spAutoFit/>
          </a:bodyPr>
          <a:lstStyle/>
          <a:p>
            <a:r>
              <a:rPr lang="en-US" dirty="0"/>
              <a:t>Two-tailed test: either the mean is exactly 21, or it’s less than 21, or it’s greater than 21.</a:t>
            </a:r>
          </a:p>
        </p:txBody>
      </p:sp>
    </p:spTree>
    <p:extLst>
      <p:ext uri="{BB962C8B-B14F-4D97-AF65-F5344CB8AC3E}">
        <p14:creationId xmlns:p14="http://schemas.microsoft.com/office/powerpoint/2010/main" val="38474183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1E1A2-42B5-A34B-5677-50AF58E16225}"/>
              </a:ext>
            </a:extLst>
          </p:cNvPr>
          <p:cNvSpPr>
            <a:spLocks noGrp="1"/>
          </p:cNvSpPr>
          <p:nvPr>
            <p:ph type="title"/>
          </p:nvPr>
        </p:nvSpPr>
        <p:spPr/>
        <p:txBody>
          <a:bodyPr/>
          <a:lstStyle/>
          <a:p>
            <a:r>
              <a:rPr lang="en-US" dirty="0"/>
              <a:t>2. Set significance level</a:t>
            </a:r>
          </a:p>
        </p:txBody>
      </p:sp>
      <p:sp>
        <p:nvSpPr>
          <p:cNvPr id="3" name="TextBox 2">
            <a:extLst>
              <a:ext uri="{FF2B5EF4-FFF2-40B4-BE49-F238E27FC236}">
                <a16:creationId xmlns:a16="http://schemas.microsoft.com/office/drawing/2014/main" id="{9967D03A-E344-F2F3-04BE-576BF846D075}"/>
              </a:ext>
            </a:extLst>
          </p:cNvPr>
          <p:cNvSpPr txBox="1"/>
          <p:nvPr/>
        </p:nvSpPr>
        <p:spPr>
          <a:xfrm>
            <a:off x="1245870" y="2194560"/>
            <a:ext cx="4594860" cy="2308324"/>
          </a:xfrm>
          <a:prstGeom prst="rect">
            <a:avLst/>
          </a:prstGeom>
          <a:noFill/>
        </p:spPr>
        <p:txBody>
          <a:bodyPr wrap="square" rtlCol="0">
            <a:spAutoFit/>
          </a:bodyPr>
          <a:lstStyle/>
          <a:p>
            <a:r>
              <a:rPr lang="en-US" dirty="0"/>
              <a:t>What is the significance level? How confident are we about the null hypothesis? It’s very likely the mean is not exactly 21, so I’m pretty confident.</a:t>
            </a:r>
            <a:br>
              <a:rPr lang="en-US" dirty="0"/>
            </a:br>
            <a:br>
              <a:rPr lang="en-US" dirty="0"/>
            </a:br>
            <a:r>
              <a:rPr lang="en-US" dirty="0"/>
              <a:t>How do we choose or calculate a significance level?</a:t>
            </a:r>
          </a:p>
          <a:p>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4992BF8-C9D3-EE2E-C800-BADEF9EA1782}"/>
                  </a:ext>
                </a:extLst>
              </p:cNvPr>
              <p:cNvSpPr txBox="1"/>
              <p:nvPr/>
            </p:nvSpPr>
            <p:spPr>
              <a:xfrm>
                <a:off x="8212455" y="2194560"/>
                <a:ext cx="92551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=0.05</m:t>
                      </m:r>
                    </m:oMath>
                  </m:oMathPara>
                </a14:m>
                <a:endParaRPr lang="en-US" b="0" dirty="0">
                  <a:ea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C4992BF8-C9D3-EE2E-C800-BADEF9EA1782}"/>
                  </a:ext>
                </a:extLst>
              </p:cNvPr>
              <p:cNvSpPr txBox="1">
                <a:spLocks noRot="1" noChangeAspect="1" noMove="1" noResize="1" noEditPoints="1" noAdjustHandles="1" noChangeArrowheads="1" noChangeShapeType="1" noTextEdit="1"/>
              </p:cNvSpPr>
              <p:nvPr/>
            </p:nvSpPr>
            <p:spPr>
              <a:xfrm>
                <a:off x="8212455" y="2194560"/>
                <a:ext cx="925510" cy="276999"/>
              </a:xfrm>
              <a:prstGeom prst="rect">
                <a:avLst/>
              </a:prstGeom>
              <a:blipFill>
                <a:blip r:embed="rId2"/>
                <a:stretch>
                  <a:fillRect l="-3947" r="-6579" b="-8889"/>
                </a:stretch>
              </a:blipFill>
            </p:spPr>
            <p:txBody>
              <a:bodyPr/>
              <a:lstStyle/>
              <a:p>
                <a:r>
                  <a:rPr lang="en-US">
                    <a:noFill/>
                  </a:rPr>
                  <a:t> </a:t>
                </a:r>
              </a:p>
            </p:txBody>
          </p:sp>
        </mc:Fallback>
      </mc:AlternateContent>
    </p:spTree>
    <p:extLst>
      <p:ext uri="{BB962C8B-B14F-4D97-AF65-F5344CB8AC3E}">
        <p14:creationId xmlns:p14="http://schemas.microsoft.com/office/powerpoint/2010/main" val="21652313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BBE16B-4CA9-7F25-63A6-8691783C1A68}"/>
              </a:ext>
            </a:extLst>
          </p:cNvPr>
          <p:cNvPicPr>
            <a:picLocks noChangeAspect="1"/>
          </p:cNvPicPr>
          <p:nvPr/>
        </p:nvPicPr>
        <p:blipFill>
          <a:blip r:embed="rId2"/>
          <a:stretch>
            <a:fillRect/>
          </a:stretch>
        </p:blipFill>
        <p:spPr>
          <a:xfrm>
            <a:off x="1852084" y="1664841"/>
            <a:ext cx="8487832" cy="4671318"/>
          </a:xfrm>
          <a:prstGeom prst="rect">
            <a:avLst/>
          </a:prstGeom>
        </p:spPr>
      </p:pic>
      <p:sp>
        <p:nvSpPr>
          <p:cNvPr id="5" name="TextBox 4">
            <a:extLst>
              <a:ext uri="{FF2B5EF4-FFF2-40B4-BE49-F238E27FC236}">
                <a16:creationId xmlns:a16="http://schemas.microsoft.com/office/drawing/2014/main" id="{F51A81A3-D887-A3D3-17FD-DAF85EB2589E}"/>
              </a:ext>
            </a:extLst>
          </p:cNvPr>
          <p:cNvSpPr txBox="1"/>
          <p:nvPr/>
        </p:nvSpPr>
        <p:spPr>
          <a:xfrm>
            <a:off x="2080260" y="605790"/>
            <a:ext cx="7825740" cy="923330"/>
          </a:xfrm>
          <a:prstGeom prst="rect">
            <a:avLst/>
          </a:prstGeom>
          <a:noFill/>
        </p:spPr>
        <p:txBody>
          <a:bodyPr wrap="square" rtlCol="0">
            <a:spAutoFit/>
          </a:bodyPr>
          <a:lstStyle/>
          <a:p>
            <a:r>
              <a:rPr lang="en-US" dirty="0"/>
              <a:t>What kind of data is this? If I were to guess the average age of patrons without knowing any of their ages ahead of time, I would guess over 21 because it’s late in the evening and there’s a bar.</a:t>
            </a:r>
          </a:p>
        </p:txBody>
      </p:sp>
    </p:spTree>
    <p:extLst>
      <p:ext uri="{BB962C8B-B14F-4D97-AF65-F5344CB8AC3E}">
        <p14:creationId xmlns:p14="http://schemas.microsoft.com/office/powerpoint/2010/main" val="42216455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279B0-6654-2C0C-3773-79CA27F3DC2B}"/>
              </a:ext>
            </a:extLst>
          </p:cNvPr>
          <p:cNvSpPr>
            <a:spLocks noGrp="1"/>
          </p:cNvSpPr>
          <p:nvPr>
            <p:ph type="title"/>
          </p:nvPr>
        </p:nvSpPr>
        <p:spPr/>
        <p:txBody>
          <a:bodyPr/>
          <a:lstStyle/>
          <a:p>
            <a:r>
              <a:rPr lang="en-US" dirty="0"/>
              <a:t>3. Choose test statistic</a:t>
            </a:r>
          </a:p>
        </p:txBody>
      </p:sp>
      <p:pic>
        <p:nvPicPr>
          <p:cNvPr id="4" name="Picture 3">
            <a:extLst>
              <a:ext uri="{FF2B5EF4-FFF2-40B4-BE49-F238E27FC236}">
                <a16:creationId xmlns:a16="http://schemas.microsoft.com/office/drawing/2014/main" id="{7C48254F-26A5-F901-A133-A8D2DB53D199}"/>
              </a:ext>
            </a:extLst>
          </p:cNvPr>
          <p:cNvPicPr>
            <a:picLocks noChangeAspect="1"/>
          </p:cNvPicPr>
          <p:nvPr/>
        </p:nvPicPr>
        <p:blipFill>
          <a:blip r:embed="rId2"/>
          <a:stretch>
            <a:fillRect/>
          </a:stretch>
        </p:blipFill>
        <p:spPr>
          <a:xfrm>
            <a:off x="301665" y="1996580"/>
            <a:ext cx="6784935" cy="1980467"/>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330A463-A3FB-2AE1-CB4A-4E51147B92D9}"/>
                  </a:ext>
                </a:extLst>
              </p:cNvPr>
              <p:cNvSpPr txBox="1"/>
              <p:nvPr/>
            </p:nvSpPr>
            <p:spPr>
              <a:xfrm flipH="1">
                <a:off x="2083798" y="4282939"/>
                <a:ext cx="2202452" cy="590033"/>
              </a:xfrm>
              <a:prstGeom prst="rect">
                <a:avLst/>
              </a:prstGeom>
              <a:noFill/>
            </p:spPr>
            <p:txBody>
              <a:bodyPr wrap="square" lIns="0" tIns="0" rIns="0" bIns="0" rtlCol="0">
                <a:spAutoFit/>
              </a:bodyPr>
              <a:lstStyle/>
              <a:p>
                <a:r>
                  <a:rPr lang="en-US" dirty="0"/>
                  <a:t>           t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27.5 −21</m:t>
                        </m:r>
                      </m:num>
                      <m:den>
                        <m:f>
                          <m:fPr>
                            <m:ctrlPr>
                              <a:rPr lang="en-US" i="1" smtClean="0">
                                <a:latin typeface="Cambria Math" panose="02040503050406030204" pitchFamily="18" charset="0"/>
                              </a:rPr>
                            </m:ctrlPr>
                          </m:fPr>
                          <m:num>
                            <m:r>
                              <m:rPr>
                                <m:nor/>
                              </m:rPr>
                              <a:rPr lang="en-US"/>
                              <m:t>7.549834 </m:t>
                            </m:r>
                          </m:num>
                          <m:den>
                            <m:r>
                              <a:rPr lang="en-US" b="0" i="1" smtClean="0">
                                <a:latin typeface="Cambria Math" panose="02040503050406030204" pitchFamily="18" charset="0"/>
                              </a:rPr>
                              <m:t>2</m:t>
                            </m:r>
                          </m:den>
                        </m:f>
                      </m:den>
                    </m:f>
                  </m:oMath>
                </a14:m>
                <a:endParaRPr lang="en-US" dirty="0"/>
              </a:p>
            </p:txBody>
          </p:sp>
        </mc:Choice>
        <mc:Fallback xmlns="">
          <p:sp>
            <p:nvSpPr>
              <p:cNvPr id="5" name="TextBox 4">
                <a:extLst>
                  <a:ext uri="{FF2B5EF4-FFF2-40B4-BE49-F238E27FC236}">
                    <a16:creationId xmlns:a16="http://schemas.microsoft.com/office/drawing/2014/main" id="{D330A463-A3FB-2AE1-CB4A-4E51147B92D9}"/>
                  </a:ext>
                </a:extLst>
              </p:cNvPr>
              <p:cNvSpPr txBox="1">
                <a:spLocks noRot="1" noChangeAspect="1" noMove="1" noResize="1" noEditPoints="1" noAdjustHandles="1" noChangeArrowheads="1" noChangeShapeType="1" noTextEdit="1"/>
              </p:cNvSpPr>
              <p:nvPr/>
            </p:nvSpPr>
            <p:spPr>
              <a:xfrm flipH="1">
                <a:off x="2083798" y="4282939"/>
                <a:ext cx="2202452" cy="590033"/>
              </a:xfrm>
              <a:prstGeom prst="rect">
                <a:avLst/>
              </a:prstGeom>
              <a:blipFill>
                <a:blip r:embed="rId3"/>
                <a:stretch>
                  <a:fillRect t="-2083" b="-3125"/>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0A8FA700-8FAD-1AD2-4D62-2AB89E2E6166}"/>
              </a:ext>
            </a:extLst>
          </p:cNvPr>
          <p:cNvPicPr>
            <a:picLocks noChangeAspect="1"/>
          </p:cNvPicPr>
          <p:nvPr/>
        </p:nvPicPr>
        <p:blipFill>
          <a:blip r:embed="rId4"/>
          <a:stretch>
            <a:fillRect/>
          </a:stretch>
        </p:blipFill>
        <p:spPr>
          <a:xfrm>
            <a:off x="6930792" y="1690688"/>
            <a:ext cx="4697328" cy="4376245"/>
          </a:xfrm>
          <a:prstGeom prst="rect">
            <a:avLst/>
          </a:prstGeom>
        </p:spPr>
      </p:pic>
      <p:sp>
        <p:nvSpPr>
          <p:cNvPr id="8" name="TextBox 7">
            <a:extLst>
              <a:ext uri="{FF2B5EF4-FFF2-40B4-BE49-F238E27FC236}">
                <a16:creationId xmlns:a16="http://schemas.microsoft.com/office/drawing/2014/main" id="{0CB04707-8261-B277-8A63-AD486E3376EB}"/>
              </a:ext>
            </a:extLst>
          </p:cNvPr>
          <p:cNvSpPr txBox="1"/>
          <p:nvPr/>
        </p:nvSpPr>
        <p:spPr>
          <a:xfrm>
            <a:off x="838200" y="5210654"/>
            <a:ext cx="5615940" cy="923330"/>
          </a:xfrm>
          <a:prstGeom prst="rect">
            <a:avLst/>
          </a:prstGeom>
          <a:noFill/>
        </p:spPr>
        <p:txBody>
          <a:bodyPr wrap="square" rtlCol="0">
            <a:spAutoFit/>
          </a:bodyPr>
          <a:lstStyle/>
          <a:p>
            <a:r>
              <a:rPr lang="en-US" b="1" dirty="0"/>
              <a:t>Is it okay in this case to sample the data by just slicing the first 4 ages? Is it better to always use random(), even if the data is already in a random order?</a:t>
            </a:r>
          </a:p>
        </p:txBody>
      </p:sp>
      <p:sp>
        <p:nvSpPr>
          <p:cNvPr id="9" name="TextBox 8">
            <a:extLst>
              <a:ext uri="{FF2B5EF4-FFF2-40B4-BE49-F238E27FC236}">
                <a16:creationId xmlns:a16="http://schemas.microsoft.com/office/drawing/2014/main" id="{FDB91DB7-8CF0-9CE6-25DC-00683488611F}"/>
              </a:ext>
            </a:extLst>
          </p:cNvPr>
          <p:cNvSpPr txBox="1"/>
          <p:nvPr/>
        </p:nvSpPr>
        <p:spPr>
          <a:xfrm>
            <a:off x="7086600" y="5846544"/>
            <a:ext cx="4431030" cy="646331"/>
          </a:xfrm>
          <a:prstGeom prst="rect">
            <a:avLst/>
          </a:prstGeom>
          <a:noFill/>
        </p:spPr>
        <p:txBody>
          <a:bodyPr wrap="square" rtlCol="0">
            <a:spAutoFit/>
          </a:bodyPr>
          <a:lstStyle/>
          <a:p>
            <a:r>
              <a:rPr lang="en-US" b="1" dirty="0"/>
              <a:t>Was I supposed to use n = 7, because that’s a sample of </a:t>
            </a:r>
            <a:r>
              <a:rPr lang="en-US" b="1" dirty="0" err="1"/>
              <a:t>allllll</a:t>
            </a:r>
            <a:r>
              <a:rPr lang="en-US" b="1" dirty="0"/>
              <a:t> the patrons?</a:t>
            </a:r>
          </a:p>
        </p:txBody>
      </p:sp>
    </p:spTree>
    <p:extLst>
      <p:ext uri="{BB962C8B-B14F-4D97-AF65-F5344CB8AC3E}">
        <p14:creationId xmlns:p14="http://schemas.microsoft.com/office/powerpoint/2010/main" val="37801606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7B705-CA31-9261-32B8-AE62068C07E9}"/>
              </a:ext>
            </a:extLst>
          </p:cNvPr>
          <p:cNvSpPr>
            <a:spLocks noGrp="1"/>
          </p:cNvSpPr>
          <p:nvPr>
            <p:ph type="title"/>
          </p:nvPr>
        </p:nvSpPr>
        <p:spPr/>
        <p:txBody>
          <a:bodyPr/>
          <a:lstStyle/>
          <a:p>
            <a:r>
              <a:rPr lang="en-US" dirty="0"/>
              <a:t>4. Collect data and calculate</a:t>
            </a:r>
          </a:p>
        </p:txBody>
      </p:sp>
      <p:pic>
        <p:nvPicPr>
          <p:cNvPr id="4" name="Picture 3">
            <a:extLst>
              <a:ext uri="{FF2B5EF4-FFF2-40B4-BE49-F238E27FC236}">
                <a16:creationId xmlns:a16="http://schemas.microsoft.com/office/drawing/2014/main" id="{01E7DFD0-042E-7734-EFEE-D49234B29E65}"/>
              </a:ext>
            </a:extLst>
          </p:cNvPr>
          <p:cNvPicPr>
            <a:picLocks noChangeAspect="1"/>
          </p:cNvPicPr>
          <p:nvPr/>
        </p:nvPicPr>
        <p:blipFill>
          <a:blip r:embed="rId2"/>
          <a:stretch>
            <a:fillRect/>
          </a:stretch>
        </p:blipFill>
        <p:spPr>
          <a:xfrm>
            <a:off x="3307080" y="1787817"/>
            <a:ext cx="4671060" cy="3282366"/>
          </a:xfrm>
          <a:prstGeom prst="rect">
            <a:avLst/>
          </a:prstGeom>
        </p:spPr>
      </p:pic>
    </p:spTree>
    <p:extLst>
      <p:ext uri="{BB962C8B-B14F-4D97-AF65-F5344CB8AC3E}">
        <p14:creationId xmlns:p14="http://schemas.microsoft.com/office/powerpoint/2010/main" val="29439461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A5D0C-2BEE-12D8-FF1C-7EDE74BA7164}"/>
              </a:ext>
            </a:extLst>
          </p:cNvPr>
          <p:cNvSpPr>
            <a:spLocks noGrp="1"/>
          </p:cNvSpPr>
          <p:nvPr>
            <p:ph type="title"/>
          </p:nvPr>
        </p:nvSpPr>
        <p:spPr/>
        <p:txBody>
          <a:bodyPr/>
          <a:lstStyle/>
          <a:p>
            <a:r>
              <a:rPr lang="en-US" dirty="0"/>
              <a:t>5. Make a decision</a:t>
            </a:r>
          </a:p>
        </p:txBody>
      </p:sp>
      <p:sp>
        <p:nvSpPr>
          <p:cNvPr id="3" name="TextBox 2">
            <a:extLst>
              <a:ext uri="{FF2B5EF4-FFF2-40B4-BE49-F238E27FC236}">
                <a16:creationId xmlns:a16="http://schemas.microsoft.com/office/drawing/2014/main" id="{A9BD0024-1918-6268-7382-DDBF4614CC82}"/>
              </a:ext>
            </a:extLst>
          </p:cNvPr>
          <p:cNvSpPr txBox="1"/>
          <p:nvPr/>
        </p:nvSpPr>
        <p:spPr>
          <a:xfrm>
            <a:off x="838200" y="2023110"/>
            <a:ext cx="3989070" cy="923330"/>
          </a:xfrm>
          <a:prstGeom prst="rect">
            <a:avLst/>
          </a:prstGeom>
          <a:noFill/>
        </p:spPr>
        <p:txBody>
          <a:bodyPr wrap="square" rtlCol="0">
            <a:spAutoFit/>
          </a:bodyPr>
          <a:lstStyle/>
          <a:p>
            <a:r>
              <a:rPr lang="en-US" dirty="0"/>
              <a:t>The mean of the 7 ages was 29.8, which is not equal to 21. The null hypothesis was correct.</a:t>
            </a:r>
          </a:p>
        </p:txBody>
      </p:sp>
    </p:spTree>
    <p:extLst>
      <p:ext uri="{BB962C8B-B14F-4D97-AF65-F5344CB8AC3E}">
        <p14:creationId xmlns:p14="http://schemas.microsoft.com/office/powerpoint/2010/main" val="23625333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E06FD-E509-824D-3814-418C0D4986EC}"/>
              </a:ext>
            </a:extLst>
          </p:cNvPr>
          <p:cNvSpPr>
            <a:spLocks noGrp="1"/>
          </p:cNvSpPr>
          <p:nvPr>
            <p:ph type="title"/>
          </p:nvPr>
        </p:nvSpPr>
        <p:spPr/>
        <p:txBody>
          <a:bodyPr/>
          <a:lstStyle/>
          <a:p>
            <a:r>
              <a:rPr lang="en-US" dirty="0"/>
              <a:t>6. Interpret Results</a:t>
            </a:r>
          </a:p>
        </p:txBody>
      </p:sp>
      <p:sp>
        <p:nvSpPr>
          <p:cNvPr id="3" name="TextBox 2">
            <a:extLst>
              <a:ext uri="{FF2B5EF4-FFF2-40B4-BE49-F238E27FC236}">
                <a16:creationId xmlns:a16="http://schemas.microsoft.com/office/drawing/2014/main" id="{BC682517-8EA7-DB08-DF7E-F9485AC193C3}"/>
              </a:ext>
            </a:extLst>
          </p:cNvPr>
          <p:cNvSpPr txBox="1"/>
          <p:nvPr/>
        </p:nvSpPr>
        <p:spPr>
          <a:xfrm>
            <a:off x="838200" y="2274838"/>
            <a:ext cx="8766810" cy="2308324"/>
          </a:xfrm>
          <a:prstGeom prst="rect">
            <a:avLst/>
          </a:prstGeom>
          <a:noFill/>
        </p:spPr>
        <p:txBody>
          <a:bodyPr wrap="square" rtlCol="0">
            <a:spAutoFit/>
          </a:bodyPr>
          <a:lstStyle/>
          <a:p>
            <a:r>
              <a:rPr lang="en-US" dirty="0"/>
              <a:t>The mean age of the 7 patrons was over 28, meaning that we were right to hypothesize that the mean age of all the patrons at that bar was over 21. </a:t>
            </a:r>
            <a:br>
              <a:rPr lang="en-US" dirty="0"/>
            </a:br>
            <a:br>
              <a:rPr lang="en-US" dirty="0"/>
            </a:br>
            <a:r>
              <a:rPr lang="en-US" dirty="0"/>
              <a:t>What would the difference be if we took sample ages earlier in the day? When more children and teens are out at the beach? The mean age would probably be lower.</a:t>
            </a:r>
            <a:br>
              <a:rPr lang="en-US" dirty="0"/>
            </a:br>
            <a:br>
              <a:rPr lang="en-US" dirty="0"/>
            </a:br>
            <a:r>
              <a:rPr lang="en-US" dirty="0"/>
              <a:t>What would the difference be if we took sample ages later, around closing time? Maybe it would be even closer to 21 because the more mature patrons had gone home.</a:t>
            </a:r>
          </a:p>
        </p:txBody>
      </p:sp>
    </p:spTree>
    <p:extLst>
      <p:ext uri="{BB962C8B-B14F-4D97-AF65-F5344CB8AC3E}">
        <p14:creationId xmlns:p14="http://schemas.microsoft.com/office/powerpoint/2010/main" val="13056198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412B7-781C-4687-CEB2-A61787B51E3E}"/>
              </a:ext>
            </a:extLst>
          </p:cNvPr>
          <p:cNvSpPr>
            <a:spLocks noGrp="1"/>
          </p:cNvSpPr>
          <p:nvPr>
            <p:ph type="title"/>
          </p:nvPr>
        </p:nvSpPr>
        <p:spPr/>
        <p:txBody>
          <a:bodyPr/>
          <a:lstStyle/>
          <a:p>
            <a:r>
              <a:rPr lang="en-US" dirty="0"/>
              <a:t>Key Takeaways</a:t>
            </a:r>
          </a:p>
        </p:txBody>
      </p:sp>
      <p:sp>
        <p:nvSpPr>
          <p:cNvPr id="3" name="Content Placeholder 2">
            <a:extLst>
              <a:ext uri="{FF2B5EF4-FFF2-40B4-BE49-F238E27FC236}">
                <a16:creationId xmlns:a16="http://schemas.microsoft.com/office/drawing/2014/main" id="{AFCE35B4-7085-0E11-6D58-95E91174FE55}"/>
              </a:ext>
            </a:extLst>
          </p:cNvPr>
          <p:cNvSpPr>
            <a:spLocks noGrp="1"/>
          </p:cNvSpPr>
          <p:nvPr>
            <p:ph idx="1"/>
          </p:nvPr>
        </p:nvSpPr>
        <p:spPr/>
        <p:txBody>
          <a:bodyPr>
            <a:normAutofit fontScale="92500" lnSpcReduction="20000"/>
          </a:bodyPr>
          <a:lstStyle/>
          <a:p>
            <a:r>
              <a:rPr lang="en-US" dirty="0"/>
              <a:t>Data scientist profile: there are different ways to plot and format a bar chart in R Studio, and we can export the image or use </a:t>
            </a:r>
            <a:r>
              <a:rPr lang="en-US" dirty="0" err="1"/>
              <a:t>Rmarkdown</a:t>
            </a:r>
            <a:r>
              <a:rPr lang="en-US" dirty="0"/>
              <a:t> and </a:t>
            </a:r>
            <a:r>
              <a:rPr lang="en-US" dirty="0" err="1"/>
              <a:t>knitr</a:t>
            </a:r>
            <a:r>
              <a:rPr lang="en-US" dirty="0"/>
              <a:t> and save an .html file for reproducibility</a:t>
            </a:r>
          </a:p>
          <a:p>
            <a:r>
              <a:rPr lang="en-US" dirty="0"/>
              <a:t>CLT: the chi-squared distribution is an exponential distribution, which is not a normal distribution but the sampling distribution of the sample means is approximately normal, and centered at the population mean. The histogram of the sampling distribution looks like a normal CLT curve, bell-shaped and centered at the population mean.</a:t>
            </a:r>
          </a:p>
          <a:p>
            <a:r>
              <a:rPr lang="en-US" dirty="0"/>
              <a:t>6-Step Hypothesis and T-Test: There are many scientific methods to test a hypothesis, this one is useful for answering a statistical question about a population using sample data. The two-tailed test is used when your hypotheses are just that some variable is or is not equal to a value, and there are only two outcomes.</a:t>
            </a:r>
          </a:p>
        </p:txBody>
      </p:sp>
    </p:spTree>
    <p:extLst>
      <p:ext uri="{BB962C8B-B14F-4D97-AF65-F5344CB8AC3E}">
        <p14:creationId xmlns:p14="http://schemas.microsoft.com/office/powerpoint/2010/main" val="2958705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138</TotalTime>
  <Words>832</Words>
  <Application>Microsoft Office PowerPoint</Application>
  <PresentationFormat>Widescreen</PresentationFormat>
  <Paragraphs>46</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Aptos Display</vt:lpstr>
      <vt:lpstr>Arial</vt:lpstr>
      <vt:lpstr>Cambria Math</vt:lpstr>
      <vt:lpstr>Wingdings</vt:lpstr>
      <vt:lpstr>Office Theme</vt:lpstr>
      <vt:lpstr>Unit 1 For Live Session Assignment </vt:lpstr>
      <vt:lpstr>PowerPoint Presentation</vt:lpstr>
      <vt:lpstr>CLT</vt:lpstr>
      <vt:lpstr>PowerPoint Presentation</vt:lpstr>
      <vt:lpstr>PowerPoint Presentation</vt:lpstr>
      <vt:lpstr>PowerPoint Presentation</vt:lpstr>
      <vt:lpstr>PowerPoint Presentation</vt:lpstr>
      <vt:lpstr>PowerPoint Presentation</vt:lpstr>
      <vt:lpstr>PowerPoint Presentation</vt:lpstr>
      <vt:lpstr>Ask ChatGPT to try and address the previous question</vt:lpstr>
      <vt:lpstr>T-Test</vt:lpstr>
      <vt:lpstr>PowerPoint Presentation</vt:lpstr>
      <vt:lpstr>1. State hypotheses (null and alternative)</vt:lpstr>
      <vt:lpstr>2. Set significance level</vt:lpstr>
      <vt:lpstr>PowerPoint Presentation</vt:lpstr>
      <vt:lpstr>3. Choose test statistic</vt:lpstr>
      <vt:lpstr>4. Collect data and calculate</vt:lpstr>
      <vt:lpstr>5. Make a decision</vt:lpstr>
      <vt:lpstr>6. Interpret Results</vt:lpstr>
      <vt:lpstr>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Westlauer, Isabella</dc:creator>
  <cp:lastModifiedBy>Westlauer, Isabella</cp:lastModifiedBy>
  <cp:revision>9</cp:revision>
  <dcterms:created xsi:type="dcterms:W3CDTF">2026-01-22T07:26:15Z</dcterms:created>
  <dcterms:modified xsi:type="dcterms:W3CDTF">2026-01-22T17:30:55Z</dcterms:modified>
</cp:coreProperties>
</file>