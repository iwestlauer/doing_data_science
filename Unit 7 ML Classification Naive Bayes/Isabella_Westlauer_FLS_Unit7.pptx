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66"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B164C65-F91C-4883-A894-30A7DD52B25B}">
          <p14:sldIdLst>
            <p14:sldId id="256"/>
          </p14:sldIdLst>
        </p14:section>
        <p14:section name="part 1" id="{D1E2292D-5733-4523-B6A7-9BF119F47C6B}">
          <p14:sldIdLst>
            <p14:sldId id="257"/>
            <p14:sldId id="258"/>
            <p14:sldId id="259"/>
            <p14:sldId id="260"/>
            <p14:sldId id="261"/>
            <p14:sldId id="262"/>
            <p14:sldId id="263"/>
          </p14:sldIdLst>
        </p14:section>
        <p14:section name="Part 2" id="{C767435B-CB1D-4314-89A4-8BAF1AA9E2FB}">
          <p14:sldIdLst>
            <p14:sldId id="264"/>
          </p14:sldIdLst>
        </p14:section>
        <p14:section name="BONUS" id="{9A239E9E-0B1F-43DE-85FD-2A45A6CB94B8}">
          <p14:sldIdLst>
            <p14:sldId id="265"/>
            <p14:sldId id="268"/>
            <p14:sldId id="269"/>
            <p14:sldId id="266"/>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5" autoAdjust="0"/>
    <p:restoredTop sz="82198" autoAdjust="0"/>
  </p:normalViewPr>
  <p:slideViewPr>
    <p:cSldViewPr snapToGrid="0">
      <p:cViewPr varScale="1">
        <p:scale>
          <a:sx n="71" d="100"/>
          <a:sy n="71" d="100"/>
        </p:scale>
        <p:origin x="12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5T03:04:36.31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0,'13614'0'0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5T03:04:47.34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0,'13572'0'0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5T03:04:55.46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0,'13762'0'0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5T03:05:09.98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5T03:03:53.91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1,'16'1,"1"1,28 6,18 3,16-7,81 9,-106-7,0-3,59-4,47 3,-79 10,-57-7,1-1,28 0,-13-2,0 3,57 12,-59-9,0-1,71 3,41-8,137-6,-262 0,-1-1,-1-1,42-15,-43 13,-1 0,1 2,1 0,42-4,-39 9,16 0,59-10,-37 3,-1 3,118 6,-63 2,1221-4,-1318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5T03:03:57.00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75,'3121'0,"-3087"-2,58-10,-30 2,-11 4,15-3,90-1,-127 9,0-1,43-9,-53 7,27-1,-1 2,70 4,-37 1,-57-2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5T03:04:02.57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50,'2759'0,"-2741"-1,0-1,33-7,31-4,81 15,63-4,-140-9,-50 5,58-1,801 8,-874-1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5T03:04:05.95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2,'1063'0,"-963"4,131 24,-147-16,-1-5,148-7,-96-3,1003 3,-1108-1,53-10,21-2,34 1,23 0,565 13,-706-1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5T03:04:09.09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0,'4330'72'0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5T03:04:13.05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0,'4283'0'0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42C43D-846B-4F86-AD76-5DAA064411F9}" type="datetimeFigureOut">
              <a:rPr lang="en-US" smtClean="0"/>
              <a:t>3/3/2026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20961E-D6D7-4B0D-A5DC-E37B528FF6CE}" type="slidenum">
              <a:rPr lang="en-US" smtClean="0"/>
              <a:t>‹#›</a:t>
            </a:fld>
            <a:endParaRPr lang="en-US"/>
          </a:p>
        </p:txBody>
      </p:sp>
    </p:spTree>
    <p:extLst>
      <p:ext uri="{BB962C8B-B14F-4D97-AF65-F5344CB8AC3E}">
        <p14:creationId xmlns:p14="http://schemas.microsoft.com/office/powerpoint/2010/main" val="3420856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400" dirty="0"/>
              <a:t>In the last unit you used a KNN classifier to classify the passengers who survived and died.  Now we will use a Naïve Bayes (NB) classifier and compare the two! </a:t>
            </a:r>
          </a:p>
          <a:p>
            <a:r>
              <a:rPr lang="en-US" sz="1400" dirty="0"/>
              <a:t>Using all 891 observations, train a NB model with Age and </a:t>
            </a:r>
            <a:r>
              <a:rPr lang="en-US" sz="1400" dirty="0" err="1"/>
              <a:t>Pclass</a:t>
            </a:r>
            <a:r>
              <a:rPr lang="en-US" sz="1400" dirty="0"/>
              <a:t> as predictors and use this model to predict the survival of a 30 year old passenger in the 1, 2 and 3 classes.  Use the “type = raw” option to look at the predicted percentage of each outcome. (One slide.)</a:t>
            </a:r>
            <a:endParaRPr lang="en-US" dirty="0"/>
          </a:p>
        </p:txBody>
      </p:sp>
      <p:sp>
        <p:nvSpPr>
          <p:cNvPr id="4" name="Slide Number Placeholder 3"/>
          <p:cNvSpPr>
            <a:spLocks noGrp="1"/>
          </p:cNvSpPr>
          <p:nvPr>
            <p:ph type="sldNum" sz="quarter" idx="5"/>
          </p:nvPr>
        </p:nvSpPr>
        <p:spPr/>
        <p:txBody>
          <a:bodyPr/>
          <a:lstStyle/>
          <a:p>
            <a:fld id="{0B20961E-D6D7-4B0D-A5DC-E37B528FF6CE}" type="slidenum">
              <a:rPr lang="en-US" smtClean="0"/>
              <a:t>2</a:t>
            </a:fld>
            <a:endParaRPr lang="en-US"/>
          </a:p>
        </p:txBody>
      </p:sp>
    </p:spTree>
    <p:extLst>
      <p:ext uri="{BB962C8B-B14F-4D97-AF65-F5344CB8AC3E}">
        <p14:creationId xmlns:p14="http://schemas.microsoft.com/office/powerpoint/2010/main" val="768964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p>
          <a:p>
            <a:r>
              <a:rPr lang="en-US" sz="1400" dirty="0"/>
              <a:t>Split the 891 observations into a training and test set 70% - 30% using this seed and code:</a:t>
            </a:r>
          </a:p>
          <a:p>
            <a:pPr marL="457200" lvl="1" indent="0">
              <a:buNone/>
            </a:pPr>
            <a:r>
              <a:rPr lang="en-US" sz="1000" dirty="0" err="1"/>
              <a:t>titanicClean</a:t>
            </a:r>
            <a:r>
              <a:rPr lang="en-US" sz="1000" dirty="0"/>
              <a:t> = titanic %&gt;% filter(!is.na(Age) &amp; !is.na(</a:t>
            </a:r>
            <a:r>
              <a:rPr lang="en-US" sz="1000" dirty="0" err="1"/>
              <a:t>Pclass</a:t>
            </a:r>
            <a:r>
              <a:rPr lang="en-US" sz="1000" dirty="0"/>
              <a:t>))</a:t>
            </a:r>
          </a:p>
          <a:p>
            <a:pPr marL="457200" lvl="1" indent="0">
              <a:buNone/>
            </a:pPr>
            <a:r>
              <a:rPr lang="en-US" sz="1000" dirty="0" err="1"/>
              <a:t>set.seed</a:t>
            </a:r>
            <a:r>
              <a:rPr lang="en-US" sz="1000" dirty="0"/>
              <a:t>(4)</a:t>
            </a:r>
          </a:p>
          <a:p>
            <a:pPr marL="457200" lvl="1" indent="0">
              <a:buNone/>
            </a:pPr>
            <a:r>
              <a:rPr lang="en-US" sz="1000" dirty="0" err="1"/>
              <a:t>trainIndices</a:t>
            </a:r>
            <a:r>
              <a:rPr lang="en-US" sz="1000" dirty="0"/>
              <a:t> = sample(seq(1:length(</a:t>
            </a:r>
            <a:r>
              <a:rPr lang="en-US" sz="1000" dirty="0" err="1"/>
              <a:t>titanicClean$Age</a:t>
            </a:r>
            <a:r>
              <a:rPr lang="en-US" sz="1000" dirty="0"/>
              <a:t>)),round(.7*length(</a:t>
            </a:r>
            <a:r>
              <a:rPr lang="en-US" sz="1000" dirty="0" err="1"/>
              <a:t>titanicClean$Age</a:t>
            </a:r>
            <a:r>
              <a:rPr lang="en-US" sz="1000" dirty="0"/>
              <a:t>)))</a:t>
            </a:r>
          </a:p>
          <a:p>
            <a:pPr marL="457200" lvl="1" indent="0">
              <a:buNone/>
            </a:pPr>
            <a:r>
              <a:rPr lang="en-US" sz="1000" dirty="0" err="1"/>
              <a:t>trainTitanic</a:t>
            </a:r>
            <a:r>
              <a:rPr lang="en-US" sz="1000" dirty="0"/>
              <a:t> = </a:t>
            </a:r>
            <a:r>
              <a:rPr lang="en-US" sz="1000" dirty="0" err="1"/>
              <a:t>titanicClean</a:t>
            </a:r>
            <a:r>
              <a:rPr lang="en-US" sz="1000" dirty="0"/>
              <a:t>[</a:t>
            </a:r>
            <a:r>
              <a:rPr lang="en-US" sz="1000" dirty="0" err="1"/>
              <a:t>trainIndices</a:t>
            </a:r>
            <a:r>
              <a:rPr lang="en-US" sz="1000" dirty="0"/>
              <a:t>,]</a:t>
            </a:r>
          </a:p>
          <a:p>
            <a:pPr marL="457200" lvl="1" indent="0">
              <a:buNone/>
            </a:pPr>
            <a:r>
              <a:rPr lang="en-US" sz="1000" dirty="0" err="1"/>
              <a:t>testTitanic</a:t>
            </a:r>
            <a:r>
              <a:rPr lang="en-US" sz="1000" dirty="0"/>
              <a:t> = </a:t>
            </a:r>
            <a:r>
              <a:rPr lang="en-US" sz="1000" dirty="0" err="1"/>
              <a:t>titanicClean</a:t>
            </a:r>
            <a:r>
              <a:rPr lang="en-US" sz="1000" dirty="0"/>
              <a:t>[-</a:t>
            </a:r>
            <a:r>
              <a:rPr lang="en-US" sz="1000" dirty="0" err="1"/>
              <a:t>trainIndices</a:t>
            </a:r>
            <a:r>
              <a:rPr lang="en-US" sz="1000" dirty="0"/>
              <a:t>,]</a:t>
            </a:r>
          </a:p>
          <a:p>
            <a:pPr marL="457200" lvl="1" indent="0">
              <a:buNone/>
            </a:pPr>
            <a:r>
              <a:rPr lang="en-US" sz="1400" dirty="0"/>
              <a:t>(One slide that shows the head of </a:t>
            </a:r>
            <a:r>
              <a:rPr lang="en-US" sz="1400" dirty="0" err="1"/>
              <a:t>trainTitanic</a:t>
            </a:r>
            <a:r>
              <a:rPr lang="en-US" sz="1400" dirty="0"/>
              <a:t> and </a:t>
            </a:r>
            <a:r>
              <a:rPr lang="en-US" sz="1400" dirty="0" err="1"/>
              <a:t>testTitanic</a:t>
            </a:r>
            <a:r>
              <a:rPr lang="en-US" sz="1400" dirty="0"/>
              <a:t>)</a:t>
            </a:r>
          </a:p>
          <a:p>
            <a:pPr marL="0" indent="0">
              <a:buNone/>
            </a:pPr>
            <a:endParaRPr lang="en-US" sz="2000" dirty="0"/>
          </a:p>
          <a:p>
            <a:endParaRPr lang="en-US" dirty="0"/>
          </a:p>
          <a:p>
            <a:endParaRPr lang="en-US" dirty="0"/>
          </a:p>
        </p:txBody>
      </p:sp>
      <p:sp>
        <p:nvSpPr>
          <p:cNvPr id="4" name="Slide Number Placeholder 3"/>
          <p:cNvSpPr>
            <a:spLocks noGrp="1"/>
          </p:cNvSpPr>
          <p:nvPr>
            <p:ph type="sldNum" sz="quarter" idx="5"/>
          </p:nvPr>
        </p:nvSpPr>
        <p:spPr/>
        <p:txBody>
          <a:bodyPr/>
          <a:lstStyle/>
          <a:p>
            <a:fld id="{0B20961E-D6D7-4B0D-A5DC-E37B528FF6CE}" type="slidenum">
              <a:rPr lang="en-US" smtClean="0"/>
              <a:t>3</a:t>
            </a:fld>
            <a:endParaRPr lang="en-US"/>
          </a:p>
        </p:txBody>
      </p:sp>
    </p:spTree>
    <p:extLst>
      <p:ext uri="{BB962C8B-B14F-4D97-AF65-F5344CB8AC3E}">
        <p14:creationId xmlns:p14="http://schemas.microsoft.com/office/powerpoint/2010/main" val="3543989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Train a NB model based on the training set using just the Age and </a:t>
            </a:r>
            <a:r>
              <a:rPr lang="en-US" sz="1200" dirty="0" err="1"/>
              <a:t>Pclass</a:t>
            </a:r>
            <a:r>
              <a:rPr lang="en-US" sz="1200" dirty="0"/>
              <a:t> variables. Use the model to predict the survival of those in the test set and use those results to evaluate the model based on accuracy, sensitivity and specificity. Finally, Compare the results to what you found with the KNN classifier. (At least one slide.)</a:t>
            </a:r>
          </a:p>
          <a:p>
            <a:endParaRPr lang="en-US" dirty="0"/>
          </a:p>
        </p:txBody>
      </p:sp>
      <p:sp>
        <p:nvSpPr>
          <p:cNvPr id="4" name="Slide Number Placeholder 3"/>
          <p:cNvSpPr>
            <a:spLocks noGrp="1"/>
          </p:cNvSpPr>
          <p:nvPr>
            <p:ph type="sldNum" sz="quarter" idx="5"/>
          </p:nvPr>
        </p:nvSpPr>
        <p:spPr/>
        <p:txBody>
          <a:bodyPr/>
          <a:lstStyle/>
          <a:p>
            <a:fld id="{0B20961E-D6D7-4B0D-A5DC-E37B528FF6CE}" type="slidenum">
              <a:rPr lang="en-US" smtClean="0"/>
              <a:t>4</a:t>
            </a:fld>
            <a:endParaRPr lang="en-US"/>
          </a:p>
        </p:txBody>
      </p:sp>
    </p:spTree>
    <p:extLst>
      <p:ext uri="{BB962C8B-B14F-4D97-AF65-F5344CB8AC3E}">
        <p14:creationId xmlns:p14="http://schemas.microsoft.com/office/powerpoint/2010/main" val="2760987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Now repeat the above with a new seed and compare the accuracy, sensitivity and specificity.  Do this 3 or 4 times to observe the variance in the statistics. (At least one slide.)</a:t>
            </a:r>
          </a:p>
          <a:p>
            <a:endParaRPr lang="en-US" dirty="0"/>
          </a:p>
        </p:txBody>
      </p:sp>
      <p:sp>
        <p:nvSpPr>
          <p:cNvPr id="4" name="Slide Number Placeholder 3"/>
          <p:cNvSpPr>
            <a:spLocks noGrp="1"/>
          </p:cNvSpPr>
          <p:nvPr>
            <p:ph type="sldNum" sz="quarter" idx="5"/>
          </p:nvPr>
        </p:nvSpPr>
        <p:spPr/>
        <p:txBody>
          <a:bodyPr/>
          <a:lstStyle/>
          <a:p>
            <a:fld id="{0B20961E-D6D7-4B0D-A5DC-E37B528FF6CE}" type="slidenum">
              <a:rPr lang="en-US" smtClean="0"/>
              <a:t>5</a:t>
            </a:fld>
            <a:endParaRPr lang="en-US"/>
          </a:p>
        </p:txBody>
      </p:sp>
    </p:spTree>
    <p:extLst>
      <p:ext uri="{BB962C8B-B14F-4D97-AF65-F5344CB8AC3E}">
        <p14:creationId xmlns:p14="http://schemas.microsoft.com/office/powerpoint/2010/main" val="3717677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Write a loop to repeat the above for 100 different values of the seed.  Find the average of the accuracy, sensitivity and specificity to get a stable (smaller variance) statistic to evaluate the model.  (At least one slide.)</a:t>
            </a:r>
          </a:p>
        </p:txBody>
      </p:sp>
      <p:sp>
        <p:nvSpPr>
          <p:cNvPr id="4" name="Slide Number Placeholder 3"/>
          <p:cNvSpPr>
            <a:spLocks noGrp="1"/>
          </p:cNvSpPr>
          <p:nvPr>
            <p:ph type="sldNum" sz="quarter" idx="5"/>
          </p:nvPr>
        </p:nvSpPr>
        <p:spPr/>
        <p:txBody>
          <a:bodyPr/>
          <a:lstStyle/>
          <a:p>
            <a:fld id="{0B20961E-D6D7-4B0D-A5DC-E37B528FF6CE}" type="slidenum">
              <a:rPr lang="en-US" smtClean="0"/>
              <a:t>6</a:t>
            </a:fld>
            <a:endParaRPr lang="en-US"/>
          </a:p>
        </p:txBody>
      </p:sp>
    </p:spTree>
    <p:extLst>
      <p:ext uri="{BB962C8B-B14F-4D97-AF65-F5344CB8AC3E}">
        <p14:creationId xmlns:p14="http://schemas.microsoft.com/office/powerpoint/2010/main" val="809369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Now add Sex to the model so that it has Age, </a:t>
            </a:r>
            <a:r>
              <a:rPr lang="en-US" sz="1200" dirty="0" err="1"/>
              <a:t>Pclass</a:t>
            </a:r>
            <a:r>
              <a:rPr lang="en-US" sz="1200" dirty="0"/>
              <a:t> and Sex in the NB model.  Use the </a:t>
            </a:r>
            <a:r>
              <a:rPr lang="en-US" sz="1200" dirty="0" err="1"/>
              <a:t>trainTitanic</a:t>
            </a:r>
            <a:r>
              <a:rPr lang="en-US" sz="1200" dirty="0"/>
              <a:t>(</a:t>
            </a:r>
            <a:r>
              <a:rPr lang="en-US" sz="1200" dirty="0" err="1"/>
              <a:t>set.seed</a:t>
            </a:r>
            <a:r>
              <a:rPr lang="en-US" sz="1200" dirty="0"/>
              <a:t>(4)) </a:t>
            </a:r>
            <a:r>
              <a:rPr lang="en-US" sz="1200" dirty="0" err="1"/>
              <a:t>dataframe</a:t>
            </a:r>
            <a:r>
              <a:rPr lang="en-US" sz="1200" dirty="0"/>
              <a:t> to train the model and create a confusion matrix using the </a:t>
            </a:r>
            <a:r>
              <a:rPr lang="en-US" sz="1200" dirty="0" err="1"/>
              <a:t>testTitanic</a:t>
            </a:r>
            <a:r>
              <a:rPr lang="en-US" sz="1200" dirty="0"/>
              <a:t> </a:t>
            </a:r>
            <a:r>
              <a:rPr lang="en-US" sz="1200" dirty="0" err="1"/>
              <a:t>dataframe</a:t>
            </a:r>
            <a:r>
              <a:rPr lang="en-US" sz="1200" dirty="0"/>
              <a:t>.  In addition, find the Accuracy, Sensitivity and Specificity. (1 slide)</a:t>
            </a:r>
          </a:p>
          <a:p>
            <a:endParaRPr lang="en-US" dirty="0"/>
          </a:p>
        </p:txBody>
      </p:sp>
      <p:sp>
        <p:nvSpPr>
          <p:cNvPr id="4" name="Slide Number Placeholder 3"/>
          <p:cNvSpPr>
            <a:spLocks noGrp="1"/>
          </p:cNvSpPr>
          <p:nvPr>
            <p:ph type="sldNum" sz="quarter" idx="5"/>
          </p:nvPr>
        </p:nvSpPr>
        <p:spPr/>
        <p:txBody>
          <a:bodyPr/>
          <a:lstStyle/>
          <a:p>
            <a:fld id="{0B20961E-D6D7-4B0D-A5DC-E37B528FF6CE}" type="slidenum">
              <a:rPr lang="en-US" smtClean="0"/>
              <a:t>7</a:t>
            </a:fld>
            <a:endParaRPr lang="en-US"/>
          </a:p>
        </p:txBody>
      </p:sp>
    </p:spTree>
    <p:extLst>
      <p:ext uri="{BB962C8B-B14F-4D97-AF65-F5344CB8AC3E}">
        <p14:creationId xmlns:p14="http://schemas.microsoft.com/office/powerpoint/2010/main" val="2842055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Again write a loop to get a stable estimate of the accuracy, sensitivity and specificity of this model (using 100 unique seeds).  (1 slide)</a:t>
            </a:r>
          </a:p>
          <a:p>
            <a:r>
              <a:rPr lang="en-US" sz="1200" b="1" dirty="0"/>
              <a:t>BONUS:</a:t>
            </a:r>
            <a:r>
              <a:rPr lang="en-US" sz="1200" dirty="0"/>
              <a:t> Using the Male and Female KNN from the bonus of Unit 6, combine the two confusion matrices from the Male and Female KNN models to make one confusion matrix and find the accuracy, sensitivity and specificity based on that model.  Compare this with the performance of your NB model.  Do you prefer one over the other?  </a:t>
            </a:r>
          </a:p>
          <a:p>
            <a:endParaRPr lang="en-US" dirty="0"/>
          </a:p>
        </p:txBody>
      </p:sp>
      <p:sp>
        <p:nvSpPr>
          <p:cNvPr id="4" name="Slide Number Placeholder 3"/>
          <p:cNvSpPr>
            <a:spLocks noGrp="1"/>
          </p:cNvSpPr>
          <p:nvPr>
            <p:ph type="sldNum" sz="quarter" idx="5"/>
          </p:nvPr>
        </p:nvSpPr>
        <p:spPr/>
        <p:txBody>
          <a:bodyPr/>
          <a:lstStyle/>
          <a:p>
            <a:fld id="{0B20961E-D6D7-4B0D-A5DC-E37B528FF6CE}" type="slidenum">
              <a:rPr lang="en-US" smtClean="0"/>
              <a:t>8</a:t>
            </a:fld>
            <a:endParaRPr lang="en-US"/>
          </a:p>
        </p:txBody>
      </p:sp>
    </p:spTree>
    <p:extLst>
      <p:ext uri="{BB962C8B-B14F-4D97-AF65-F5344CB8AC3E}">
        <p14:creationId xmlns:p14="http://schemas.microsoft.com/office/powerpoint/2010/main" val="4127549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 For the full (multinomial) IRIS data (the </a:t>
            </a:r>
            <a:r>
              <a:rPr lang="en-US" sz="1200" i="1" dirty="0"/>
              <a:t>iris </a:t>
            </a:r>
            <a:r>
              <a:rPr lang="en-US" sz="1200" dirty="0"/>
              <a:t>dataset in R), do a 70-30 train/test cross validation and use sepal length and width as predictors.  Generate 100 different train/test splits and calculate the average accuracy, sensitivity and specificity.  Compare the average accuracy to that to the KNN model you used in Unit 6.  </a:t>
            </a:r>
          </a:p>
          <a:p>
            <a:endParaRPr lang="en-US" dirty="0"/>
          </a:p>
        </p:txBody>
      </p:sp>
      <p:sp>
        <p:nvSpPr>
          <p:cNvPr id="4" name="Slide Number Placeholder 3"/>
          <p:cNvSpPr>
            <a:spLocks noGrp="1"/>
          </p:cNvSpPr>
          <p:nvPr>
            <p:ph type="sldNum" sz="quarter" idx="5"/>
          </p:nvPr>
        </p:nvSpPr>
        <p:spPr/>
        <p:txBody>
          <a:bodyPr/>
          <a:lstStyle/>
          <a:p>
            <a:fld id="{0B20961E-D6D7-4B0D-A5DC-E37B528FF6CE}" type="slidenum">
              <a:rPr lang="en-US" smtClean="0"/>
              <a:t>9</a:t>
            </a:fld>
            <a:endParaRPr lang="en-US"/>
          </a:p>
        </p:txBody>
      </p:sp>
    </p:spTree>
    <p:extLst>
      <p:ext uri="{BB962C8B-B14F-4D97-AF65-F5344CB8AC3E}">
        <p14:creationId xmlns:p14="http://schemas.microsoft.com/office/powerpoint/2010/main" val="33413359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Use the NYT News/Other Classifier code to analyze stories about Trump last month (search term “Trump”).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We would like to build a classifier that will classify between news stories and other and we would like to compare two models: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one that uses the headline and one that uses the snippet.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Compare these two models based on sensitivity and specificity and provide at least one plot to help you visualize the results.  </a:t>
            </a:r>
          </a:p>
          <a:p>
            <a:endParaRPr lang="en-US" dirty="0"/>
          </a:p>
        </p:txBody>
      </p:sp>
      <p:sp>
        <p:nvSpPr>
          <p:cNvPr id="4" name="Slide Number Placeholder 3"/>
          <p:cNvSpPr>
            <a:spLocks noGrp="1"/>
          </p:cNvSpPr>
          <p:nvPr>
            <p:ph type="sldNum" sz="quarter" idx="5"/>
          </p:nvPr>
        </p:nvSpPr>
        <p:spPr/>
        <p:txBody>
          <a:bodyPr/>
          <a:lstStyle/>
          <a:p>
            <a:fld id="{0B20961E-D6D7-4B0D-A5DC-E37B528FF6CE}" type="slidenum">
              <a:rPr lang="en-US" smtClean="0"/>
              <a:t>10</a:t>
            </a:fld>
            <a:endParaRPr lang="en-US"/>
          </a:p>
        </p:txBody>
      </p:sp>
    </p:spTree>
    <p:extLst>
      <p:ext uri="{BB962C8B-B14F-4D97-AF65-F5344CB8AC3E}">
        <p14:creationId xmlns:p14="http://schemas.microsoft.com/office/powerpoint/2010/main" val="15932917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9EC5E-EB89-DBFD-8A84-53423AB95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70FAC-0307-A6CF-1308-745BCA16F5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7FEF24-77C2-7A4D-045D-F0D816706B6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Use the NYT News/Other Classifier code to analyze stories about Trump last month (search term “Trump”).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We would like to build a classifier that will classify between news stories and other and we would like to compare two models: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one that uses the headline and one that uses the snippet.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Compare these two models based on sensitivity and specificity and provide at least one plot to help you visualize the results.  </a:t>
            </a:r>
          </a:p>
          <a:p>
            <a:endParaRPr lang="en-US" dirty="0"/>
          </a:p>
        </p:txBody>
      </p:sp>
      <p:sp>
        <p:nvSpPr>
          <p:cNvPr id="4" name="Slide Number Placeholder 3">
            <a:extLst>
              <a:ext uri="{FF2B5EF4-FFF2-40B4-BE49-F238E27FC236}">
                <a16:creationId xmlns:a16="http://schemas.microsoft.com/office/drawing/2014/main" id="{65886486-2DE2-D1F9-A4E3-74E3114593F6}"/>
              </a:ext>
            </a:extLst>
          </p:cNvPr>
          <p:cNvSpPr>
            <a:spLocks noGrp="1"/>
          </p:cNvSpPr>
          <p:nvPr>
            <p:ph type="sldNum" sz="quarter" idx="5"/>
          </p:nvPr>
        </p:nvSpPr>
        <p:spPr/>
        <p:txBody>
          <a:bodyPr/>
          <a:lstStyle/>
          <a:p>
            <a:fld id="{0B20961E-D6D7-4B0D-A5DC-E37B528FF6CE}" type="slidenum">
              <a:rPr lang="en-US" smtClean="0"/>
              <a:t>11</a:t>
            </a:fld>
            <a:endParaRPr lang="en-US"/>
          </a:p>
        </p:txBody>
      </p:sp>
    </p:spTree>
    <p:extLst>
      <p:ext uri="{BB962C8B-B14F-4D97-AF65-F5344CB8AC3E}">
        <p14:creationId xmlns:p14="http://schemas.microsoft.com/office/powerpoint/2010/main" val="2517084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308E1-4487-CBD3-8273-AA92407952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39E384-471D-81DB-3CAC-585C068B42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17AF21-579D-05C6-696E-DF196E253FD3}"/>
              </a:ext>
            </a:extLst>
          </p:cNvPr>
          <p:cNvSpPr>
            <a:spLocks noGrp="1"/>
          </p:cNvSpPr>
          <p:nvPr>
            <p:ph type="dt" sz="half" idx="10"/>
          </p:nvPr>
        </p:nvSpPr>
        <p:spPr/>
        <p:txBody>
          <a:bodyPr/>
          <a:lstStyle/>
          <a:p>
            <a:fld id="{A095E84C-799E-434B-B555-A2CE91254D07}" type="datetimeFigureOut">
              <a:rPr lang="en-US" smtClean="0"/>
              <a:t>3/3/2026</a:t>
            </a:fld>
            <a:endParaRPr lang="en-US"/>
          </a:p>
        </p:txBody>
      </p:sp>
      <p:sp>
        <p:nvSpPr>
          <p:cNvPr id="5" name="Footer Placeholder 4">
            <a:extLst>
              <a:ext uri="{FF2B5EF4-FFF2-40B4-BE49-F238E27FC236}">
                <a16:creationId xmlns:a16="http://schemas.microsoft.com/office/drawing/2014/main" id="{ECE01432-4C35-4B32-DE7F-50844EB56F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77180-6C71-8EBF-1746-E7C25C5BB19A}"/>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2605335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03186-2B31-777D-2A51-C827E095E5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42BA81-D157-DD1C-4027-6B5FB3AC65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8F64A7-D23D-D2DF-E424-73A1D2C02F2B}"/>
              </a:ext>
            </a:extLst>
          </p:cNvPr>
          <p:cNvSpPr>
            <a:spLocks noGrp="1"/>
          </p:cNvSpPr>
          <p:nvPr>
            <p:ph type="dt" sz="half" idx="10"/>
          </p:nvPr>
        </p:nvSpPr>
        <p:spPr/>
        <p:txBody>
          <a:bodyPr/>
          <a:lstStyle/>
          <a:p>
            <a:fld id="{A095E84C-799E-434B-B555-A2CE91254D07}" type="datetimeFigureOut">
              <a:rPr lang="en-US" smtClean="0"/>
              <a:t>3/3/2026</a:t>
            </a:fld>
            <a:endParaRPr lang="en-US"/>
          </a:p>
        </p:txBody>
      </p:sp>
      <p:sp>
        <p:nvSpPr>
          <p:cNvPr id="5" name="Footer Placeholder 4">
            <a:extLst>
              <a:ext uri="{FF2B5EF4-FFF2-40B4-BE49-F238E27FC236}">
                <a16:creationId xmlns:a16="http://schemas.microsoft.com/office/drawing/2014/main" id="{A15919B2-98CA-F9C7-796C-0FE573B4E5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1EB07-8F2E-69CC-980B-0AB76B935B0B}"/>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4038915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6ADA4-C327-CEF9-CED3-D308EE5D40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8DA563-2788-11E5-0455-BD523A4780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78FC07-7B29-BCF2-58F0-61BF2720D938}"/>
              </a:ext>
            </a:extLst>
          </p:cNvPr>
          <p:cNvSpPr>
            <a:spLocks noGrp="1"/>
          </p:cNvSpPr>
          <p:nvPr>
            <p:ph type="dt" sz="half" idx="10"/>
          </p:nvPr>
        </p:nvSpPr>
        <p:spPr/>
        <p:txBody>
          <a:bodyPr/>
          <a:lstStyle/>
          <a:p>
            <a:fld id="{A095E84C-799E-434B-B555-A2CE91254D07}" type="datetimeFigureOut">
              <a:rPr lang="en-US" smtClean="0"/>
              <a:t>3/3/2026</a:t>
            </a:fld>
            <a:endParaRPr lang="en-US"/>
          </a:p>
        </p:txBody>
      </p:sp>
      <p:sp>
        <p:nvSpPr>
          <p:cNvPr id="5" name="Footer Placeholder 4">
            <a:extLst>
              <a:ext uri="{FF2B5EF4-FFF2-40B4-BE49-F238E27FC236}">
                <a16:creationId xmlns:a16="http://schemas.microsoft.com/office/drawing/2014/main" id="{9236A549-E42A-C3B5-B30F-133D483F86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A0B446-ED95-FB7E-B183-8FFEDBB5A787}"/>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140884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E3CE-7F4B-6C85-7B7C-900C84146D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96F095-E1EA-7DAA-1E4D-0FAE1150B6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8710F1-834F-C4E4-5D8E-EF0F71EBF7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2F9F2F-75DD-759C-B002-695EC992957E}"/>
              </a:ext>
            </a:extLst>
          </p:cNvPr>
          <p:cNvSpPr>
            <a:spLocks noGrp="1"/>
          </p:cNvSpPr>
          <p:nvPr>
            <p:ph type="dt" sz="half" idx="10"/>
          </p:nvPr>
        </p:nvSpPr>
        <p:spPr/>
        <p:txBody>
          <a:bodyPr/>
          <a:lstStyle/>
          <a:p>
            <a:fld id="{A095E84C-799E-434B-B555-A2CE91254D07}" type="datetimeFigureOut">
              <a:rPr lang="en-US" smtClean="0"/>
              <a:t>3/3/2026</a:t>
            </a:fld>
            <a:endParaRPr lang="en-US"/>
          </a:p>
        </p:txBody>
      </p:sp>
      <p:sp>
        <p:nvSpPr>
          <p:cNvPr id="6" name="Footer Placeholder 5">
            <a:extLst>
              <a:ext uri="{FF2B5EF4-FFF2-40B4-BE49-F238E27FC236}">
                <a16:creationId xmlns:a16="http://schemas.microsoft.com/office/drawing/2014/main" id="{CC0D5E17-E843-6522-94EF-25EBF682EB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38B0B-4B88-D60D-CD96-14D70EDE005A}"/>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720775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D6FA0-A6AD-047B-1F15-1717E6B231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BFA40C-3AE5-39FC-5308-381D77840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942D25-99D3-E218-530A-1F48DB05E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CC40B0-8675-DF1C-6E63-8E6A2DCAA8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65A5EB-F73F-43D8-A169-4367541CF2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E81735-6BDF-9FAF-CA63-3BB68D81414D}"/>
              </a:ext>
            </a:extLst>
          </p:cNvPr>
          <p:cNvSpPr>
            <a:spLocks noGrp="1"/>
          </p:cNvSpPr>
          <p:nvPr>
            <p:ph type="dt" sz="half" idx="10"/>
          </p:nvPr>
        </p:nvSpPr>
        <p:spPr/>
        <p:txBody>
          <a:bodyPr/>
          <a:lstStyle/>
          <a:p>
            <a:fld id="{A095E84C-799E-434B-B555-A2CE91254D07}" type="datetimeFigureOut">
              <a:rPr lang="en-US" smtClean="0"/>
              <a:t>3/3/2026</a:t>
            </a:fld>
            <a:endParaRPr lang="en-US"/>
          </a:p>
        </p:txBody>
      </p:sp>
      <p:sp>
        <p:nvSpPr>
          <p:cNvPr id="8" name="Footer Placeholder 7">
            <a:extLst>
              <a:ext uri="{FF2B5EF4-FFF2-40B4-BE49-F238E27FC236}">
                <a16:creationId xmlns:a16="http://schemas.microsoft.com/office/drawing/2014/main" id="{AC872F2E-7795-E7B4-B761-DFBC816340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4CDA64-D9E2-74B7-D6A0-C68020296B08}"/>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119085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2995E-55CA-B927-1FF1-5BE5501341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DC5299-4998-A183-44F8-76E4DE39CA96}"/>
              </a:ext>
            </a:extLst>
          </p:cNvPr>
          <p:cNvSpPr>
            <a:spLocks noGrp="1"/>
          </p:cNvSpPr>
          <p:nvPr>
            <p:ph type="dt" sz="half" idx="10"/>
          </p:nvPr>
        </p:nvSpPr>
        <p:spPr/>
        <p:txBody>
          <a:bodyPr/>
          <a:lstStyle/>
          <a:p>
            <a:fld id="{A095E84C-799E-434B-B555-A2CE91254D07}" type="datetimeFigureOut">
              <a:rPr lang="en-US" smtClean="0"/>
              <a:t>3/3/2026</a:t>
            </a:fld>
            <a:endParaRPr lang="en-US"/>
          </a:p>
        </p:txBody>
      </p:sp>
      <p:sp>
        <p:nvSpPr>
          <p:cNvPr id="4" name="Footer Placeholder 3">
            <a:extLst>
              <a:ext uri="{FF2B5EF4-FFF2-40B4-BE49-F238E27FC236}">
                <a16:creationId xmlns:a16="http://schemas.microsoft.com/office/drawing/2014/main" id="{23EA15D3-33F7-CF6F-F2CF-6C55DAB575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0BC562-E8A2-36B0-7FCA-710B49ADB420}"/>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4258964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6E3E9D-394F-138E-3034-50978BEF8EE4}"/>
              </a:ext>
            </a:extLst>
          </p:cNvPr>
          <p:cNvSpPr>
            <a:spLocks noGrp="1"/>
          </p:cNvSpPr>
          <p:nvPr>
            <p:ph type="dt" sz="half" idx="10"/>
          </p:nvPr>
        </p:nvSpPr>
        <p:spPr/>
        <p:txBody>
          <a:bodyPr/>
          <a:lstStyle/>
          <a:p>
            <a:fld id="{A095E84C-799E-434B-B555-A2CE91254D07}" type="datetimeFigureOut">
              <a:rPr lang="en-US" smtClean="0"/>
              <a:t>3/3/2026</a:t>
            </a:fld>
            <a:endParaRPr lang="en-US"/>
          </a:p>
        </p:txBody>
      </p:sp>
      <p:sp>
        <p:nvSpPr>
          <p:cNvPr id="3" name="Footer Placeholder 2">
            <a:extLst>
              <a:ext uri="{FF2B5EF4-FFF2-40B4-BE49-F238E27FC236}">
                <a16:creationId xmlns:a16="http://schemas.microsoft.com/office/drawing/2014/main" id="{738DF2E2-5EBA-FBE3-4EC2-362AD1FF8A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380CB4-8FAB-23F4-CD87-4847D621A63C}"/>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344319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50F4B-D679-4806-E5B9-C87407D77B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087B31-9883-397A-5CC6-4688044DC7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7C128C-516F-A2BA-4A75-8C11F0A4D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D7966B-2A53-BA3F-2FA8-9852555D800C}"/>
              </a:ext>
            </a:extLst>
          </p:cNvPr>
          <p:cNvSpPr>
            <a:spLocks noGrp="1"/>
          </p:cNvSpPr>
          <p:nvPr>
            <p:ph type="dt" sz="half" idx="10"/>
          </p:nvPr>
        </p:nvSpPr>
        <p:spPr/>
        <p:txBody>
          <a:bodyPr/>
          <a:lstStyle/>
          <a:p>
            <a:fld id="{A095E84C-799E-434B-B555-A2CE91254D07}" type="datetimeFigureOut">
              <a:rPr lang="en-US" smtClean="0"/>
              <a:t>3/3/2026</a:t>
            </a:fld>
            <a:endParaRPr lang="en-US"/>
          </a:p>
        </p:txBody>
      </p:sp>
      <p:sp>
        <p:nvSpPr>
          <p:cNvPr id="6" name="Footer Placeholder 5">
            <a:extLst>
              <a:ext uri="{FF2B5EF4-FFF2-40B4-BE49-F238E27FC236}">
                <a16:creationId xmlns:a16="http://schemas.microsoft.com/office/drawing/2014/main" id="{998A9909-6A54-AA30-06A2-9F060B2DD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EB308E-F54D-6910-F906-1280170EB587}"/>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927077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EE04F-B783-28B2-D43C-501226190C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F80EC0-86ED-D2CB-7C8E-9424373F2A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B90542-E046-D6A5-EC55-09663DD84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D56EB7-A784-558B-B63C-B1626C893D86}"/>
              </a:ext>
            </a:extLst>
          </p:cNvPr>
          <p:cNvSpPr>
            <a:spLocks noGrp="1"/>
          </p:cNvSpPr>
          <p:nvPr>
            <p:ph type="dt" sz="half" idx="10"/>
          </p:nvPr>
        </p:nvSpPr>
        <p:spPr/>
        <p:txBody>
          <a:bodyPr/>
          <a:lstStyle/>
          <a:p>
            <a:fld id="{A095E84C-799E-434B-B555-A2CE91254D07}" type="datetimeFigureOut">
              <a:rPr lang="en-US" smtClean="0"/>
              <a:t>3/3/2026</a:t>
            </a:fld>
            <a:endParaRPr lang="en-US"/>
          </a:p>
        </p:txBody>
      </p:sp>
      <p:sp>
        <p:nvSpPr>
          <p:cNvPr id="6" name="Footer Placeholder 5">
            <a:extLst>
              <a:ext uri="{FF2B5EF4-FFF2-40B4-BE49-F238E27FC236}">
                <a16:creationId xmlns:a16="http://schemas.microsoft.com/office/drawing/2014/main" id="{9B7197DC-60BC-865E-B2A4-F9D051F2C8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2A1B62-8D8D-6F5D-5203-3AB5177036CE}"/>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24792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1963A-1AC8-540F-A4F8-84983BD9F6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7C2F5B-2AE0-8C9D-1884-B27B07E2AD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76CAB-F7FC-1D04-90E2-8C936FC8C72E}"/>
              </a:ext>
            </a:extLst>
          </p:cNvPr>
          <p:cNvSpPr>
            <a:spLocks noGrp="1"/>
          </p:cNvSpPr>
          <p:nvPr>
            <p:ph type="dt" sz="half" idx="10"/>
          </p:nvPr>
        </p:nvSpPr>
        <p:spPr/>
        <p:txBody>
          <a:bodyPr/>
          <a:lstStyle/>
          <a:p>
            <a:fld id="{A095E84C-799E-434B-B555-A2CE91254D07}" type="datetimeFigureOut">
              <a:rPr lang="en-US" smtClean="0"/>
              <a:t>3/3/2026</a:t>
            </a:fld>
            <a:endParaRPr lang="en-US"/>
          </a:p>
        </p:txBody>
      </p:sp>
      <p:sp>
        <p:nvSpPr>
          <p:cNvPr id="5" name="Footer Placeholder 4">
            <a:extLst>
              <a:ext uri="{FF2B5EF4-FFF2-40B4-BE49-F238E27FC236}">
                <a16:creationId xmlns:a16="http://schemas.microsoft.com/office/drawing/2014/main" id="{AE3CF53C-93EB-03F8-680F-5923D6C16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28CA3C-B0B1-8680-C180-DBD9FF19D3D3}"/>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774372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834398-6BAE-A05C-3C0F-133E3D7104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06DF5D-53A3-2411-FA1E-ABC16C270F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94B064-1F56-3165-08CC-E2D4086C80EB}"/>
              </a:ext>
            </a:extLst>
          </p:cNvPr>
          <p:cNvSpPr>
            <a:spLocks noGrp="1"/>
          </p:cNvSpPr>
          <p:nvPr>
            <p:ph type="dt" sz="half" idx="10"/>
          </p:nvPr>
        </p:nvSpPr>
        <p:spPr/>
        <p:txBody>
          <a:bodyPr/>
          <a:lstStyle/>
          <a:p>
            <a:fld id="{A095E84C-799E-434B-B555-A2CE91254D07}" type="datetimeFigureOut">
              <a:rPr lang="en-US" smtClean="0"/>
              <a:t>3/3/2026</a:t>
            </a:fld>
            <a:endParaRPr lang="en-US"/>
          </a:p>
        </p:txBody>
      </p:sp>
      <p:sp>
        <p:nvSpPr>
          <p:cNvPr id="5" name="Footer Placeholder 4">
            <a:extLst>
              <a:ext uri="{FF2B5EF4-FFF2-40B4-BE49-F238E27FC236}">
                <a16:creationId xmlns:a16="http://schemas.microsoft.com/office/drawing/2014/main" id="{9DA3E57F-B3C9-3F4E-765F-CEA04B84A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BBCBD3-DD10-22B1-99C8-86C02B6C80D8}"/>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164278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596CD0-2B46-8B9D-F2A1-D843A6D083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C9E834-A0CE-4A1D-D2BA-B8D3A1EFE7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D539A5-42B7-50EA-D013-1914F482E2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95E84C-799E-434B-B555-A2CE91254D07}" type="datetimeFigureOut">
              <a:rPr lang="en-US" smtClean="0"/>
              <a:t>3/3/2026</a:t>
            </a:fld>
            <a:endParaRPr lang="en-US"/>
          </a:p>
        </p:txBody>
      </p:sp>
      <p:sp>
        <p:nvSpPr>
          <p:cNvPr id="5" name="Footer Placeholder 4">
            <a:extLst>
              <a:ext uri="{FF2B5EF4-FFF2-40B4-BE49-F238E27FC236}">
                <a16:creationId xmlns:a16="http://schemas.microsoft.com/office/drawing/2014/main" id="{36CCD56E-5957-AD9F-7F83-D432AB4A4A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D761CFA-3AD2-14EE-2F5D-06968474C8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AB500F-868A-4BEF-936A-CD95339AAD41}" type="slidenum">
              <a:rPr lang="en-US" smtClean="0"/>
              <a:t>‹#›</a:t>
            </a:fld>
            <a:endParaRPr lang="en-US"/>
          </a:p>
        </p:txBody>
      </p:sp>
    </p:spTree>
    <p:extLst>
      <p:ext uri="{BB962C8B-B14F-4D97-AF65-F5344CB8AC3E}">
        <p14:creationId xmlns:p14="http://schemas.microsoft.com/office/powerpoint/2010/main" val="810422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customXml" Target="../ink/ink2.xml"/><Relationship Id="rId12"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6.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customXml" Target="../ink/ink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customXml" Target="../ink/ink9.xml"/><Relationship Id="rId3" Type="http://schemas.openxmlformats.org/officeDocument/2006/relationships/image" Target="../media/image12.png"/><Relationship Id="rId7" Type="http://schemas.openxmlformats.org/officeDocument/2006/relationships/customXml" Target="../ink/ink6.xml"/><Relationship Id="rId12" Type="http://schemas.openxmlformats.org/officeDocument/2006/relationships/image" Target="../media/image15.png"/><Relationship Id="rId2" Type="http://schemas.openxmlformats.org/officeDocument/2006/relationships/notesSlide" Target="../notesSlides/notesSlide6.xml"/><Relationship Id="rId16" Type="http://schemas.openxmlformats.org/officeDocument/2006/relationships/image" Target="../media/image17.png"/><Relationship Id="rId1" Type="http://schemas.openxmlformats.org/officeDocument/2006/relationships/slideLayout" Target="../slideLayouts/slideLayout6.xml"/><Relationship Id="rId6" Type="http://schemas.openxmlformats.org/officeDocument/2006/relationships/image" Target="../media/image120.png"/><Relationship Id="rId11" Type="http://schemas.openxmlformats.org/officeDocument/2006/relationships/customXml" Target="../ink/ink8.xml"/><Relationship Id="rId5" Type="http://schemas.openxmlformats.org/officeDocument/2006/relationships/customXml" Target="../ink/ink5.xml"/><Relationship Id="rId15" Type="http://schemas.openxmlformats.org/officeDocument/2006/relationships/customXml" Target="../ink/ink10.xml"/><Relationship Id="rId10" Type="http://schemas.openxmlformats.org/officeDocument/2006/relationships/image" Target="../media/image14.png"/><Relationship Id="rId4" Type="http://schemas.openxmlformats.org/officeDocument/2006/relationships/image" Target="../media/image4.png"/><Relationship Id="rId9" Type="http://schemas.openxmlformats.org/officeDocument/2006/relationships/customXml" Target="../ink/ink7.xml"/><Relationship Id="rId1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api.nytimes.com/svc/search/v2/articlesearch.json?q=Trump&amp;begin_date=20260101&amp;end_date=20260131&amp;facet_filter=true&amp;api-key=DYY6iHutIPXhgaCBy6Dj8NE6n9PSphPQi6loyuYWL3z6mbLG"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hyperlink" Target="https://developer.nytimes.com/docs/articlesearch-product/1/overview" TargetMode="Externa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C74E2-B062-D8FA-236A-6245A0DE1EE7}"/>
              </a:ext>
            </a:extLst>
          </p:cNvPr>
          <p:cNvSpPr>
            <a:spLocks noGrp="1"/>
          </p:cNvSpPr>
          <p:nvPr>
            <p:ph type="ctrTitle"/>
          </p:nvPr>
        </p:nvSpPr>
        <p:spPr/>
        <p:txBody>
          <a:bodyPr/>
          <a:lstStyle/>
          <a:p>
            <a:r>
              <a:rPr lang="en-US" dirty="0"/>
              <a:t>Unit  7 For Live Session Assignment	</a:t>
            </a:r>
          </a:p>
        </p:txBody>
      </p:sp>
      <p:sp>
        <p:nvSpPr>
          <p:cNvPr id="3" name="Subtitle 2">
            <a:extLst>
              <a:ext uri="{FF2B5EF4-FFF2-40B4-BE49-F238E27FC236}">
                <a16:creationId xmlns:a16="http://schemas.microsoft.com/office/drawing/2014/main" id="{0849C751-F9E3-A2B9-AF7E-8CE9B5298F13}"/>
              </a:ext>
            </a:extLst>
          </p:cNvPr>
          <p:cNvSpPr>
            <a:spLocks noGrp="1"/>
          </p:cNvSpPr>
          <p:nvPr>
            <p:ph type="subTitle" idx="1"/>
          </p:nvPr>
        </p:nvSpPr>
        <p:spPr/>
        <p:txBody>
          <a:bodyPr/>
          <a:lstStyle/>
          <a:p>
            <a:r>
              <a:rPr lang="en-US" dirty="0"/>
              <a:t>Isabella Westlauer</a:t>
            </a:r>
          </a:p>
          <a:p>
            <a:r>
              <a:rPr lang="en-US" dirty="0"/>
              <a:t>2/15/2026</a:t>
            </a:r>
          </a:p>
        </p:txBody>
      </p:sp>
    </p:spTree>
    <p:extLst>
      <p:ext uri="{BB962C8B-B14F-4D97-AF65-F5344CB8AC3E}">
        <p14:creationId xmlns:p14="http://schemas.microsoft.com/office/powerpoint/2010/main" val="3032043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BC2B8-FD5B-A17E-5E49-BEA7BD40E1CB}"/>
              </a:ext>
            </a:extLst>
          </p:cNvPr>
          <p:cNvSpPr>
            <a:spLocks noGrp="1"/>
          </p:cNvSpPr>
          <p:nvPr>
            <p:ph type="title"/>
          </p:nvPr>
        </p:nvSpPr>
        <p:spPr/>
        <p:txBody>
          <a:bodyPr/>
          <a:lstStyle/>
          <a:p>
            <a:r>
              <a:rPr lang="en-US" dirty="0"/>
              <a:t>Prediction Using Naïve Bayes Model</a:t>
            </a:r>
          </a:p>
        </p:txBody>
      </p:sp>
      <p:pic>
        <p:nvPicPr>
          <p:cNvPr id="6" name="Picture 5">
            <a:extLst>
              <a:ext uri="{FF2B5EF4-FFF2-40B4-BE49-F238E27FC236}">
                <a16:creationId xmlns:a16="http://schemas.microsoft.com/office/drawing/2014/main" id="{3976640B-EA7C-2F6E-CCDE-B4BDB40D1751}"/>
              </a:ext>
            </a:extLst>
          </p:cNvPr>
          <p:cNvPicPr>
            <a:picLocks noChangeAspect="1"/>
          </p:cNvPicPr>
          <p:nvPr/>
        </p:nvPicPr>
        <p:blipFill>
          <a:blip r:embed="rId3"/>
          <a:stretch>
            <a:fillRect/>
          </a:stretch>
        </p:blipFill>
        <p:spPr>
          <a:xfrm>
            <a:off x="838200" y="2052190"/>
            <a:ext cx="5834224" cy="3151822"/>
          </a:xfrm>
          <a:prstGeom prst="rect">
            <a:avLst/>
          </a:prstGeom>
        </p:spPr>
      </p:pic>
      <p:graphicFrame>
        <p:nvGraphicFramePr>
          <p:cNvPr id="7" name="Table 6">
            <a:extLst>
              <a:ext uri="{FF2B5EF4-FFF2-40B4-BE49-F238E27FC236}">
                <a16:creationId xmlns:a16="http://schemas.microsoft.com/office/drawing/2014/main" id="{D67ECAA7-CBE3-B699-2D4F-5B7E1CBD3E6C}"/>
              </a:ext>
            </a:extLst>
          </p:cNvPr>
          <p:cNvGraphicFramePr>
            <a:graphicFrameLocks noGrp="1"/>
          </p:cNvGraphicFramePr>
          <p:nvPr>
            <p:extLst>
              <p:ext uri="{D42A27DB-BD31-4B8C-83A1-F6EECF244321}">
                <p14:modId xmlns:p14="http://schemas.microsoft.com/office/powerpoint/2010/main" val="2803998070"/>
              </p:ext>
            </p:extLst>
          </p:nvPr>
        </p:nvGraphicFramePr>
        <p:xfrm>
          <a:off x="6943165" y="2711438"/>
          <a:ext cx="3662217" cy="1483360"/>
        </p:xfrm>
        <a:graphic>
          <a:graphicData uri="http://schemas.openxmlformats.org/drawingml/2006/table">
            <a:tbl>
              <a:tblPr firstRow="1" bandRow="1">
                <a:tableStyleId>{5C22544A-7EE6-4342-B048-85BDC9FD1C3A}</a:tableStyleId>
              </a:tblPr>
              <a:tblGrid>
                <a:gridCol w="960581">
                  <a:extLst>
                    <a:ext uri="{9D8B030D-6E8A-4147-A177-3AD203B41FA5}">
                      <a16:colId xmlns:a16="http://schemas.microsoft.com/office/drawing/2014/main" val="4206416100"/>
                    </a:ext>
                  </a:extLst>
                </a:gridCol>
                <a:gridCol w="1246909">
                  <a:extLst>
                    <a:ext uri="{9D8B030D-6E8A-4147-A177-3AD203B41FA5}">
                      <a16:colId xmlns:a16="http://schemas.microsoft.com/office/drawing/2014/main" val="1342809811"/>
                    </a:ext>
                  </a:extLst>
                </a:gridCol>
                <a:gridCol w="1454727">
                  <a:extLst>
                    <a:ext uri="{9D8B030D-6E8A-4147-A177-3AD203B41FA5}">
                      <a16:colId xmlns:a16="http://schemas.microsoft.com/office/drawing/2014/main" val="3691633822"/>
                    </a:ext>
                  </a:extLst>
                </a:gridCol>
              </a:tblGrid>
              <a:tr h="370840">
                <a:tc>
                  <a:txBody>
                    <a:bodyPr/>
                    <a:lstStyle/>
                    <a:p>
                      <a:r>
                        <a:rPr lang="en-US" dirty="0" err="1"/>
                        <a:t>Pclass</a:t>
                      </a:r>
                      <a:endParaRPr lang="en-US" dirty="0"/>
                    </a:p>
                  </a:txBody>
                  <a:tcPr/>
                </a:tc>
                <a:tc>
                  <a:txBody>
                    <a:bodyPr/>
                    <a:lstStyle/>
                    <a:p>
                      <a:r>
                        <a:rPr lang="en-US" dirty="0"/>
                        <a:t>0 (Died)</a:t>
                      </a:r>
                    </a:p>
                  </a:txBody>
                  <a:tcPr/>
                </a:tc>
                <a:tc>
                  <a:txBody>
                    <a:bodyPr/>
                    <a:lstStyle/>
                    <a:p>
                      <a:r>
                        <a:rPr lang="en-US" dirty="0"/>
                        <a:t>1 (Survived)</a:t>
                      </a:r>
                    </a:p>
                  </a:txBody>
                  <a:tcPr/>
                </a:tc>
                <a:extLst>
                  <a:ext uri="{0D108BD9-81ED-4DB2-BD59-A6C34878D82A}">
                    <a16:rowId xmlns:a16="http://schemas.microsoft.com/office/drawing/2014/main" val="1836981895"/>
                  </a:ext>
                </a:extLst>
              </a:tr>
              <a:tr h="370840">
                <a:tc>
                  <a:txBody>
                    <a:bodyPr/>
                    <a:lstStyle/>
                    <a:p>
                      <a:r>
                        <a:rPr lang="en-US" dirty="0"/>
                        <a:t>1</a:t>
                      </a:r>
                    </a:p>
                  </a:txBody>
                  <a:tcPr/>
                </a:tc>
                <a:tc>
                  <a:txBody>
                    <a:bodyPr/>
                    <a:lstStyle/>
                    <a:p>
                      <a:r>
                        <a:rPr lang="en-US" dirty="0"/>
                        <a:t>0.2953416</a:t>
                      </a:r>
                    </a:p>
                  </a:txBody>
                  <a:tcPr/>
                </a:tc>
                <a:tc>
                  <a:txBody>
                    <a:bodyPr/>
                    <a:lstStyle/>
                    <a:p>
                      <a:r>
                        <a:rPr lang="en-US" dirty="0">
                          <a:highlight>
                            <a:srgbClr val="FFFF00"/>
                          </a:highlight>
                        </a:rPr>
                        <a:t>0.7046584</a:t>
                      </a:r>
                    </a:p>
                  </a:txBody>
                  <a:tcPr/>
                </a:tc>
                <a:extLst>
                  <a:ext uri="{0D108BD9-81ED-4DB2-BD59-A6C34878D82A}">
                    <a16:rowId xmlns:a16="http://schemas.microsoft.com/office/drawing/2014/main" val="2007542486"/>
                  </a:ext>
                </a:extLst>
              </a:tr>
              <a:tr h="370840">
                <a:tc>
                  <a:txBody>
                    <a:bodyPr/>
                    <a:lstStyle/>
                    <a:p>
                      <a:r>
                        <a:rPr lang="en-US" dirty="0"/>
                        <a:t>2</a:t>
                      </a:r>
                    </a:p>
                  </a:txBody>
                  <a:tcPr/>
                </a:tc>
                <a:tc>
                  <a:txBody>
                    <a:bodyPr/>
                    <a:lstStyle/>
                    <a:p>
                      <a:r>
                        <a:rPr lang="en-US" dirty="0">
                          <a:highlight>
                            <a:srgbClr val="FFFF00"/>
                          </a:highlight>
                        </a:rPr>
                        <a:t>0.6063917</a:t>
                      </a:r>
                    </a:p>
                  </a:txBody>
                  <a:tcPr/>
                </a:tc>
                <a:tc>
                  <a:txBody>
                    <a:bodyPr/>
                    <a:lstStyle/>
                    <a:p>
                      <a:r>
                        <a:rPr lang="en-US" dirty="0"/>
                        <a:t>0.3936083</a:t>
                      </a:r>
                    </a:p>
                  </a:txBody>
                  <a:tcPr/>
                </a:tc>
                <a:extLst>
                  <a:ext uri="{0D108BD9-81ED-4DB2-BD59-A6C34878D82A}">
                    <a16:rowId xmlns:a16="http://schemas.microsoft.com/office/drawing/2014/main" val="2715731303"/>
                  </a:ext>
                </a:extLst>
              </a:tr>
              <a:tr h="370840">
                <a:tc>
                  <a:txBody>
                    <a:bodyPr/>
                    <a:lstStyle/>
                    <a:p>
                      <a:r>
                        <a:rPr lang="en-US" dirty="0"/>
                        <a:t>3</a:t>
                      </a:r>
                    </a:p>
                  </a:txBody>
                  <a:tcPr/>
                </a:tc>
                <a:tc>
                  <a:txBody>
                    <a:bodyPr/>
                    <a:lstStyle/>
                    <a:p>
                      <a:r>
                        <a:rPr lang="en-US" dirty="0">
                          <a:highlight>
                            <a:srgbClr val="FFFF00"/>
                          </a:highlight>
                        </a:rPr>
                        <a:t>0.7735716</a:t>
                      </a:r>
                    </a:p>
                  </a:txBody>
                  <a:tcPr/>
                </a:tc>
                <a:tc>
                  <a:txBody>
                    <a:bodyPr/>
                    <a:lstStyle/>
                    <a:p>
                      <a:r>
                        <a:rPr lang="en-US" dirty="0"/>
                        <a:t>0.2264284</a:t>
                      </a:r>
                    </a:p>
                  </a:txBody>
                  <a:tcPr/>
                </a:tc>
                <a:extLst>
                  <a:ext uri="{0D108BD9-81ED-4DB2-BD59-A6C34878D82A}">
                    <a16:rowId xmlns:a16="http://schemas.microsoft.com/office/drawing/2014/main" val="725727626"/>
                  </a:ext>
                </a:extLst>
              </a:tr>
            </a:tbl>
          </a:graphicData>
        </a:graphic>
      </p:graphicFrame>
      <p:sp>
        <p:nvSpPr>
          <p:cNvPr id="9" name="TextBox 8">
            <a:extLst>
              <a:ext uri="{FF2B5EF4-FFF2-40B4-BE49-F238E27FC236}">
                <a16:creationId xmlns:a16="http://schemas.microsoft.com/office/drawing/2014/main" id="{D36CACCC-37B3-6376-AAA2-DD4A0D3646E3}"/>
              </a:ext>
            </a:extLst>
          </p:cNvPr>
          <p:cNvSpPr txBox="1"/>
          <p:nvPr/>
        </p:nvSpPr>
        <p:spPr>
          <a:xfrm>
            <a:off x="6835589" y="4194798"/>
            <a:ext cx="3769794" cy="830997"/>
          </a:xfrm>
          <a:prstGeom prst="rect">
            <a:avLst/>
          </a:prstGeom>
          <a:noFill/>
        </p:spPr>
        <p:txBody>
          <a:bodyPr wrap="square" rtlCol="0">
            <a:spAutoFit/>
          </a:bodyPr>
          <a:lstStyle/>
          <a:p>
            <a:r>
              <a:rPr lang="en-US" sz="1600" i="1" dirty="0"/>
              <a:t>Likelihood of survival for a passenger age 30 aboard the Titanic, in various passenger classes (</a:t>
            </a:r>
            <a:r>
              <a:rPr lang="en-US" sz="1600" i="1" dirty="0" err="1"/>
              <a:t>Pclass</a:t>
            </a:r>
            <a:r>
              <a:rPr lang="en-US" sz="1600" i="1" dirty="0"/>
              <a:t>)</a:t>
            </a:r>
          </a:p>
        </p:txBody>
      </p:sp>
    </p:spTree>
    <p:extLst>
      <p:ext uri="{BB962C8B-B14F-4D97-AF65-F5344CB8AC3E}">
        <p14:creationId xmlns:p14="http://schemas.microsoft.com/office/powerpoint/2010/main" val="1613393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8B3AF6-A1E4-F5F9-0209-41E45090E4D6}"/>
              </a:ext>
            </a:extLst>
          </p:cNvPr>
          <p:cNvSpPr>
            <a:spLocks noGrp="1"/>
          </p:cNvSpPr>
          <p:nvPr>
            <p:ph type="title"/>
          </p:nvPr>
        </p:nvSpPr>
        <p:spPr>
          <a:xfrm>
            <a:off x="838200" y="365125"/>
            <a:ext cx="10515600" cy="697193"/>
          </a:xfrm>
        </p:spPr>
        <p:txBody>
          <a:bodyPr>
            <a:normAutofit fontScale="90000"/>
          </a:bodyPr>
          <a:lstStyle/>
          <a:p>
            <a:r>
              <a:rPr lang="en-US" dirty="0"/>
              <a:t>Train Set and Test Set</a:t>
            </a:r>
          </a:p>
        </p:txBody>
      </p:sp>
      <p:pic>
        <p:nvPicPr>
          <p:cNvPr id="6" name="Picture 5">
            <a:extLst>
              <a:ext uri="{FF2B5EF4-FFF2-40B4-BE49-F238E27FC236}">
                <a16:creationId xmlns:a16="http://schemas.microsoft.com/office/drawing/2014/main" id="{E0BF20A5-6339-3339-AB34-AB150FF5138E}"/>
              </a:ext>
            </a:extLst>
          </p:cNvPr>
          <p:cNvPicPr>
            <a:picLocks noChangeAspect="1"/>
          </p:cNvPicPr>
          <p:nvPr/>
        </p:nvPicPr>
        <p:blipFill>
          <a:blip r:embed="rId3"/>
          <a:stretch>
            <a:fillRect/>
          </a:stretch>
        </p:blipFill>
        <p:spPr>
          <a:xfrm>
            <a:off x="0" y="1896224"/>
            <a:ext cx="12192000" cy="2441926"/>
          </a:xfrm>
          <a:prstGeom prst="rect">
            <a:avLst/>
          </a:prstGeom>
        </p:spPr>
      </p:pic>
      <p:pic>
        <p:nvPicPr>
          <p:cNvPr id="8" name="Picture 7">
            <a:extLst>
              <a:ext uri="{FF2B5EF4-FFF2-40B4-BE49-F238E27FC236}">
                <a16:creationId xmlns:a16="http://schemas.microsoft.com/office/drawing/2014/main" id="{76AA4563-22F6-9E1A-78A1-F03A301C93BC}"/>
              </a:ext>
            </a:extLst>
          </p:cNvPr>
          <p:cNvPicPr>
            <a:picLocks noChangeAspect="1"/>
          </p:cNvPicPr>
          <p:nvPr/>
        </p:nvPicPr>
        <p:blipFill>
          <a:blip r:embed="rId4"/>
          <a:stretch>
            <a:fillRect/>
          </a:stretch>
        </p:blipFill>
        <p:spPr>
          <a:xfrm>
            <a:off x="0" y="4388409"/>
            <a:ext cx="12192000" cy="2494617"/>
          </a:xfrm>
          <a:prstGeom prst="rect">
            <a:avLst/>
          </a:prstGeom>
        </p:spPr>
      </p:pic>
      <p:sp>
        <p:nvSpPr>
          <p:cNvPr id="9" name="TextBox 8">
            <a:extLst>
              <a:ext uri="{FF2B5EF4-FFF2-40B4-BE49-F238E27FC236}">
                <a16:creationId xmlns:a16="http://schemas.microsoft.com/office/drawing/2014/main" id="{98F5EBD7-5F2C-D80B-2D2E-A92CDA05E3A4}"/>
              </a:ext>
            </a:extLst>
          </p:cNvPr>
          <p:cNvSpPr txBox="1"/>
          <p:nvPr/>
        </p:nvSpPr>
        <p:spPr>
          <a:xfrm>
            <a:off x="3052482" y="1878946"/>
            <a:ext cx="5553636" cy="369332"/>
          </a:xfrm>
          <a:prstGeom prst="rect">
            <a:avLst/>
          </a:prstGeom>
          <a:noFill/>
        </p:spPr>
        <p:txBody>
          <a:bodyPr wrap="square" rtlCol="0">
            <a:spAutoFit/>
          </a:bodyPr>
          <a:lstStyle/>
          <a:p>
            <a:r>
              <a:rPr lang="en-US" b="1" dirty="0"/>
              <a:t>Training Set: 70%</a:t>
            </a:r>
          </a:p>
        </p:txBody>
      </p:sp>
      <p:sp>
        <p:nvSpPr>
          <p:cNvPr id="10" name="TextBox 9">
            <a:extLst>
              <a:ext uri="{FF2B5EF4-FFF2-40B4-BE49-F238E27FC236}">
                <a16:creationId xmlns:a16="http://schemas.microsoft.com/office/drawing/2014/main" id="{6275C67D-37A9-2C43-4EA2-172C4EAEB85B}"/>
              </a:ext>
            </a:extLst>
          </p:cNvPr>
          <p:cNvSpPr txBox="1"/>
          <p:nvPr/>
        </p:nvSpPr>
        <p:spPr>
          <a:xfrm>
            <a:off x="3151094" y="4371131"/>
            <a:ext cx="5553636" cy="369332"/>
          </a:xfrm>
          <a:prstGeom prst="rect">
            <a:avLst/>
          </a:prstGeom>
          <a:noFill/>
        </p:spPr>
        <p:txBody>
          <a:bodyPr wrap="square" rtlCol="0">
            <a:spAutoFit/>
          </a:bodyPr>
          <a:lstStyle/>
          <a:p>
            <a:r>
              <a:rPr lang="en-US" b="1" dirty="0"/>
              <a:t>Test Set: 30%</a:t>
            </a:r>
          </a:p>
        </p:txBody>
      </p:sp>
      <p:sp>
        <p:nvSpPr>
          <p:cNvPr id="2" name="TextBox 1">
            <a:extLst>
              <a:ext uri="{FF2B5EF4-FFF2-40B4-BE49-F238E27FC236}">
                <a16:creationId xmlns:a16="http://schemas.microsoft.com/office/drawing/2014/main" id="{B7D488CC-CF9F-C5E2-C0B8-46DA4010FC41}"/>
              </a:ext>
            </a:extLst>
          </p:cNvPr>
          <p:cNvSpPr txBox="1"/>
          <p:nvPr/>
        </p:nvSpPr>
        <p:spPr>
          <a:xfrm>
            <a:off x="838200" y="1137174"/>
            <a:ext cx="8700247" cy="646331"/>
          </a:xfrm>
          <a:prstGeom prst="rect">
            <a:avLst/>
          </a:prstGeom>
          <a:noFill/>
        </p:spPr>
        <p:txBody>
          <a:bodyPr wrap="square" rtlCol="0">
            <a:spAutoFit/>
          </a:bodyPr>
          <a:lstStyle/>
          <a:p>
            <a:r>
              <a:rPr lang="en-US" dirty="0"/>
              <a:t>After filtering out rows with NA Age or </a:t>
            </a:r>
            <a:r>
              <a:rPr lang="en-US" dirty="0" err="1"/>
              <a:t>Pclass</a:t>
            </a:r>
            <a:r>
              <a:rPr lang="en-US" dirty="0"/>
              <a:t>, the titanic data set was partitioned into a training set and a test set using a seed of 4. Here’s a peek at each one.</a:t>
            </a:r>
          </a:p>
        </p:txBody>
      </p:sp>
    </p:spTree>
    <p:extLst>
      <p:ext uri="{BB962C8B-B14F-4D97-AF65-F5344CB8AC3E}">
        <p14:creationId xmlns:p14="http://schemas.microsoft.com/office/powerpoint/2010/main" val="438113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2ECC8D-364A-5491-A7D8-FCE8C692BA90}"/>
              </a:ext>
            </a:extLst>
          </p:cNvPr>
          <p:cNvSpPr>
            <a:spLocks noGrp="1"/>
          </p:cNvSpPr>
          <p:nvPr>
            <p:ph type="title"/>
          </p:nvPr>
        </p:nvSpPr>
        <p:spPr/>
        <p:txBody>
          <a:bodyPr/>
          <a:lstStyle/>
          <a:p>
            <a:r>
              <a:rPr lang="en-US" dirty="0"/>
              <a:t>Comparison of KNN and Naïve Bayes Models</a:t>
            </a:r>
          </a:p>
        </p:txBody>
      </p:sp>
      <p:pic>
        <p:nvPicPr>
          <p:cNvPr id="7" name="Picture 6">
            <a:extLst>
              <a:ext uri="{FF2B5EF4-FFF2-40B4-BE49-F238E27FC236}">
                <a16:creationId xmlns:a16="http://schemas.microsoft.com/office/drawing/2014/main" id="{29889169-8E93-D59E-8291-69C0C9D97537}"/>
              </a:ext>
            </a:extLst>
          </p:cNvPr>
          <p:cNvPicPr>
            <a:picLocks noChangeAspect="1"/>
          </p:cNvPicPr>
          <p:nvPr/>
        </p:nvPicPr>
        <p:blipFill>
          <a:blip r:embed="rId3"/>
          <a:srcRect t="2601"/>
          <a:stretch>
            <a:fillRect/>
          </a:stretch>
        </p:blipFill>
        <p:spPr>
          <a:xfrm>
            <a:off x="4771327" y="1701320"/>
            <a:ext cx="3383280" cy="3978360"/>
          </a:xfrm>
          <a:prstGeom prst="rect">
            <a:avLst/>
          </a:prstGeom>
        </p:spPr>
      </p:pic>
      <p:pic>
        <p:nvPicPr>
          <p:cNvPr id="9" name="Picture 8">
            <a:extLst>
              <a:ext uri="{FF2B5EF4-FFF2-40B4-BE49-F238E27FC236}">
                <a16:creationId xmlns:a16="http://schemas.microsoft.com/office/drawing/2014/main" id="{6EFC7E03-091E-03B8-F136-B2FBBB2CC13B}"/>
              </a:ext>
            </a:extLst>
          </p:cNvPr>
          <p:cNvPicPr>
            <a:picLocks noChangeAspect="1"/>
          </p:cNvPicPr>
          <p:nvPr/>
        </p:nvPicPr>
        <p:blipFill>
          <a:blip r:embed="rId4"/>
          <a:srcRect t="1" b="757"/>
          <a:stretch>
            <a:fillRect/>
          </a:stretch>
        </p:blipFill>
        <p:spPr>
          <a:xfrm>
            <a:off x="1471127" y="1680054"/>
            <a:ext cx="3383280" cy="4061527"/>
          </a:xfrm>
          <a:prstGeom prst="rect">
            <a:avLst/>
          </a:prstGeom>
        </p:spPr>
      </p:pic>
      <p:sp>
        <p:nvSpPr>
          <p:cNvPr id="10" name="TextBox 9">
            <a:extLst>
              <a:ext uri="{FF2B5EF4-FFF2-40B4-BE49-F238E27FC236}">
                <a16:creationId xmlns:a16="http://schemas.microsoft.com/office/drawing/2014/main" id="{2B788AB0-5C83-6F60-8C52-2CFB08BE7461}"/>
              </a:ext>
            </a:extLst>
          </p:cNvPr>
          <p:cNvSpPr txBox="1"/>
          <p:nvPr/>
        </p:nvSpPr>
        <p:spPr>
          <a:xfrm>
            <a:off x="2479358" y="5902486"/>
            <a:ext cx="1178259" cy="369332"/>
          </a:xfrm>
          <a:prstGeom prst="rect">
            <a:avLst/>
          </a:prstGeom>
          <a:noFill/>
        </p:spPr>
        <p:txBody>
          <a:bodyPr wrap="square" rtlCol="0">
            <a:spAutoFit/>
          </a:bodyPr>
          <a:lstStyle/>
          <a:p>
            <a:r>
              <a:rPr lang="en-US" dirty="0"/>
              <a:t>KNN: k=3</a:t>
            </a:r>
          </a:p>
        </p:txBody>
      </p:sp>
      <p:sp>
        <p:nvSpPr>
          <p:cNvPr id="11" name="TextBox 10">
            <a:extLst>
              <a:ext uri="{FF2B5EF4-FFF2-40B4-BE49-F238E27FC236}">
                <a16:creationId xmlns:a16="http://schemas.microsoft.com/office/drawing/2014/main" id="{E0F1AE8F-A029-9556-88B0-12E2692729B0}"/>
              </a:ext>
            </a:extLst>
          </p:cNvPr>
          <p:cNvSpPr txBox="1"/>
          <p:nvPr/>
        </p:nvSpPr>
        <p:spPr>
          <a:xfrm>
            <a:off x="5240292" y="5902486"/>
            <a:ext cx="2255666" cy="369332"/>
          </a:xfrm>
          <a:prstGeom prst="rect">
            <a:avLst/>
          </a:prstGeom>
          <a:noFill/>
        </p:spPr>
        <p:txBody>
          <a:bodyPr wrap="square" rtlCol="0">
            <a:spAutoFit/>
          </a:bodyPr>
          <a:lstStyle/>
          <a:p>
            <a:r>
              <a:rPr lang="en-US" dirty="0"/>
              <a:t>Naïve Bayes: seed(4)</a:t>
            </a:r>
          </a:p>
        </p:txBody>
      </p:sp>
      <p:sp>
        <p:nvSpPr>
          <p:cNvPr id="12" name="TextBox 11">
            <a:extLst>
              <a:ext uri="{FF2B5EF4-FFF2-40B4-BE49-F238E27FC236}">
                <a16:creationId xmlns:a16="http://schemas.microsoft.com/office/drawing/2014/main" id="{3378F3CD-634C-17DA-6DE5-B1B58E9CD214}"/>
              </a:ext>
            </a:extLst>
          </p:cNvPr>
          <p:cNvSpPr txBox="1"/>
          <p:nvPr/>
        </p:nvSpPr>
        <p:spPr>
          <a:xfrm>
            <a:off x="8569569" y="2413337"/>
            <a:ext cx="3048000" cy="2585323"/>
          </a:xfrm>
          <a:prstGeom prst="rect">
            <a:avLst/>
          </a:prstGeom>
          <a:noFill/>
        </p:spPr>
        <p:txBody>
          <a:bodyPr wrap="square" rtlCol="0">
            <a:spAutoFit/>
          </a:bodyPr>
          <a:lstStyle/>
          <a:p>
            <a:r>
              <a:rPr lang="en-US" b="1" dirty="0"/>
              <a:t>Seed(4)</a:t>
            </a:r>
          </a:p>
          <a:p>
            <a:endParaRPr lang="en-US" dirty="0"/>
          </a:p>
          <a:p>
            <a:r>
              <a:rPr lang="en-US" dirty="0"/>
              <a:t>How does the Naïve Bayes model compare to the </a:t>
            </a:r>
            <a:r>
              <a:rPr lang="en-US" dirty="0" err="1"/>
              <a:t>knn</a:t>
            </a:r>
            <a:r>
              <a:rPr lang="en-US" dirty="0"/>
              <a:t> model (k=3)?</a:t>
            </a:r>
            <a:br>
              <a:rPr lang="en-US" dirty="0"/>
            </a:br>
            <a:br>
              <a:rPr lang="en-US" dirty="0"/>
            </a:br>
            <a:r>
              <a:rPr lang="en-US" dirty="0"/>
              <a:t>Accuracy: increased</a:t>
            </a:r>
          </a:p>
          <a:p>
            <a:r>
              <a:rPr lang="en-US" dirty="0"/>
              <a:t>Sensitivity: increased</a:t>
            </a:r>
          </a:p>
          <a:p>
            <a:r>
              <a:rPr lang="en-US" dirty="0"/>
              <a:t>Specificity: </a:t>
            </a:r>
            <a:r>
              <a:rPr lang="en-US" i="1" u="sng" dirty="0"/>
              <a:t>unchanged</a:t>
            </a:r>
          </a:p>
        </p:txBody>
      </p:sp>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C238F0D1-74BB-F27E-8A5A-56460E97CA5D}"/>
                  </a:ext>
                </a:extLst>
              </p14:cNvPr>
              <p14:cNvContentPartPr/>
              <p14:nvPr/>
            </p14:nvContentPartPr>
            <p14:xfrm>
              <a:off x="2415229" y="4258096"/>
              <a:ext cx="4901400" cy="720"/>
            </p14:xfrm>
          </p:contentPart>
        </mc:Choice>
        <mc:Fallback xmlns="">
          <p:pic>
            <p:nvPicPr>
              <p:cNvPr id="8" name="Ink 7">
                <a:extLst>
                  <a:ext uri="{FF2B5EF4-FFF2-40B4-BE49-F238E27FC236}">
                    <a16:creationId xmlns:a16="http://schemas.microsoft.com/office/drawing/2014/main" id="{C238F0D1-74BB-F27E-8A5A-56460E97CA5D}"/>
                  </a:ext>
                </a:extLst>
              </p:cNvPr>
              <p:cNvPicPr/>
              <p:nvPr/>
            </p:nvPicPr>
            <p:blipFill>
              <a:blip r:embed="rId6"/>
              <a:stretch>
                <a:fillRect/>
              </a:stretch>
            </p:blipFill>
            <p:spPr>
              <a:xfrm>
                <a:off x="2361229" y="4042096"/>
                <a:ext cx="500904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00965DA6-A09F-A590-D7E5-620A646B0F54}"/>
                  </a:ext>
                </a:extLst>
              </p14:cNvPr>
              <p14:cNvContentPartPr/>
              <p14:nvPr/>
            </p14:nvContentPartPr>
            <p14:xfrm>
              <a:off x="2400120" y="4347863"/>
              <a:ext cx="4886280" cy="720"/>
            </p14:xfrm>
          </p:contentPart>
        </mc:Choice>
        <mc:Fallback xmlns="">
          <p:pic>
            <p:nvPicPr>
              <p:cNvPr id="14" name="Ink 13">
                <a:extLst>
                  <a:ext uri="{FF2B5EF4-FFF2-40B4-BE49-F238E27FC236}">
                    <a16:creationId xmlns:a16="http://schemas.microsoft.com/office/drawing/2014/main" id="{00965DA6-A09F-A590-D7E5-620A646B0F54}"/>
                  </a:ext>
                </a:extLst>
              </p:cNvPr>
              <p:cNvPicPr/>
              <p:nvPr/>
            </p:nvPicPr>
            <p:blipFill>
              <a:blip r:embed="rId8"/>
              <a:stretch>
                <a:fillRect/>
              </a:stretch>
            </p:blipFill>
            <p:spPr>
              <a:xfrm>
                <a:off x="2346120" y="4131863"/>
                <a:ext cx="499392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Ink 15">
                <a:extLst>
                  <a:ext uri="{FF2B5EF4-FFF2-40B4-BE49-F238E27FC236}">
                    <a16:creationId xmlns:a16="http://schemas.microsoft.com/office/drawing/2014/main" id="{B72EF575-4F3C-8762-3236-54A7203D6148}"/>
                  </a:ext>
                </a:extLst>
              </p14:cNvPr>
              <p14:cNvContentPartPr/>
              <p14:nvPr/>
            </p14:nvContentPartPr>
            <p14:xfrm>
              <a:off x="2502163" y="2824008"/>
              <a:ext cx="4954680" cy="720"/>
            </p14:xfrm>
          </p:contentPart>
        </mc:Choice>
        <mc:Fallback xmlns="">
          <p:pic>
            <p:nvPicPr>
              <p:cNvPr id="16" name="Ink 15">
                <a:extLst>
                  <a:ext uri="{FF2B5EF4-FFF2-40B4-BE49-F238E27FC236}">
                    <a16:creationId xmlns:a16="http://schemas.microsoft.com/office/drawing/2014/main" id="{B72EF575-4F3C-8762-3236-54A7203D6148}"/>
                  </a:ext>
                </a:extLst>
              </p:cNvPr>
              <p:cNvPicPr/>
              <p:nvPr/>
            </p:nvPicPr>
            <p:blipFill>
              <a:blip r:embed="rId10"/>
              <a:stretch>
                <a:fillRect/>
              </a:stretch>
            </p:blipFill>
            <p:spPr>
              <a:xfrm>
                <a:off x="2448163" y="2608008"/>
                <a:ext cx="506232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7" name="Ink 16">
                <a:extLst>
                  <a:ext uri="{FF2B5EF4-FFF2-40B4-BE49-F238E27FC236}">
                    <a16:creationId xmlns:a16="http://schemas.microsoft.com/office/drawing/2014/main" id="{738880DF-0EBA-2027-F974-4C7699225624}"/>
                  </a:ext>
                </a:extLst>
              </p14:cNvPr>
              <p14:cNvContentPartPr/>
              <p14:nvPr/>
            </p14:nvContentPartPr>
            <p14:xfrm>
              <a:off x="-1474211" y="1105216"/>
              <a:ext cx="360" cy="360"/>
            </p14:xfrm>
          </p:contentPart>
        </mc:Choice>
        <mc:Fallback xmlns="">
          <p:pic>
            <p:nvPicPr>
              <p:cNvPr id="17" name="Ink 16">
                <a:extLst>
                  <a:ext uri="{FF2B5EF4-FFF2-40B4-BE49-F238E27FC236}">
                    <a16:creationId xmlns:a16="http://schemas.microsoft.com/office/drawing/2014/main" id="{738880DF-0EBA-2027-F974-4C7699225624}"/>
                  </a:ext>
                </a:extLst>
              </p:cNvPr>
              <p:cNvPicPr/>
              <p:nvPr/>
            </p:nvPicPr>
            <p:blipFill>
              <a:blip r:embed="rId12"/>
              <a:stretch>
                <a:fillRect/>
              </a:stretch>
            </p:blipFill>
            <p:spPr>
              <a:xfrm>
                <a:off x="-1527851" y="997576"/>
                <a:ext cx="108000" cy="216000"/>
              </a:xfrm>
              <a:prstGeom prst="rect">
                <a:avLst/>
              </a:prstGeom>
            </p:spPr>
          </p:pic>
        </mc:Fallback>
      </mc:AlternateContent>
    </p:spTree>
    <p:extLst>
      <p:ext uri="{BB962C8B-B14F-4D97-AF65-F5344CB8AC3E}">
        <p14:creationId xmlns:p14="http://schemas.microsoft.com/office/powerpoint/2010/main" val="2076831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82493A-7F64-1801-99B3-B324FB24806D}"/>
              </a:ext>
            </a:extLst>
          </p:cNvPr>
          <p:cNvSpPr>
            <a:spLocks noGrp="1"/>
          </p:cNvSpPr>
          <p:nvPr>
            <p:ph type="title"/>
          </p:nvPr>
        </p:nvSpPr>
        <p:spPr/>
        <p:txBody>
          <a:bodyPr>
            <a:normAutofit/>
          </a:bodyPr>
          <a:lstStyle/>
          <a:p>
            <a:r>
              <a:rPr lang="en-US" sz="4000" dirty="0"/>
              <a:t>Comparison of KNN to NB with 5 different seeds</a:t>
            </a:r>
          </a:p>
        </p:txBody>
      </p:sp>
      <p:graphicFrame>
        <p:nvGraphicFramePr>
          <p:cNvPr id="6" name="Table 5">
            <a:extLst>
              <a:ext uri="{FF2B5EF4-FFF2-40B4-BE49-F238E27FC236}">
                <a16:creationId xmlns:a16="http://schemas.microsoft.com/office/drawing/2014/main" id="{AA75AE86-C4C9-7BC3-C092-C1E5C561AFD8}"/>
              </a:ext>
            </a:extLst>
          </p:cNvPr>
          <p:cNvGraphicFramePr>
            <a:graphicFrameLocks noGrp="1"/>
          </p:cNvGraphicFramePr>
          <p:nvPr>
            <p:extLst>
              <p:ext uri="{D42A27DB-BD31-4B8C-83A1-F6EECF244321}">
                <p14:modId xmlns:p14="http://schemas.microsoft.com/office/powerpoint/2010/main" val="2819894074"/>
              </p:ext>
            </p:extLst>
          </p:nvPr>
        </p:nvGraphicFramePr>
        <p:xfrm>
          <a:off x="838200" y="1435194"/>
          <a:ext cx="7418296" cy="2194560"/>
        </p:xfrm>
        <a:graphic>
          <a:graphicData uri="http://schemas.openxmlformats.org/drawingml/2006/table">
            <a:tbl>
              <a:tblPr firstRow="1" bandRow="1">
                <a:tableStyleId>{5C22544A-7EE6-4342-B048-85BDC9FD1C3A}</a:tableStyleId>
              </a:tblPr>
              <a:tblGrid>
                <a:gridCol w="1854574">
                  <a:extLst>
                    <a:ext uri="{9D8B030D-6E8A-4147-A177-3AD203B41FA5}">
                      <a16:colId xmlns:a16="http://schemas.microsoft.com/office/drawing/2014/main" val="4175920091"/>
                    </a:ext>
                  </a:extLst>
                </a:gridCol>
                <a:gridCol w="1854574">
                  <a:extLst>
                    <a:ext uri="{9D8B030D-6E8A-4147-A177-3AD203B41FA5}">
                      <a16:colId xmlns:a16="http://schemas.microsoft.com/office/drawing/2014/main" val="2722485191"/>
                    </a:ext>
                  </a:extLst>
                </a:gridCol>
                <a:gridCol w="1854574">
                  <a:extLst>
                    <a:ext uri="{9D8B030D-6E8A-4147-A177-3AD203B41FA5}">
                      <a16:colId xmlns:a16="http://schemas.microsoft.com/office/drawing/2014/main" val="4194643544"/>
                    </a:ext>
                  </a:extLst>
                </a:gridCol>
                <a:gridCol w="1854574">
                  <a:extLst>
                    <a:ext uri="{9D8B030D-6E8A-4147-A177-3AD203B41FA5}">
                      <a16:colId xmlns:a16="http://schemas.microsoft.com/office/drawing/2014/main" val="4133643073"/>
                    </a:ext>
                  </a:extLst>
                </a:gridCol>
              </a:tblGrid>
              <a:tr h="340500">
                <a:tc>
                  <a:txBody>
                    <a:bodyPr/>
                    <a:lstStyle/>
                    <a:p>
                      <a:r>
                        <a:rPr lang="en-US" dirty="0"/>
                        <a:t>KNN/NB</a:t>
                      </a:r>
                    </a:p>
                  </a:txBody>
                  <a:tcPr/>
                </a:tc>
                <a:tc>
                  <a:txBody>
                    <a:bodyPr/>
                    <a:lstStyle/>
                    <a:p>
                      <a:r>
                        <a:rPr lang="en-US" dirty="0"/>
                        <a:t>Accuracy</a:t>
                      </a:r>
                    </a:p>
                  </a:txBody>
                  <a:tcPr/>
                </a:tc>
                <a:tc>
                  <a:txBody>
                    <a:bodyPr/>
                    <a:lstStyle/>
                    <a:p>
                      <a:r>
                        <a:rPr lang="en-US" dirty="0"/>
                        <a:t>Sensitivity</a:t>
                      </a:r>
                    </a:p>
                  </a:txBody>
                  <a:tcPr/>
                </a:tc>
                <a:tc>
                  <a:txBody>
                    <a:bodyPr/>
                    <a:lstStyle/>
                    <a:p>
                      <a:r>
                        <a:rPr lang="en-US" dirty="0"/>
                        <a:t>Specificity</a:t>
                      </a:r>
                    </a:p>
                  </a:txBody>
                  <a:tcPr/>
                </a:tc>
                <a:extLst>
                  <a:ext uri="{0D108BD9-81ED-4DB2-BD59-A6C34878D82A}">
                    <a16:rowId xmlns:a16="http://schemas.microsoft.com/office/drawing/2014/main" val="2160331679"/>
                  </a:ext>
                </a:extLst>
              </a:tr>
              <a:tr h="340500">
                <a:tc>
                  <a:txBody>
                    <a:bodyPr/>
                    <a:lstStyle/>
                    <a:p>
                      <a:r>
                        <a:rPr lang="en-US" dirty="0"/>
                        <a:t>Seed = 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0.6963/</a:t>
                      </a:r>
                      <a:r>
                        <a:rPr lang="en-US" b="1" dirty="0"/>
                        <a:t>0.729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0.7891/</a:t>
                      </a:r>
                      <a:r>
                        <a:rPr lang="en-US" b="1" dirty="0"/>
                        <a:t>0.8438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0.5581/0.5581</a:t>
                      </a:r>
                    </a:p>
                  </a:txBody>
                  <a:tcPr/>
                </a:tc>
                <a:extLst>
                  <a:ext uri="{0D108BD9-81ED-4DB2-BD59-A6C34878D82A}">
                    <a16:rowId xmlns:a16="http://schemas.microsoft.com/office/drawing/2014/main" val="2317719290"/>
                  </a:ext>
                </a:extLst>
              </a:tr>
              <a:tr h="340500">
                <a:tc>
                  <a:txBody>
                    <a:bodyPr/>
                    <a:lstStyle/>
                    <a:p>
                      <a:r>
                        <a:rPr lang="en-US" dirty="0"/>
                        <a:t>Seed = 8</a:t>
                      </a:r>
                    </a:p>
                  </a:txBody>
                  <a:tcPr/>
                </a:tc>
                <a:tc>
                  <a:txBody>
                    <a:bodyPr/>
                    <a:lstStyle/>
                    <a:p>
                      <a:r>
                        <a:rPr lang="en-US" dirty="0"/>
                        <a:t>0.6449/</a:t>
                      </a:r>
                      <a:r>
                        <a:rPr lang="en-US" b="1" dirty="0"/>
                        <a:t>0.7196</a:t>
                      </a:r>
                    </a:p>
                  </a:txBody>
                  <a:tcPr/>
                </a:tc>
                <a:tc>
                  <a:txBody>
                    <a:bodyPr/>
                    <a:lstStyle/>
                    <a:p>
                      <a:r>
                        <a:rPr lang="en-US" dirty="0"/>
                        <a:t>0.7214/</a:t>
                      </a:r>
                      <a:r>
                        <a:rPr lang="en-US" b="1" dirty="0"/>
                        <a:t>0.8500</a:t>
                      </a:r>
                    </a:p>
                  </a:txBody>
                  <a:tcPr/>
                </a:tc>
                <a:tc>
                  <a:txBody>
                    <a:bodyPr/>
                    <a:lstStyle/>
                    <a:p>
                      <a:r>
                        <a:rPr lang="en-US" b="1" dirty="0"/>
                        <a:t>0.5000</a:t>
                      </a:r>
                      <a:r>
                        <a:rPr lang="en-US" dirty="0"/>
                        <a:t>/0.4730</a:t>
                      </a:r>
                    </a:p>
                  </a:txBody>
                  <a:tcPr/>
                </a:tc>
                <a:extLst>
                  <a:ext uri="{0D108BD9-81ED-4DB2-BD59-A6C34878D82A}">
                    <a16:rowId xmlns:a16="http://schemas.microsoft.com/office/drawing/2014/main" val="3615199878"/>
                  </a:ext>
                </a:extLst>
              </a:tr>
              <a:tr h="340500">
                <a:tc>
                  <a:txBody>
                    <a:bodyPr/>
                    <a:lstStyle/>
                    <a:p>
                      <a:r>
                        <a:rPr lang="en-US" dirty="0"/>
                        <a:t>Seed = 16</a:t>
                      </a:r>
                    </a:p>
                  </a:txBody>
                  <a:tcPr/>
                </a:tc>
                <a:tc>
                  <a:txBody>
                    <a:bodyPr/>
                    <a:lstStyle/>
                    <a:p>
                      <a:r>
                        <a:rPr lang="en-US" dirty="0"/>
                        <a:t>0.6308/</a:t>
                      </a:r>
                      <a:r>
                        <a:rPr lang="en-US" b="1" dirty="0"/>
                        <a:t>0.6963</a:t>
                      </a:r>
                    </a:p>
                  </a:txBody>
                  <a:tcPr/>
                </a:tc>
                <a:tc>
                  <a:txBody>
                    <a:bodyPr/>
                    <a:lstStyle/>
                    <a:p>
                      <a:r>
                        <a:rPr lang="en-US" dirty="0"/>
                        <a:t>0.7266/</a:t>
                      </a:r>
                      <a:r>
                        <a:rPr lang="en-US" b="1" dirty="0"/>
                        <a:t>0.8281</a:t>
                      </a:r>
                    </a:p>
                  </a:txBody>
                  <a:tcPr/>
                </a:tc>
                <a:tc>
                  <a:txBody>
                    <a:bodyPr/>
                    <a:lstStyle/>
                    <a:p>
                      <a:r>
                        <a:rPr lang="en-US" dirty="0"/>
                        <a:t>0.4884/</a:t>
                      </a:r>
                      <a:r>
                        <a:rPr lang="en-US" b="1" dirty="0"/>
                        <a:t>0.5000</a:t>
                      </a:r>
                    </a:p>
                  </a:txBody>
                  <a:tcPr/>
                </a:tc>
                <a:extLst>
                  <a:ext uri="{0D108BD9-81ED-4DB2-BD59-A6C34878D82A}">
                    <a16:rowId xmlns:a16="http://schemas.microsoft.com/office/drawing/2014/main" val="1301683294"/>
                  </a:ext>
                </a:extLst>
              </a:tr>
              <a:tr h="340500">
                <a:tc>
                  <a:txBody>
                    <a:bodyPr/>
                    <a:lstStyle/>
                    <a:p>
                      <a:r>
                        <a:rPr lang="en-US" dirty="0"/>
                        <a:t>Seed = 32</a:t>
                      </a:r>
                    </a:p>
                  </a:txBody>
                  <a:tcPr/>
                </a:tc>
                <a:tc>
                  <a:txBody>
                    <a:bodyPr/>
                    <a:lstStyle/>
                    <a:p>
                      <a:r>
                        <a:rPr lang="en-US" b="1" dirty="0"/>
                        <a:t>0.6542</a:t>
                      </a:r>
                      <a:r>
                        <a:rPr lang="en-US" dirty="0"/>
                        <a:t>/0.6402</a:t>
                      </a:r>
                    </a:p>
                  </a:txBody>
                  <a:tcPr/>
                </a:tc>
                <a:tc>
                  <a:txBody>
                    <a:bodyPr/>
                    <a:lstStyle/>
                    <a:p>
                      <a:r>
                        <a:rPr lang="en-US" dirty="0"/>
                        <a:t>0.7323/</a:t>
                      </a:r>
                      <a:r>
                        <a:rPr lang="en-US" b="1" dirty="0"/>
                        <a:t>0.8189</a:t>
                      </a:r>
                    </a:p>
                  </a:txBody>
                  <a:tcPr/>
                </a:tc>
                <a:tc>
                  <a:txBody>
                    <a:bodyPr/>
                    <a:lstStyle/>
                    <a:p>
                      <a:r>
                        <a:rPr lang="en-US" b="1" dirty="0"/>
                        <a:t>0.5402</a:t>
                      </a:r>
                      <a:r>
                        <a:rPr lang="en-US" dirty="0"/>
                        <a:t>/0.3793</a:t>
                      </a:r>
                    </a:p>
                  </a:txBody>
                  <a:tcPr/>
                </a:tc>
                <a:extLst>
                  <a:ext uri="{0D108BD9-81ED-4DB2-BD59-A6C34878D82A}">
                    <a16:rowId xmlns:a16="http://schemas.microsoft.com/office/drawing/2014/main" val="973258871"/>
                  </a:ext>
                </a:extLst>
              </a:tr>
              <a:tr h="340500">
                <a:tc>
                  <a:txBody>
                    <a:bodyPr/>
                    <a:lstStyle/>
                    <a:p>
                      <a:r>
                        <a:rPr lang="en-US" dirty="0"/>
                        <a:t>Seed = 64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0.6776</a:t>
                      </a:r>
                      <a:r>
                        <a:rPr lang="en-US" dirty="0"/>
                        <a:t>/0.6729</a:t>
                      </a:r>
                    </a:p>
                  </a:txBody>
                  <a:tcPr/>
                </a:tc>
                <a:tc>
                  <a:txBody>
                    <a:bodyPr/>
                    <a:lstStyle/>
                    <a:p>
                      <a:r>
                        <a:rPr lang="en-US" dirty="0"/>
                        <a:t>0.7634/</a:t>
                      </a:r>
                      <a:r>
                        <a:rPr lang="en-US" b="1" dirty="0"/>
                        <a:t>0.8092</a:t>
                      </a:r>
                    </a:p>
                  </a:txBody>
                  <a:tcPr/>
                </a:tc>
                <a:tc>
                  <a:txBody>
                    <a:bodyPr/>
                    <a:lstStyle/>
                    <a:p>
                      <a:r>
                        <a:rPr lang="en-US" b="1" dirty="0"/>
                        <a:t>0.5422</a:t>
                      </a:r>
                      <a:r>
                        <a:rPr lang="en-US" dirty="0"/>
                        <a:t>/0.4578</a:t>
                      </a:r>
                    </a:p>
                  </a:txBody>
                  <a:tcPr/>
                </a:tc>
                <a:extLst>
                  <a:ext uri="{0D108BD9-81ED-4DB2-BD59-A6C34878D82A}">
                    <a16:rowId xmlns:a16="http://schemas.microsoft.com/office/drawing/2014/main" val="1015078447"/>
                  </a:ext>
                </a:extLst>
              </a:tr>
            </a:tbl>
          </a:graphicData>
        </a:graphic>
      </p:graphicFrame>
      <p:sp>
        <p:nvSpPr>
          <p:cNvPr id="11" name="TextBox 10">
            <a:extLst>
              <a:ext uri="{FF2B5EF4-FFF2-40B4-BE49-F238E27FC236}">
                <a16:creationId xmlns:a16="http://schemas.microsoft.com/office/drawing/2014/main" id="{794285F2-15F3-19EE-D36A-99A7522C7788}"/>
              </a:ext>
            </a:extLst>
          </p:cNvPr>
          <p:cNvSpPr txBox="1"/>
          <p:nvPr/>
        </p:nvSpPr>
        <p:spPr>
          <a:xfrm>
            <a:off x="8727930" y="1542770"/>
            <a:ext cx="3127188" cy="4801314"/>
          </a:xfrm>
          <a:prstGeom prst="rect">
            <a:avLst/>
          </a:prstGeom>
          <a:noFill/>
        </p:spPr>
        <p:txBody>
          <a:bodyPr wrap="square" rtlCol="0">
            <a:spAutoFit/>
          </a:bodyPr>
          <a:lstStyle/>
          <a:p>
            <a:r>
              <a:rPr lang="en-US" dirty="0"/>
              <a:t>In 5 out of 5 seed comparisons, the sensitivity of the NB model was higher than that of the KNN model. It’s not clear if the difference in accuracy is significant between the models or between the seeds.</a:t>
            </a:r>
            <a:br>
              <a:rPr lang="en-US" dirty="0"/>
            </a:br>
            <a:br>
              <a:rPr lang="en-US" dirty="0"/>
            </a:br>
            <a:r>
              <a:rPr lang="en-US" dirty="0"/>
              <a:t>Why is the sensitivity better than the specificity in all these cases, regardless of the model or the seed? Is that because the positive class “Died” represents most of the observations in the training set?</a:t>
            </a:r>
          </a:p>
        </p:txBody>
      </p:sp>
      <p:pic>
        <p:nvPicPr>
          <p:cNvPr id="3" name="Picture 2">
            <a:extLst>
              <a:ext uri="{FF2B5EF4-FFF2-40B4-BE49-F238E27FC236}">
                <a16:creationId xmlns:a16="http://schemas.microsoft.com/office/drawing/2014/main" id="{F16E1842-032C-1858-F428-5C8010FDD1AD}"/>
              </a:ext>
            </a:extLst>
          </p:cNvPr>
          <p:cNvPicPr>
            <a:picLocks noChangeAspect="1"/>
          </p:cNvPicPr>
          <p:nvPr/>
        </p:nvPicPr>
        <p:blipFill>
          <a:blip r:embed="rId3"/>
          <a:stretch>
            <a:fillRect/>
          </a:stretch>
        </p:blipFill>
        <p:spPr>
          <a:xfrm>
            <a:off x="1909480" y="3629754"/>
            <a:ext cx="5344381" cy="2995812"/>
          </a:xfrm>
          <a:prstGeom prst="rect">
            <a:avLst/>
          </a:prstGeom>
        </p:spPr>
      </p:pic>
    </p:spTree>
    <p:extLst>
      <p:ext uri="{BB962C8B-B14F-4D97-AF65-F5344CB8AC3E}">
        <p14:creationId xmlns:p14="http://schemas.microsoft.com/office/powerpoint/2010/main" val="3493759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E2FE75-7F3E-6ACD-6D53-727E75715C3F}"/>
              </a:ext>
            </a:extLst>
          </p:cNvPr>
          <p:cNvSpPr>
            <a:spLocks noGrp="1"/>
          </p:cNvSpPr>
          <p:nvPr>
            <p:ph type="title"/>
          </p:nvPr>
        </p:nvSpPr>
        <p:spPr/>
        <p:txBody>
          <a:bodyPr/>
          <a:lstStyle/>
          <a:p>
            <a:r>
              <a:rPr lang="en-US" dirty="0"/>
              <a:t>Average the Model Evaluations for 100 Seeds</a:t>
            </a:r>
          </a:p>
        </p:txBody>
      </p:sp>
      <p:graphicFrame>
        <p:nvGraphicFramePr>
          <p:cNvPr id="6" name="Table 5">
            <a:extLst>
              <a:ext uri="{FF2B5EF4-FFF2-40B4-BE49-F238E27FC236}">
                <a16:creationId xmlns:a16="http://schemas.microsoft.com/office/drawing/2014/main" id="{87776A35-F961-F75D-7330-EAB0A32E558F}"/>
              </a:ext>
            </a:extLst>
          </p:cNvPr>
          <p:cNvGraphicFramePr>
            <a:graphicFrameLocks noGrp="1"/>
          </p:cNvGraphicFramePr>
          <p:nvPr>
            <p:extLst>
              <p:ext uri="{D42A27DB-BD31-4B8C-83A1-F6EECF244321}">
                <p14:modId xmlns:p14="http://schemas.microsoft.com/office/powerpoint/2010/main" val="1669264990"/>
              </p:ext>
            </p:extLst>
          </p:nvPr>
        </p:nvGraphicFramePr>
        <p:xfrm>
          <a:off x="6393330" y="1511807"/>
          <a:ext cx="4960470" cy="1112520"/>
        </p:xfrm>
        <a:graphic>
          <a:graphicData uri="http://schemas.openxmlformats.org/drawingml/2006/table">
            <a:tbl>
              <a:tblPr firstRow="1" bandRow="1">
                <a:tableStyleId>{5C22544A-7EE6-4342-B048-85BDC9FD1C3A}</a:tableStyleId>
              </a:tblPr>
              <a:tblGrid>
                <a:gridCol w="697753">
                  <a:extLst>
                    <a:ext uri="{9D8B030D-6E8A-4147-A177-3AD203B41FA5}">
                      <a16:colId xmlns:a16="http://schemas.microsoft.com/office/drawing/2014/main" val="2246949455"/>
                    </a:ext>
                  </a:extLst>
                </a:gridCol>
                <a:gridCol w="1317812">
                  <a:extLst>
                    <a:ext uri="{9D8B030D-6E8A-4147-A177-3AD203B41FA5}">
                      <a16:colId xmlns:a16="http://schemas.microsoft.com/office/drawing/2014/main" val="382294980"/>
                    </a:ext>
                  </a:extLst>
                </a:gridCol>
                <a:gridCol w="1438835">
                  <a:extLst>
                    <a:ext uri="{9D8B030D-6E8A-4147-A177-3AD203B41FA5}">
                      <a16:colId xmlns:a16="http://schemas.microsoft.com/office/drawing/2014/main" val="2056553011"/>
                    </a:ext>
                  </a:extLst>
                </a:gridCol>
                <a:gridCol w="1506070">
                  <a:extLst>
                    <a:ext uri="{9D8B030D-6E8A-4147-A177-3AD203B41FA5}">
                      <a16:colId xmlns:a16="http://schemas.microsoft.com/office/drawing/2014/main" val="1895235440"/>
                    </a:ext>
                  </a:extLst>
                </a:gridCol>
              </a:tblGrid>
              <a:tr h="370840">
                <a:tc>
                  <a:txBody>
                    <a:bodyPr/>
                    <a:lstStyle/>
                    <a:p>
                      <a:endParaRPr lang="en-US" dirty="0"/>
                    </a:p>
                  </a:txBody>
                  <a:tcPr/>
                </a:tc>
                <a:tc>
                  <a:txBody>
                    <a:bodyPr/>
                    <a:lstStyle/>
                    <a:p>
                      <a:r>
                        <a:rPr lang="en-US" dirty="0"/>
                        <a:t>Accuracy</a:t>
                      </a:r>
                    </a:p>
                  </a:txBody>
                  <a:tcPr/>
                </a:tc>
                <a:tc>
                  <a:txBody>
                    <a:bodyPr/>
                    <a:lstStyle/>
                    <a:p>
                      <a:r>
                        <a:rPr lang="en-US" dirty="0"/>
                        <a:t>Sensitivity</a:t>
                      </a:r>
                    </a:p>
                  </a:txBody>
                  <a:tcPr/>
                </a:tc>
                <a:tc>
                  <a:txBody>
                    <a:bodyPr/>
                    <a:lstStyle/>
                    <a:p>
                      <a:r>
                        <a:rPr lang="en-US" dirty="0"/>
                        <a:t>Specificity</a:t>
                      </a:r>
                    </a:p>
                  </a:txBody>
                  <a:tcPr/>
                </a:tc>
                <a:extLst>
                  <a:ext uri="{0D108BD9-81ED-4DB2-BD59-A6C34878D82A}">
                    <a16:rowId xmlns:a16="http://schemas.microsoft.com/office/drawing/2014/main" val="2414816506"/>
                  </a:ext>
                </a:extLst>
              </a:tr>
              <a:tr h="370840">
                <a:tc>
                  <a:txBody>
                    <a:bodyPr/>
                    <a:lstStyle/>
                    <a:p>
                      <a:r>
                        <a:rPr lang="en-US" dirty="0"/>
                        <a:t>KNN</a:t>
                      </a:r>
                    </a:p>
                  </a:txBody>
                  <a:tcPr/>
                </a:tc>
                <a:tc>
                  <a:txBody>
                    <a:bodyPr/>
                    <a:lstStyle/>
                    <a:p>
                      <a:r>
                        <a:rPr lang="en-US" dirty="0"/>
                        <a:t>0.6628972</a:t>
                      </a:r>
                    </a:p>
                  </a:txBody>
                  <a:tcPr/>
                </a:tc>
                <a:tc>
                  <a:txBody>
                    <a:bodyPr/>
                    <a:lstStyle/>
                    <a:p>
                      <a:r>
                        <a:rPr lang="en-US" dirty="0"/>
                        <a:t>0.7781763</a:t>
                      </a:r>
                      <a:endParaRPr lang="en-US" b="1" dirty="0"/>
                    </a:p>
                  </a:txBody>
                  <a:tcPr/>
                </a:tc>
                <a:tc>
                  <a:txBody>
                    <a:bodyPr/>
                    <a:lstStyle/>
                    <a:p>
                      <a:r>
                        <a:rPr lang="en-US" b="1" dirty="0"/>
                        <a:t>0.499643</a:t>
                      </a:r>
                    </a:p>
                  </a:txBody>
                  <a:tcPr/>
                </a:tc>
                <a:extLst>
                  <a:ext uri="{0D108BD9-81ED-4DB2-BD59-A6C34878D82A}">
                    <a16:rowId xmlns:a16="http://schemas.microsoft.com/office/drawing/2014/main" val="3852189982"/>
                  </a:ext>
                </a:extLst>
              </a:tr>
              <a:tr h="370840">
                <a:tc>
                  <a:txBody>
                    <a:bodyPr/>
                    <a:lstStyle/>
                    <a:p>
                      <a:r>
                        <a:rPr lang="en-US" dirty="0"/>
                        <a:t>NB</a:t>
                      </a:r>
                    </a:p>
                  </a:txBody>
                  <a:tcPr/>
                </a:tc>
                <a:tc>
                  <a:txBody>
                    <a:bodyPr/>
                    <a:lstStyle/>
                    <a:p>
                      <a:r>
                        <a:rPr lang="en-US" b="1" dirty="0"/>
                        <a:t>0.6900467</a:t>
                      </a:r>
                    </a:p>
                  </a:txBody>
                  <a:tcPr/>
                </a:tc>
                <a:tc>
                  <a:txBody>
                    <a:bodyPr/>
                    <a:lstStyle/>
                    <a:p>
                      <a:r>
                        <a:rPr lang="en-US" b="1" dirty="0"/>
                        <a:t>0.8495778</a:t>
                      </a:r>
                    </a:p>
                  </a:txBody>
                  <a:tcPr/>
                </a:tc>
                <a:tc>
                  <a:txBody>
                    <a:bodyPr/>
                    <a:lstStyle/>
                    <a:p>
                      <a:r>
                        <a:rPr lang="en-US" dirty="0"/>
                        <a:t>0.4617856</a:t>
                      </a:r>
                    </a:p>
                  </a:txBody>
                  <a:tcPr/>
                </a:tc>
                <a:extLst>
                  <a:ext uri="{0D108BD9-81ED-4DB2-BD59-A6C34878D82A}">
                    <a16:rowId xmlns:a16="http://schemas.microsoft.com/office/drawing/2014/main" val="649433040"/>
                  </a:ext>
                </a:extLst>
              </a:tr>
            </a:tbl>
          </a:graphicData>
        </a:graphic>
      </p:graphicFrame>
      <p:pic>
        <p:nvPicPr>
          <p:cNvPr id="8" name="Picture 7">
            <a:extLst>
              <a:ext uri="{FF2B5EF4-FFF2-40B4-BE49-F238E27FC236}">
                <a16:creationId xmlns:a16="http://schemas.microsoft.com/office/drawing/2014/main" id="{82B4A6A7-76B9-359D-F1C0-1A77B068025E}"/>
              </a:ext>
            </a:extLst>
          </p:cNvPr>
          <p:cNvPicPr>
            <a:picLocks noChangeAspect="1"/>
          </p:cNvPicPr>
          <p:nvPr/>
        </p:nvPicPr>
        <p:blipFill>
          <a:blip r:embed="rId3"/>
          <a:srcRect t="29027"/>
          <a:stretch>
            <a:fillRect/>
          </a:stretch>
        </p:blipFill>
        <p:spPr>
          <a:xfrm>
            <a:off x="838200" y="1511807"/>
            <a:ext cx="5257800" cy="4720813"/>
          </a:xfrm>
          <a:prstGeom prst="rect">
            <a:avLst/>
          </a:prstGeom>
        </p:spPr>
      </p:pic>
      <p:sp>
        <p:nvSpPr>
          <p:cNvPr id="2" name="TextBox 1">
            <a:extLst>
              <a:ext uri="{FF2B5EF4-FFF2-40B4-BE49-F238E27FC236}">
                <a16:creationId xmlns:a16="http://schemas.microsoft.com/office/drawing/2014/main" id="{FB335F09-8D67-2C3C-F2A2-1A7A06F62864}"/>
              </a:ext>
            </a:extLst>
          </p:cNvPr>
          <p:cNvSpPr txBox="1"/>
          <p:nvPr/>
        </p:nvSpPr>
        <p:spPr>
          <a:xfrm>
            <a:off x="6393330" y="3023616"/>
            <a:ext cx="4960470" cy="2862322"/>
          </a:xfrm>
          <a:prstGeom prst="rect">
            <a:avLst/>
          </a:prstGeom>
          <a:noFill/>
        </p:spPr>
        <p:txBody>
          <a:bodyPr wrap="square" rtlCol="0">
            <a:spAutoFit/>
          </a:bodyPr>
          <a:lstStyle/>
          <a:p>
            <a:r>
              <a:rPr lang="en-US" dirty="0"/>
              <a:t>On average, the accuracy and sensitivity of the NB model are a little bit higher. It’s unclear why the specificity is low for both models, or why it would be higher for the KNN. Is there an inverse relationship between sensitivity and specificity?</a:t>
            </a:r>
          </a:p>
          <a:p>
            <a:endParaRPr lang="en-US" dirty="0"/>
          </a:p>
          <a:p>
            <a:r>
              <a:rPr lang="en-US" dirty="0"/>
              <a:t>Sensitivity: Number of correctly identified deaths/true number of deaths</a:t>
            </a:r>
          </a:p>
          <a:p>
            <a:r>
              <a:rPr lang="en-US" dirty="0"/>
              <a:t>Specificity: Number of correctly identified survivals/true number of survivals</a:t>
            </a:r>
          </a:p>
        </p:txBody>
      </p:sp>
    </p:spTree>
    <p:extLst>
      <p:ext uri="{BB962C8B-B14F-4D97-AF65-F5344CB8AC3E}">
        <p14:creationId xmlns:p14="http://schemas.microsoft.com/office/powerpoint/2010/main" val="394048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1C76DF-AB82-BCB0-B585-3621E1742101}"/>
              </a:ext>
            </a:extLst>
          </p:cNvPr>
          <p:cNvSpPr>
            <a:spLocks noGrp="1"/>
          </p:cNvSpPr>
          <p:nvPr>
            <p:ph type="title"/>
          </p:nvPr>
        </p:nvSpPr>
        <p:spPr/>
        <p:txBody>
          <a:bodyPr/>
          <a:lstStyle/>
          <a:p>
            <a:r>
              <a:rPr lang="en-US" dirty="0"/>
              <a:t>Introducing another explanatory variable</a:t>
            </a:r>
          </a:p>
        </p:txBody>
      </p:sp>
      <p:pic>
        <p:nvPicPr>
          <p:cNvPr id="6" name="Picture 5">
            <a:extLst>
              <a:ext uri="{FF2B5EF4-FFF2-40B4-BE49-F238E27FC236}">
                <a16:creationId xmlns:a16="http://schemas.microsoft.com/office/drawing/2014/main" id="{752E89B7-F610-4F29-9FBA-728372BEC6F5}"/>
              </a:ext>
            </a:extLst>
          </p:cNvPr>
          <p:cNvPicPr>
            <a:picLocks noChangeAspect="1"/>
          </p:cNvPicPr>
          <p:nvPr/>
        </p:nvPicPr>
        <p:blipFill>
          <a:blip r:embed="rId3"/>
          <a:stretch>
            <a:fillRect/>
          </a:stretch>
        </p:blipFill>
        <p:spPr>
          <a:xfrm>
            <a:off x="4943976" y="1545972"/>
            <a:ext cx="3369029" cy="4111192"/>
          </a:xfrm>
          <a:prstGeom prst="rect">
            <a:avLst/>
          </a:prstGeom>
        </p:spPr>
      </p:pic>
      <p:pic>
        <p:nvPicPr>
          <p:cNvPr id="7" name="Picture 6">
            <a:extLst>
              <a:ext uri="{FF2B5EF4-FFF2-40B4-BE49-F238E27FC236}">
                <a16:creationId xmlns:a16="http://schemas.microsoft.com/office/drawing/2014/main" id="{8E2D6C6F-1FCA-9699-FFAC-8705FED21EA2}"/>
              </a:ext>
            </a:extLst>
          </p:cNvPr>
          <p:cNvPicPr>
            <a:picLocks noChangeAspect="1"/>
          </p:cNvPicPr>
          <p:nvPr/>
        </p:nvPicPr>
        <p:blipFill>
          <a:blip r:embed="rId4"/>
          <a:srcRect l="3429" t="2988"/>
          <a:stretch>
            <a:fillRect/>
          </a:stretch>
        </p:blipFill>
        <p:spPr>
          <a:xfrm>
            <a:off x="1226684" y="1545972"/>
            <a:ext cx="3369030" cy="4085990"/>
          </a:xfrm>
          <a:prstGeom prst="rect">
            <a:avLst/>
          </a:prstGeom>
        </p:spPr>
      </p:pic>
      <p:sp>
        <p:nvSpPr>
          <p:cNvPr id="8" name="TextBox 7">
            <a:extLst>
              <a:ext uri="{FF2B5EF4-FFF2-40B4-BE49-F238E27FC236}">
                <a16:creationId xmlns:a16="http://schemas.microsoft.com/office/drawing/2014/main" id="{AC6FC7D4-7A74-8584-6FE2-DF2A98D0C724}"/>
              </a:ext>
            </a:extLst>
          </p:cNvPr>
          <p:cNvSpPr txBox="1"/>
          <p:nvPr/>
        </p:nvSpPr>
        <p:spPr>
          <a:xfrm>
            <a:off x="8864227" y="2017059"/>
            <a:ext cx="2489574" cy="2585323"/>
          </a:xfrm>
          <a:prstGeom prst="rect">
            <a:avLst/>
          </a:prstGeom>
          <a:noFill/>
        </p:spPr>
        <p:txBody>
          <a:bodyPr wrap="square" rtlCol="0">
            <a:spAutoFit/>
          </a:bodyPr>
          <a:lstStyle/>
          <a:p>
            <a:r>
              <a:rPr lang="en-US" dirty="0"/>
              <a:t>The accuracy and specificity are higher with three explanatory variables than with two, for the same seed (4). However, the sensitivity is lower.</a:t>
            </a:r>
            <a:br>
              <a:rPr lang="en-US" dirty="0"/>
            </a:br>
            <a:br>
              <a:rPr lang="en-US" dirty="0"/>
            </a:br>
            <a:r>
              <a:rPr lang="en-US" dirty="0"/>
              <a:t>What does this mean?</a:t>
            </a:r>
          </a:p>
        </p:txBody>
      </p:sp>
      <p:sp>
        <p:nvSpPr>
          <p:cNvPr id="2" name="Rectangle 1">
            <a:extLst>
              <a:ext uri="{FF2B5EF4-FFF2-40B4-BE49-F238E27FC236}">
                <a16:creationId xmlns:a16="http://schemas.microsoft.com/office/drawing/2014/main" id="{13CCEE31-B206-48A0-5D26-394895190840}"/>
              </a:ext>
            </a:extLst>
          </p:cNvPr>
          <p:cNvSpPr/>
          <p:nvPr/>
        </p:nvSpPr>
        <p:spPr>
          <a:xfrm>
            <a:off x="1204590" y="1771737"/>
            <a:ext cx="2794386" cy="8724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DF604CC-F806-540F-A85A-CCC841E6351F}"/>
              </a:ext>
            </a:extLst>
          </p:cNvPr>
          <p:cNvSpPr/>
          <p:nvPr/>
        </p:nvSpPr>
        <p:spPr>
          <a:xfrm>
            <a:off x="4943976" y="1771737"/>
            <a:ext cx="2794386" cy="8724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0043E7D-053E-E583-2731-B966467B542B}"/>
              </a:ext>
            </a:extLst>
          </p:cNvPr>
          <p:cNvSpPr txBox="1"/>
          <p:nvPr/>
        </p:nvSpPr>
        <p:spPr>
          <a:xfrm>
            <a:off x="1463040" y="5657164"/>
            <a:ext cx="2535936" cy="369332"/>
          </a:xfrm>
          <a:prstGeom prst="rect">
            <a:avLst/>
          </a:prstGeom>
          <a:noFill/>
        </p:spPr>
        <p:txBody>
          <a:bodyPr wrap="square" rtlCol="0">
            <a:spAutoFit/>
          </a:bodyPr>
          <a:lstStyle/>
          <a:p>
            <a:r>
              <a:rPr lang="en-US" dirty="0"/>
              <a:t>Based on Age, </a:t>
            </a:r>
            <a:r>
              <a:rPr lang="en-US" dirty="0" err="1"/>
              <a:t>Pclass</a:t>
            </a:r>
            <a:endParaRPr lang="en-US" dirty="0"/>
          </a:p>
        </p:txBody>
      </p:sp>
      <p:sp>
        <p:nvSpPr>
          <p:cNvPr id="9" name="TextBox 8">
            <a:extLst>
              <a:ext uri="{FF2B5EF4-FFF2-40B4-BE49-F238E27FC236}">
                <a16:creationId xmlns:a16="http://schemas.microsoft.com/office/drawing/2014/main" id="{308B0100-ACEA-DA68-1CAC-145DF15E78F3}"/>
              </a:ext>
            </a:extLst>
          </p:cNvPr>
          <p:cNvSpPr txBox="1"/>
          <p:nvPr/>
        </p:nvSpPr>
        <p:spPr>
          <a:xfrm>
            <a:off x="4943976" y="5636124"/>
            <a:ext cx="3249050" cy="369332"/>
          </a:xfrm>
          <a:prstGeom prst="rect">
            <a:avLst/>
          </a:prstGeom>
          <a:noFill/>
        </p:spPr>
        <p:txBody>
          <a:bodyPr wrap="square" rtlCol="0">
            <a:spAutoFit/>
          </a:bodyPr>
          <a:lstStyle/>
          <a:p>
            <a:r>
              <a:rPr lang="en-US" dirty="0"/>
              <a:t>Based on Age, </a:t>
            </a:r>
            <a:r>
              <a:rPr lang="en-US" dirty="0" err="1"/>
              <a:t>Pclass</a:t>
            </a:r>
            <a:r>
              <a:rPr lang="en-US" dirty="0"/>
              <a:t>, and Sex</a:t>
            </a:r>
          </a:p>
        </p:txBody>
      </p:sp>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2297DC48-7F91-7197-2B88-CCC106F6AE35}"/>
                  </a:ext>
                </a:extLst>
              </p14:cNvPr>
              <p14:cNvContentPartPr/>
              <p14:nvPr/>
            </p14:nvContentPartPr>
            <p14:xfrm>
              <a:off x="2325120" y="2732649"/>
              <a:ext cx="1436040" cy="45360"/>
            </p14:xfrm>
          </p:contentPart>
        </mc:Choice>
        <mc:Fallback xmlns="">
          <p:pic>
            <p:nvPicPr>
              <p:cNvPr id="11" name="Ink 10">
                <a:extLst>
                  <a:ext uri="{FF2B5EF4-FFF2-40B4-BE49-F238E27FC236}">
                    <a16:creationId xmlns:a16="http://schemas.microsoft.com/office/drawing/2014/main" id="{2297DC48-7F91-7197-2B88-CCC106F6AE35}"/>
                  </a:ext>
                </a:extLst>
              </p:cNvPr>
              <p:cNvPicPr/>
              <p:nvPr/>
            </p:nvPicPr>
            <p:blipFill>
              <a:blip r:embed="rId6"/>
              <a:stretch>
                <a:fillRect/>
              </a:stretch>
            </p:blipFill>
            <p:spPr>
              <a:xfrm>
                <a:off x="2271480" y="2625009"/>
                <a:ext cx="154368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2AADC1DC-2BF4-278B-733D-6693E4156A6B}"/>
                  </a:ext>
                </a:extLst>
              </p14:cNvPr>
              <p14:cNvContentPartPr/>
              <p14:nvPr/>
            </p14:nvContentPartPr>
            <p14:xfrm>
              <a:off x="6069840" y="2723289"/>
              <a:ext cx="1453680" cy="27360"/>
            </p14:xfrm>
          </p:contentPart>
        </mc:Choice>
        <mc:Fallback xmlns="">
          <p:pic>
            <p:nvPicPr>
              <p:cNvPr id="12" name="Ink 11">
                <a:extLst>
                  <a:ext uri="{FF2B5EF4-FFF2-40B4-BE49-F238E27FC236}">
                    <a16:creationId xmlns:a16="http://schemas.microsoft.com/office/drawing/2014/main" id="{2AADC1DC-2BF4-278B-733D-6693E4156A6B}"/>
                  </a:ext>
                </a:extLst>
              </p:cNvPr>
              <p:cNvPicPr/>
              <p:nvPr/>
            </p:nvPicPr>
            <p:blipFill>
              <a:blip r:embed="rId8"/>
              <a:stretch>
                <a:fillRect/>
              </a:stretch>
            </p:blipFill>
            <p:spPr>
              <a:xfrm>
                <a:off x="6016200" y="2615289"/>
                <a:ext cx="156132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1DEFEAFA-04BA-BE4E-F8EE-573D5B01DA7E}"/>
                  </a:ext>
                </a:extLst>
              </p14:cNvPr>
              <p14:cNvContentPartPr/>
              <p14:nvPr/>
            </p14:nvContentPartPr>
            <p14:xfrm>
              <a:off x="2142240" y="4134489"/>
              <a:ext cx="1601640" cy="18000"/>
            </p14:xfrm>
          </p:contentPart>
        </mc:Choice>
        <mc:Fallback xmlns="">
          <p:pic>
            <p:nvPicPr>
              <p:cNvPr id="13" name="Ink 12">
                <a:extLst>
                  <a:ext uri="{FF2B5EF4-FFF2-40B4-BE49-F238E27FC236}">
                    <a16:creationId xmlns:a16="http://schemas.microsoft.com/office/drawing/2014/main" id="{1DEFEAFA-04BA-BE4E-F8EE-573D5B01DA7E}"/>
                  </a:ext>
                </a:extLst>
              </p:cNvPr>
              <p:cNvPicPr/>
              <p:nvPr/>
            </p:nvPicPr>
            <p:blipFill>
              <a:blip r:embed="rId10"/>
              <a:stretch>
                <a:fillRect/>
              </a:stretch>
            </p:blipFill>
            <p:spPr>
              <a:xfrm>
                <a:off x="2088240" y="4026849"/>
                <a:ext cx="170928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31F7EAC6-0C15-16C4-B470-E3F99626CD82}"/>
                  </a:ext>
                </a:extLst>
              </p14:cNvPr>
              <p14:cNvContentPartPr/>
              <p14:nvPr/>
            </p14:nvContentPartPr>
            <p14:xfrm>
              <a:off x="2177160" y="4265169"/>
              <a:ext cx="1558080" cy="19080"/>
            </p14:xfrm>
          </p:contentPart>
        </mc:Choice>
        <mc:Fallback xmlns="">
          <p:pic>
            <p:nvPicPr>
              <p:cNvPr id="14" name="Ink 13">
                <a:extLst>
                  <a:ext uri="{FF2B5EF4-FFF2-40B4-BE49-F238E27FC236}">
                    <a16:creationId xmlns:a16="http://schemas.microsoft.com/office/drawing/2014/main" id="{31F7EAC6-0C15-16C4-B470-E3F99626CD82}"/>
                  </a:ext>
                </a:extLst>
              </p:cNvPr>
              <p:cNvPicPr/>
              <p:nvPr/>
            </p:nvPicPr>
            <p:blipFill>
              <a:blip r:embed="rId12"/>
              <a:stretch>
                <a:fillRect/>
              </a:stretch>
            </p:blipFill>
            <p:spPr>
              <a:xfrm>
                <a:off x="2123160" y="4157529"/>
                <a:ext cx="166572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051CCE59-FE1F-69AB-969D-180A6DF07070}"/>
                  </a:ext>
                </a:extLst>
              </p14:cNvPr>
              <p14:cNvContentPartPr/>
              <p14:nvPr/>
            </p14:nvContentPartPr>
            <p14:xfrm>
              <a:off x="5912880" y="4074009"/>
              <a:ext cx="1559160" cy="26280"/>
            </p14:xfrm>
          </p:contentPart>
        </mc:Choice>
        <mc:Fallback xmlns="">
          <p:pic>
            <p:nvPicPr>
              <p:cNvPr id="16" name="Ink 15">
                <a:extLst>
                  <a:ext uri="{FF2B5EF4-FFF2-40B4-BE49-F238E27FC236}">
                    <a16:creationId xmlns:a16="http://schemas.microsoft.com/office/drawing/2014/main" id="{051CCE59-FE1F-69AB-969D-180A6DF07070}"/>
                  </a:ext>
                </a:extLst>
              </p:cNvPr>
              <p:cNvPicPr/>
              <p:nvPr/>
            </p:nvPicPr>
            <p:blipFill>
              <a:blip r:embed="rId14"/>
              <a:stretch>
                <a:fillRect/>
              </a:stretch>
            </p:blipFill>
            <p:spPr>
              <a:xfrm>
                <a:off x="5858880" y="3966009"/>
                <a:ext cx="166680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F58DC772-731B-B02E-5E1D-9E19783B44F9}"/>
                  </a:ext>
                </a:extLst>
              </p14:cNvPr>
              <p14:cNvContentPartPr/>
              <p14:nvPr/>
            </p14:nvContentPartPr>
            <p14:xfrm>
              <a:off x="5904240" y="4213329"/>
              <a:ext cx="1542240" cy="720"/>
            </p14:xfrm>
          </p:contentPart>
        </mc:Choice>
        <mc:Fallback xmlns="">
          <p:pic>
            <p:nvPicPr>
              <p:cNvPr id="18" name="Ink 17">
                <a:extLst>
                  <a:ext uri="{FF2B5EF4-FFF2-40B4-BE49-F238E27FC236}">
                    <a16:creationId xmlns:a16="http://schemas.microsoft.com/office/drawing/2014/main" id="{F58DC772-731B-B02E-5E1D-9E19783B44F9}"/>
                  </a:ext>
                </a:extLst>
              </p:cNvPr>
              <p:cNvPicPr/>
              <p:nvPr/>
            </p:nvPicPr>
            <p:blipFill>
              <a:blip r:embed="rId16"/>
              <a:stretch>
                <a:fillRect/>
              </a:stretch>
            </p:blipFill>
            <p:spPr>
              <a:xfrm>
                <a:off x="5850240" y="3997329"/>
                <a:ext cx="1649880" cy="432000"/>
              </a:xfrm>
              <a:prstGeom prst="rect">
                <a:avLst/>
              </a:prstGeom>
            </p:spPr>
          </p:pic>
        </mc:Fallback>
      </mc:AlternateContent>
    </p:spTree>
    <p:extLst>
      <p:ext uri="{BB962C8B-B14F-4D97-AF65-F5344CB8AC3E}">
        <p14:creationId xmlns:p14="http://schemas.microsoft.com/office/powerpoint/2010/main" val="1772300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225245-BD56-8904-B78D-3FF2B9CDE408}"/>
              </a:ext>
            </a:extLst>
          </p:cNvPr>
          <p:cNvSpPr>
            <a:spLocks noGrp="1"/>
          </p:cNvSpPr>
          <p:nvPr>
            <p:ph type="title"/>
          </p:nvPr>
        </p:nvSpPr>
        <p:spPr>
          <a:xfrm>
            <a:off x="838200" y="365126"/>
            <a:ext cx="10515600" cy="1035606"/>
          </a:xfrm>
        </p:spPr>
        <p:txBody>
          <a:bodyPr/>
          <a:lstStyle/>
          <a:p>
            <a:r>
              <a:rPr lang="en-US" dirty="0"/>
              <a:t>Stable Estimate of NB Model Performance</a:t>
            </a:r>
          </a:p>
        </p:txBody>
      </p:sp>
      <p:pic>
        <p:nvPicPr>
          <p:cNvPr id="9" name="Picture 8">
            <a:extLst>
              <a:ext uri="{FF2B5EF4-FFF2-40B4-BE49-F238E27FC236}">
                <a16:creationId xmlns:a16="http://schemas.microsoft.com/office/drawing/2014/main" id="{8E6F9532-97F7-C610-1705-51103C692B14}"/>
              </a:ext>
            </a:extLst>
          </p:cNvPr>
          <p:cNvPicPr>
            <a:picLocks noChangeAspect="1"/>
          </p:cNvPicPr>
          <p:nvPr/>
        </p:nvPicPr>
        <p:blipFill>
          <a:blip r:embed="rId3"/>
          <a:stretch>
            <a:fillRect/>
          </a:stretch>
        </p:blipFill>
        <p:spPr>
          <a:xfrm>
            <a:off x="451997" y="1566862"/>
            <a:ext cx="4848902" cy="4020111"/>
          </a:xfrm>
          <a:prstGeom prst="rect">
            <a:avLst/>
          </a:prstGeom>
        </p:spPr>
      </p:pic>
      <p:pic>
        <p:nvPicPr>
          <p:cNvPr id="13" name="Picture 12">
            <a:extLst>
              <a:ext uri="{FF2B5EF4-FFF2-40B4-BE49-F238E27FC236}">
                <a16:creationId xmlns:a16="http://schemas.microsoft.com/office/drawing/2014/main" id="{40172811-2A8A-5C4E-AE18-72650B6EB35A}"/>
              </a:ext>
            </a:extLst>
          </p:cNvPr>
          <p:cNvPicPr>
            <a:picLocks noChangeAspect="1"/>
          </p:cNvPicPr>
          <p:nvPr/>
        </p:nvPicPr>
        <p:blipFill>
          <a:blip r:embed="rId4"/>
          <a:stretch>
            <a:fillRect/>
          </a:stretch>
        </p:blipFill>
        <p:spPr>
          <a:xfrm>
            <a:off x="5485464" y="1357023"/>
            <a:ext cx="6706536" cy="4143953"/>
          </a:xfrm>
          <a:prstGeom prst="rect">
            <a:avLst/>
          </a:prstGeom>
        </p:spPr>
      </p:pic>
      <p:sp>
        <p:nvSpPr>
          <p:cNvPr id="14" name="TextBox 13">
            <a:extLst>
              <a:ext uri="{FF2B5EF4-FFF2-40B4-BE49-F238E27FC236}">
                <a16:creationId xmlns:a16="http://schemas.microsoft.com/office/drawing/2014/main" id="{578253FA-7076-5BFC-365E-B63AB2023FB5}"/>
              </a:ext>
            </a:extLst>
          </p:cNvPr>
          <p:cNvSpPr txBox="1"/>
          <p:nvPr/>
        </p:nvSpPr>
        <p:spPr>
          <a:xfrm>
            <a:off x="5719481" y="5447188"/>
            <a:ext cx="6369424" cy="1200329"/>
          </a:xfrm>
          <a:prstGeom prst="rect">
            <a:avLst/>
          </a:prstGeom>
          <a:noFill/>
        </p:spPr>
        <p:txBody>
          <a:bodyPr wrap="square" rtlCol="0">
            <a:spAutoFit/>
          </a:bodyPr>
          <a:lstStyle/>
          <a:p>
            <a:r>
              <a:rPr lang="en-US" dirty="0"/>
              <a:t>The distribution of the sensitivity and the distribution of the specificity are asymmetrical because of the imbalance between the number of positive (Died) and negative (Survived) observations in the training set.</a:t>
            </a:r>
          </a:p>
        </p:txBody>
      </p:sp>
    </p:spTree>
    <p:extLst>
      <p:ext uri="{BB962C8B-B14F-4D97-AF65-F5344CB8AC3E}">
        <p14:creationId xmlns:p14="http://schemas.microsoft.com/office/powerpoint/2010/main" val="3346889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59CCC-8B31-3749-FCEF-9CCD2CB30552}"/>
              </a:ext>
            </a:extLst>
          </p:cNvPr>
          <p:cNvSpPr>
            <a:spLocks noGrp="1"/>
          </p:cNvSpPr>
          <p:nvPr>
            <p:ph type="title"/>
          </p:nvPr>
        </p:nvSpPr>
        <p:spPr/>
        <p:txBody>
          <a:bodyPr/>
          <a:lstStyle/>
          <a:p>
            <a:r>
              <a:rPr lang="en-US" dirty="0"/>
              <a:t>Iris Cross Validation NB vs KNN Models</a:t>
            </a:r>
          </a:p>
        </p:txBody>
      </p:sp>
      <p:pic>
        <p:nvPicPr>
          <p:cNvPr id="6" name="Picture 5">
            <a:extLst>
              <a:ext uri="{FF2B5EF4-FFF2-40B4-BE49-F238E27FC236}">
                <a16:creationId xmlns:a16="http://schemas.microsoft.com/office/drawing/2014/main" id="{69CA7B30-7A9E-E4B5-67A0-E5B9003376EC}"/>
              </a:ext>
            </a:extLst>
          </p:cNvPr>
          <p:cNvPicPr>
            <a:picLocks noChangeAspect="1"/>
          </p:cNvPicPr>
          <p:nvPr/>
        </p:nvPicPr>
        <p:blipFill>
          <a:blip r:embed="rId3"/>
          <a:stretch>
            <a:fillRect/>
          </a:stretch>
        </p:blipFill>
        <p:spPr>
          <a:xfrm>
            <a:off x="4120738" y="1543792"/>
            <a:ext cx="7233062" cy="4498984"/>
          </a:xfrm>
          <a:prstGeom prst="rect">
            <a:avLst/>
          </a:prstGeom>
        </p:spPr>
      </p:pic>
      <p:sp>
        <p:nvSpPr>
          <p:cNvPr id="7" name="TextBox 6">
            <a:extLst>
              <a:ext uri="{FF2B5EF4-FFF2-40B4-BE49-F238E27FC236}">
                <a16:creationId xmlns:a16="http://schemas.microsoft.com/office/drawing/2014/main" id="{E905BDB7-FCE7-B5A1-D28F-D14D85818EE2}"/>
              </a:ext>
            </a:extLst>
          </p:cNvPr>
          <p:cNvSpPr txBox="1"/>
          <p:nvPr/>
        </p:nvSpPr>
        <p:spPr>
          <a:xfrm>
            <a:off x="736270" y="1864426"/>
            <a:ext cx="3384468" cy="3970318"/>
          </a:xfrm>
          <a:prstGeom prst="rect">
            <a:avLst/>
          </a:prstGeom>
          <a:noFill/>
        </p:spPr>
        <p:txBody>
          <a:bodyPr wrap="square" rtlCol="0">
            <a:spAutoFit/>
          </a:bodyPr>
          <a:lstStyle/>
          <a:p>
            <a:r>
              <a:rPr lang="en-US" dirty="0"/>
              <a:t>The chart shows the distribution of performance metrics for the NB model, over 100 different 70-30 train/test splits. The species was classified based on the sepal length and width.</a:t>
            </a:r>
            <a:br>
              <a:rPr lang="en-US" dirty="0"/>
            </a:br>
            <a:br>
              <a:rPr lang="en-US" dirty="0"/>
            </a:br>
            <a:r>
              <a:rPr lang="en-US" dirty="0"/>
              <a:t>In Unit 6, I measured the accuracy of a KNN model over 500 iterations of 90 different k values. Over all 4500 accuracies, the mean was 0.7358879 (less than the accuracy for NB).</a:t>
            </a:r>
          </a:p>
        </p:txBody>
      </p:sp>
      <p:sp>
        <p:nvSpPr>
          <p:cNvPr id="8" name="TextBox 7">
            <a:extLst>
              <a:ext uri="{FF2B5EF4-FFF2-40B4-BE49-F238E27FC236}">
                <a16:creationId xmlns:a16="http://schemas.microsoft.com/office/drawing/2014/main" id="{7CFE7FF9-4EB9-4BC6-17E9-175F0372FABB}"/>
              </a:ext>
            </a:extLst>
          </p:cNvPr>
          <p:cNvSpPr txBox="1"/>
          <p:nvPr/>
        </p:nvSpPr>
        <p:spPr>
          <a:xfrm>
            <a:off x="5241851" y="6123543"/>
            <a:ext cx="1300716" cy="369332"/>
          </a:xfrm>
          <a:prstGeom prst="rect">
            <a:avLst/>
          </a:prstGeom>
          <a:noFill/>
        </p:spPr>
        <p:txBody>
          <a:bodyPr wrap="square" rtlCol="0">
            <a:spAutoFit/>
          </a:bodyPr>
          <a:lstStyle/>
          <a:p>
            <a:r>
              <a:rPr lang="en-US" dirty="0"/>
              <a:t>0.7753333</a:t>
            </a:r>
          </a:p>
        </p:txBody>
      </p:sp>
      <p:sp>
        <p:nvSpPr>
          <p:cNvPr id="9" name="TextBox 8">
            <a:extLst>
              <a:ext uri="{FF2B5EF4-FFF2-40B4-BE49-F238E27FC236}">
                <a16:creationId xmlns:a16="http://schemas.microsoft.com/office/drawing/2014/main" id="{A5E127DC-1013-7B59-3F87-81CD2B650085}"/>
              </a:ext>
            </a:extLst>
          </p:cNvPr>
          <p:cNvSpPr txBox="1"/>
          <p:nvPr/>
        </p:nvSpPr>
        <p:spPr>
          <a:xfrm>
            <a:off x="7432158" y="6123543"/>
            <a:ext cx="1414130" cy="369332"/>
          </a:xfrm>
          <a:prstGeom prst="rect">
            <a:avLst/>
          </a:prstGeom>
          <a:noFill/>
        </p:spPr>
        <p:txBody>
          <a:bodyPr wrap="square" rtlCol="0">
            <a:spAutoFit/>
          </a:bodyPr>
          <a:lstStyle/>
          <a:p>
            <a:r>
              <a:rPr lang="en-US" dirty="0"/>
              <a:t>0.9779298</a:t>
            </a:r>
          </a:p>
        </p:txBody>
      </p:sp>
      <p:sp>
        <p:nvSpPr>
          <p:cNvPr id="10" name="TextBox 9">
            <a:extLst>
              <a:ext uri="{FF2B5EF4-FFF2-40B4-BE49-F238E27FC236}">
                <a16:creationId xmlns:a16="http://schemas.microsoft.com/office/drawing/2014/main" id="{01AEB97F-2F1F-484D-0CC7-FA0E38FCD285}"/>
              </a:ext>
            </a:extLst>
          </p:cNvPr>
          <p:cNvSpPr txBox="1"/>
          <p:nvPr/>
        </p:nvSpPr>
        <p:spPr>
          <a:xfrm>
            <a:off x="9585250" y="6109292"/>
            <a:ext cx="2371061" cy="369332"/>
          </a:xfrm>
          <a:prstGeom prst="rect">
            <a:avLst/>
          </a:prstGeom>
          <a:noFill/>
        </p:spPr>
        <p:txBody>
          <a:bodyPr wrap="square" rtlCol="0">
            <a:spAutoFit/>
          </a:bodyPr>
          <a:lstStyle/>
          <a:p>
            <a:r>
              <a:rPr lang="en-US" dirty="0"/>
              <a:t>0.7227796</a:t>
            </a:r>
          </a:p>
        </p:txBody>
      </p:sp>
    </p:spTree>
    <p:extLst>
      <p:ext uri="{BB962C8B-B14F-4D97-AF65-F5344CB8AC3E}">
        <p14:creationId xmlns:p14="http://schemas.microsoft.com/office/powerpoint/2010/main" val="2290878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7EF98-3DC6-AAAF-B6BD-B7EEC6FD0F4F}"/>
              </a:ext>
            </a:extLst>
          </p:cNvPr>
          <p:cNvSpPr>
            <a:spLocks noGrp="1"/>
          </p:cNvSpPr>
          <p:nvPr>
            <p:ph type="title"/>
          </p:nvPr>
        </p:nvSpPr>
        <p:spPr/>
        <p:txBody>
          <a:bodyPr/>
          <a:lstStyle/>
          <a:p>
            <a:r>
              <a:rPr lang="en-US" dirty="0"/>
              <a:t>NYT News/Other Classifier</a:t>
            </a:r>
          </a:p>
        </p:txBody>
      </p:sp>
      <p:sp>
        <p:nvSpPr>
          <p:cNvPr id="3" name="TextBox 2">
            <a:extLst>
              <a:ext uri="{FF2B5EF4-FFF2-40B4-BE49-F238E27FC236}">
                <a16:creationId xmlns:a16="http://schemas.microsoft.com/office/drawing/2014/main" id="{67691A60-2971-F071-67BC-7881F4DFB4B7}"/>
              </a:ext>
            </a:extLst>
          </p:cNvPr>
          <p:cNvSpPr txBox="1"/>
          <p:nvPr/>
        </p:nvSpPr>
        <p:spPr>
          <a:xfrm>
            <a:off x="650631" y="5705387"/>
            <a:ext cx="8767689" cy="954107"/>
          </a:xfrm>
          <a:prstGeom prst="rect">
            <a:avLst/>
          </a:prstGeom>
          <a:noFill/>
        </p:spPr>
        <p:txBody>
          <a:bodyPr wrap="square" rtlCol="0">
            <a:spAutoFit/>
          </a:bodyPr>
          <a:lstStyle/>
          <a:p>
            <a:r>
              <a:rPr lang="en-US" sz="1400" dirty="0"/>
              <a:t>198 results for Trump in January 2026 here: </a:t>
            </a:r>
            <a:r>
              <a:rPr lang="en-US" sz="1400" b="1" dirty="0"/>
              <a:t>(only 100 results fetched before API connection error)*</a:t>
            </a:r>
            <a:r>
              <a:rPr lang="en-US" sz="1400" dirty="0"/>
              <a:t> </a:t>
            </a:r>
            <a:r>
              <a:rPr lang="en-US" sz="1400" dirty="0">
                <a:hlinkClick r:id="rId3"/>
              </a:rPr>
              <a:t>https://api.nytimes.com/svc/search/v2/articlesearch.json?q=Trump&amp;begin_date=20260101&amp;end_date=20260131&amp;facet_filter=true&amp;api-key=DYY6iHutIPXhgaCBy6Dj8NE6n9PSphPQi6loyuYWL3z6mbLG</a:t>
            </a:r>
            <a:br>
              <a:rPr lang="en-US" sz="1400" dirty="0"/>
            </a:br>
            <a:r>
              <a:rPr lang="en-US" sz="1400" dirty="0"/>
              <a:t>*see Takeaways and Questions for the explanation</a:t>
            </a:r>
          </a:p>
        </p:txBody>
      </p:sp>
      <p:pic>
        <p:nvPicPr>
          <p:cNvPr id="5" name="Picture 4">
            <a:extLst>
              <a:ext uri="{FF2B5EF4-FFF2-40B4-BE49-F238E27FC236}">
                <a16:creationId xmlns:a16="http://schemas.microsoft.com/office/drawing/2014/main" id="{4567C94C-1A53-876B-2143-632D1EFB009D}"/>
              </a:ext>
            </a:extLst>
          </p:cNvPr>
          <p:cNvPicPr>
            <a:picLocks noChangeAspect="1"/>
          </p:cNvPicPr>
          <p:nvPr/>
        </p:nvPicPr>
        <p:blipFill>
          <a:blip r:embed="rId4"/>
          <a:stretch>
            <a:fillRect/>
          </a:stretch>
        </p:blipFill>
        <p:spPr>
          <a:xfrm>
            <a:off x="740484" y="1712372"/>
            <a:ext cx="5555163" cy="3535818"/>
          </a:xfrm>
          <a:prstGeom prst="rect">
            <a:avLst/>
          </a:prstGeom>
        </p:spPr>
      </p:pic>
      <p:pic>
        <p:nvPicPr>
          <p:cNvPr id="7" name="Picture 6">
            <a:extLst>
              <a:ext uri="{FF2B5EF4-FFF2-40B4-BE49-F238E27FC236}">
                <a16:creationId xmlns:a16="http://schemas.microsoft.com/office/drawing/2014/main" id="{9C082BDC-CDB0-5393-576A-151B2BCE83E8}"/>
              </a:ext>
            </a:extLst>
          </p:cNvPr>
          <p:cNvPicPr>
            <a:picLocks noChangeAspect="1"/>
          </p:cNvPicPr>
          <p:nvPr/>
        </p:nvPicPr>
        <p:blipFill>
          <a:blip r:embed="rId5"/>
          <a:stretch>
            <a:fillRect/>
          </a:stretch>
        </p:blipFill>
        <p:spPr>
          <a:xfrm>
            <a:off x="6677612" y="1948359"/>
            <a:ext cx="2606446" cy="3063845"/>
          </a:xfrm>
          <a:prstGeom prst="rect">
            <a:avLst/>
          </a:prstGeom>
        </p:spPr>
      </p:pic>
      <p:sp>
        <p:nvSpPr>
          <p:cNvPr id="8" name="TextBox 7">
            <a:extLst>
              <a:ext uri="{FF2B5EF4-FFF2-40B4-BE49-F238E27FC236}">
                <a16:creationId xmlns:a16="http://schemas.microsoft.com/office/drawing/2014/main" id="{E75FE237-C967-AF40-A246-761779227F80}"/>
              </a:ext>
            </a:extLst>
          </p:cNvPr>
          <p:cNvSpPr txBox="1"/>
          <p:nvPr/>
        </p:nvSpPr>
        <p:spPr>
          <a:xfrm>
            <a:off x="9418320" y="1343469"/>
            <a:ext cx="2317445" cy="4031873"/>
          </a:xfrm>
          <a:prstGeom prst="rect">
            <a:avLst/>
          </a:prstGeom>
          <a:noFill/>
        </p:spPr>
        <p:txBody>
          <a:bodyPr wrap="square" rtlCol="0">
            <a:spAutoFit/>
          </a:bodyPr>
          <a:lstStyle/>
          <a:p>
            <a:r>
              <a:rPr lang="en-US" sz="1600" dirty="0"/>
              <a:t>The specificity of 0 means that the model isn’t good at classifying any articles as “Other” based on the training data. It predicted all these headlines were “News”.</a:t>
            </a:r>
          </a:p>
          <a:p>
            <a:br>
              <a:rPr lang="en-US" sz="1600" dirty="0"/>
            </a:br>
            <a:r>
              <a:rPr lang="en-US" sz="1600" dirty="0"/>
              <a:t>The graph shows the media type of the articles from the NYT query – the actual classifications are about 65% News and 35% Other.</a:t>
            </a:r>
          </a:p>
        </p:txBody>
      </p:sp>
    </p:spTree>
    <p:extLst>
      <p:ext uri="{BB962C8B-B14F-4D97-AF65-F5344CB8AC3E}">
        <p14:creationId xmlns:p14="http://schemas.microsoft.com/office/powerpoint/2010/main" val="3056991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433CE-567F-DD41-AECD-AF93D6A7B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C766EB-75D9-8C54-4415-03C57905006F}"/>
              </a:ext>
            </a:extLst>
          </p:cNvPr>
          <p:cNvSpPr>
            <a:spLocks noGrp="1"/>
          </p:cNvSpPr>
          <p:nvPr>
            <p:ph type="title"/>
          </p:nvPr>
        </p:nvSpPr>
        <p:spPr/>
        <p:txBody>
          <a:bodyPr/>
          <a:lstStyle/>
          <a:p>
            <a:r>
              <a:rPr lang="en-US" dirty="0"/>
              <a:t>NYT News/Other Classifier</a:t>
            </a:r>
          </a:p>
        </p:txBody>
      </p:sp>
      <p:pic>
        <p:nvPicPr>
          <p:cNvPr id="7" name="Picture 6">
            <a:extLst>
              <a:ext uri="{FF2B5EF4-FFF2-40B4-BE49-F238E27FC236}">
                <a16:creationId xmlns:a16="http://schemas.microsoft.com/office/drawing/2014/main" id="{F5B227A2-83CD-C6CD-F96F-9CFFC9AB2EF3}"/>
              </a:ext>
            </a:extLst>
          </p:cNvPr>
          <p:cNvPicPr>
            <a:picLocks noChangeAspect="1"/>
          </p:cNvPicPr>
          <p:nvPr/>
        </p:nvPicPr>
        <p:blipFill>
          <a:blip r:embed="rId3"/>
          <a:stretch>
            <a:fillRect/>
          </a:stretch>
        </p:blipFill>
        <p:spPr>
          <a:xfrm>
            <a:off x="5827058" y="1990082"/>
            <a:ext cx="3115841" cy="3662632"/>
          </a:xfrm>
          <a:prstGeom prst="rect">
            <a:avLst/>
          </a:prstGeom>
        </p:spPr>
      </p:pic>
      <p:sp>
        <p:nvSpPr>
          <p:cNvPr id="4" name="TextBox 3">
            <a:extLst>
              <a:ext uri="{FF2B5EF4-FFF2-40B4-BE49-F238E27FC236}">
                <a16:creationId xmlns:a16="http://schemas.microsoft.com/office/drawing/2014/main" id="{E6A7BE3E-2E5F-9AF6-4EE3-02A9F59CDBE3}"/>
              </a:ext>
            </a:extLst>
          </p:cNvPr>
          <p:cNvSpPr txBox="1"/>
          <p:nvPr/>
        </p:nvSpPr>
        <p:spPr>
          <a:xfrm>
            <a:off x="959005" y="2251738"/>
            <a:ext cx="4137102" cy="3139321"/>
          </a:xfrm>
          <a:prstGeom prst="rect">
            <a:avLst/>
          </a:prstGeom>
          <a:noFill/>
        </p:spPr>
        <p:txBody>
          <a:bodyPr wrap="square" rtlCol="0">
            <a:spAutoFit/>
          </a:bodyPr>
          <a:lstStyle/>
          <a:p>
            <a:r>
              <a:rPr lang="en-US" dirty="0"/>
              <a:t>I replaced </a:t>
            </a:r>
            <a:r>
              <a:rPr lang="en-US" dirty="0" err="1"/>
              <a:t>headline.main</a:t>
            </a:r>
            <a:r>
              <a:rPr lang="en-US" dirty="0"/>
              <a:t> in the function and in the for loop, but the results looked the same in the confusion matrix. </a:t>
            </a:r>
          </a:p>
          <a:p>
            <a:endParaRPr lang="en-US" dirty="0"/>
          </a:p>
          <a:p>
            <a:r>
              <a:rPr lang="en-US" dirty="0"/>
              <a:t>All 30 articles in the test set were predicted to be News, whether based on the headline or the snippet. </a:t>
            </a:r>
          </a:p>
          <a:p>
            <a:endParaRPr lang="en-US" dirty="0"/>
          </a:p>
          <a:p>
            <a:r>
              <a:rPr lang="en-US" dirty="0"/>
              <a:t>This tells me the model isn’t useful for classifying the “other” articles.</a:t>
            </a:r>
          </a:p>
        </p:txBody>
      </p:sp>
    </p:spTree>
    <p:extLst>
      <p:ext uri="{BB962C8B-B14F-4D97-AF65-F5344CB8AC3E}">
        <p14:creationId xmlns:p14="http://schemas.microsoft.com/office/powerpoint/2010/main" val="3947331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19B38-C345-265C-37C8-B3E36AD5CA09}"/>
              </a:ext>
            </a:extLst>
          </p:cNvPr>
          <p:cNvSpPr>
            <a:spLocks noGrp="1"/>
          </p:cNvSpPr>
          <p:nvPr>
            <p:ph type="title"/>
          </p:nvPr>
        </p:nvSpPr>
        <p:spPr/>
        <p:txBody>
          <a:bodyPr/>
          <a:lstStyle/>
          <a:p>
            <a:r>
              <a:rPr lang="en-US" dirty="0"/>
              <a:t>NYT News/Other Classifier</a:t>
            </a:r>
          </a:p>
        </p:txBody>
      </p:sp>
      <p:sp>
        <p:nvSpPr>
          <p:cNvPr id="3" name="TextBox 2">
            <a:extLst>
              <a:ext uri="{FF2B5EF4-FFF2-40B4-BE49-F238E27FC236}">
                <a16:creationId xmlns:a16="http://schemas.microsoft.com/office/drawing/2014/main" id="{2DB90380-BC94-4B46-8649-3DECC778392C}"/>
              </a:ext>
            </a:extLst>
          </p:cNvPr>
          <p:cNvSpPr txBox="1"/>
          <p:nvPr/>
        </p:nvSpPr>
        <p:spPr>
          <a:xfrm>
            <a:off x="1117600" y="1907822"/>
            <a:ext cx="5238044" cy="1754326"/>
          </a:xfrm>
          <a:prstGeom prst="rect">
            <a:avLst/>
          </a:prstGeom>
          <a:noFill/>
        </p:spPr>
        <p:txBody>
          <a:bodyPr wrap="square" rtlCol="0">
            <a:spAutoFit/>
          </a:bodyPr>
          <a:lstStyle/>
          <a:p>
            <a:r>
              <a:rPr lang="en-US" dirty="0"/>
              <a:t>Insert visualization comparing the headline classification to the snippet classification…</a:t>
            </a:r>
            <a:br>
              <a:rPr lang="en-US" dirty="0"/>
            </a:br>
            <a:br>
              <a:rPr lang="en-US" dirty="0"/>
            </a:br>
            <a:r>
              <a:rPr lang="en-US" dirty="0"/>
              <a:t>why were none of the articles classified as other?</a:t>
            </a:r>
          </a:p>
          <a:p>
            <a:r>
              <a:rPr lang="en-US" dirty="0"/>
              <a:t>Why are there Interactive articles about the souper bowl that may not have anything to do with Trump?</a:t>
            </a:r>
          </a:p>
        </p:txBody>
      </p:sp>
    </p:spTree>
    <p:extLst>
      <p:ext uri="{BB962C8B-B14F-4D97-AF65-F5344CB8AC3E}">
        <p14:creationId xmlns:p14="http://schemas.microsoft.com/office/powerpoint/2010/main" val="162465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9525D-1915-A9D3-0FE4-6F86F412C50A}"/>
              </a:ext>
            </a:extLst>
          </p:cNvPr>
          <p:cNvSpPr>
            <a:spLocks noGrp="1"/>
          </p:cNvSpPr>
          <p:nvPr>
            <p:ph type="title"/>
          </p:nvPr>
        </p:nvSpPr>
        <p:spPr/>
        <p:txBody>
          <a:bodyPr/>
          <a:lstStyle/>
          <a:p>
            <a:r>
              <a:rPr lang="en-US" dirty="0"/>
              <a:t>Takeaways and Questions</a:t>
            </a:r>
          </a:p>
        </p:txBody>
      </p:sp>
      <p:sp>
        <p:nvSpPr>
          <p:cNvPr id="3" name="TextBox 2">
            <a:extLst>
              <a:ext uri="{FF2B5EF4-FFF2-40B4-BE49-F238E27FC236}">
                <a16:creationId xmlns:a16="http://schemas.microsoft.com/office/drawing/2014/main" id="{B67CED0A-19D8-D998-0CAC-762E6B634E61}"/>
              </a:ext>
            </a:extLst>
          </p:cNvPr>
          <p:cNvSpPr txBox="1"/>
          <p:nvPr/>
        </p:nvSpPr>
        <p:spPr>
          <a:xfrm>
            <a:off x="1062318" y="1690688"/>
            <a:ext cx="10111204" cy="5201424"/>
          </a:xfrm>
          <a:prstGeom prst="rect">
            <a:avLst/>
          </a:prstGeom>
          <a:noFill/>
        </p:spPr>
        <p:txBody>
          <a:bodyPr wrap="square" rtlCol="0">
            <a:spAutoFit/>
          </a:bodyPr>
          <a:lstStyle/>
          <a:p>
            <a:r>
              <a:rPr lang="en-US" dirty="0"/>
              <a:t>If the model has a higher sensitivity than specificity, does that mean it’s better at classifying positives than negatives? Do we want to optimize a model by getting the highest accuracy, sensitivity, and specificity? Is there always a tradeoff between sensitivity and specificity?</a:t>
            </a:r>
          </a:p>
          <a:p>
            <a:endParaRPr lang="en-US" dirty="0"/>
          </a:p>
          <a:p>
            <a:r>
              <a:rPr lang="en-US" dirty="0"/>
              <a:t>How do data scientists keep up with changes such as the NYT API rate limit changing to 5 requests per minute compared to 10 per minute a few years ago? Just discover it through trial and error?</a:t>
            </a:r>
          </a:p>
          <a:p>
            <a:endParaRPr lang="en-US" dirty="0"/>
          </a:p>
          <a:p>
            <a:r>
              <a:rPr lang="en-US" dirty="0"/>
              <a:t>While querying the NYT API, I ran into a connection error after 100 pages, so I used a try(…, silent = TRUE), but then I only got 100 pages successfully and found this:</a:t>
            </a:r>
            <a:br>
              <a:rPr lang="en-US" dirty="0"/>
            </a:br>
            <a:r>
              <a:rPr lang="en-US" sz="1400" dirty="0"/>
              <a:t>* </a:t>
            </a:r>
            <a:r>
              <a:rPr lang="en-US" sz="1400" i="1" dirty="0"/>
              <a:t>“Pagination--</a:t>
            </a:r>
            <a:r>
              <a:rPr lang="en-US" sz="1400" i="1" dirty="0">
                <a:hlinkClick r:id="rId2"/>
              </a:rPr>
              <a:t>https://developer.nytimes.com/docs/articlesearch-product/1/overview</a:t>
            </a:r>
            <a:endParaRPr lang="en-US" sz="1400" i="1" dirty="0"/>
          </a:p>
          <a:p>
            <a:r>
              <a:rPr lang="en-US" sz="1400" i="1" dirty="0"/>
              <a:t>The Article Search API returns a max of 10 results at a time. The meta node in the response contains the total number of matches ("hits") and the current offset. Use the page query parameter to paginate thru results (page=0 for results 1-10, page=1 for 11-20, ...). You can paginate thru up to 100 pages (1,000 results). If you get too many results try filtering by date range. Hits shows 10,000 if there are 10,000 or more results.”</a:t>
            </a:r>
          </a:p>
          <a:p>
            <a:br>
              <a:rPr lang="en-US" dirty="0"/>
            </a:br>
            <a:r>
              <a:rPr lang="en-US" dirty="0"/>
              <a:t>So, how can I get all 198 pages of results?</a:t>
            </a:r>
          </a:p>
          <a:p>
            <a:endParaRPr lang="en-US" dirty="0"/>
          </a:p>
          <a:p>
            <a:r>
              <a:rPr lang="en-US" dirty="0"/>
              <a:t>In the NYT Article classification problem, why did the results not change when I ran the classification again for snippet rather than </a:t>
            </a:r>
            <a:r>
              <a:rPr lang="en-US" dirty="0" err="1"/>
              <a:t>headline.main</a:t>
            </a:r>
            <a:r>
              <a:rPr lang="en-US" dirty="0"/>
              <a:t>?</a:t>
            </a:r>
          </a:p>
        </p:txBody>
      </p:sp>
    </p:spTree>
    <p:extLst>
      <p:ext uri="{BB962C8B-B14F-4D97-AF65-F5344CB8AC3E}">
        <p14:creationId xmlns:p14="http://schemas.microsoft.com/office/powerpoint/2010/main" val="3840196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61B6D-BDA5-92C0-9166-1D0AE4B40CB3}"/>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35B525B4-48D6-C716-647C-CE40C2E23708}"/>
              </a:ext>
            </a:extLst>
          </p:cNvPr>
          <p:cNvPicPr>
            <a:picLocks noChangeAspect="1"/>
          </p:cNvPicPr>
          <p:nvPr/>
        </p:nvPicPr>
        <p:blipFill>
          <a:blip r:embed="rId2"/>
          <a:stretch>
            <a:fillRect/>
          </a:stretch>
        </p:blipFill>
        <p:spPr>
          <a:xfrm>
            <a:off x="2914206" y="2509709"/>
            <a:ext cx="6363588" cy="1838582"/>
          </a:xfrm>
          <a:prstGeom prst="rect">
            <a:avLst/>
          </a:prstGeom>
        </p:spPr>
      </p:pic>
    </p:spTree>
    <p:extLst>
      <p:ext uri="{BB962C8B-B14F-4D97-AF65-F5344CB8AC3E}">
        <p14:creationId xmlns:p14="http://schemas.microsoft.com/office/powerpoint/2010/main" val="2531725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7178</TotalTime>
  <Words>1807</Words>
  <Application>Microsoft Office PowerPoint</Application>
  <PresentationFormat>Widescreen</PresentationFormat>
  <Paragraphs>141</Paragraphs>
  <Slides>14</Slides>
  <Notes>10</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Unit  7 For Live Session Assignment </vt:lpstr>
      <vt:lpstr>Prediction Using Naïve Bayes Model</vt:lpstr>
      <vt:lpstr>Train Set and Test Set</vt:lpstr>
      <vt:lpstr>Comparison of KNN and Naïve Bayes Models</vt:lpstr>
      <vt:lpstr>Comparison of KNN to NB with 5 different seeds</vt:lpstr>
      <vt:lpstr>Average the Model Evaluations for 100 Seeds</vt:lpstr>
      <vt:lpstr>Introducing another explanatory variable</vt:lpstr>
      <vt:lpstr>Stable Estimate of NB Model Performance</vt:lpstr>
      <vt:lpstr>Iris Cross Validation NB vs KNN Models</vt:lpstr>
      <vt:lpstr>NYT News/Other Classifier</vt:lpstr>
      <vt:lpstr>NYT News/Other Classifier</vt:lpstr>
      <vt:lpstr>NYT News/Other Classifier</vt:lpstr>
      <vt:lpstr>Takeaways and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Westlauer, Isabella</dc:creator>
  <cp:lastModifiedBy>Westlauer, Isabella</cp:lastModifiedBy>
  <cp:revision>34</cp:revision>
  <dcterms:created xsi:type="dcterms:W3CDTF">2026-01-23T01:05:28Z</dcterms:created>
  <dcterms:modified xsi:type="dcterms:W3CDTF">2026-03-06T18:28:59Z</dcterms:modified>
</cp:coreProperties>
</file>