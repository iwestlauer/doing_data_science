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>
        <p:scale>
          <a:sx n="78" d="100"/>
          <a:sy n="78" d="100"/>
        </p:scale>
        <p:origin x="1056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9BFF5-2C58-E814-26D6-FCA0C98F9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1391F8-9FB9-6976-AC6C-A5D378367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12842-F255-260F-DD64-93C6AB029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B301-2D86-42A3-84FE-4B521EDF2A1B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4BA48-65D6-860E-73E0-B3503B941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36195-8D52-4035-90E6-15697D641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EF80-32F2-47DF-9724-B079DA5A8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93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AAB39-8CDF-2394-3F50-C5F3E9D40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E76B7-F223-6138-1F18-7F8ACE5BE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B5ACA-5C15-7545-CE3F-73A74D1E4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B301-2D86-42A3-84FE-4B521EDF2A1B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3B516-AC7D-BE2B-E183-F740EE30C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F4BC0-4389-8727-DF51-A4F7F892A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EF80-32F2-47DF-9724-B079DA5A8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16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3C1F5-4B92-FEBA-3D60-B5B5DC6AB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CD2A0-C587-12A5-2AA2-F497DB6C8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19611-ADCF-672B-BD6A-F76134C64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B301-2D86-42A3-84FE-4B521EDF2A1B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66E90-A683-BE73-825A-600057A3D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91C99-C33A-5699-BEF4-F1F5A854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EF80-32F2-47DF-9724-B079DA5A8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246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B9FA8-55A3-429D-D9FC-1B60E1E8B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D5509-6E90-FDC9-C095-433ACFC071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AF394-C7F9-D46A-4807-DCDC3DA56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8CAB5-D4D4-0C13-583F-D04471EB9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B301-2D86-42A3-84FE-4B521EDF2A1B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5092CF-4050-0A0D-5981-6B8EB83AC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47FA9-8DB8-6224-AA29-A557808FF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EF80-32F2-47DF-9724-B079DA5A8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850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FB5CB-2626-69F5-8BA5-CE6E3B91C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AD80E-059D-52B0-9320-49D33FF9A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E61D6-B9A2-D5DD-A6A0-BA772477E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79DF9-4640-7706-0E8D-749B9CE7EA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6E3573-98A4-5DA4-00D5-0624317767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499C42-E28A-64F1-C977-422BF81DB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B301-2D86-42A3-84FE-4B521EDF2A1B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1F2FFE-966E-BB5C-F3ED-47FF7DF0C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950D61-414C-06C5-5774-F5026D3E2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EF80-32F2-47DF-9724-B079DA5A8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0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7E1BE-852C-CD9C-EDF7-F55DBB49A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9E3808-8811-40D4-CCDB-3BBE1EF46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B301-2D86-42A3-84FE-4B521EDF2A1B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9145EE-9701-4147-D984-BF8668CE1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048F0-4D6E-9AD1-15B3-CFB435267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EF80-32F2-47DF-9724-B079DA5A8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81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AE27F0-9130-82F2-E4BD-3037F22A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B301-2D86-42A3-84FE-4B521EDF2A1B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1164E7-EC42-B3CB-757F-FCA45BFA2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F3CF7-7C5D-3CED-A56E-ABEFD4B26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EF80-32F2-47DF-9724-B079DA5A8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75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4DDD0-2047-EA2C-D8D7-450FDF43B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8C903-2E1B-0C1E-D17D-3C1181C3B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C53EA7-485B-4020-B2F8-738ECCFA5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D87C7-06B8-688B-3E3C-D510A8B92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B301-2D86-42A3-84FE-4B521EDF2A1B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89E17-50B6-323E-B277-E304D6C7A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5761D-BA18-C1D3-2A36-42B2DAF2F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EF80-32F2-47DF-9724-B079DA5A8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00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FF157-A617-45F1-366D-437DD87BB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9514E1-6CA7-2BCD-10C6-FD04FFFE3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C7DBE-08B1-4E67-389B-4A3F58AFF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FCA98-9E21-768D-981B-663C5C042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B301-2D86-42A3-84FE-4B521EDF2A1B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85446-1E1E-3C4D-C59E-09B7486FD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64639-0C5A-DC67-894E-E04A94616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EF80-32F2-47DF-9724-B079DA5A8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48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33D9F-7374-A633-BA52-4531FA00F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7FD49-A7A3-DC2A-0574-223E74775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0AB3D-F5A1-224F-475B-21D380111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B301-2D86-42A3-84FE-4B521EDF2A1B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E99F0-8B9C-09E6-5D53-A158E66A9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C3025-2DD9-E35D-3A9B-3D6B886E7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EF80-32F2-47DF-9724-B079DA5A8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10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95EB9D-5458-CC6C-467A-DCF41E63CE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2E1FC6-02A3-EB42-C4CB-C3CC1236E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7575F-1E18-E171-A91A-0A9795CEA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B301-2D86-42A3-84FE-4B521EDF2A1B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94D0F-6085-5F43-BE79-C92120E41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D97C8-6D13-4499-B322-EC805D64E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EF80-32F2-47DF-9724-B079DA5A8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510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D1EAE-7E47-21B7-E576-E5DF50741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6A166-4B89-BF9F-E2ED-7617967E8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04BC6-7321-A2AD-FCB3-25ABE13195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97B301-2D86-42A3-84FE-4B521EDF2A1B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1351D-D768-F303-7B82-7CF7F39800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202F4-9E22-CC67-7CED-030F3C07B2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2BEF80-32F2-47DF-9724-B079DA5A8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955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BD0E2-C463-7077-DE88-1940C8D10C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Exploratory Data Analysis: NASA Small-Body </a:t>
            </a:r>
            <a:r>
              <a:rPr lang="en-US" dirty="0" err="1"/>
              <a:t>Databse</a:t>
            </a:r>
            <a:r>
              <a:rPr lang="en-US" dirty="0"/>
              <a:t> API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E3F105-15A9-69D3-46DD-DE542DEE3B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Isabella Westlauer</a:t>
            </a:r>
          </a:p>
          <a:p>
            <a:r>
              <a:rPr lang="en-US" dirty="0"/>
              <a:t>1/25/2026</a:t>
            </a:r>
          </a:p>
        </p:txBody>
      </p:sp>
    </p:spTree>
    <p:extLst>
      <p:ext uri="{BB962C8B-B14F-4D97-AF65-F5344CB8AC3E}">
        <p14:creationId xmlns:p14="http://schemas.microsoft.com/office/powerpoint/2010/main" val="17735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D297-CE43-56D6-79D2-12B03D266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37031" cy="1325563"/>
          </a:xfrm>
        </p:spPr>
        <p:txBody>
          <a:bodyPr/>
          <a:lstStyle/>
          <a:p>
            <a:r>
              <a:rPr lang="en-US" dirty="0"/>
              <a:t>Tidy Data – orbit modeling data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424FE7-62AD-7BC7-2C35-56375CF490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768894"/>
              </p:ext>
            </p:extLst>
          </p:nvPr>
        </p:nvGraphicFramePr>
        <p:xfrm>
          <a:off x="6307015" y="1930706"/>
          <a:ext cx="4553439" cy="4562176"/>
        </p:xfrm>
        <a:graphic>
          <a:graphicData uri="http://schemas.openxmlformats.org/drawingml/2006/table">
            <a:tbl>
              <a:tblPr/>
              <a:tblGrid>
                <a:gridCol w="764214">
                  <a:extLst>
                    <a:ext uri="{9D8B030D-6E8A-4147-A177-3AD203B41FA5}">
                      <a16:colId xmlns:a16="http://schemas.microsoft.com/office/drawing/2014/main" val="2762596349"/>
                    </a:ext>
                  </a:extLst>
                </a:gridCol>
                <a:gridCol w="836995">
                  <a:extLst>
                    <a:ext uri="{9D8B030D-6E8A-4147-A177-3AD203B41FA5}">
                      <a16:colId xmlns:a16="http://schemas.microsoft.com/office/drawing/2014/main" val="2139410864"/>
                    </a:ext>
                  </a:extLst>
                </a:gridCol>
                <a:gridCol w="859741">
                  <a:extLst>
                    <a:ext uri="{9D8B030D-6E8A-4147-A177-3AD203B41FA5}">
                      <a16:colId xmlns:a16="http://schemas.microsoft.com/office/drawing/2014/main" val="3249545130"/>
                    </a:ext>
                  </a:extLst>
                </a:gridCol>
                <a:gridCol w="1000755">
                  <a:extLst>
                    <a:ext uri="{9D8B030D-6E8A-4147-A177-3AD203B41FA5}">
                      <a16:colId xmlns:a16="http://schemas.microsoft.com/office/drawing/2014/main" val="3184490904"/>
                    </a:ext>
                  </a:extLst>
                </a:gridCol>
                <a:gridCol w="1091734">
                  <a:extLst>
                    <a:ext uri="{9D8B030D-6E8A-4147-A177-3AD203B41FA5}">
                      <a16:colId xmlns:a16="http://schemas.microsoft.com/office/drawing/2014/main" val="3890478928"/>
                    </a:ext>
                  </a:extLst>
                </a:gridCol>
              </a:tblGrid>
              <a:tr h="2161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data_arc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spkid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last_obs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n_obs_used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333234"/>
                  </a:ext>
                </a:extLst>
              </a:tr>
              <a:tr h="21610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0.43153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20000001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1/28/2021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4253269"/>
                  </a:ext>
                </a:extLst>
              </a:tr>
              <a:tr h="21610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0.35837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80789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20000002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11/5/2025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018336"/>
                  </a:ext>
                </a:extLst>
              </a:tr>
              <a:tr h="21610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0.35575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80649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20000003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8/8/2025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646576"/>
                  </a:ext>
                </a:extLst>
              </a:tr>
              <a:tr h="21610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0.40095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25743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20000004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3/17/2021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956842"/>
                  </a:ext>
                </a:extLst>
              </a:tr>
              <a:tr h="24013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0.47813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65687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20000005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10/19/2025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510365"/>
                  </a:ext>
                </a:extLst>
              </a:tr>
              <a:tr h="21610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0.41832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64646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20000006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9/3/2025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0082649"/>
                  </a:ext>
                </a:extLst>
              </a:tr>
              <a:tr h="21610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0.35786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64712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20000007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10/26/2025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614280"/>
                  </a:ext>
                </a:extLst>
              </a:tr>
              <a:tr h="21610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0.54806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64929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20000008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8/3/2025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230918"/>
                  </a:ext>
                </a:extLst>
              </a:tr>
              <a:tr h="21610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0.43844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64348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20000009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10/4/2025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717827"/>
                  </a:ext>
                </a:extLst>
              </a:tr>
              <a:tr h="21610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0.47972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64419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20000010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10/9/2025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979581"/>
                  </a:ext>
                </a:extLst>
              </a:tr>
              <a:tr h="21610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0.3657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63979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20000011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11/17/2025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7118867"/>
                  </a:ext>
                </a:extLst>
              </a:tr>
              <a:tr h="21610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0.51505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63981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20000012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11/20/2025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997714"/>
                  </a:ext>
                </a:extLst>
              </a:tr>
              <a:tr h="21610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0.50754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63731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20000013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5/18/2025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230222"/>
                  </a:ext>
                </a:extLst>
              </a:tr>
              <a:tr h="21610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0.52516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63559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20000014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5/26/2025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11276"/>
                  </a:ext>
                </a:extLst>
              </a:tr>
              <a:tr h="21610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0.43382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63619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20000015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11/7/2025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178883"/>
                  </a:ext>
                </a:extLst>
              </a:tr>
              <a:tr h="21610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0.17629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14782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20000016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12/11/2024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392366"/>
                  </a:ext>
                </a:extLst>
              </a:tr>
              <a:tr h="21610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0.34977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63408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20000017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11/24/2025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11548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26483"/>
                  </a:ext>
                </a:extLst>
              </a:tr>
              <a:tr h="21610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0.44082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63226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20000018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8/7/2025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091399"/>
                  </a:ext>
                </a:extLst>
              </a:tr>
              <a:tr h="21610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0.33806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63236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20000019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11/2/2025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332403"/>
                  </a:ext>
                </a:extLst>
              </a:tr>
              <a:tr h="21610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0.32684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61738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20000020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11/10/2025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10291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36076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0F1383F-16CD-FE22-546B-AF4F2FBA5294}"/>
              </a:ext>
            </a:extLst>
          </p:cNvPr>
          <p:cNvSpPr txBox="1">
            <a:spLocks/>
          </p:cNvSpPr>
          <p:nvPr/>
        </p:nvSpPr>
        <p:spPr>
          <a:xfrm>
            <a:off x="7532077" y="608444"/>
            <a:ext cx="3546231" cy="1322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600" dirty="0"/>
              <a:t>Each variable is a column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600" dirty="0"/>
              <a:t>Each observation is a row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600" dirty="0"/>
              <a:t>Each cell is a single value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AD8E158-77F6-788B-9BB3-A6E5740B8B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021825"/>
              </p:ext>
            </p:extLst>
          </p:nvPr>
        </p:nvGraphicFramePr>
        <p:xfrm>
          <a:off x="838200" y="2508539"/>
          <a:ext cx="4789828" cy="3984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9929">
                  <a:extLst>
                    <a:ext uri="{9D8B030D-6E8A-4147-A177-3AD203B41FA5}">
                      <a16:colId xmlns:a16="http://schemas.microsoft.com/office/drawing/2014/main" val="41442020"/>
                    </a:ext>
                  </a:extLst>
                </a:gridCol>
                <a:gridCol w="757013">
                  <a:extLst>
                    <a:ext uri="{9D8B030D-6E8A-4147-A177-3AD203B41FA5}">
                      <a16:colId xmlns:a16="http://schemas.microsoft.com/office/drawing/2014/main" val="2576151892"/>
                    </a:ext>
                  </a:extLst>
                </a:gridCol>
                <a:gridCol w="2862886">
                  <a:extLst>
                    <a:ext uri="{9D8B030D-6E8A-4147-A177-3AD203B41FA5}">
                      <a16:colId xmlns:a16="http://schemas.microsoft.com/office/drawing/2014/main" val="2843058192"/>
                    </a:ext>
                  </a:extLst>
                </a:gridCol>
              </a:tblGrid>
              <a:tr h="23021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Field Name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Type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Description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extLst>
                  <a:ext uri="{0D108BD9-81ED-4DB2-BD59-A6C34878D82A}">
                    <a16:rowId xmlns:a16="http://schemas.microsoft.com/office/drawing/2014/main" val="2477000762"/>
                  </a:ext>
                </a:extLst>
              </a:tr>
              <a:tr h="72441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rms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number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normalized RMS of the observation fit in the OD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extLst>
                  <a:ext uri="{0D108BD9-81ED-4DB2-BD59-A6C34878D82A}">
                    <a16:rowId xmlns:a16="http://schemas.microsoft.com/office/drawing/2014/main" val="1662571848"/>
                  </a:ext>
                </a:extLst>
              </a:tr>
              <a:tr h="58067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dirty="0" err="1">
                          <a:effectLst/>
                        </a:rPr>
                        <a:t>last_obs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string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date of the last observation used in the orbit (YYYY-MM-DD or YYYY-??-?? when only the year is known)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extLst>
                  <a:ext uri="{0D108BD9-81ED-4DB2-BD59-A6C34878D82A}">
                    <a16:rowId xmlns:a16="http://schemas.microsoft.com/office/drawing/2014/main" val="604152342"/>
                  </a:ext>
                </a:extLst>
              </a:tr>
              <a:tr h="11556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spkid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string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primary SPK-ID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extLst>
                  <a:ext uri="{0D108BD9-81ED-4DB2-BD59-A6C34878D82A}">
                    <a16:rowId xmlns:a16="http://schemas.microsoft.com/office/drawing/2014/main" val="800788637"/>
                  </a:ext>
                </a:extLst>
              </a:tr>
              <a:tr h="58067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data_arc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number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number of days spanned by the observations used in the orbit determination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extLst>
                  <a:ext uri="{0D108BD9-81ED-4DB2-BD59-A6C34878D82A}">
                    <a16:rowId xmlns:a16="http://schemas.microsoft.com/office/drawing/2014/main" val="2939533800"/>
                  </a:ext>
                </a:extLst>
              </a:tr>
              <a:tr h="58067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n_obs_used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number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total number of observations of all types used in the orbit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extLst>
                  <a:ext uri="{0D108BD9-81ED-4DB2-BD59-A6C34878D82A}">
                    <a16:rowId xmlns:a16="http://schemas.microsoft.com/office/drawing/2014/main" val="4140503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1004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279A1-28F8-0541-0B7B-288FCD63F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of Orbit RMS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BD608C2-E31F-80B7-9E2B-A8595FB2CF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4723" y="1683220"/>
            <a:ext cx="4727632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AC559B-5D42-FE60-1592-9EBE5AAE3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756" y="2833458"/>
            <a:ext cx="5412244" cy="3201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78ECF1-BAD3-D7F6-9EA0-48D69F82E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8314" y="86852"/>
            <a:ext cx="4334900" cy="27466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798708-6161-3F58-2C3D-FC3E3D2902DB}"/>
              </a:ext>
            </a:extLst>
          </p:cNvPr>
          <p:cNvSpPr txBox="1"/>
          <p:nvPr/>
        </p:nvSpPr>
        <p:spPr>
          <a:xfrm>
            <a:off x="7098314" y="6075568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low uncertainty in orbit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982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E9925-CF4B-0C2A-9A88-339F46CF8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881"/>
            <a:ext cx="10515600" cy="5975082"/>
          </a:xfrm>
        </p:spPr>
        <p:txBody>
          <a:bodyPr numCol="2">
            <a:normAutofit fontScale="40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/>
              <a:t>#Full code here: 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#NASA API Exploratory Data Analysis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library(httr2) # r library for making http requests to an API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library(</a:t>
            </a:r>
            <a:r>
              <a:rPr lang="en-US" dirty="0" err="1"/>
              <a:t>tidyverse</a:t>
            </a:r>
            <a:r>
              <a:rPr lang="en-US" dirty="0"/>
              <a:t>) # </a:t>
            </a:r>
            <a:r>
              <a:rPr lang="en-US" dirty="0" err="1"/>
              <a:t>tidyverse</a:t>
            </a:r>
            <a:r>
              <a:rPr lang="en-US" dirty="0"/>
              <a:t> includes </a:t>
            </a:r>
            <a:r>
              <a:rPr lang="en-US" dirty="0" err="1"/>
              <a:t>tibble</a:t>
            </a:r>
            <a:r>
              <a:rPr lang="en-US" dirty="0"/>
              <a:t>, </a:t>
            </a:r>
            <a:r>
              <a:rPr lang="en-US" dirty="0" err="1"/>
              <a:t>dplyr</a:t>
            </a:r>
            <a:r>
              <a:rPr lang="en-US" dirty="0"/>
              <a:t>, ggplot2, </a:t>
            </a:r>
            <a:r>
              <a:rPr lang="en-US" dirty="0" err="1"/>
              <a:t>tidyr</a:t>
            </a:r>
            <a:r>
              <a:rPr lang="en-US" dirty="0"/>
              <a:t>, </a:t>
            </a:r>
            <a:r>
              <a:rPr lang="en-US" dirty="0" err="1"/>
              <a:t>readr</a:t>
            </a:r>
            <a:r>
              <a:rPr lang="en-US" dirty="0"/>
              <a:t>, </a:t>
            </a:r>
            <a:r>
              <a:rPr lang="en-US" dirty="0" err="1"/>
              <a:t>stringr</a:t>
            </a:r>
            <a:r>
              <a:rPr lang="en-US" dirty="0"/>
              <a:t>, etc.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# Make an API GET request to </a:t>
            </a:r>
            <a:r>
              <a:rPr lang="en-US" dirty="0" err="1"/>
              <a:t>sbdb_query.api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fields &lt;- "</a:t>
            </a:r>
            <a:r>
              <a:rPr lang="en-US" dirty="0" err="1"/>
              <a:t>rms,data_arc,spkid,last_obs,n_obs_used</a:t>
            </a:r>
            <a:r>
              <a:rPr lang="en-US" dirty="0"/>
              <a:t>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limit &lt;- 1000 # limit the number of records returned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resp &lt;- request("https://ssd-api.jpl.nasa.gov/</a:t>
            </a:r>
            <a:r>
              <a:rPr lang="en-US" dirty="0" err="1"/>
              <a:t>sbdb_query.api</a:t>
            </a:r>
            <a:r>
              <a:rPr lang="en-US" dirty="0"/>
              <a:t>") |&gt;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</a:t>
            </a:r>
            <a:r>
              <a:rPr lang="en-US" dirty="0" err="1"/>
              <a:t>req_url_query</a:t>
            </a:r>
            <a:r>
              <a:rPr lang="en-US" dirty="0"/>
              <a:t>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fields = fields,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limit = limit) |&gt;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# Prevent the request from stopping execution on HTTP errors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</a:t>
            </a:r>
            <a:r>
              <a:rPr lang="en-US" dirty="0" err="1"/>
              <a:t>req_error</a:t>
            </a:r>
            <a:r>
              <a:rPr lang="en-US" dirty="0"/>
              <a:t>(</a:t>
            </a:r>
            <a:r>
              <a:rPr lang="en-US" dirty="0" err="1"/>
              <a:t>is_error</a:t>
            </a:r>
            <a:r>
              <a:rPr lang="en-US" dirty="0"/>
              <a:t> = function(resp) FALSE) |&gt;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</a:t>
            </a:r>
            <a:r>
              <a:rPr lang="en-US" dirty="0" err="1"/>
              <a:t>req_perform</a:t>
            </a:r>
            <a:r>
              <a:rPr lang="en-US" dirty="0"/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# Tidy the data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data &lt;- </a:t>
            </a:r>
            <a:r>
              <a:rPr lang="en-US" dirty="0" err="1"/>
              <a:t>resp_body_json</a:t>
            </a:r>
            <a:r>
              <a:rPr lang="en-US" dirty="0"/>
              <a:t>(resp) # Parse the JSON response into an R list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# The API returns the data as a list of rows (one list per object).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# </a:t>
            </a:r>
            <a:r>
              <a:rPr lang="en-US" dirty="0" err="1"/>
              <a:t>do.call</a:t>
            </a:r>
            <a:r>
              <a:rPr lang="en-US" dirty="0"/>
              <a:t>(</a:t>
            </a:r>
            <a:r>
              <a:rPr lang="en-US" dirty="0" err="1"/>
              <a:t>rbind</a:t>
            </a:r>
            <a:r>
              <a:rPr lang="en-US" dirty="0"/>
              <a:t>, ...) binds all rows together into a single matrix-like object.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# This is necessary to convert the nested JSON structure into rectangular data.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err="1"/>
              <a:t>df</a:t>
            </a:r>
            <a:r>
              <a:rPr lang="en-US" dirty="0"/>
              <a:t> &lt;- </a:t>
            </a:r>
            <a:r>
              <a:rPr lang="en-US" dirty="0" err="1"/>
              <a:t>as_tibble</a:t>
            </a:r>
            <a:r>
              <a:rPr lang="en-US" dirty="0"/>
              <a:t>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</a:t>
            </a:r>
            <a:r>
              <a:rPr lang="en-US" dirty="0" err="1"/>
              <a:t>do.call</a:t>
            </a:r>
            <a:r>
              <a:rPr lang="en-US" dirty="0"/>
              <a:t>(</a:t>
            </a:r>
            <a:r>
              <a:rPr lang="en-US" dirty="0" err="1"/>
              <a:t>rbind</a:t>
            </a:r>
            <a:r>
              <a:rPr lang="en-US" dirty="0"/>
              <a:t>, </a:t>
            </a:r>
            <a:r>
              <a:rPr lang="en-US" dirty="0" err="1"/>
              <a:t>data$data</a:t>
            </a:r>
            <a:r>
              <a:rPr lang="en-US" dirty="0"/>
              <a:t>),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.</a:t>
            </a:r>
            <a:r>
              <a:rPr lang="en-US" dirty="0" err="1"/>
              <a:t>name_repair</a:t>
            </a:r>
            <a:r>
              <a:rPr lang="en-US" dirty="0"/>
              <a:t> = "minimal"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err="1"/>
              <a:t>colnames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) &lt;- </a:t>
            </a:r>
            <a:r>
              <a:rPr lang="en-US" dirty="0" err="1"/>
              <a:t>data$fields</a:t>
            </a:r>
            <a:r>
              <a:rPr lang="en-US" dirty="0"/>
              <a:t> # Assign column names using the metadata returned by the API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# Some columns are stored as lists due to missing values in the API response.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# </a:t>
            </a:r>
            <a:r>
              <a:rPr lang="en-US" dirty="0" err="1"/>
              <a:t>unlist</a:t>
            </a:r>
            <a:r>
              <a:rPr lang="en-US" dirty="0"/>
              <a:t>() flattens each column into a standard atomic vector,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err="1"/>
              <a:t>df</a:t>
            </a:r>
            <a:r>
              <a:rPr lang="en-US" dirty="0"/>
              <a:t> &lt;- </a:t>
            </a:r>
            <a:r>
              <a:rPr lang="en-US" dirty="0" err="1"/>
              <a:t>df</a:t>
            </a:r>
            <a:r>
              <a:rPr lang="en-US" dirty="0"/>
              <a:t> |&gt;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mutate(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spkid</a:t>
            </a:r>
            <a:r>
              <a:rPr lang="en-US" dirty="0"/>
              <a:t> = </a:t>
            </a:r>
            <a:r>
              <a:rPr lang="en-US" dirty="0" err="1"/>
              <a:t>unlist</a:t>
            </a:r>
            <a:r>
              <a:rPr lang="en-US" dirty="0"/>
              <a:t>(</a:t>
            </a:r>
            <a:r>
              <a:rPr lang="en-US" dirty="0" err="1"/>
              <a:t>spkid</a:t>
            </a:r>
            <a:r>
              <a:rPr lang="en-US" dirty="0"/>
              <a:t>),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rms = </a:t>
            </a:r>
            <a:r>
              <a:rPr lang="en-US" dirty="0" err="1"/>
              <a:t>unlist</a:t>
            </a:r>
            <a:r>
              <a:rPr lang="en-US" dirty="0"/>
              <a:t>(rms),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last_obs</a:t>
            </a:r>
            <a:r>
              <a:rPr lang="en-US" dirty="0"/>
              <a:t> = </a:t>
            </a:r>
            <a:r>
              <a:rPr lang="en-US" dirty="0" err="1"/>
              <a:t>unlist</a:t>
            </a:r>
            <a:r>
              <a:rPr lang="en-US" dirty="0"/>
              <a:t>(</a:t>
            </a:r>
            <a:r>
              <a:rPr lang="en-US" dirty="0" err="1"/>
              <a:t>last_obs</a:t>
            </a:r>
            <a:r>
              <a:rPr lang="en-US" dirty="0"/>
              <a:t>),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data_arc</a:t>
            </a:r>
            <a:r>
              <a:rPr lang="en-US" dirty="0"/>
              <a:t> = </a:t>
            </a:r>
            <a:r>
              <a:rPr lang="en-US" dirty="0" err="1"/>
              <a:t>unlist</a:t>
            </a:r>
            <a:r>
              <a:rPr lang="en-US" dirty="0"/>
              <a:t>(</a:t>
            </a:r>
            <a:r>
              <a:rPr lang="en-US" dirty="0" err="1"/>
              <a:t>data_arc</a:t>
            </a:r>
            <a:r>
              <a:rPr lang="en-US" dirty="0"/>
              <a:t>),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n_obs_used</a:t>
            </a:r>
            <a:r>
              <a:rPr lang="en-US" dirty="0"/>
              <a:t> = </a:t>
            </a:r>
            <a:r>
              <a:rPr lang="en-US" dirty="0" err="1"/>
              <a:t>unlist</a:t>
            </a:r>
            <a:r>
              <a:rPr lang="en-US" dirty="0"/>
              <a:t>(</a:t>
            </a:r>
            <a:r>
              <a:rPr lang="en-US" dirty="0" err="1"/>
              <a:t>n_obs_used</a:t>
            </a:r>
            <a:r>
              <a:rPr lang="en-US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)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# Convert columns to appropriate data types: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# Missing Data: Empty strings in </a:t>
            </a:r>
            <a:r>
              <a:rPr lang="en-US" dirty="0" err="1"/>
              <a:t>last_obs</a:t>
            </a:r>
            <a:r>
              <a:rPr lang="en-US" dirty="0"/>
              <a:t> are replaced with NA before conversion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err="1"/>
              <a:t>df</a:t>
            </a:r>
            <a:r>
              <a:rPr lang="en-US" dirty="0"/>
              <a:t> &lt;- </a:t>
            </a:r>
            <a:r>
              <a:rPr lang="en-US" dirty="0" err="1"/>
              <a:t>df</a:t>
            </a:r>
            <a:r>
              <a:rPr lang="en-US" dirty="0"/>
              <a:t> |&gt;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mutate(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spkid</a:t>
            </a:r>
            <a:r>
              <a:rPr lang="en-US" dirty="0"/>
              <a:t> = </a:t>
            </a:r>
            <a:r>
              <a:rPr lang="en-US" dirty="0" err="1"/>
              <a:t>as.character</a:t>
            </a:r>
            <a:r>
              <a:rPr lang="en-US" dirty="0"/>
              <a:t>(</a:t>
            </a:r>
            <a:r>
              <a:rPr lang="en-US" dirty="0" err="1"/>
              <a:t>spkid</a:t>
            </a:r>
            <a:r>
              <a:rPr lang="en-US" dirty="0"/>
              <a:t>),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rms = </a:t>
            </a:r>
            <a:r>
              <a:rPr lang="en-US" dirty="0" err="1"/>
              <a:t>as.numeric</a:t>
            </a:r>
            <a:r>
              <a:rPr lang="en-US" dirty="0"/>
              <a:t>(rms),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n_obs_used</a:t>
            </a:r>
            <a:r>
              <a:rPr lang="en-US" dirty="0"/>
              <a:t> = </a:t>
            </a:r>
            <a:r>
              <a:rPr lang="en-US" dirty="0" err="1"/>
              <a:t>as.numeric</a:t>
            </a:r>
            <a:r>
              <a:rPr lang="en-US" dirty="0"/>
              <a:t>(</a:t>
            </a:r>
            <a:r>
              <a:rPr lang="en-US" dirty="0" err="1"/>
              <a:t>n_obs_used</a:t>
            </a:r>
            <a:r>
              <a:rPr lang="en-US" dirty="0"/>
              <a:t>),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data_arc</a:t>
            </a:r>
            <a:r>
              <a:rPr lang="en-US" dirty="0"/>
              <a:t> = </a:t>
            </a:r>
            <a:r>
              <a:rPr lang="en-US" dirty="0" err="1"/>
              <a:t>as.numeric</a:t>
            </a:r>
            <a:r>
              <a:rPr lang="en-US" dirty="0"/>
              <a:t>(</a:t>
            </a:r>
            <a:r>
              <a:rPr lang="en-US" dirty="0" err="1"/>
              <a:t>data_arc</a:t>
            </a:r>
            <a:r>
              <a:rPr lang="en-US" dirty="0"/>
              <a:t>),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last_obs</a:t>
            </a:r>
            <a:r>
              <a:rPr lang="en-US" dirty="0"/>
              <a:t> = </a:t>
            </a:r>
            <a:r>
              <a:rPr lang="en-US" dirty="0" err="1"/>
              <a:t>na_if</a:t>
            </a:r>
            <a:r>
              <a:rPr lang="en-US" dirty="0"/>
              <a:t>(</a:t>
            </a:r>
            <a:r>
              <a:rPr lang="en-US" dirty="0" err="1"/>
              <a:t>last_obs</a:t>
            </a:r>
            <a:r>
              <a:rPr lang="en-US" dirty="0"/>
              <a:t>, ""),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last_obs</a:t>
            </a:r>
            <a:r>
              <a:rPr lang="en-US" dirty="0"/>
              <a:t> = </a:t>
            </a:r>
            <a:r>
              <a:rPr lang="en-US" dirty="0" err="1"/>
              <a:t>as.Date</a:t>
            </a:r>
            <a:r>
              <a:rPr lang="en-US" dirty="0"/>
              <a:t>(</a:t>
            </a:r>
            <a:r>
              <a:rPr lang="en-US" dirty="0" err="1"/>
              <a:t>last_obs</a:t>
            </a:r>
            <a:r>
              <a:rPr lang="en-US" dirty="0"/>
              <a:t>, format = "%Y-%m-%d")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## Plot Distribution of Orbit RMS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err="1"/>
              <a:t>ggplot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, </a:t>
            </a:r>
            <a:r>
              <a:rPr lang="en-US" dirty="0" err="1"/>
              <a:t>aes</a:t>
            </a:r>
            <a:r>
              <a:rPr lang="en-US" dirty="0"/>
              <a:t>(x = rms)) +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</a:t>
            </a:r>
            <a:r>
              <a:rPr lang="en-US" dirty="0" err="1"/>
              <a:t>geom_histogram</a:t>
            </a:r>
            <a:r>
              <a:rPr lang="en-US" dirty="0"/>
              <a:t>(</a:t>
            </a:r>
            <a:r>
              <a:rPr lang="en-US" dirty="0" err="1"/>
              <a:t>binwidth</a:t>
            </a:r>
            <a:r>
              <a:rPr lang="en-US" dirty="0"/>
              <a:t> = 0.02, fill = "blue", color = "black") +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labs(title = "Distribution of Orbit RMS values of Small Bodies",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x = "RMS",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y = "Count") +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</a:t>
            </a:r>
            <a:r>
              <a:rPr lang="en-US" dirty="0" err="1"/>
              <a:t>theme_minimal</a:t>
            </a:r>
            <a:r>
              <a:rPr lang="en-US" dirty="0"/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## Plot observation arc length vs RMS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err="1"/>
              <a:t>rms_cutoff</a:t>
            </a:r>
            <a:r>
              <a:rPr lang="en-US" dirty="0"/>
              <a:t> &lt;- quantile(</a:t>
            </a:r>
            <a:r>
              <a:rPr lang="en-US" dirty="0" err="1"/>
              <a:t>df$rms</a:t>
            </a:r>
            <a:r>
              <a:rPr lang="en-US" dirty="0"/>
              <a:t>, 0.05, na.rm = TRUE)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err="1"/>
              <a:t>ggplot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, </a:t>
            </a:r>
            <a:r>
              <a:rPr lang="en-US" dirty="0" err="1"/>
              <a:t>aes</a:t>
            </a:r>
            <a:r>
              <a:rPr lang="en-US" dirty="0"/>
              <a:t>(x = </a:t>
            </a:r>
            <a:r>
              <a:rPr lang="en-US" dirty="0" err="1"/>
              <a:t>data_arc</a:t>
            </a:r>
            <a:r>
              <a:rPr lang="en-US" dirty="0"/>
              <a:t>, y = rms)) +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</a:t>
            </a:r>
            <a:r>
              <a:rPr lang="en-US" dirty="0" err="1"/>
              <a:t>geom_point</a:t>
            </a:r>
            <a:r>
              <a:rPr lang="en-US" dirty="0"/>
              <a:t>(alpha = 0.4) +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</a:t>
            </a:r>
            <a:r>
              <a:rPr lang="en-US" dirty="0" err="1"/>
              <a:t>geom_point</a:t>
            </a:r>
            <a:r>
              <a:rPr lang="en-US" dirty="0"/>
              <a:t>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data = subset(</a:t>
            </a:r>
            <a:r>
              <a:rPr lang="en-US" dirty="0" err="1"/>
              <a:t>df</a:t>
            </a:r>
            <a:r>
              <a:rPr lang="en-US" dirty="0"/>
              <a:t>, rms &lt;= </a:t>
            </a:r>
            <a:r>
              <a:rPr lang="en-US" dirty="0" err="1"/>
              <a:t>rms_cutoff</a:t>
            </a:r>
            <a:r>
              <a:rPr lang="en-US" dirty="0"/>
              <a:t>),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color = "red",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alpha = 0.7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) +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scale_y_log10() +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labs(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title = "RMS vs Observation Arc Length (Low RMS Highlighted)",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x = "Observation Arc Length (days)",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y = "RMS (log scale)"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 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098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927</Words>
  <Application>Microsoft Office PowerPoint</Application>
  <PresentationFormat>Widescreen</PresentationFormat>
  <Paragraphs>221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Aptos Narrow</vt:lpstr>
      <vt:lpstr>Arial</vt:lpstr>
      <vt:lpstr>Wingdings</vt:lpstr>
      <vt:lpstr>Office Theme</vt:lpstr>
      <vt:lpstr>Exploratory Data Analysis: NASA Small-Body Databse API</vt:lpstr>
      <vt:lpstr>Tidy Data – orbit modeling data</vt:lpstr>
      <vt:lpstr>Distribution of Orbit RMS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Westlauer, Isabella</dc:creator>
  <cp:lastModifiedBy>Westlauer, Isabella</cp:lastModifiedBy>
  <cp:revision>2</cp:revision>
  <dcterms:created xsi:type="dcterms:W3CDTF">2026-01-25T22:16:41Z</dcterms:created>
  <dcterms:modified xsi:type="dcterms:W3CDTF">2026-01-25T22:33:12Z</dcterms:modified>
</cp:coreProperties>
</file>