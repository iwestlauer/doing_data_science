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7" r:id="rId5"/>
    <p:sldId id="268" r:id="rId6"/>
    <p:sldId id="269" r:id="rId7"/>
    <p:sldId id="264" r:id="rId8"/>
    <p:sldId id="262" r:id="rId9"/>
    <p:sldId id="260" r:id="rId10"/>
    <p:sldId id="271" r:id="rId11"/>
    <p:sldId id="272" r:id="rId12"/>
    <p:sldId id="274" r:id="rId13"/>
    <p:sldId id="265" r:id="rId14"/>
    <p:sldId id="270" r:id="rId15"/>
    <p:sldId id="273" r:id="rId16"/>
    <p:sldId id="27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A526555-8ECF-4B28-9D41-AED62B0959EB}">
          <p14:sldIdLst>
            <p14:sldId id="256"/>
          </p14:sldIdLst>
        </p14:section>
        <p14:section name="web scraping xml" id="{DA69CB1B-9DE1-4824-9A46-D8EB8128038C}">
          <p14:sldIdLst>
            <p14:sldId id="258"/>
            <p14:sldId id="259"/>
            <p14:sldId id="267"/>
            <p14:sldId id="268"/>
            <p14:sldId id="269"/>
          </p14:sldIdLst>
        </p14:section>
        <p14:section name="NASA SMALL BODY DB API" id="{A8E8E33C-9547-43EF-9642-0241D5888430}">
          <p14:sldIdLst>
            <p14:sldId id="264"/>
            <p14:sldId id="262"/>
            <p14:sldId id="260"/>
            <p14:sldId id="271"/>
            <p14:sldId id="272"/>
            <p14:sldId id="274"/>
          </p14:sldIdLst>
        </p14:section>
        <p14:section name="Takeaways and Questions" id="{092A813D-A7AF-4BB6-BE2D-434132DA0F04}">
          <p14:sldIdLst>
            <p14:sldId id="265"/>
            <p14:sldId id="270"/>
            <p14:sldId id="273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44" y="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A9DA78-C3BD-FDE8-A45E-F3850BC63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CB3A37-5572-15FB-DFFE-21D203D671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D5AB2-73DF-0696-449D-46035841A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15E2A-A230-2F61-011D-12AFAA066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442DE3-C823-22F9-A1A9-9A1971962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464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AB75-C755-094C-3250-1AED1B79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9F583-EEF1-69A3-E6F5-2D7601B80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F8BD53-E227-0598-4B99-35B0DC91A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A7DA94-4F89-54FE-947B-96629DC25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9465E-9B43-F3EB-50C8-8340F2D0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559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39446B-49CC-E6F7-C07A-ACFAEF230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1F19F2-786B-D074-B516-26DEC51D50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5D05D6-4FEB-B332-3A62-8064BB5F34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98EF4C-C100-5BF7-E5F8-272F15613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2BA56-6A0E-D469-395F-9FD30F789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069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3419E-4E0E-2791-1689-FE3254DE9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DB6B7B-0D79-EF92-6CA0-1ADF0BEBD4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701A8C-B984-34C6-F682-397C695D64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049D6A-F87C-9DB7-0BBB-0BBD49B109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FB8AA-C59B-682C-C6DF-B786FD4A2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1DDD2-148C-B8F5-1A4B-4B9AC2F81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45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73B29-B589-DBF0-00E7-2790DE7C1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13071-1386-9BB7-CEE4-61A7CAAFE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7E9B70-482C-6903-8A56-315FDFA772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C6DEB0-5D4D-5E16-CB35-AF2B0C37A2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F29E6C-DFC5-D369-426D-A41852DAF2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F09554-A96B-2A99-4815-B0B8871E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D65E1-4CD8-F8E5-DC5C-31B5E1EDA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34D58-E96D-A4EB-65CE-F04167105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2548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CD6A-B42E-41BD-60D9-16CB5E94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4FDD46-9F44-0ED7-3AC4-E1FE55CCC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F5ED52-DC37-C14E-D2A4-2054C71F1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A7B90-ACD8-929E-CAE4-A964C964A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058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D75158-F67C-995A-6CFE-956323528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9DAF-7F89-86B2-40C9-1142B6D22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466EE-81DA-C48E-AE67-E9D6A706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1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17555-9DCD-1D6F-78A6-5C53DACAF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82D95-BAAB-2280-79FB-4ADF6C461C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ED9742-4DBF-D43B-DB67-CEBBE8810E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B1E86-2226-09DA-71F1-B83F72B37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0CF5B8-60A3-1506-F84D-4C89E0CEEA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448E09-01E5-D3B0-D2DC-6DCED546D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13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513D4-60D4-9C2E-A13F-107A78EA8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C4FF1B-2870-0BB1-9AFF-A0D010E1D8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953FB-588A-392C-3A4D-3D48FE428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299B52-1C47-7947-F709-FB1ECD5D3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3957A-B6C1-CAA6-2492-8DEC12D7E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6696D6-0CF9-E7C6-E0B3-FE1610DA4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899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5D93D-27BB-7376-862B-141F95CC5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DFCCE-1EDF-D1FA-79D9-6D154C699E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63DD97-4EFB-9B0C-DC30-E85AB52B2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616AB-01FA-E374-F702-17D553107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C0DBB1-A6AA-6497-1CC7-C0DCC448A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3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AD71E-DD31-535F-8219-C257802F0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A0010-E6BF-B52A-DF6A-4630EE619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7597D-913E-43D7-04A2-BF1621670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80078-C8F8-89FB-9EEE-0BE15370E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AB34-D35D-90D6-6EF7-B04C72051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732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C4660B-C30A-F32A-6E5E-B6E797C84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F05EC1-59F6-AD17-A8E1-8E06E69A2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961F7-65A3-C63F-6D96-C24AE90E7B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5286B2-0558-4696-8DE1-CD927815B46B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5BE50-D3AB-F1DF-F949-703D677AA0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FC6BBB-3DE6-FEB5-4E12-15EED4398B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F40898-1EE0-483F-BD7C-6D69684B43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06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ssd-api.jpl.nasa.gov/doc/sbdb_query.html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westlauer/doing_data_science/tree/main/Unit%204%20Tidyverse" TargetMode="External"/><Relationship Id="rId2" Type="http://schemas.openxmlformats.org/officeDocument/2006/relationships/hyperlink" Target="https://ssd-api.jpl.nasa.gov/doc/sbdb_query.html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7DAF1-464F-54BD-06D3-2C829FDD69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4 For Live Session Assignment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FE8A07-7249-D55A-8851-F8F4F6D89B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Isabella Westlauer</a:t>
            </a:r>
          </a:p>
          <a:p>
            <a:r>
              <a:rPr lang="en-US" dirty="0"/>
              <a:t>1/26/2026</a:t>
            </a:r>
          </a:p>
        </p:txBody>
      </p:sp>
    </p:spTree>
    <p:extLst>
      <p:ext uri="{BB962C8B-B14F-4D97-AF65-F5344CB8AC3E}">
        <p14:creationId xmlns:p14="http://schemas.microsoft.com/office/powerpoint/2010/main" val="28624874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61229-B8D8-2937-2697-CF10755E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Scrape the XML page for name, </a:t>
            </a:r>
            <a:r>
              <a:rPr lang="en-US" sz="3200" dirty="0" err="1"/>
              <a:t>zipcode</a:t>
            </a:r>
            <a:r>
              <a:rPr lang="en-US" sz="3200" dirty="0"/>
              <a:t> and city council district.  (Use either the XML or </a:t>
            </a:r>
            <a:r>
              <a:rPr lang="en-US" sz="3200" dirty="0" err="1"/>
              <a:t>rvest</a:t>
            </a:r>
            <a:r>
              <a:rPr lang="en-US" sz="3200" dirty="0"/>
              <a:t> package.)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82ADB312-793B-99DA-0EA0-E6F3348A69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35890"/>
          <a:stretch>
            <a:fillRect/>
          </a:stretch>
        </p:blipFill>
        <p:spPr>
          <a:xfrm>
            <a:off x="6096000" y="1824974"/>
            <a:ext cx="4610242" cy="43513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2F303DC-E856-4FBD-D873-E18592103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824974"/>
            <a:ext cx="4277322" cy="4667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731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B44D8-066B-233E-9688-78FFF8E9D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Make a </a:t>
            </a:r>
            <a:r>
              <a:rPr lang="en-US" dirty="0" err="1"/>
              <a:t>dataframe</a:t>
            </a:r>
            <a:r>
              <a:rPr lang="en-US" dirty="0"/>
              <a:t> with just those columns.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F8BCF70-D218-F52C-A119-D6D8C32D49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341" y="1690689"/>
            <a:ext cx="11576070" cy="4661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946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0C18-F13C-B47C-8189-BF346C3F9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Are there any Sushi restaurants in Baltimore? (Where the dataset is from.)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E3BE293-9A5F-DAE9-3EE0-0A27D89AA4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790471"/>
            <a:ext cx="5782482" cy="32770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F1E500-8C58-2456-E71B-03C97EC94E70}"/>
              </a:ext>
            </a:extLst>
          </p:cNvPr>
          <p:cNvSpPr txBox="1"/>
          <p:nvPr/>
        </p:nvSpPr>
        <p:spPr>
          <a:xfrm>
            <a:off x="7162800" y="2110154"/>
            <a:ext cx="40444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9 restaurant names in the xml, containing the word “sushi” but searching for “sushi” returns no results. Why does </a:t>
            </a:r>
            <a:r>
              <a:rPr lang="en-US" dirty="0" err="1"/>
              <a:t>ignore.case</a:t>
            </a:r>
            <a:r>
              <a:rPr lang="en-US" dirty="0"/>
              <a:t> not work here?</a:t>
            </a:r>
          </a:p>
        </p:txBody>
      </p:sp>
    </p:spTree>
    <p:extLst>
      <p:ext uri="{BB962C8B-B14F-4D97-AF65-F5344CB8AC3E}">
        <p14:creationId xmlns:p14="http://schemas.microsoft.com/office/powerpoint/2010/main" val="2308991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CBDAC-09C7-F241-4E57-074AE44B8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Filter the </a:t>
            </a:r>
            <a:r>
              <a:rPr lang="en-US" dirty="0" err="1"/>
              <a:t>dataframe</a:t>
            </a:r>
            <a:r>
              <a:rPr lang="en-US" dirty="0"/>
              <a:t> for just downtown restaurants (Council District 11).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3ABB78-6493-3F65-8930-401C04B448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9347263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4507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D0905-DF51-09AA-6FFB-B95B7292C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Make a </a:t>
            </a:r>
            <a:r>
              <a:rPr lang="en-US" dirty="0" err="1"/>
              <a:t>barplot</a:t>
            </a:r>
            <a:r>
              <a:rPr lang="en-US" dirty="0"/>
              <a:t> of the estimated number of restaurants (Sushi or otherwise) in each council.</a:t>
            </a: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AE5D2E34-2980-065C-2957-2AC2065F7D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199" y="1690687"/>
            <a:ext cx="7845006" cy="501090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AB8A7C-A7B7-3378-1DEB-1DD86166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31" y="1852864"/>
            <a:ext cx="6332040" cy="406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37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6B59B4-E476-7C47-F113-DAC3D63288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83789" y="414844"/>
            <a:ext cx="8909594" cy="493331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8EE6B25-873B-407F-81E2-CCC28877BB6F}"/>
              </a:ext>
            </a:extLst>
          </p:cNvPr>
          <p:cNvSpPr txBox="1"/>
          <p:nvPr/>
        </p:nvSpPr>
        <p:spPr>
          <a:xfrm>
            <a:off x="3424052" y="5682343"/>
            <a:ext cx="5343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https://ssd-api.jpl.nasa.gov/doc/sbdb_query.html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486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20335-4981-5ED7-8980-9A49CD785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Clearly describe the data and the columns / variables that are of interest to your presentation.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EB5BB67-88EA-2582-00D2-050907897F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203152"/>
              </p:ext>
            </p:extLst>
          </p:nvPr>
        </p:nvGraphicFramePr>
        <p:xfrm>
          <a:off x="651493" y="1871642"/>
          <a:ext cx="10515600" cy="39843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9929">
                  <a:extLst>
                    <a:ext uri="{9D8B030D-6E8A-4147-A177-3AD203B41FA5}">
                      <a16:colId xmlns:a16="http://schemas.microsoft.com/office/drawing/2014/main" val="2331060784"/>
                    </a:ext>
                  </a:extLst>
                </a:gridCol>
                <a:gridCol w="757013">
                  <a:extLst>
                    <a:ext uri="{9D8B030D-6E8A-4147-A177-3AD203B41FA5}">
                      <a16:colId xmlns:a16="http://schemas.microsoft.com/office/drawing/2014/main" val="2237770712"/>
                    </a:ext>
                  </a:extLst>
                </a:gridCol>
                <a:gridCol w="2862886">
                  <a:extLst>
                    <a:ext uri="{9D8B030D-6E8A-4147-A177-3AD203B41FA5}">
                      <a16:colId xmlns:a16="http://schemas.microsoft.com/office/drawing/2014/main" val="924880989"/>
                    </a:ext>
                  </a:extLst>
                </a:gridCol>
                <a:gridCol w="4676456">
                  <a:extLst>
                    <a:ext uri="{9D8B030D-6E8A-4147-A177-3AD203B41FA5}">
                      <a16:colId xmlns:a16="http://schemas.microsoft.com/office/drawing/2014/main" val="3040211411"/>
                    </a:ext>
                  </a:extLst>
                </a:gridCol>
                <a:gridCol w="1049316">
                  <a:extLst>
                    <a:ext uri="{9D8B030D-6E8A-4147-A177-3AD203B41FA5}">
                      <a16:colId xmlns:a16="http://schemas.microsoft.com/office/drawing/2014/main" val="3514468263"/>
                    </a:ext>
                  </a:extLst>
                </a:gridCol>
              </a:tblGrid>
              <a:tr h="23021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Field Name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Type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Description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Meaning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Example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1785214912"/>
                  </a:ext>
                </a:extLst>
              </a:tr>
              <a:tr h="724410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rms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normalized RMS of the observation fit in the OD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The RMS of the orbit of a small body measures how well the computed orbit fits the observational data.Lower RMS values indicate a better orbit fit.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0.43382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2840219470"/>
                  </a:ext>
                </a:extLst>
              </a:tr>
              <a:tr h="58067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 err="1">
                          <a:effectLst/>
                        </a:rPr>
                        <a:t>last_obs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string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date of the last observation used in the orbit (YYYY-MM-DD or YYYY-??-?? when only the year is known)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For calculating the orbit prediction, when was the last time it was updated with data from an observed orbit?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11/7/2025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192741010"/>
                  </a:ext>
                </a:extLst>
              </a:tr>
              <a:tr h="1155606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spkid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string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primary SPK-ID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An SPK ID (Spacecraft and Planet Kernel Identification number) is a unique integer code assigned by NASA to identify specific solar system bodies, spacecraft, or instruments within the SPICE system.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20000015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2615809111"/>
                  </a:ext>
                </a:extLst>
              </a:tr>
              <a:tr h="58067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data_arc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 of days spanned by the observations used in the orbit determination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How long have we been observing the orbit of the object, to use real data for modeling the predicted orbit?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80789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428326155"/>
                  </a:ext>
                </a:extLst>
              </a:tr>
              <a:tr h="580677"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n_obs_used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>
                          <a:effectLst/>
                        </a:rPr>
                        <a:t>number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total number of observations of all types used in the orbit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l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How many times has the orbit been observed, the number of samples we have to use in the model?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9764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" panose="020B0004020202020204" pitchFamily="34" charset="0"/>
                      </a:endParaRPr>
                    </a:p>
                  </a:txBody>
                  <a:tcPr marL="6633" marR="6633" marT="6633" marB="0" anchor="ctr"/>
                </a:tc>
                <a:extLst>
                  <a:ext uri="{0D108BD9-81ED-4DB2-BD59-A6C34878D82A}">
                    <a16:rowId xmlns:a16="http://schemas.microsoft.com/office/drawing/2014/main" val="6624436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572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B1C0618A-1B77-4801-E567-C25CB8D298B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5451707" y="203215"/>
            <a:ext cx="5706271" cy="41249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FF9FA11-CBBB-8BAE-496B-9C906E1E5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Tidy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C3866-043F-4D6F-C891-C6B119E9C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8877"/>
            <a:ext cx="3546231" cy="13222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Each variable is a column</a:t>
            </a:r>
          </a:p>
          <a:p>
            <a:pPr marL="0" indent="0">
              <a:buNone/>
            </a:pPr>
            <a:r>
              <a:rPr lang="en-US" sz="2000" dirty="0"/>
              <a:t>Each observation is a row</a:t>
            </a:r>
          </a:p>
          <a:p>
            <a:pPr marL="0" indent="0">
              <a:buNone/>
            </a:pPr>
            <a:r>
              <a:rPr lang="en-US" sz="2000" dirty="0"/>
              <a:t>Each cell is a single value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4951EA53-80EE-9C14-FE55-C155691781BD}"/>
              </a:ext>
            </a:extLst>
          </p:cNvPr>
          <p:cNvCxnSpPr>
            <a:cxnSpLocks/>
          </p:cNvCxnSpPr>
          <p:nvPr/>
        </p:nvCxnSpPr>
        <p:spPr>
          <a:xfrm flipV="1">
            <a:off x="4774103" y="3428999"/>
            <a:ext cx="1610522" cy="90951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D6ECCDFC-3A87-F96D-82C8-7EFC2A90A596}"/>
              </a:ext>
            </a:extLst>
          </p:cNvPr>
          <p:cNvSpPr txBox="1"/>
          <p:nvPr/>
        </p:nvSpPr>
        <p:spPr>
          <a:xfrm>
            <a:off x="2183423" y="5865886"/>
            <a:ext cx="85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before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819929-AAF4-BC4C-6CC4-569D10CB2AC1}"/>
              </a:ext>
            </a:extLst>
          </p:cNvPr>
          <p:cNvSpPr txBox="1"/>
          <p:nvPr/>
        </p:nvSpPr>
        <p:spPr>
          <a:xfrm>
            <a:off x="8352605" y="6488668"/>
            <a:ext cx="8557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70189096-8418-1D9D-9F61-DC2D0AE07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625" y="342469"/>
            <a:ext cx="4791744" cy="6173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24359187-AF12-403A-C9EC-66995FCC20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2790346"/>
            <a:ext cx="4121225" cy="3075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0696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E17E1-D86C-31DC-0C1D-B558D61E8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B43EEFD-C93D-50FA-D3AA-9D0ACFF14B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222247"/>
            <a:ext cx="5726420" cy="52706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28C5F83-CC56-3C45-4581-3752C2F8FDBF}"/>
              </a:ext>
            </a:extLst>
          </p:cNvPr>
          <p:cNvSpPr txBox="1"/>
          <p:nvPr/>
        </p:nvSpPr>
        <p:spPr>
          <a:xfrm>
            <a:off x="7362700" y="1448790"/>
            <a:ext cx="476228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How do I inspect the outlier?</a:t>
            </a:r>
          </a:p>
          <a:p>
            <a:endParaRPr lang="en-US" dirty="0"/>
          </a:p>
          <a:p>
            <a:r>
              <a:rPr lang="en-US" dirty="0"/>
              <a:t>relatively low rms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more recent last observation dates ?</a:t>
            </a:r>
          </a:p>
          <a:p>
            <a:endParaRPr lang="en-US" dirty="0"/>
          </a:p>
          <a:p>
            <a:r>
              <a:rPr lang="en-US" dirty="0"/>
              <a:t>distribution of </a:t>
            </a:r>
            <a:r>
              <a:rPr lang="en-US" dirty="0" err="1"/>
              <a:t>last_obs</a:t>
            </a:r>
            <a:r>
              <a:rPr lang="en-US" dirty="0"/>
              <a:t> for low-rms objects is more tightly clustered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highly constrained orbits are typically associated with recent observations. </a:t>
            </a:r>
          </a:p>
          <a:p>
            <a:endParaRPr lang="en-US" dirty="0"/>
          </a:p>
          <a:p>
            <a:r>
              <a:rPr lang="en-US" dirty="0"/>
              <a:t>Some low-rms objects have not been observed as recently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some orbits remain well-characterized over time.</a:t>
            </a:r>
          </a:p>
        </p:txBody>
      </p:sp>
    </p:spTree>
    <p:extLst>
      <p:ext uri="{BB962C8B-B14F-4D97-AF65-F5344CB8AC3E}">
        <p14:creationId xmlns:p14="http://schemas.microsoft.com/office/powerpoint/2010/main" val="1469715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64EC159-563C-FF01-E337-836CF8FC46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130" y="408285"/>
            <a:ext cx="7184571" cy="585926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A191F-4C22-A14E-BC06-803ACE96A7AD}"/>
              </a:ext>
            </a:extLst>
          </p:cNvPr>
          <p:cNvSpPr txBox="1"/>
          <p:nvPr/>
        </p:nvSpPr>
        <p:spPr>
          <a:xfrm>
            <a:off x="7321583" y="3849029"/>
            <a:ext cx="469228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Increase limit from 100 to 1000 records, highlight rms in the 5</a:t>
            </a:r>
            <a:r>
              <a:rPr lang="en-US" baseline="30000" dirty="0"/>
              <a:t>th</a:t>
            </a:r>
            <a:r>
              <a:rPr lang="en-US" dirty="0"/>
              <a:t> percentile (red)</a:t>
            </a:r>
          </a:p>
          <a:p>
            <a:endParaRPr lang="en-US" dirty="0"/>
          </a:p>
          <a:p>
            <a:r>
              <a:rPr lang="en-US" dirty="0"/>
              <a:t>Expected to see a downward trend indicating an inverse relationship between observation arc length and rms, but it doesn’t appear.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2C96C8B-F431-73A2-15B6-BA90AC1D0D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756" y="528107"/>
            <a:ext cx="5412244" cy="320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3241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A203C-C4D3-DA1E-9FE3-8F0AA30BD0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Obstacles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43D9C-B23B-A2B4-72BA-D1F11835FA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dirty="0"/>
              <a:t>Some columns are stored as lists due to missing values in the API response. </a:t>
            </a:r>
            <a:r>
              <a:rPr lang="en-US" dirty="0" err="1"/>
              <a:t>unlist</a:t>
            </a:r>
            <a:r>
              <a:rPr lang="en-US" dirty="0"/>
              <a:t>() flattens each column into a standard atomic vector, required before converting data types.</a:t>
            </a:r>
          </a:p>
          <a:p>
            <a:pPr marL="0" indent="0">
              <a:buNone/>
            </a:pPr>
            <a:r>
              <a:rPr lang="en-US" dirty="0" err="1"/>
              <a:t>na_if</a:t>
            </a:r>
            <a:r>
              <a:rPr lang="en-US" dirty="0"/>
              <a:t>() replaces the N/A values with blanks</a:t>
            </a:r>
          </a:p>
          <a:p>
            <a:pPr marL="0" indent="0">
              <a:buNone/>
            </a:pPr>
            <a:r>
              <a:rPr lang="en-US" dirty="0" err="1"/>
              <a:t>as.Date</a:t>
            </a:r>
            <a:r>
              <a:rPr lang="en-US" dirty="0"/>
              <a:t>() is important to be able to plot values versus date, in order from earliest to latest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937A59-ECED-B68E-79DE-16D574D1B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286125"/>
            <a:ext cx="4970560" cy="2956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4D7470-9330-4DAF-8492-D338D545F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429000"/>
            <a:ext cx="5616877" cy="243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10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971B-6B6F-AAA0-EB52-A0EDD000A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 and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55EF3-392C-F216-FCD1-5B39B939C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dirty="0"/>
              <a:t>What do we do about data that is not clean, in an unpredicted way? Like this: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Searching “sushi” </a:t>
            </a:r>
            <a:r>
              <a:rPr lang="en-US" sz="2400" dirty="0">
                <a:sym typeface="Wingdings" panose="05000000000000000000" pitchFamily="2" charset="2"/>
              </a:rPr>
              <a:t> cannot find </a:t>
            </a:r>
            <a:r>
              <a:rPr lang="en-US" sz="2400" dirty="0"/>
              <a:t>“sush1” , “</a:t>
            </a:r>
            <a:r>
              <a:rPr lang="en-US" sz="2400" dirty="0" err="1"/>
              <a:t>sushee</a:t>
            </a:r>
            <a:r>
              <a:rPr lang="en-US" sz="2400" dirty="0"/>
              <a:t>” ,“</a:t>
            </a:r>
            <a:r>
              <a:rPr lang="en-US" sz="2400" dirty="0" err="1"/>
              <a:t>sooshee</a:t>
            </a:r>
            <a:r>
              <a:rPr lang="en-US" sz="2400" dirty="0"/>
              <a:t>” , “King’s Sashimi Palace”</a:t>
            </a:r>
          </a:p>
          <a:p>
            <a:r>
              <a:rPr lang="en-US" sz="2400" dirty="0"/>
              <a:t>Searching “café” </a:t>
            </a:r>
            <a:r>
              <a:rPr lang="en-US" sz="2400" dirty="0">
                <a:sym typeface="Wingdings" panose="05000000000000000000" pitchFamily="2" charset="2"/>
              </a:rPr>
              <a:t> cannot find GALLERY CAF0</a:t>
            </a:r>
            <a:endParaRPr lang="en-US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FDC095-1442-3598-0202-37A3B12FE5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30" y="2282514"/>
            <a:ext cx="5001323" cy="2715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7364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47BDF-309D-C75A-ED9C-A2EC8969C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35EE9-E072-93EE-2C65-83407E8C4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Gather Spread and Separate: How does it know to separate based on the delimiting character?</a:t>
            </a:r>
          </a:p>
          <a:p>
            <a:r>
              <a:rPr lang="en-US" dirty="0"/>
              <a:t>API key: How come I registered for an API key for the NASA </a:t>
            </a:r>
            <a:r>
              <a:rPr lang="en-US" dirty="0" err="1"/>
              <a:t>db</a:t>
            </a:r>
            <a:r>
              <a:rPr lang="en-US" dirty="0"/>
              <a:t>, but didn’t have to use it to make a successful GET request?</a:t>
            </a:r>
          </a:p>
          <a:p>
            <a:r>
              <a:rPr lang="en-US" dirty="0"/>
              <a:t>grep: Why does </a:t>
            </a:r>
            <a:r>
              <a:rPr lang="en-US" dirty="0" err="1"/>
              <a:t>ignore.case</a:t>
            </a:r>
            <a:r>
              <a:rPr lang="en-US" dirty="0"/>
              <a:t> not work as expected here?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FFEEFC-CD97-5AF2-4BB5-208E3D04A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9231" y="4221078"/>
            <a:ext cx="5653537" cy="2378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6770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3C25-96B1-4C6E-E127-BE0E99C73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C74610-BAA0-ED44-BECE-6C15800C9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do I write a hypothesis when I’m looking for a correlation between two variables?</a:t>
            </a:r>
          </a:p>
        </p:txBody>
      </p:sp>
    </p:spTree>
    <p:extLst>
      <p:ext uri="{BB962C8B-B14F-4D97-AF65-F5344CB8AC3E}">
        <p14:creationId xmlns:p14="http://schemas.microsoft.com/office/powerpoint/2010/main" val="2445537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83C50-C7FE-E0EF-C96D-E20D6294E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23E595-E036-CDF2-36EB-BADA5C284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https://ssd-api.jpl.nasa.gov/doc/sbdb_query.html</a:t>
            </a:r>
            <a:endParaRPr lang="en-US" dirty="0"/>
          </a:p>
          <a:p>
            <a:r>
              <a:rPr lang="en-US" dirty="0">
                <a:hlinkClick r:id="rId3"/>
              </a:rPr>
              <a:t>https://github.com/Iwestlauer/doing_data_science/tree/main/Unit%204%20Tidyverse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54818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1898</TotalTime>
  <Words>717</Words>
  <Application>Microsoft Office PowerPoint</Application>
  <PresentationFormat>Widescreen</PresentationFormat>
  <Paragraphs>81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Wingdings</vt:lpstr>
      <vt:lpstr>Office Theme</vt:lpstr>
      <vt:lpstr>Unit 4 For Live Session Assignment</vt:lpstr>
      <vt:lpstr>Scrape the XML page for name, zipcode and city council district.  (Use either the XML or rvest package.)</vt:lpstr>
      <vt:lpstr>Make a dataframe with just those columns.</vt:lpstr>
      <vt:lpstr>Are there any Sushi restaurants in Baltimore? (Where the dataset is from.)</vt:lpstr>
      <vt:lpstr>Filter the dataframe for just downtown restaurants (Council District 11). </vt:lpstr>
      <vt:lpstr>Make a barplot of the estimated number of restaurants (Sushi or otherwise) in each council.</vt:lpstr>
      <vt:lpstr>PowerPoint Presentation</vt:lpstr>
      <vt:lpstr>Clearly describe the data and the columns / variables that are of interest to your presentation.</vt:lpstr>
      <vt:lpstr>Tidy Data</vt:lpstr>
      <vt:lpstr>EDA</vt:lpstr>
      <vt:lpstr>PowerPoint Presentation</vt:lpstr>
      <vt:lpstr>Obstacles</vt:lpstr>
      <vt:lpstr>Takeaways and Questions</vt:lpstr>
      <vt:lpstr>Questions </vt:lpstr>
      <vt:lpstr>PowerPoint Presentation</vt:lpstr>
      <vt:lpstr>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Westlauer, Isabella</dc:creator>
  <cp:lastModifiedBy>Westlauer, Isabella</cp:lastModifiedBy>
  <cp:revision>29</cp:revision>
  <dcterms:created xsi:type="dcterms:W3CDTF">2026-01-23T02:27:52Z</dcterms:created>
  <dcterms:modified xsi:type="dcterms:W3CDTF">2026-01-25T22:42:47Z</dcterms:modified>
</cp:coreProperties>
</file>