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72" r:id="rId6"/>
    <p:sldId id="260" r:id="rId7"/>
    <p:sldId id="261" r:id="rId8"/>
    <p:sldId id="262" r:id="rId9"/>
    <p:sldId id="263" r:id="rId10"/>
    <p:sldId id="264" r:id="rId11"/>
    <p:sldId id="273" r:id="rId12"/>
    <p:sldId id="274"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Lst>
        </p14:section>
        <p14:section name="part 1" id="{D1E2292D-5733-4523-B6A7-9BF119F47C6B}">
          <p14:sldIdLst>
            <p14:sldId id="257"/>
            <p14:sldId id="258"/>
            <p14:sldId id="259"/>
            <p14:sldId id="272"/>
            <p14:sldId id="260"/>
            <p14:sldId id="261"/>
            <p14:sldId id="262"/>
            <p14:sldId id="263"/>
          </p14:sldIdLst>
        </p14:section>
        <p14:section name="Part 2" id="{E7DEA647-D505-451B-967D-01DF67D0A363}">
          <p14:sldIdLst>
            <p14:sldId id="264"/>
            <p14:sldId id="273"/>
            <p14:sldId id="274"/>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53" autoAdjust="0"/>
  </p:normalViewPr>
  <p:slideViewPr>
    <p:cSldViewPr snapToGrid="0">
      <p:cViewPr varScale="1">
        <p:scale>
          <a:sx n="71" d="100"/>
          <a:sy n="71" d="100"/>
        </p:scale>
        <p:origin x="12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DA0CF-206D-448D-AD8E-8F6ACCC55A9E}"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1339E-D242-449D-B006-22C3E3124353}" type="slidenum">
              <a:rPr lang="en-US" smtClean="0"/>
              <a:t>‹#›</a:t>
            </a:fld>
            <a:endParaRPr lang="en-US"/>
          </a:p>
        </p:txBody>
      </p:sp>
    </p:spTree>
    <p:extLst>
      <p:ext uri="{BB962C8B-B14F-4D97-AF65-F5344CB8AC3E}">
        <p14:creationId xmlns:p14="http://schemas.microsoft.com/office/powerpoint/2010/main" val="52007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raw.githubusercontent.com/BivinSadler/MSDS_6306_Doing-Data-Science/Master/Unit%206/titanic_train.csv"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Download the training set: You can download data sets directly from GitHub! Use this link to download the titanic dataset directly from our GitHub repo. Simply use this link and enter it as a string into read.csv().  If you are having difficulty, simply download it from GitHub and move on. We will cover it in class. </a:t>
            </a:r>
          </a:p>
          <a:p>
            <a:endParaRPr lang="en-US" sz="1200" b="1" dirty="0"/>
          </a:p>
          <a:p>
            <a:endParaRPr lang="en-US" sz="1200" b="1" dirty="0"/>
          </a:p>
          <a:p>
            <a:pPr marL="0" indent="0">
              <a:buNone/>
            </a:pPr>
            <a:r>
              <a:rPr lang="en-US" sz="1200" dirty="0">
                <a:hlinkClick r:id="rId3"/>
              </a:rPr>
              <a:t>https://raw.githubusercontent.com/BivinSadler/MSDS_6306_Doing-Data-Science/Master/Unit%206/titanic_train.csv</a:t>
            </a:r>
            <a:endParaRPr lang="en-US" sz="1200" dirty="0"/>
          </a:p>
          <a:p>
            <a:pPr marL="0" indent="0">
              <a:buNone/>
            </a:pPr>
            <a:endParaRPr lang="en-US" sz="1200" dirty="0"/>
          </a:p>
          <a:p>
            <a:endParaRPr lang="en-US" sz="1200" dirty="0"/>
          </a:p>
          <a:p>
            <a:pPr marL="0" indent="0">
              <a:buNone/>
            </a:pPr>
            <a:endParaRPr lang="en-US" sz="1200" dirty="0"/>
          </a:p>
          <a:p>
            <a:pPr marL="0" indent="0">
              <a:buNone/>
            </a:pPr>
            <a:endParaRPr lang="en-US" sz="1800" dirty="0"/>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2</a:t>
            </a:fld>
            <a:endParaRPr lang="en-US"/>
          </a:p>
        </p:txBody>
      </p:sp>
    </p:spTree>
    <p:extLst>
      <p:ext uri="{BB962C8B-B14F-4D97-AF65-F5344CB8AC3E}">
        <p14:creationId xmlns:p14="http://schemas.microsoft.com/office/powerpoint/2010/main" val="2675879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Randomly partition the 891 observations into a smaller “training” set of 600 and a ”testing” set of 291 observations.  </a:t>
            </a:r>
          </a:p>
          <a:p>
            <a:endParaRPr lang="en-US" sz="1200" dirty="0"/>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3</a:t>
            </a:fld>
            <a:endParaRPr lang="en-US"/>
          </a:p>
        </p:txBody>
      </p:sp>
    </p:spTree>
    <p:extLst>
      <p:ext uri="{BB962C8B-B14F-4D97-AF65-F5344CB8AC3E}">
        <p14:creationId xmlns:p14="http://schemas.microsoft.com/office/powerpoint/2010/main" val="3200689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Use KNN and the new training set (the 600 observations) to classify those who survived and died in the new testing set (the one you just created with 291 observations) using age and class.</a:t>
            </a:r>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4</a:t>
            </a:fld>
            <a:endParaRPr lang="en-US"/>
          </a:p>
        </p:txBody>
      </p:sp>
    </p:spTree>
    <p:extLst>
      <p:ext uri="{BB962C8B-B14F-4D97-AF65-F5344CB8AC3E}">
        <p14:creationId xmlns:p14="http://schemas.microsoft.com/office/powerpoint/2010/main" val="2304681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Create a confusion matrix and calculate the accuracy, misclassification rate, sensitivity and specificity.   Be prepared to explain these statistics. (It is ok if you have questions here… we will answer them in live session … just do your best.)  </a:t>
            </a:r>
          </a:p>
          <a:p>
            <a:endParaRPr lang="en-US" dirty="0"/>
          </a:p>
          <a:p>
            <a:r>
              <a:rPr lang="en-US" sz="1400" dirty="0"/>
              <a:t>Accuracy</a:t>
            </a:r>
          </a:p>
          <a:p>
            <a:pPr lvl="1"/>
            <a:r>
              <a:rPr lang="en-US" sz="1200" dirty="0"/>
              <a:t>Number of correctly classified observations/total: 16/25 = .64 = 64%</a:t>
            </a:r>
          </a:p>
          <a:p>
            <a:r>
              <a:rPr lang="en-US" sz="1400" dirty="0"/>
              <a:t>Misclassification rate:</a:t>
            </a:r>
          </a:p>
          <a:p>
            <a:pPr lvl="1"/>
            <a:r>
              <a:rPr lang="en-US" sz="1200" dirty="0"/>
              <a:t>Number of misclassified observations/total: 9/25 = .36 = 36%</a:t>
            </a:r>
          </a:p>
          <a:p>
            <a:r>
              <a:rPr lang="en-US" sz="1400" dirty="0"/>
              <a:t>Sensitivity:</a:t>
            </a:r>
          </a:p>
          <a:p>
            <a:pPr lvl="1"/>
            <a:r>
              <a:rPr lang="en-US" sz="1200" dirty="0"/>
              <a:t>Number of correctly identified successes/true number of successes: 10/15 = .66 = 66%</a:t>
            </a:r>
          </a:p>
          <a:p>
            <a:r>
              <a:rPr lang="en-US" sz="1400" dirty="0"/>
              <a:t>Specificity:</a:t>
            </a:r>
          </a:p>
          <a:p>
            <a:pPr lvl="1"/>
            <a:r>
              <a:rPr lang="en-US" sz="1200" dirty="0"/>
              <a:t>Number of correctly identified failures/true number of failures. 6/10 = .60 = 60%</a:t>
            </a:r>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6</a:t>
            </a:fld>
            <a:endParaRPr lang="en-US"/>
          </a:p>
        </p:txBody>
      </p:sp>
    </p:spTree>
    <p:extLst>
      <p:ext uri="{BB962C8B-B14F-4D97-AF65-F5344CB8AC3E}">
        <p14:creationId xmlns:p14="http://schemas.microsoft.com/office/powerpoint/2010/main" val="712859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Pick an age and predict the survival probability of a person that age based on each of the ticket classes.  </a:t>
            </a:r>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7</a:t>
            </a:fld>
            <a:endParaRPr lang="en-US"/>
          </a:p>
        </p:txBody>
      </p:sp>
    </p:spTree>
    <p:extLst>
      <p:ext uri="{BB962C8B-B14F-4D97-AF65-F5344CB8AC3E}">
        <p14:creationId xmlns:p14="http://schemas.microsoft.com/office/powerpoint/2010/main" val="1913119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Create separate models for males and females and compare the resulting classification statistics after using the models to classify those in the test set.  </a:t>
            </a:r>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8</a:t>
            </a:fld>
            <a:endParaRPr lang="en-US"/>
          </a:p>
        </p:txBody>
      </p:sp>
    </p:spTree>
    <p:extLst>
      <p:ext uri="{BB962C8B-B14F-4D97-AF65-F5344CB8AC3E}">
        <p14:creationId xmlns:p14="http://schemas.microsoft.com/office/powerpoint/2010/main" val="106177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Use ChatGPT to attempt this assignment.  Generate and run the code as is. Did it run?  Did it give the desired results?  </a:t>
            </a:r>
          </a:p>
          <a:p>
            <a:r>
              <a:rPr lang="en-US" sz="1200" dirty="0"/>
              <a:t>Make a PowerPoint to present in Live Session </a:t>
            </a:r>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9</a:t>
            </a:fld>
            <a:endParaRPr lang="en-US"/>
          </a:p>
        </p:txBody>
      </p:sp>
    </p:spTree>
    <p:extLst>
      <p:ext uri="{BB962C8B-B14F-4D97-AF65-F5344CB8AC3E}">
        <p14:creationId xmlns:p14="http://schemas.microsoft.com/office/powerpoint/2010/main" val="3396325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t>a. For the full (multinomial) IRIS data (the </a:t>
            </a:r>
            <a:r>
              <a:rPr lang="en-US" sz="1200" i="1" dirty="0"/>
              <a:t>iris </a:t>
            </a:r>
            <a:r>
              <a:rPr lang="en-US" sz="1200" dirty="0"/>
              <a:t>dataset in R), do a 70-30 train/test cross validation with k =1 - 90 and use sepal length and width as predictors.  </a:t>
            </a:r>
          </a:p>
          <a:p>
            <a:pPr marL="0" indent="0">
              <a:buNone/>
            </a:pPr>
            <a:endParaRPr lang="en-US" sz="1200" dirty="0"/>
          </a:p>
          <a:p>
            <a:endParaRPr lang="en-US" dirty="0"/>
          </a:p>
        </p:txBody>
      </p:sp>
      <p:sp>
        <p:nvSpPr>
          <p:cNvPr id="4" name="Slide Number Placeholder 3"/>
          <p:cNvSpPr>
            <a:spLocks noGrp="1"/>
          </p:cNvSpPr>
          <p:nvPr>
            <p:ph type="sldNum" sz="quarter" idx="5"/>
          </p:nvPr>
        </p:nvSpPr>
        <p:spPr/>
        <p:txBody>
          <a:bodyPr/>
          <a:lstStyle/>
          <a:p>
            <a:fld id="{AC41339E-D242-449D-B006-22C3E3124353}" type="slidenum">
              <a:rPr lang="en-US" smtClean="0"/>
              <a:t>10</a:t>
            </a:fld>
            <a:endParaRPr lang="en-US"/>
          </a:p>
        </p:txBody>
      </p:sp>
    </p:spTree>
    <p:extLst>
      <p:ext uri="{BB962C8B-B14F-4D97-AF65-F5344CB8AC3E}">
        <p14:creationId xmlns:p14="http://schemas.microsoft.com/office/powerpoint/2010/main" val="266737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Make a plot of k (</a:t>
            </a:r>
            <a:r>
              <a:rPr lang="en-US" sz="1200" dirty="0" err="1"/>
              <a:t>xaxis</a:t>
            </a:r>
            <a:r>
              <a:rPr lang="en-US" sz="1200" dirty="0"/>
              <a:t>) versus accuracy.  Use this plot to tune the hyperparameter k.  What do you feel is the best value of k?  </a:t>
            </a:r>
          </a:p>
        </p:txBody>
      </p:sp>
      <p:sp>
        <p:nvSpPr>
          <p:cNvPr id="4" name="Slide Number Placeholder 3"/>
          <p:cNvSpPr>
            <a:spLocks noGrp="1"/>
          </p:cNvSpPr>
          <p:nvPr>
            <p:ph type="sldNum" sz="quarter" idx="5"/>
          </p:nvPr>
        </p:nvSpPr>
        <p:spPr/>
        <p:txBody>
          <a:bodyPr/>
          <a:lstStyle/>
          <a:p>
            <a:fld id="{AC41339E-D242-449D-B006-22C3E3124353}" type="slidenum">
              <a:rPr lang="en-US" smtClean="0"/>
              <a:t>11</a:t>
            </a:fld>
            <a:endParaRPr lang="en-US"/>
          </a:p>
        </p:txBody>
      </p:sp>
    </p:spTree>
    <p:extLst>
      <p:ext uri="{BB962C8B-B14F-4D97-AF65-F5344CB8AC3E}">
        <p14:creationId xmlns:p14="http://schemas.microsoft.com/office/powerpoint/2010/main" val="2961320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plot code</a:t>
            </a:r>
          </a:p>
          <a:p>
            <a:r>
              <a:rPr lang="en-US" dirty="0"/>
              <a:t>p &lt;- plot(seq(1,numks,1),          </a:t>
            </a:r>
            <a:r>
              <a:rPr lang="en-US" dirty="0" err="1"/>
              <a:t>MeanAcc</a:t>
            </a:r>
            <a:r>
              <a:rPr lang="en-US" dirty="0"/>
              <a:t>,           type = "l",          </a:t>
            </a:r>
            <a:r>
              <a:rPr lang="en-US" dirty="0" err="1"/>
              <a:t>xlab</a:t>
            </a:r>
            <a:r>
              <a:rPr lang="en-US" dirty="0"/>
              <a:t> = "k",          </a:t>
            </a:r>
            <a:r>
              <a:rPr lang="en-US" dirty="0" err="1"/>
              <a:t>ylab</a:t>
            </a:r>
            <a:r>
              <a:rPr lang="en-US" dirty="0"/>
              <a:t> = "Mean Accuracy",          main = "Master Accuracy of k 1 to 90") # how do I use </a:t>
            </a:r>
            <a:r>
              <a:rPr lang="en-US" dirty="0" err="1"/>
              <a:t>plotly</a:t>
            </a:r>
            <a:r>
              <a:rPr lang="en-US" dirty="0"/>
              <a:t> to get </a:t>
            </a:r>
            <a:r>
              <a:rPr lang="en-US" dirty="0" err="1"/>
              <a:t>interactive?max_mean_acc</a:t>
            </a:r>
            <a:r>
              <a:rPr lang="en-US" dirty="0"/>
              <a:t> &lt;- max(</a:t>
            </a:r>
            <a:r>
              <a:rPr lang="en-US" dirty="0" err="1"/>
              <a:t>MeanAcc</a:t>
            </a:r>
            <a:r>
              <a:rPr lang="en-US" dirty="0"/>
              <a:t>)</a:t>
            </a:r>
            <a:r>
              <a:rPr lang="en-US" dirty="0" err="1"/>
              <a:t>best_k</a:t>
            </a:r>
            <a:r>
              <a:rPr lang="en-US" dirty="0"/>
              <a:t> &lt;- which(</a:t>
            </a:r>
            <a:r>
              <a:rPr lang="en-US" dirty="0" err="1"/>
              <a:t>MeanAcc</a:t>
            </a:r>
            <a:r>
              <a:rPr lang="en-US" dirty="0"/>
              <a:t> == </a:t>
            </a:r>
            <a:r>
              <a:rPr lang="en-US" dirty="0" err="1"/>
              <a:t>max_mean_acc</a:t>
            </a:r>
            <a:r>
              <a:rPr lang="en-US" dirty="0"/>
              <a:t>)points(</a:t>
            </a:r>
            <a:r>
              <a:rPr lang="en-US" dirty="0" err="1"/>
              <a:t>best_k</a:t>
            </a:r>
            <a:r>
              <a:rPr lang="en-US" dirty="0"/>
              <a:t>, </a:t>
            </a:r>
            <a:r>
              <a:rPr lang="en-US" dirty="0" err="1"/>
              <a:t>MeanAcc</a:t>
            </a:r>
            <a:r>
              <a:rPr lang="en-US" dirty="0"/>
              <a:t>[</a:t>
            </a:r>
            <a:r>
              <a:rPr lang="en-US" dirty="0" err="1"/>
              <a:t>best_k</a:t>
            </a:r>
            <a:r>
              <a:rPr lang="en-US" dirty="0"/>
              <a:t>],       </a:t>
            </a:r>
            <a:r>
              <a:rPr lang="en-US" dirty="0" err="1"/>
              <a:t>pch</a:t>
            </a:r>
            <a:r>
              <a:rPr lang="en-US" dirty="0"/>
              <a:t> = 19,       col = "red")</a:t>
            </a:r>
            <a:r>
              <a:rPr lang="en-US" dirty="0" err="1"/>
              <a:t>abline</a:t>
            </a:r>
            <a:r>
              <a:rPr lang="en-US" dirty="0"/>
              <a:t>(h = </a:t>
            </a:r>
            <a:r>
              <a:rPr lang="en-US" dirty="0" err="1"/>
              <a:t>max_mean_acc</a:t>
            </a:r>
            <a:r>
              <a:rPr lang="en-US" dirty="0"/>
              <a:t>,       col = "red",       </a:t>
            </a:r>
            <a:r>
              <a:rPr lang="en-US" dirty="0" err="1"/>
              <a:t>lty</a:t>
            </a:r>
            <a:r>
              <a:rPr lang="en-US" dirty="0"/>
              <a:t> = 2,       </a:t>
            </a:r>
            <a:r>
              <a:rPr lang="en-US" dirty="0" err="1"/>
              <a:t>lwd</a:t>
            </a:r>
            <a:r>
              <a:rPr lang="en-US" dirty="0"/>
              <a:t> = 2)</a:t>
            </a:r>
            <a:r>
              <a:rPr lang="en-US" dirty="0" err="1"/>
              <a:t>abline</a:t>
            </a:r>
            <a:r>
              <a:rPr lang="en-US" dirty="0"/>
              <a:t>(v = </a:t>
            </a:r>
            <a:r>
              <a:rPr lang="en-US" dirty="0" err="1"/>
              <a:t>best_k</a:t>
            </a:r>
            <a:r>
              <a:rPr lang="en-US" dirty="0"/>
              <a:t>,       col = "red",       </a:t>
            </a:r>
            <a:r>
              <a:rPr lang="en-US" dirty="0" err="1"/>
              <a:t>lty</a:t>
            </a:r>
            <a:r>
              <a:rPr lang="en-US" dirty="0"/>
              <a:t> = 2,       </a:t>
            </a:r>
            <a:r>
              <a:rPr lang="en-US" dirty="0" err="1"/>
              <a:t>lwd</a:t>
            </a:r>
            <a:r>
              <a:rPr lang="en-US" dirty="0"/>
              <a:t> = 2)par(</a:t>
            </a:r>
            <a:r>
              <a:rPr lang="en-US" dirty="0" err="1"/>
              <a:t>xpd</a:t>
            </a:r>
            <a:r>
              <a:rPr lang="en-US" dirty="0"/>
              <a:t> = TRUE)text(</a:t>
            </a:r>
            <a:r>
              <a:rPr lang="en-US" dirty="0" err="1"/>
              <a:t>best_k</a:t>
            </a:r>
            <a:r>
              <a:rPr lang="en-US" dirty="0"/>
              <a:t>, </a:t>
            </a:r>
            <a:r>
              <a:rPr lang="en-US" dirty="0" err="1"/>
              <a:t>max_mean_acc</a:t>
            </a:r>
            <a:r>
              <a:rPr lang="en-US" dirty="0"/>
              <a:t>,     labels = paste("k =", </a:t>
            </a:r>
            <a:r>
              <a:rPr lang="en-US" dirty="0" err="1"/>
              <a:t>best_k</a:t>
            </a:r>
            <a:r>
              <a:rPr lang="en-US" dirty="0"/>
              <a:t>),     pos = 3,     offset = 1,     col = "red")par(</a:t>
            </a:r>
            <a:r>
              <a:rPr lang="en-US" dirty="0" err="1"/>
              <a:t>xpd</a:t>
            </a:r>
            <a:r>
              <a:rPr lang="en-US" dirty="0"/>
              <a:t> = FALSE)</a:t>
            </a:r>
          </a:p>
        </p:txBody>
      </p:sp>
      <p:sp>
        <p:nvSpPr>
          <p:cNvPr id="4" name="Slide Number Placeholder 3"/>
          <p:cNvSpPr>
            <a:spLocks noGrp="1"/>
          </p:cNvSpPr>
          <p:nvPr>
            <p:ph type="sldNum" sz="quarter" idx="5"/>
          </p:nvPr>
        </p:nvSpPr>
        <p:spPr/>
        <p:txBody>
          <a:bodyPr/>
          <a:lstStyle/>
          <a:p>
            <a:fld id="{AC41339E-D242-449D-B006-22C3E3124353}" type="slidenum">
              <a:rPr lang="en-US" smtClean="0"/>
              <a:t>12</a:t>
            </a:fld>
            <a:endParaRPr lang="en-US"/>
          </a:p>
        </p:txBody>
      </p:sp>
    </p:spTree>
    <p:extLst>
      <p:ext uri="{BB962C8B-B14F-4D97-AF65-F5344CB8AC3E}">
        <p14:creationId xmlns:p14="http://schemas.microsoft.com/office/powerpoint/2010/main" val="3442167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2/8/2026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6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r>
              <a:rPr lang="en-US" dirty="0"/>
              <a:t>2/8/2026</a:t>
            </a:r>
          </a:p>
          <a:p>
            <a:endParaRPr lang="en-US" dirty="0"/>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C550E8-560D-B112-6DE3-C6DAF49032D4}"/>
              </a:ext>
            </a:extLst>
          </p:cNvPr>
          <p:cNvPicPr>
            <a:picLocks noChangeAspect="1"/>
          </p:cNvPicPr>
          <p:nvPr/>
        </p:nvPicPr>
        <p:blipFill>
          <a:blip r:embed="rId3"/>
          <a:stretch>
            <a:fillRect/>
          </a:stretch>
        </p:blipFill>
        <p:spPr>
          <a:xfrm>
            <a:off x="1936100" y="1248032"/>
            <a:ext cx="8319799" cy="5471172"/>
          </a:xfrm>
          <a:prstGeom prst="rect">
            <a:avLst/>
          </a:prstGeom>
        </p:spPr>
      </p:pic>
      <p:sp>
        <p:nvSpPr>
          <p:cNvPr id="7" name="Title 6">
            <a:extLst>
              <a:ext uri="{FF2B5EF4-FFF2-40B4-BE49-F238E27FC236}">
                <a16:creationId xmlns:a16="http://schemas.microsoft.com/office/drawing/2014/main" id="{E2681B0B-11CC-D359-2D3E-A269D6F6AC32}"/>
              </a:ext>
            </a:extLst>
          </p:cNvPr>
          <p:cNvSpPr>
            <a:spLocks noGrp="1"/>
          </p:cNvSpPr>
          <p:nvPr>
            <p:ph type="title"/>
          </p:nvPr>
        </p:nvSpPr>
        <p:spPr>
          <a:xfrm>
            <a:off x="838200" y="365125"/>
            <a:ext cx="10515600" cy="882907"/>
          </a:xfrm>
        </p:spPr>
        <p:txBody>
          <a:bodyPr/>
          <a:lstStyle/>
          <a:p>
            <a:r>
              <a:rPr lang="en-US" dirty="0"/>
              <a:t>Fetch and Inspect the Titanic Dataset</a:t>
            </a:r>
          </a:p>
        </p:txBody>
      </p:sp>
    </p:spTree>
    <p:extLst>
      <p:ext uri="{BB962C8B-B14F-4D97-AF65-F5344CB8AC3E}">
        <p14:creationId xmlns:p14="http://schemas.microsoft.com/office/powerpoint/2010/main" val="161339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41CD42-6FE2-0ADF-D068-13C7966F782D}"/>
              </a:ext>
            </a:extLst>
          </p:cNvPr>
          <p:cNvPicPr>
            <a:picLocks noChangeAspect="1"/>
          </p:cNvPicPr>
          <p:nvPr/>
        </p:nvPicPr>
        <p:blipFill>
          <a:blip r:embed="rId3"/>
          <a:stretch>
            <a:fillRect/>
          </a:stretch>
        </p:blipFill>
        <p:spPr>
          <a:xfrm>
            <a:off x="398410" y="482130"/>
            <a:ext cx="6459589" cy="5640549"/>
          </a:xfrm>
          <a:prstGeom prst="rect">
            <a:avLst/>
          </a:prstGeom>
        </p:spPr>
      </p:pic>
      <p:sp>
        <p:nvSpPr>
          <p:cNvPr id="6" name="TextBox 5">
            <a:extLst>
              <a:ext uri="{FF2B5EF4-FFF2-40B4-BE49-F238E27FC236}">
                <a16:creationId xmlns:a16="http://schemas.microsoft.com/office/drawing/2014/main" id="{4EB2CA14-A847-378E-4117-58BF0191B160}"/>
              </a:ext>
            </a:extLst>
          </p:cNvPr>
          <p:cNvSpPr txBox="1"/>
          <p:nvPr/>
        </p:nvSpPr>
        <p:spPr>
          <a:xfrm>
            <a:off x="7241059" y="1173892"/>
            <a:ext cx="4670855" cy="4247317"/>
          </a:xfrm>
          <a:prstGeom prst="rect">
            <a:avLst/>
          </a:prstGeom>
          <a:noFill/>
        </p:spPr>
        <p:txBody>
          <a:bodyPr wrap="square" rtlCol="0">
            <a:spAutoFit/>
          </a:bodyPr>
          <a:lstStyle/>
          <a:p>
            <a:r>
              <a:rPr lang="en-US" dirty="0" err="1"/>
              <a:t>Set.seed</a:t>
            </a:r>
            <a:r>
              <a:rPr lang="en-US" dirty="0"/>
              <a:t>() makes the results reproducible. If you set your seed the same as mine, your sample will have the same random selection.</a:t>
            </a:r>
          </a:p>
          <a:p>
            <a:endParaRPr lang="en-US" dirty="0"/>
          </a:p>
          <a:p>
            <a:r>
              <a:rPr lang="en-US" dirty="0" err="1"/>
              <a:t>trainIndices</a:t>
            </a:r>
            <a:r>
              <a:rPr lang="en-US" dirty="0"/>
              <a:t> is a set of 600 indices selected from the number of observations in the titanic dataset.</a:t>
            </a:r>
          </a:p>
          <a:p>
            <a:endParaRPr lang="en-US" dirty="0"/>
          </a:p>
          <a:p>
            <a:r>
              <a:rPr lang="en-US" dirty="0"/>
              <a:t>train has 600 random observations from the titanic dataset, and test has the remaining observations.</a:t>
            </a:r>
          </a:p>
          <a:p>
            <a:endParaRPr lang="en-US" dirty="0"/>
          </a:p>
          <a:p>
            <a:r>
              <a:rPr lang="en-US" dirty="0"/>
              <a:t>The minus sign works the same way that titanic[-1,] refers to the last observation in the set.</a:t>
            </a:r>
          </a:p>
        </p:txBody>
      </p:sp>
      <p:cxnSp>
        <p:nvCxnSpPr>
          <p:cNvPr id="3" name="Straight Arrow Connector 2">
            <a:extLst>
              <a:ext uri="{FF2B5EF4-FFF2-40B4-BE49-F238E27FC236}">
                <a16:creationId xmlns:a16="http://schemas.microsoft.com/office/drawing/2014/main" id="{7CD98D4A-B7B6-2A52-A5F0-CDEE24A6D16F}"/>
              </a:ext>
            </a:extLst>
          </p:cNvPr>
          <p:cNvCxnSpPr/>
          <p:nvPr/>
        </p:nvCxnSpPr>
        <p:spPr>
          <a:xfrm>
            <a:off x="4397188" y="1425388"/>
            <a:ext cx="28438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3CF5299-579B-F1FB-C53E-83B0C6A8EF6A}"/>
              </a:ext>
            </a:extLst>
          </p:cNvPr>
          <p:cNvCxnSpPr/>
          <p:nvPr/>
        </p:nvCxnSpPr>
        <p:spPr>
          <a:xfrm>
            <a:off x="6535271" y="2541494"/>
            <a:ext cx="70578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48FF40F-FAD7-F791-25E2-D4FB9B8D5ACB}"/>
              </a:ext>
            </a:extLst>
          </p:cNvPr>
          <p:cNvCxnSpPr/>
          <p:nvPr/>
        </p:nvCxnSpPr>
        <p:spPr>
          <a:xfrm flipV="1">
            <a:off x="4007224" y="3684494"/>
            <a:ext cx="3119717" cy="699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23095AEC-ACAF-8CA7-F9BA-AF493C408DCA}"/>
              </a:ext>
            </a:extLst>
          </p:cNvPr>
          <p:cNvCxnSpPr/>
          <p:nvPr/>
        </p:nvCxnSpPr>
        <p:spPr>
          <a:xfrm>
            <a:off x="4034118" y="4706471"/>
            <a:ext cx="307937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1884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C98C6-8208-BFCA-F971-76F11A7C14BD}"/>
              </a:ext>
            </a:extLst>
          </p:cNvPr>
          <p:cNvSpPr>
            <a:spLocks noGrp="1"/>
          </p:cNvSpPr>
          <p:nvPr>
            <p:ph type="title"/>
          </p:nvPr>
        </p:nvSpPr>
        <p:spPr>
          <a:xfrm>
            <a:off x="838200" y="365126"/>
            <a:ext cx="10515600" cy="908504"/>
          </a:xfrm>
        </p:spPr>
        <p:txBody>
          <a:bodyPr>
            <a:normAutofit/>
          </a:bodyPr>
          <a:lstStyle/>
          <a:p>
            <a:r>
              <a:rPr lang="en-US" dirty="0"/>
              <a:t>Classifications with K = 3, 5, 10 (OOPS)</a:t>
            </a:r>
            <a:endParaRPr lang="en-US" sz="3200" dirty="0"/>
          </a:p>
        </p:txBody>
      </p:sp>
      <p:pic>
        <p:nvPicPr>
          <p:cNvPr id="6" name="Picture 5">
            <a:extLst>
              <a:ext uri="{FF2B5EF4-FFF2-40B4-BE49-F238E27FC236}">
                <a16:creationId xmlns:a16="http://schemas.microsoft.com/office/drawing/2014/main" id="{85FC0B74-9DEB-12AF-6990-73C20881930A}"/>
              </a:ext>
            </a:extLst>
          </p:cNvPr>
          <p:cNvPicPr>
            <a:picLocks noChangeAspect="1"/>
          </p:cNvPicPr>
          <p:nvPr/>
        </p:nvPicPr>
        <p:blipFill>
          <a:blip r:embed="rId3"/>
          <a:srcRect b="51284"/>
          <a:stretch>
            <a:fillRect/>
          </a:stretch>
        </p:blipFill>
        <p:spPr>
          <a:xfrm>
            <a:off x="166053" y="1037650"/>
            <a:ext cx="3383280" cy="1699854"/>
          </a:xfrm>
          <a:prstGeom prst="rect">
            <a:avLst/>
          </a:prstGeom>
        </p:spPr>
      </p:pic>
      <p:pic>
        <p:nvPicPr>
          <p:cNvPr id="8" name="Picture 7">
            <a:extLst>
              <a:ext uri="{FF2B5EF4-FFF2-40B4-BE49-F238E27FC236}">
                <a16:creationId xmlns:a16="http://schemas.microsoft.com/office/drawing/2014/main" id="{95A94D70-6CC2-5900-EB43-082D3C134317}"/>
              </a:ext>
            </a:extLst>
          </p:cNvPr>
          <p:cNvPicPr>
            <a:picLocks noChangeAspect="1"/>
          </p:cNvPicPr>
          <p:nvPr/>
        </p:nvPicPr>
        <p:blipFill>
          <a:blip r:embed="rId4"/>
          <a:srcRect b="53039"/>
          <a:stretch>
            <a:fillRect/>
          </a:stretch>
        </p:blipFill>
        <p:spPr>
          <a:xfrm>
            <a:off x="166053" y="2919419"/>
            <a:ext cx="3383280" cy="1716393"/>
          </a:xfrm>
          <a:prstGeom prst="rect">
            <a:avLst/>
          </a:prstGeom>
        </p:spPr>
      </p:pic>
      <p:pic>
        <p:nvPicPr>
          <p:cNvPr id="10" name="Picture 9">
            <a:extLst>
              <a:ext uri="{FF2B5EF4-FFF2-40B4-BE49-F238E27FC236}">
                <a16:creationId xmlns:a16="http://schemas.microsoft.com/office/drawing/2014/main" id="{BBF80BBB-3F65-CD4F-E61A-D16950DB6D5C}"/>
              </a:ext>
            </a:extLst>
          </p:cNvPr>
          <p:cNvPicPr>
            <a:picLocks noChangeAspect="1"/>
          </p:cNvPicPr>
          <p:nvPr/>
        </p:nvPicPr>
        <p:blipFill>
          <a:blip r:embed="rId5"/>
          <a:srcRect b="53039"/>
          <a:stretch>
            <a:fillRect/>
          </a:stretch>
        </p:blipFill>
        <p:spPr>
          <a:xfrm>
            <a:off x="166053" y="4817727"/>
            <a:ext cx="3383280" cy="1675619"/>
          </a:xfrm>
          <a:prstGeom prst="rect">
            <a:avLst/>
          </a:prstGeom>
        </p:spPr>
      </p:pic>
      <p:sp>
        <p:nvSpPr>
          <p:cNvPr id="11" name="TextBox 10">
            <a:extLst>
              <a:ext uri="{FF2B5EF4-FFF2-40B4-BE49-F238E27FC236}">
                <a16:creationId xmlns:a16="http://schemas.microsoft.com/office/drawing/2014/main" id="{1D2362DE-97DC-70F9-EB37-579AFBBF504A}"/>
              </a:ext>
            </a:extLst>
          </p:cNvPr>
          <p:cNvSpPr txBox="1"/>
          <p:nvPr/>
        </p:nvSpPr>
        <p:spPr>
          <a:xfrm>
            <a:off x="4524017" y="4501138"/>
            <a:ext cx="5690793" cy="1477328"/>
          </a:xfrm>
          <a:prstGeom prst="rect">
            <a:avLst/>
          </a:prstGeom>
          <a:noFill/>
        </p:spPr>
        <p:txBody>
          <a:bodyPr wrap="square" rtlCol="0">
            <a:spAutoFit/>
          </a:bodyPr>
          <a:lstStyle/>
          <a:p>
            <a:r>
              <a:rPr lang="en-US" dirty="0"/>
              <a:t>Why does the outcome look the same for different values of k? OH!! I thought Age was in column 7, but it was really in column 6. So, how do I avoid this mistake? Is there a programmatic way to find column index by the header name?</a:t>
            </a:r>
          </a:p>
        </p:txBody>
      </p:sp>
      <p:pic>
        <p:nvPicPr>
          <p:cNvPr id="13" name="Picture 12">
            <a:extLst>
              <a:ext uri="{FF2B5EF4-FFF2-40B4-BE49-F238E27FC236}">
                <a16:creationId xmlns:a16="http://schemas.microsoft.com/office/drawing/2014/main" id="{D9D5BBF9-A881-2C91-7301-94B3E5800D1B}"/>
              </a:ext>
            </a:extLst>
          </p:cNvPr>
          <p:cNvPicPr>
            <a:picLocks noChangeAspect="1"/>
          </p:cNvPicPr>
          <p:nvPr/>
        </p:nvPicPr>
        <p:blipFill>
          <a:blip r:embed="rId6"/>
          <a:stretch>
            <a:fillRect/>
          </a:stretch>
        </p:blipFill>
        <p:spPr>
          <a:xfrm>
            <a:off x="4524017" y="1363712"/>
            <a:ext cx="5690793" cy="29316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19821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5EFB-3F18-9704-F196-91EF91E4B75D}"/>
              </a:ext>
            </a:extLst>
          </p:cNvPr>
          <p:cNvSpPr>
            <a:spLocks noGrp="1"/>
          </p:cNvSpPr>
          <p:nvPr>
            <p:ph type="title"/>
          </p:nvPr>
        </p:nvSpPr>
        <p:spPr/>
        <p:txBody>
          <a:bodyPr>
            <a:normAutofit/>
          </a:bodyPr>
          <a:lstStyle/>
          <a:p>
            <a:r>
              <a:rPr lang="en-US" sz="4000" dirty="0"/>
              <a:t>Classification Accuracy, Sensitivity, and Specificity</a:t>
            </a:r>
          </a:p>
        </p:txBody>
      </p:sp>
      <p:pic>
        <p:nvPicPr>
          <p:cNvPr id="4" name="Picture 3">
            <a:extLst>
              <a:ext uri="{FF2B5EF4-FFF2-40B4-BE49-F238E27FC236}">
                <a16:creationId xmlns:a16="http://schemas.microsoft.com/office/drawing/2014/main" id="{1DFA3C00-ED32-40BC-9AD4-E41C6874F946}"/>
              </a:ext>
            </a:extLst>
          </p:cNvPr>
          <p:cNvPicPr>
            <a:picLocks noChangeAspect="1"/>
          </p:cNvPicPr>
          <p:nvPr/>
        </p:nvPicPr>
        <p:blipFill>
          <a:blip r:embed="rId2"/>
          <a:stretch>
            <a:fillRect/>
          </a:stretch>
        </p:blipFill>
        <p:spPr>
          <a:xfrm>
            <a:off x="655294" y="1893904"/>
            <a:ext cx="2624058" cy="3309622"/>
          </a:xfrm>
          <a:prstGeom prst="rect">
            <a:avLst/>
          </a:prstGeom>
        </p:spPr>
      </p:pic>
      <p:pic>
        <p:nvPicPr>
          <p:cNvPr id="5" name="Picture 4">
            <a:extLst>
              <a:ext uri="{FF2B5EF4-FFF2-40B4-BE49-F238E27FC236}">
                <a16:creationId xmlns:a16="http://schemas.microsoft.com/office/drawing/2014/main" id="{C57A6294-8AB5-B4C4-D878-792A6F848BB5}"/>
              </a:ext>
            </a:extLst>
          </p:cNvPr>
          <p:cNvPicPr>
            <a:picLocks noChangeAspect="1"/>
          </p:cNvPicPr>
          <p:nvPr/>
        </p:nvPicPr>
        <p:blipFill>
          <a:blip r:embed="rId3"/>
          <a:stretch>
            <a:fillRect/>
          </a:stretch>
        </p:blipFill>
        <p:spPr>
          <a:xfrm>
            <a:off x="3252776" y="1840739"/>
            <a:ext cx="2822180" cy="3415895"/>
          </a:xfrm>
          <a:prstGeom prst="rect">
            <a:avLst/>
          </a:prstGeom>
        </p:spPr>
      </p:pic>
      <p:pic>
        <p:nvPicPr>
          <p:cNvPr id="7" name="Picture 6">
            <a:extLst>
              <a:ext uri="{FF2B5EF4-FFF2-40B4-BE49-F238E27FC236}">
                <a16:creationId xmlns:a16="http://schemas.microsoft.com/office/drawing/2014/main" id="{35D05912-117F-834E-0074-733315984F50}"/>
              </a:ext>
            </a:extLst>
          </p:cNvPr>
          <p:cNvPicPr>
            <a:picLocks noChangeAspect="1"/>
          </p:cNvPicPr>
          <p:nvPr/>
        </p:nvPicPr>
        <p:blipFill>
          <a:blip r:embed="rId4"/>
          <a:stretch>
            <a:fillRect/>
          </a:stretch>
        </p:blipFill>
        <p:spPr>
          <a:xfrm>
            <a:off x="6048380" y="1840739"/>
            <a:ext cx="2818316" cy="3415895"/>
          </a:xfrm>
          <a:prstGeom prst="rect">
            <a:avLst/>
          </a:prstGeom>
        </p:spPr>
      </p:pic>
      <p:pic>
        <p:nvPicPr>
          <p:cNvPr id="11" name="Picture 10">
            <a:extLst>
              <a:ext uri="{FF2B5EF4-FFF2-40B4-BE49-F238E27FC236}">
                <a16:creationId xmlns:a16="http://schemas.microsoft.com/office/drawing/2014/main" id="{BD106344-3D24-AA74-73C3-1490B0F308BF}"/>
              </a:ext>
            </a:extLst>
          </p:cNvPr>
          <p:cNvPicPr>
            <a:picLocks noChangeAspect="1"/>
          </p:cNvPicPr>
          <p:nvPr/>
        </p:nvPicPr>
        <p:blipFill>
          <a:blip r:embed="rId5"/>
          <a:stretch>
            <a:fillRect/>
          </a:stretch>
        </p:blipFill>
        <p:spPr>
          <a:xfrm>
            <a:off x="8840120" y="1840739"/>
            <a:ext cx="2729486" cy="3415895"/>
          </a:xfrm>
          <a:prstGeom prst="rect">
            <a:avLst/>
          </a:prstGeom>
        </p:spPr>
      </p:pic>
      <p:sp>
        <p:nvSpPr>
          <p:cNvPr id="9" name="Rectangle 8">
            <a:extLst>
              <a:ext uri="{FF2B5EF4-FFF2-40B4-BE49-F238E27FC236}">
                <a16:creationId xmlns:a16="http://schemas.microsoft.com/office/drawing/2014/main" id="{9EB4FAD9-4882-91A1-CAC6-962F7995A76E}"/>
              </a:ext>
            </a:extLst>
          </p:cNvPr>
          <p:cNvSpPr/>
          <p:nvPr/>
        </p:nvSpPr>
        <p:spPr>
          <a:xfrm>
            <a:off x="1353587" y="3795814"/>
            <a:ext cx="9702801" cy="3850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1B3E9E-C343-A657-13F8-7E16F7556038}"/>
              </a:ext>
            </a:extLst>
          </p:cNvPr>
          <p:cNvSpPr/>
          <p:nvPr/>
        </p:nvSpPr>
        <p:spPr>
          <a:xfrm>
            <a:off x="1438647" y="2691516"/>
            <a:ext cx="9702800" cy="20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32D5D2C-FC01-B3F7-5360-40E974710D85}"/>
              </a:ext>
            </a:extLst>
          </p:cNvPr>
          <p:cNvSpPr txBox="1"/>
          <p:nvPr/>
        </p:nvSpPr>
        <p:spPr>
          <a:xfrm>
            <a:off x="1329072" y="1435395"/>
            <a:ext cx="701749" cy="369332"/>
          </a:xfrm>
          <a:prstGeom prst="rect">
            <a:avLst/>
          </a:prstGeom>
          <a:noFill/>
        </p:spPr>
        <p:txBody>
          <a:bodyPr wrap="square" rtlCol="0">
            <a:spAutoFit/>
          </a:bodyPr>
          <a:lstStyle/>
          <a:p>
            <a:r>
              <a:rPr lang="en-US" dirty="0"/>
              <a:t>k = 3</a:t>
            </a:r>
          </a:p>
        </p:txBody>
      </p:sp>
      <p:sp>
        <p:nvSpPr>
          <p:cNvPr id="13" name="TextBox 12">
            <a:extLst>
              <a:ext uri="{FF2B5EF4-FFF2-40B4-BE49-F238E27FC236}">
                <a16:creationId xmlns:a16="http://schemas.microsoft.com/office/drawing/2014/main" id="{5BB6D140-A9D1-370E-3ABE-77E478CDB0CD}"/>
              </a:ext>
            </a:extLst>
          </p:cNvPr>
          <p:cNvSpPr txBox="1"/>
          <p:nvPr/>
        </p:nvSpPr>
        <p:spPr>
          <a:xfrm>
            <a:off x="4119810" y="1435395"/>
            <a:ext cx="701749" cy="369332"/>
          </a:xfrm>
          <a:prstGeom prst="rect">
            <a:avLst/>
          </a:prstGeom>
          <a:noFill/>
        </p:spPr>
        <p:txBody>
          <a:bodyPr wrap="square" rtlCol="0">
            <a:spAutoFit/>
          </a:bodyPr>
          <a:lstStyle/>
          <a:p>
            <a:r>
              <a:rPr lang="en-US" dirty="0"/>
              <a:t>k = 5</a:t>
            </a:r>
          </a:p>
        </p:txBody>
      </p:sp>
      <p:sp>
        <p:nvSpPr>
          <p:cNvPr id="14" name="TextBox 13">
            <a:extLst>
              <a:ext uri="{FF2B5EF4-FFF2-40B4-BE49-F238E27FC236}">
                <a16:creationId xmlns:a16="http://schemas.microsoft.com/office/drawing/2014/main" id="{3F614125-78BF-54A1-0BB8-9BA984B0AE00}"/>
              </a:ext>
            </a:extLst>
          </p:cNvPr>
          <p:cNvSpPr txBox="1"/>
          <p:nvPr/>
        </p:nvSpPr>
        <p:spPr>
          <a:xfrm>
            <a:off x="6910548" y="1435395"/>
            <a:ext cx="855680" cy="369332"/>
          </a:xfrm>
          <a:prstGeom prst="rect">
            <a:avLst/>
          </a:prstGeom>
          <a:noFill/>
        </p:spPr>
        <p:txBody>
          <a:bodyPr wrap="square" rtlCol="0">
            <a:spAutoFit/>
          </a:bodyPr>
          <a:lstStyle/>
          <a:p>
            <a:r>
              <a:rPr lang="en-US" dirty="0"/>
              <a:t>k = 10</a:t>
            </a:r>
          </a:p>
        </p:txBody>
      </p:sp>
      <p:sp>
        <p:nvSpPr>
          <p:cNvPr id="15" name="TextBox 14">
            <a:extLst>
              <a:ext uri="{FF2B5EF4-FFF2-40B4-BE49-F238E27FC236}">
                <a16:creationId xmlns:a16="http://schemas.microsoft.com/office/drawing/2014/main" id="{160458B0-0E9A-EB2F-C1FB-4BD48C0DFC0D}"/>
              </a:ext>
            </a:extLst>
          </p:cNvPr>
          <p:cNvSpPr txBox="1"/>
          <p:nvPr/>
        </p:nvSpPr>
        <p:spPr>
          <a:xfrm>
            <a:off x="9855218" y="1435395"/>
            <a:ext cx="855680" cy="369332"/>
          </a:xfrm>
          <a:prstGeom prst="rect">
            <a:avLst/>
          </a:prstGeom>
          <a:noFill/>
        </p:spPr>
        <p:txBody>
          <a:bodyPr wrap="square" rtlCol="0">
            <a:spAutoFit/>
          </a:bodyPr>
          <a:lstStyle/>
          <a:p>
            <a:r>
              <a:rPr lang="en-US" dirty="0"/>
              <a:t>k = 20</a:t>
            </a:r>
          </a:p>
        </p:txBody>
      </p:sp>
      <p:sp>
        <p:nvSpPr>
          <p:cNvPr id="16" name="TextBox 15">
            <a:extLst>
              <a:ext uri="{FF2B5EF4-FFF2-40B4-BE49-F238E27FC236}">
                <a16:creationId xmlns:a16="http://schemas.microsoft.com/office/drawing/2014/main" id="{1A27249E-0B47-693D-FE19-F59BDA0B2A14}"/>
              </a:ext>
            </a:extLst>
          </p:cNvPr>
          <p:cNvSpPr txBox="1"/>
          <p:nvPr/>
        </p:nvSpPr>
        <p:spPr>
          <a:xfrm>
            <a:off x="1438647" y="5406685"/>
            <a:ext cx="9324474" cy="369332"/>
          </a:xfrm>
          <a:prstGeom prst="rect">
            <a:avLst/>
          </a:prstGeom>
          <a:noFill/>
        </p:spPr>
        <p:txBody>
          <a:bodyPr wrap="square" rtlCol="0">
            <a:spAutoFit/>
          </a:bodyPr>
          <a:lstStyle/>
          <a:p>
            <a:r>
              <a:rPr lang="en-US" dirty="0"/>
              <a:t>The accuracy, sensitivity, and specificity are comparable between these values of k.</a:t>
            </a:r>
          </a:p>
        </p:txBody>
      </p:sp>
    </p:spTree>
    <p:extLst>
      <p:ext uri="{BB962C8B-B14F-4D97-AF65-F5344CB8AC3E}">
        <p14:creationId xmlns:p14="http://schemas.microsoft.com/office/powerpoint/2010/main" val="199290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62CD3-568A-CE14-C7A1-C17C69BC213B}"/>
              </a:ext>
            </a:extLst>
          </p:cNvPr>
          <p:cNvSpPr>
            <a:spLocks noGrp="1"/>
          </p:cNvSpPr>
          <p:nvPr>
            <p:ph type="title"/>
          </p:nvPr>
        </p:nvSpPr>
        <p:spPr/>
        <p:txBody>
          <a:bodyPr/>
          <a:lstStyle/>
          <a:p>
            <a:r>
              <a:rPr lang="en-US" dirty="0"/>
              <a:t>Confusion Matrix</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4F41DD-2716-76CF-DB79-0E494CF17D5E}"/>
                  </a:ext>
                </a:extLst>
              </p:cNvPr>
              <p:cNvSpPr txBox="1"/>
              <p:nvPr/>
            </p:nvSpPr>
            <p:spPr>
              <a:xfrm>
                <a:off x="7664295" y="1430456"/>
                <a:ext cx="4095089" cy="520463"/>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𝐴𝑐𝑐𝑢𝑟𝑎𝑐𝑦</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201</m:t>
                          </m:r>
                        </m:num>
                        <m:den>
                          <m:r>
                            <a:rPr lang="en-US" b="0" i="1" smtClean="0">
                              <a:latin typeface="Cambria Math" panose="02040503050406030204" pitchFamily="18" charset="0"/>
                            </a:rPr>
                            <m:t>291</m:t>
                          </m:r>
                        </m:den>
                      </m:f>
                      <m:r>
                        <a:rPr lang="en-US" b="0" i="1" smtClean="0">
                          <a:latin typeface="Cambria Math" panose="02040503050406030204" pitchFamily="18" charset="0"/>
                        </a:rPr>
                        <m:t>=.6907</m:t>
                      </m:r>
                    </m:oMath>
                  </m:oMathPara>
                </a14:m>
                <a:endParaRPr lang="en-US" dirty="0"/>
              </a:p>
            </p:txBody>
          </p:sp>
        </mc:Choice>
        <mc:Fallback xmlns="">
          <p:sp>
            <p:nvSpPr>
              <p:cNvPr id="4" name="TextBox 3">
                <a:extLst>
                  <a:ext uri="{FF2B5EF4-FFF2-40B4-BE49-F238E27FC236}">
                    <a16:creationId xmlns:a16="http://schemas.microsoft.com/office/drawing/2014/main" id="{404F41DD-2716-76CF-DB79-0E494CF17D5E}"/>
                  </a:ext>
                </a:extLst>
              </p:cNvPr>
              <p:cNvSpPr txBox="1">
                <a:spLocks noRot="1" noChangeAspect="1" noMove="1" noResize="1" noEditPoints="1" noAdjustHandles="1" noChangeArrowheads="1" noChangeShapeType="1" noTextEdit="1"/>
              </p:cNvSpPr>
              <p:nvPr/>
            </p:nvSpPr>
            <p:spPr>
              <a:xfrm>
                <a:off x="7664295" y="1430456"/>
                <a:ext cx="4095089" cy="520463"/>
              </a:xfrm>
              <a:prstGeom prst="rect">
                <a:avLst/>
              </a:prstGeom>
              <a:blipFill>
                <a:blip r:embed="rId3"/>
                <a:stretch>
                  <a:fillRect/>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6FF4D6A8-AA11-595F-E7EC-3C013C0B94D4}"/>
              </a:ext>
            </a:extLst>
          </p:cNvPr>
          <p:cNvGraphicFramePr>
            <a:graphicFrameLocks noGrp="1"/>
          </p:cNvGraphicFramePr>
          <p:nvPr>
            <p:extLst>
              <p:ext uri="{D42A27DB-BD31-4B8C-83A1-F6EECF244321}">
                <p14:modId xmlns:p14="http://schemas.microsoft.com/office/powerpoint/2010/main" val="915223582"/>
              </p:ext>
            </p:extLst>
          </p:nvPr>
        </p:nvGraphicFramePr>
        <p:xfrm>
          <a:off x="679652" y="1895385"/>
          <a:ext cx="5989015" cy="1431668"/>
        </p:xfrm>
        <a:graphic>
          <a:graphicData uri="http://schemas.openxmlformats.org/drawingml/2006/table">
            <a:tbl>
              <a:tblPr firstRow="1" bandRow="1">
                <a:tableStyleId>{5C22544A-7EE6-4342-B048-85BDC9FD1C3A}</a:tableStyleId>
              </a:tblPr>
              <a:tblGrid>
                <a:gridCol w="700175">
                  <a:extLst>
                    <a:ext uri="{9D8B030D-6E8A-4147-A177-3AD203B41FA5}">
                      <a16:colId xmlns:a16="http://schemas.microsoft.com/office/drawing/2014/main" val="3433300544"/>
                    </a:ext>
                  </a:extLst>
                </a:gridCol>
                <a:gridCol w="2584465">
                  <a:extLst>
                    <a:ext uri="{9D8B030D-6E8A-4147-A177-3AD203B41FA5}">
                      <a16:colId xmlns:a16="http://schemas.microsoft.com/office/drawing/2014/main" val="2386965159"/>
                    </a:ext>
                  </a:extLst>
                </a:gridCol>
                <a:gridCol w="2704375">
                  <a:extLst>
                    <a:ext uri="{9D8B030D-6E8A-4147-A177-3AD203B41FA5}">
                      <a16:colId xmlns:a16="http://schemas.microsoft.com/office/drawing/2014/main" val="1268968205"/>
                    </a:ext>
                  </a:extLst>
                </a:gridCol>
              </a:tblGrid>
              <a:tr h="489328">
                <a:tc>
                  <a:txBody>
                    <a:bodyPr/>
                    <a:lstStyle/>
                    <a:p>
                      <a:endParaRPr lang="en-US" dirty="0"/>
                    </a:p>
                  </a:txBody>
                  <a:tcPr/>
                </a:tc>
                <a:tc>
                  <a:txBody>
                    <a:bodyPr/>
                    <a:lstStyle/>
                    <a:p>
                      <a:r>
                        <a:rPr lang="en-US" dirty="0"/>
                        <a:t>0 - Died</a:t>
                      </a:r>
                    </a:p>
                  </a:txBody>
                  <a:tcPr/>
                </a:tc>
                <a:tc>
                  <a:txBody>
                    <a:bodyPr/>
                    <a:lstStyle/>
                    <a:p>
                      <a:r>
                        <a:rPr lang="en-US" dirty="0"/>
                        <a:t>1 - Survived</a:t>
                      </a:r>
                    </a:p>
                  </a:txBody>
                  <a:tcPr/>
                </a:tc>
                <a:extLst>
                  <a:ext uri="{0D108BD9-81ED-4DB2-BD59-A6C34878D82A}">
                    <a16:rowId xmlns:a16="http://schemas.microsoft.com/office/drawing/2014/main" val="2602834319"/>
                  </a:ext>
                </a:extLst>
              </a:tr>
              <a:tr h="571500">
                <a:tc>
                  <a:txBody>
                    <a:bodyPr/>
                    <a:lstStyle/>
                    <a:p>
                      <a:r>
                        <a:rPr lang="en-US" dirty="0"/>
                        <a:t>0</a:t>
                      </a:r>
                    </a:p>
                  </a:txBody>
                  <a:tcPr/>
                </a:tc>
                <a:tc>
                  <a:txBody>
                    <a:bodyPr/>
                    <a:lstStyle/>
                    <a:p>
                      <a:r>
                        <a:rPr lang="en-US" dirty="0"/>
                        <a:t>151</a:t>
                      </a:r>
                    </a:p>
                  </a:txBody>
                  <a:tcPr/>
                </a:tc>
                <a:tc>
                  <a:txBody>
                    <a:bodyPr/>
                    <a:lstStyle/>
                    <a:p>
                      <a:r>
                        <a:rPr lang="en-US" dirty="0"/>
                        <a:t>54</a:t>
                      </a:r>
                    </a:p>
                  </a:txBody>
                  <a:tcPr/>
                </a:tc>
                <a:extLst>
                  <a:ext uri="{0D108BD9-81ED-4DB2-BD59-A6C34878D82A}">
                    <a16:rowId xmlns:a16="http://schemas.microsoft.com/office/drawing/2014/main" val="529343407"/>
                  </a:ext>
                </a:extLst>
              </a:tr>
              <a:tr h="370840">
                <a:tc>
                  <a:txBody>
                    <a:bodyPr/>
                    <a:lstStyle/>
                    <a:p>
                      <a:r>
                        <a:rPr lang="en-US" dirty="0"/>
                        <a:t>1</a:t>
                      </a:r>
                    </a:p>
                  </a:txBody>
                  <a:tcPr/>
                </a:tc>
                <a:tc>
                  <a:txBody>
                    <a:bodyPr/>
                    <a:lstStyle/>
                    <a:p>
                      <a:r>
                        <a:rPr lang="en-US" dirty="0"/>
                        <a:t>36</a:t>
                      </a:r>
                    </a:p>
                  </a:txBody>
                  <a:tcPr/>
                </a:tc>
                <a:tc>
                  <a:txBody>
                    <a:bodyPr/>
                    <a:lstStyle/>
                    <a:p>
                      <a:r>
                        <a:rPr lang="en-US" dirty="0"/>
                        <a:t>50</a:t>
                      </a:r>
                    </a:p>
                  </a:txBody>
                  <a:tcPr/>
                </a:tc>
                <a:extLst>
                  <a:ext uri="{0D108BD9-81ED-4DB2-BD59-A6C34878D82A}">
                    <a16:rowId xmlns:a16="http://schemas.microsoft.com/office/drawing/2014/main" val="3966550298"/>
                  </a:ext>
                </a:extLst>
              </a:tr>
            </a:tbl>
          </a:graphicData>
        </a:graphic>
      </p:graphicFrame>
      <p:sp>
        <p:nvSpPr>
          <p:cNvPr id="6" name="TextBox 5">
            <a:extLst>
              <a:ext uri="{FF2B5EF4-FFF2-40B4-BE49-F238E27FC236}">
                <a16:creationId xmlns:a16="http://schemas.microsoft.com/office/drawing/2014/main" id="{6FF928B6-B1F3-1861-1F98-9BA2B29EF070}"/>
              </a:ext>
            </a:extLst>
          </p:cNvPr>
          <p:cNvSpPr txBox="1"/>
          <p:nvPr/>
        </p:nvSpPr>
        <p:spPr>
          <a:xfrm rot="16200000">
            <a:off x="-535607" y="2426553"/>
            <a:ext cx="1843266" cy="369332"/>
          </a:xfrm>
          <a:prstGeom prst="rect">
            <a:avLst/>
          </a:prstGeom>
          <a:noFill/>
        </p:spPr>
        <p:txBody>
          <a:bodyPr wrap="square" rtlCol="0">
            <a:noAutofit/>
          </a:bodyPr>
          <a:lstStyle/>
          <a:p>
            <a:pPr algn="ctr"/>
            <a:r>
              <a:rPr lang="en-US" b="1" dirty="0"/>
              <a:t>Classifications</a:t>
            </a:r>
          </a:p>
        </p:txBody>
      </p:sp>
      <p:sp>
        <p:nvSpPr>
          <p:cNvPr id="7" name="TextBox 6">
            <a:extLst>
              <a:ext uri="{FF2B5EF4-FFF2-40B4-BE49-F238E27FC236}">
                <a16:creationId xmlns:a16="http://schemas.microsoft.com/office/drawing/2014/main" id="{9E0BE5EE-B586-D2D8-08D7-018E26BABC35}"/>
              </a:ext>
            </a:extLst>
          </p:cNvPr>
          <p:cNvSpPr txBox="1"/>
          <p:nvPr/>
        </p:nvSpPr>
        <p:spPr>
          <a:xfrm>
            <a:off x="2766628" y="1598686"/>
            <a:ext cx="2632086" cy="292104"/>
          </a:xfrm>
          <a:prstGeom prst="rect">
            <a:avLst/>
          </a:prstGeom>
          <a:noFill/>
        </p:spPr>
        <p:txBody>
          <a:bodyPr wrap="square" rtlCol="0">
            <a:noAutofit/>
          </a:bodyPr>
          <a:lstStyle/>
          <a:p>
            <a:pPr algn="ctr"/>
            <a:r>
              <a:rPr lang="en-US" b="1" dirty="0"/>
              <a:t>True Survival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3BF4C6-24DD-1B0C-E881-FD5B6A1A0C0A}"/>
                  </a:ext>
                </a:extLst>
              </p:cNvPr>
              <p:cNvSpPr txBox="1"/>
              <p:nvPr/>
            </p:nvSpPr>
            <p:spPr>
              <a:xfrm>
                <a:off x="6959408" y="2196974"/>
                <a:ext cx="2246577" cy="520463"/>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𝑀𝑖𝑠𝑠𝑐𝑙𝑎𝑠𝑠𝑖𝑓𝑖𝑐𝑎𝑡𝑖𝑜𝑛</m:t>
                      </m:r>
                      <m:r>
                        <a:rPr lang="en-US" b="0" i="1" smtClean="0">
                          <a:latin typeface="Cambria Math" panose="02040503050406030204" pitchFamily="18" charset="0"/>
                        </a:rPr>
                        <m:t> </m:t>
                      </m:r>
                      <m:r>
                        <a:rPr lang="en-US" b="0" i="1" smtClean="0">
                          <a:latin typeface="Cambria Math" panose="02040503050406030204" pitchFamily="18" charset="0"/>
                        </a:rPr>
                        <m:t>𝑅𝑎𝑡𝑒</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90</m:t>
                          </m:r>
                        </m:num>
                        <m:den>
                          <m:r>
                            <a:rPr lang="en-US" b="0" i="1" smtClean="0">
                              <a:latin typeface="Cambria Math" panose="02040503050406030204" pitchFamily="18" charset="0"/>
                            </a:rPr>
                            <m:t>291</m:t>
                          </m:r>
                        </m:den>
                      </m:f>
                      <m:r>
                        <a:rPr lang="en-US" b="0" i="1" smtClean="0">
                          <a:latin typeface="Cambria Math" panose="02040503050406030204" pitchFamily="18" charset="0"/>
                        </a:rPr>
                        <m:t>=.3093</m:t>
                      </m:r>
                    </m:oMath>
                  </m:oMathPara>
                </a14:m>
                <a:endParaRPr lang="en-US" dirty="0"/>
              </a:p>
            </p:txBody>
          </p:sp>
        </mc:Choice>
        <mc:Fallback xmlns="">
          <p:sp>
            <p:nvSpPr>
              <p:cNvPr id="8" name="TextBox 7">
                <a:extLst>
                  <a:ext uri="{FF2B5EF4-FFF2-40B4-BE49-F238E27FC236}">
                    <a16:creationId xmlns:a16="http://schemas.microsoft.com/office/drawing/2014/main" id="{D03BF4C6-24DD-1B0C-E881-FD5B6A1A0C0A}"/>
                  </a:ext>
                </a:extLst>
              </p:cNvPr>
              <p:cNvSpPr txBox="1">
                <a:spLocks noRot="1" noChangeAspect="1" noMove="1" noResize="1" noEditPoints="1" noAdjustHandles="1" noChangeArrowheads="1" noChangeShapeType="1" noTextEdit="1"/>
              </p:cNvSpPr>
              <p:nvPr/>
            </p:nvSpPr>
            <p:spPr>
              <a:xfrm>
                <a:off x="6959408" y="2196974"/>
                <a:ext cx="2246577" cy="520463"/>
              </a:xfrm>
              <a:prstGeom prst="rect">
                <a:avLst/>
              </a:prstGeom>
              <a:blipFill>
                <a:blip r:embed="rId4"/>
                <a:stretch>
                  <a:fillRect r="-79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BBBB656-21AC-5EE6-6BD9-CB0CD545AC9B}"/>
                  </a:ext>
                </a:extLst>
              </p:cNvPr>
              <p:cNvSpPr txBox="1"/>
              <p:nvPr/>
            </p:nvSpPr>
            <p:spPr>
              <a:xfrm>
                <a:off x="7522781" y="2963492"/>
                <a:ext cx="4095089" cy="520463"/>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𝑆𝑒𝑛𝑠𝑖𝑡𝑖𝑣𝑖𝑡𝑦</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151</m:t>
                          </m:r>
                        </m:num>
                        <m:den>
                          <m:r>
                            <a:rPr lang="en-US" b="0" i="1" smtClean="0">
                              <a:latin typeface="Cambria Math" panose="02040503050406030204" pitchFamily="18" charset="0"/>
                            </a:rPr>
                            <m:t>187</m:t>
                          </m:r>
                        </m:den>
                      </m:f>
                      <m:r>
                        <a:rPr lang="en-US" b="0" i="1" smtClean="0">
                          <a:latin typeface="Cambria Math" panose="02040503050406030204" pitchFamily="18" charset="0"/>
                        </a:rPr>
                        <m:t>=.807</m:t>
                      </m:r>
                    </m:oMath>
                  </m:oMathPara>
                </a14:m>
                <a:endParaRPr lang="en-US" dirty="0"/>
              </a:p>
            </p:txBody>
          </p:sp>
        </mc:Choice>
        <mc:Fallback xmlns="">
          <p:sp>
            <p:nvSpPr>
              <p:cNvPr id="9" name="TextBox 8">
                <a:extLst>
                  <a:ext uri="{FF2B5EF4-FFF2-40B4-BE49-F238E27FC236}">
                    <a16:creationId xmlns:a16="http://schemas.microsoft.com/office/drawing/2014/main" id="{8BBBB656-21AC-5EE6-6BD9-CB0CD545AC9B}"/>
                  </a:ext>
                </a:extLst>
              </p:cNvPr>
              <p:cNvSpPr txBox="1">
                <a:spLocks noRot="1" noChangeAspect="1" noMove="1" noResize="1" noEditPoints="1" noAdjustHandles="1" noChangeArrowheads="1" noChangeShapeType="1" noTextEdit="1"/>
              </p:cNvSpPr>
              <p:nvPr/>
            </p:nvSpPr>
            <p:spPr>
              <a:xfrm>
                <a:off x="7522781" y="2963492"/>
                <a:ext cx="4095089" cy="52046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2A3E98D-E924-86EB-CF33-5DA0AB644B37}"/>
                  </a:ext>
                </a:extLst>
              </p:cNvPr>
              <p:cNvSpPr txBox="1"/>
              <p:nvPr/>
            </p:nvSpPr>
            <p:spPr>
              <a:xfrm>
                <a:off x="7587065" y="3732432"/>
                <a:ext cx="4095089" cy="520463"/>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𝑆𝑝𝑒𝑐𝑖𝑓𝑖𝑐𝑖𝑡𝑦</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50</m:t>
                          </m:r>
                        </m:num>
                        <m:den>
                          <m:r>
                            <a:rPr lang="en-US" b="0" i="1" smtClean="0">
                              <a:latin typeface="Cambria Math" panose="02040503050406030204" pitchFamily="18" charset="0"/>
                            </a:rPr>
                            <m:t>104</m:t>
                          </m:r>
                        </m:den>
                      </m:f>
                      <m:r>
                        <a:rPr lang="en-US" b="0" i="1" smtClean="0">
                          <a:latin typeface="Cambria Math" panose="02040503050406030204" pitchFamily="18" charset="0"/>
                        </a:rPr>
                        <m:t>=.480</m:t>
                      </m:r>
                    </m:oMath>
                  </m:oMathPara>
                </a14:m>
                <a:endParaRPr lang="en-US" dirty="0"/>
              </a:p>
            </p:txBody>
          </p:sp>
        </mc:Choice>
        <mc:Fallback xmlns="">
          <p:sp>
            <p:nvSpPr>
              <p:cNvPr id="10" name="TextBox 9">
                <a:extLst>
                  <a:ext uri="{FF2B5EF4-FFF2-40B4-BE49-F238E27FC236}">
                    <a16:creationId xmlns:a16="http://schemas.microsoft.com/office/drawing/2014/main" id="{42A3E98D-E924-86EB-CF33-5DA0AB644B37}"/>
                  </a:ext>
                </a:extLst>
              </p:cNvPr>
              <p:cNvSpPr txBox="1">
                <a:spLocks noRot="1" noChangeAspect="1" noMove="1" noResize="1" noEditPoints="1" noAdjustHandles="1" noChangeArrowheads="1" noChangeShapeType="1" noTextEdit="1"/>
              </p:cNvSpPr>
              <p:nvPr/>
            </p:nvSpPr>
            <p:spPr>
              <a:xfrm>
                <a:off x="7587065" y="3732432"/>
                <a:ext cx="4095089" cy="520463"/>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5999F19-249B-B421-F575-9A85E87FF7DD}"/>
              </a:ext>
            </a:extLst>
          </p:cNvPr>
          <p:cNvSpPr txBox="1"/>
          <p:nvPr/>
        </p:nvSpPr>
        <p:spPr>
          <a:xfrm>
            <a:off x="679652" y="4002873"/>
            <a:ext cx="5313237" cy="1200329"/>
          </a:xfrm>
          <a:prstGeom prst="rect">
            <a:avLst/>
          </a:prstGeom>
          <a:noFill/>
        </p:spPr>
        <p:txBody>
          <a:bodyPr wrap="square" rtlCol="0">
            <a:spAutoFit/>
          </a:bodyPr>
          <a:lstStyle/>
          <a:p>
            <a:r>
              <a:rPr lang="en-US" dirty="0"/>
              <a:t>What do sensitivity and specificity actually mean?</a:t>
            </a:r>
          </a:p>
          <a:p>
            <a:endParaRPr lang="en-US" dirty="0"/>
          </a:p>
          <a:p>
            <a:r>
              <a:rPr lang="en-US" dirty="0"/>
              <a:t>I assume survived =1 to be successes (positives), and survived =0 to be failures (negatives)</a:t>
            </a:r>
          </a:p>
        </p:txBody>
      </p:sp>
      <p:sp>
        <p:nvSpPr>
          <p:cNvPr id="16" name="TextBox 15">
            <a:extLst>
              <a:ext uri="{FF2B5EF4-FFF2-40B4-BE49-F238E27FC236}">
                <a16:creationId xmlns:a16="http://schemas.microsoft.com/office/drawing/2014/main" id="{0E64FEE8-923E-DC09-B481-41AE04DBB501}"/>
              </a:ext>
            </a:extLst>
          </p:cNvPr>
          <p:cNvSpPr txBox="1"/>
          <p:nvPr/>
        </p:nvSpPr>
        <p:spPr>
          <a:xfrm>
            <a:off x="4617404" y="2893009"/>
            <a:ext cx="1737360" cy="365760"/>
          </a:xfrm>
          <a:prstGeom prst="rect">
            <a:avLst/>
          </a:prstGeom>
          <a:noFill/>
          <a:ln>
            <a:solidFill>
              <a:schemeClr val="tx1"/>
            </a:solidFill>
          </a:ln>
        </p:spPr>
        <p:txBody>
          <a:bodyPr wrap="square" rtlCol="0">
            <a:spAutoFit/>
          </a:bodyPr>
          <a:lstStyle/>
          <a:p>
            <a:r>
              <a:rPr lang="en-US" dirty="0"/>
              <a:t>True positive</a:t>
            </a:r>
          </a:p>
        </p:txBody>
      </p:sp>
      <p:sp>
        <p:nvSpPr>
          <p:cNvPr id="17" name="TextBox 16">
            <a:extLst>
              <a:ext uri="{FF2B5EF4-FFF2-40B4-BE49-F238E27FC236}">
                <a16:creationId xmlns:a16="http://schemas.microsoft.com/office/drawing/2014/main" id="{76B4AC7E-4423-D06E-3205-DD1012063D7C}"/>
              </a:ext>
            </a:extLst>
          </p:cNvPr>
          <p:cNvSpPr txBox="1"/>
          <p:nvPr/>
        </p:nvSpPr>
        <p:spPr>
          <a:xfrm>
            <a:off x="2117380" y="2893009"/>
            <a:ext cx="1737360" cy="365760"/>
          </a:xfrm>
          <a:prstGeom prst="rect">
            <a:avLst/>
          </a:prstGeom>
          <a:noFill/>
          <a:ln>
            <a:solidFill>
              <a:schemeClr val="tx1"/>
            </a:solidFill>
          </a:ln>
        </p:spPr>
        <p:txBody>
          <a:bodyPr wrap="square" rtlCol="0">
            <a:spAutoFit/>
          </a:bodyPr>
          <a:lstStyle>
            <a:defPPr>
              <a:defRPr lang="en-US"/>
            </a:defPPr>
            <a:lvl1pPr>
              <a:defRPr/>
            </a:lvl1pPr>
          </a:lstStyle>
          <a:p>
            <a:r>
              <a:rPr lang="en-US" dirty="0"/>
              <a:t>False positive</a:t>
            </a:r>
          </a:p>
        </p:txBody>
      </p:sp>
      <p:sp>
        <p:nvSpPr>
          <p:cNvPr id="18" name="TextBox 17">
            <a:extLst>
              <a:ext uri="{FF2B5EF4-FFF2-40B4-BE49-F238E27FC236}">
                <a16:creationId xmlns:a16="http://schemas.microsoft.com/office/drawing/2014/main" id="{376CD52B-F12D-FB01-6E23-AB2C518B724A}"/>
              </a:ext>
            </a:extLst>
          </p:cNvPr>
          <p:cNvSpPr txBox="1"/>
          <p:nvPr/>
        </p:nvSpPr>
        <p:spPr>
          <a:xfrm>
            <a:off x="2117380" y="2393431"/>
            <a:ext cx="1737360" cy="365760"/>
          </a:xfrm>
          <a:prstGeom prst="rect">
            <a:avLst/>
          </a:prstGeom>
          <a:noFill/>
          <a:ln>
            <a:solidFill>
              <a:schemeClr val="tx1"/>
            </a:solidFill>
          </a:ln>
        </p:spPr>
        <p:txBody>
          <a:bodyPr wrap="square" rtlCol="0">
            <a:spAutoFit/>
          </a:bodyPr>
          <a:lstStyle>
            <a:defPPr>
              <a:defRPr lang="en-US"/>
            </a:defPPr>
            <a:lvl1pPr>
              <a:defRPr/>
            </a:lvl1pPr>
          </a:lstStyle>
          <a:p>
            <a:r>
              <a:rPr lang="en-US" dirty="0"/>
              <a:t>True negative</a:t>
            </a:r>
          </a:p>
        </p:txBody>
      </p:sp>
      <p:sp>
        <p:nvSpPr>
          <p:cNvPr id="19" name="TextBox 18">
            <a:extLst>
              <a:ext uri="{FF2B5EF4-FFF2-40B4-BE49-F238E27FC236}">
                <a16:creationId xmlns:a16="http://schemas.microsoft.com/office/drawing/2014/main" id="{697444D4-32F1-3322-CEC6-08FB6AB6F3D7}"/>
              </a:ext>
            </a:extLst>
          </p:cNvPr>
          <p:cNvSpPr txBox="1"/>
          <p:nvPr/>
        </p:nvSpPr>
        <p:spPr>
          <a:xfrm>
            <a:off x="4617404" y="2393431"/>
            <a:ext cx="1737360" cy="365760"/>
          </a:xfrm>
          <a:prstGeom prst="rect">
            <a:avLst/>
          </a:prstGeom>
          <a:noFill/>
          <a:ln>
            <a:solidFill>
              <a:schemeClr val="tx1"/>
            </a:solidFill>
          </a:ln>
        </p:spPr>
        <p:txBody>
          <a:bodyPr wrap="square" rtlCol="0">
            <a:spAutoFit/>
          </a:bodyPr>
          <a:lstStyle>
            <a:defPPr>
              <a:defRPr lang="en-US"/>
            </a:defPPr>
            <a:lvl1pPr>
              <a:defRPr/>
            </a:lvl1pPr>
          </a:lstStyle>
          <a:p>
            <a:r>
              <a:rPr lang="en-US" dirty="0"/>
              <a:t>False negative</a:t>
            </a:r>
          </a:p>
        </p:txBody>
      </p:sp>
    </p:spTree>
    <p:extLst>
      <p:ext uri="{BB962C8B-B14F-4D97-AF65-F5344CB8AC3E}">
        <p14:creationId xmlns:p14="http://schemas.microsoft.com/office/powerpoint/2010/main" val="3036740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138E-D597-3471-3B10-75D8BA1DE7CB}"/>
              </a:ext>
            </a:extLst>
          </p:cNvPr>
          <p:cNvSpPr>
            <a:spLocks noGrp="1"/>
          </p:cNvSpPr>
          <p:nvPr>
            <p:ph type="title"/>
          </p:nvPr>
        </p:nvSpPr>
        <p:spPr>
          <a:xfrm>
            <a:off x="838200" y="365126"/>
            <a:ext cx="10515600" cy="924832"/>
          </a:xfrm>
        </p:spPr>
        <p:txBody>
          <a:bodyPr>
            <a:noAutofit/>
          </a:bodyPr>
          <a:lstStyle/>
          <a:p>
            <a:r>
              <a:rPr lang="en-US" sz="2800" dirty="0"/>
              <a:t>Survival Probability of a 75-year-old in Different Passenger Classes</a:t>
            </a:r>
          </a:p>
        </p:txBody>
      </p:sp>
      <p:pic>
        <p:nvPicPr>
          <p:cNvPr id="4" name="Picture 3">
            <a:extLst>
              <a:ext uri="{FF2B5EF4-FFF2-40B4-BE49-F238E27FC236}">
                <a16:creationId xmlns:a16="http://schemas.microsoft.com/office/drawing/2014/main" id="{A4FBFECB-F643-40B1-E9B2-5012271153D0}"/>
              </a:ext>
            </a:extLst>
          </p:cNvPr>
          <p:cNvPicPr>
            <a:picLocks noChangeAspect="1"/>
          </p:cNvPicPr>
          <p:nvPr/>
        </p:nvPicPr>
        <p:blipFill>
          <a:blip r:embed="rId3"/>
          <a:stretch>
            <a:fillRect/>
          </a:stretch>
        </p:blipFill>
        <p:spPr>
          <a:xfrm>
            <a:off x="196018" y="1757437"/>
            <a:ext cx="6258115" cy="4132718"/>
          </a:xfrm>
          <a:prstGeom prst="rect">
            <a:avLst/>
          </a:prstGeom>
        </p:spPr>
      </p:pic>
      <p:pic>
        <p:nvPicPr>
          <p:cNvPr id="7" name="Picture 6">
            <a:extLst>
              <a:ext uri="{FF2B5EF4-FFF2-40B4-BE49-F238E27FC236}">
                <a16:creationId xmlns:a16="http://schemas.microsoft.com/office/drawing/2014/main" id="{29B66FB9-6331-7018-7964-C5ACA67AF178}"/>
              </a:ext>
            </a:extLst>
          </p:cNvPr>
          <p:cNvPicPr>
            <a:picLocks noChangeAspect="1"/>
          </p:cNvPicPr>
          <p:nvPr/>
        </p:nvPicPr>
        <p:blipFill>
          <a:blip r:embed="rId4"/>
          <a:stretch>
            <a:fillRect/>
          </a:stretch>
        </p:blipFill>
        <p:spPr>
          <a:xfrm>
            <a:off x="6651711" y="1191833"/>
            <a:ext cx="5344271" cy="4839375"/>
          </a:xfrm>
          <a:prstGeom prst="rect">
            <a:avLst/>
          </a:prstGeom>
        </p:spPr>
      </p:pic>
      <p:sp>
        <p:nvSpPr>
          <p:cNvPr id="5" name="TextBox 4">
            <a:extLst>
              <a:ext uri="{FF2B5EF4-FFF2-40B4-BE49-F238E27FC236}">
                <a16:creationId xmlns:a16="http://schemas.microsoft.com/office/drawing/2014/main" id="{FF62073F-B1B0-37EE-2479-1C5C5EF80ADB}"/>
              </a:ext>
            </a:extLst>
          </p:cNvPr>
          <p:cNvSpPr txBox="1"/>
          <p:nvPr/>
        </p:nvSpPr>
        <p:spPr>
          <a:xfrm>
            <a:off x="8249661" y="5268747"/>
            <a:ext cx="3548743" cy="1477328"/>
          </a:xfrm>
          <a:prstGeom prst="rect">
            <a:avLst/>
          </a:prstGeom>
          <a:noFill/>
          <a:ln>
            <a:solidFill>
              <a:schemeClr val="tx1"/>
            </a:solidFill>
          </a:ln>
        </p:spPr>
        <p:txBody>
          <a:bodyPr wrap="square" rtlCol="0">
            <a:spAutoFit/>
          </a:bodyPr>
          <a:lstStyle/>
          <a:p>
            <a:r>
              <a:rPr lang="en-US" dirty="0"/>
              <a:t>For a passenger aged 75, in any class they would likely not have survived, but it makes sense that the probability of survival slightly increases in higher classes.</a:t>
            </a:r>
          </a:p>
        </p:txBody>
      </p:sp>
      <p:sp>
        <p:nvSpPr>
          <p:cNvPr id="8" name="TextBox 7">
            <a:extLst>
              <a:ext uri="{FF2B5EF4-FFF2-40B4-BE49-F238E27FC236}">
                <a16:creationId xmlns:a16="http://schemas.microsoft.com/office/drawing/2014/main" id="{2E9716B4-9925-5E51-1350-E72B7D8AA05C}"/>
              </a:ext>
            </a:extLst>
          </p:cNvPr>
          <p:cNvSpPr txBox="1"/>
          <p:nvPr/>
        </p:nvSpPr>
        <p:spPr>
          <a:xfrm>
            <a:off x="3525253" y="4730707"/>
            <a:ext cx="2787316" cy="400110"/>
          </a:xfrm>
          <a:prstGeom prst="rect">
            <a:avLst/>
          </a:prstGeom>
          <a:noFill/>
        </p:spPr>
        <p:txBody>
          <a:bodyPr wrap="square" rtlCol="0">
            <a:spAutoFit/>
          </a:bodyPr>
          <a:lstStyle/>
          <a:p>
            <a:r>
              <a:rPr lang="en-US" sz="2000" dirty="0"/>
              <a:t>1</a:t>
            </a:r>
            <a:r>
              <a:rPr lang="en-US" sz="2000" baseline="30000" dirty="0"/>
              <a:t>st</a:t>
            </a:r>
            <a:r>
              <a:rPr lang="en-US" sz="2000" dirty="0"/>
              <a:t> class: 53.8%</a:t>
            </a:r>
            <a:endParaRPr lang="en-US" dirty="0"/>
          </a:p>
        </p:txBody>
      </p:sp>
      <p:sp>
        <p:nvSpPr>
          <p:cNvPr id="9" name="TextBox 8">
            <a:extLst>
              <a:ext uri="{FF2B5EF4-FFF2-40B4-BE49-F238E27FC236}">
                <a16:creationId xmlns:a16="http://schemas.microsoft.com/office/drawing/2014/main" id="{D8BCFF13-AE21-99E2-CDBA-0F24EB9BE418}"/>
              </a:ext>
            </a:extLst>
          </p:cNvPr>
          <p:cNvSpPr txBox="1"/>
          <p:nvPr/>
        </p:nvSpPr>
        <p:spPr>
          <a:xfrm>
            <a:off x="3525253" y="3411465"/>
            <a:ext cx="2787316" cy="400110"/>
          </a:xfrm>
          <a:prstGeom prst="rect">
            <a:avLst/>
          </a:prstGeom>
          <a:noFill/>
        </p:spPr>
        <p:txBody>
          <a:bodyPr wrap="square" rtlCol="0">
            <a:spAutoFit/>
          </a:bodyPr>
          <a:lstStyle/>
          <a:p>
            <a:r>
              <a:rPr lang="en-US" sz="2000" dirty="0"/>
              <a:t>2</a:t>
            </a:r>
            <a:r>
              <a:rPr lang="en-US" sz="2000" baseline="30000" dirty="0"/>
              <a:t>nd</a:t>
            </a:r>
            <a:r>
              <a:rPr lang="en-US" sz="2000" dirty="0"/>
              <a:t> class: 45.5%</a:t>
            </a:r>
            <a:endParaRPr lang="en-US" dirty="0"/>
          </a:p>
        </p:txBody>
      </p:sp>
      <p:sp>
        <p:nvSpPr>
          <p:cNvPr id="10" name="TextBox 9">
            <a:extLst>
              <a:ext uri="{FF2B5EF4-FFF2-40B4-BE49-F238E27FC236}">
                <a16:creationId xmlns:a16="http://schemas.microsoft.com/office/drawing/2014/main" id="{A86C2FDC-D837-F0DB-F9C6-F93A2A36C8CE}"/>
              </a:ext>
            </a:extLst>
          </p:cNvPr>
          <p:cNvSpPr txBox="1"/>
          <p:nvPr/>
        </p:nvSpPr>
        <p:spPr>
          <a:xfrm>
            <a:off x="3525253" y="2351734"/>
            <a:ext cx="2787316" cy="400110"/>
          </a:xfrm>
          <a:prstGeom prst="rect">
            <a:avLst/>
          </a:prstGeom>
          <a:noFill/>
        </p:spPr>
        <p:txBody>
          <a:bodyPr wrap="square" rtlCol="0">
            <a:spAutoFit/>
          </a:bodyPr>
          <a:lstStyle/>
          <a:p>
            <a:r>
              <a:rPr lang="en-US" sz="2000" dirty="0"/>
              <a:t>3</a:t>
            </a:r>
            <a:r>
              <a:rPr lang="en-US" sz="2000" baseline="30000" dirty="0"/>
              <a:t>rd</a:t>
            </a:r>
            <a:r>
              <a:rPr lang="en-US" sz="2000" dirty="0"/>
              <a:t> class: 40.0%</a:t>
            </a:r>
            <a:endParaRPr lang="en-US" dirty="0"/>
          </a:p>
        </p:txBody>
      </p:sp>
      <p:cxnSp>
        <p:nvCxnSpPr>
          <p:cNvPr id="12" name="Straight Arrow Connector 11">
            <a:extLst>
              <a:ext uri="{FF2B5EF4-FFF2-40B4-BE49-F238E27FC236}">
                <a16:creationId xmlns:a16="http://schemas.microsoft.com/office/drawing/2014/main" id="{B333FC1B-8F4E-371B-B005-F49A3162C6EB}"/>
              </a:ext>
            </a:extLst>
          </p:cNvPr>
          <p:cNvCxnSpPr/>
          <p:nvPr/>
        </p:nvCxnSpPr>
        <p:spPr>
          <a:xfrm flipV="1">
            <a:off x="4918911" y="5426242"/>
            <a:ext cx="0" cy="80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BF22DE2-8AF1-4D94-41AB-91AEE1EFD5E6}"/>
              </a:ext>
            </a:extLst>
          </p:cNvPr>
          <p:cNvSpPr txBox="1"/>
          <p:nvPr/>
        </p:nvSpPr>
        <p:spPr>
          <a:xfrm>
            <a:off x="568411" y="1289958"/>
            <a:ext cx="5344271" cy="369332"/>
          </a:xfrm>
          <a:prstGeom prst="rect">
            <a:avLst/>
          </a:prstGeom>
          <a:noFill/>
        </p:spPr>
        <p:txBody>
          <a:bodyPr wrap="square" rtlCol="0">
            <a:spAutoFit/>
          </a:bodyPr>
          <a:lstStyle/>
          <a:p>
            <a:r>
              <a:rPr lang="en-US" i="1" dirty="0"/>
              <a:t>Note the accuracy of the model is less than 65%</a:t>
            </a:r>
          </a:p>
        </p:txBody>
      </p:sp>
    </p:spTree>
    <p:extLst>
      <p:ext uri="{BB962C8B-B14F-4D97-AF65-F5344CB8AC3E}">
        <p14:creationId xmlns:p14="http://schemas.microsoft.com/office/powerpoint/2010/main" val="3815935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99EE3-917F-297C-64A8-5A044C40C731}"/>
              </a:ext>
            </a:extLst>
          </p:cNvPr>
          <p:cNvSpPr>
            <a:spLocks noGrp="1"/>
          </p:cNvSpPr>
          <p:nvPr>
            <p:ph type="title"/>
          </p:nvPr>
        </p:nvSpPr>
        <p:spPr>
          <a:xfrm>
            <a:off x="838200" y="365126"/>
            <a:ext cx="10515600" cy="685450"/>
          </a:xfrm>
        </p:spPr>
        <p:txBody>
          <a:bodyPr>
            <a:normAutofit/>
          </a:bodyPr>
          <a:lstStyle/>
          <a:p>
            <a:r>
              <a:rPr lang="en-US" sz="3200" dirty="0"/>
              <a:t>Compare Classification of all Passengers vs Males vs Females</a:t>
            </a:r>
          </a:p>
        </p:txBody>
      </p:sp>
      <p:pic>
        <p:nvPicPr>
          <p:cNvPr id="4" name="Picture 3">
            <a:extLst>
              <a:ext uri="{FF2B5EF4-FFF2-40B4-BE49-F238E27FC236}">
                <a16:creationId xmlns:a16="http://schemas.microsoft.com/office/drawing/2014/main" id="{7C568DE2-DC3D-2CA0-0B36-04F11D4C7703}"/>
              </a:ext>
            </a:extLst>
          </p:cNvPr>
          <p:cNvPicPr>
            <a:picLocks noChangeAspect="1"/>
          </p:cNvPicPr>
          <p:nvPr/>
        </p:nvPicPr>
        <p:blipFill>
          <a:blip r:embed="rId3"/>
          <a:stretch>
            <a:fillRect/>
          </a:stretch>
        </p:blipFill>
        <p:spPr>
          <a:xfrm>
            <a:off x="4578163" y="1070595"/>
            <a:ext cx="3353268" cy="4029637"/>
          </a:xfrm>
          <a:prstGeom prst="rect">
            <a:avLst/>
          </a:prstGeom>
        </p:spPr>
      </p:pic>
      <p:pic>
        <p:nvPicPr>
          <p:cNvPr id="10" name="Picture 9">
            <a:extLst>
              <a:ext uri="{FF2B5EF4-FFF2-40B4-BE49-F238E27FC236}">
                <a16:creationId xmlns:a16="http://schemas.microsoft.com/office/drawing/2014/main" id="{629EDC66-C407-6D21-6557-8D23E7E56E30}"/>
              </a:ext>
            </a:extLst>
          </p:cNvPr>
          <p:cNvPicPr>
            <a:picLocks noChangeAspect="1"/>
          </p:cNvPicPr>
          <p:nvPr/>
        </p:nvPicPr>
        <p:blipFill>
          <a:blip r:embed="rId4"/>
          <a:stretch>
            <a:fillRect/>
          </a:stretch>
        </p:blipFill>
        <p:spPr>
          <a:xfrm>
            <a:off x="8169440" y="1070595"/>
            <a:ext cx="3362794" cy="4048690"/>
          </a:xfrm>
          <a:prstGeom prst="rect">
            <a:avLst/>
          </a:prstGeom>
        </p:spPr>
      </p:pic>
      <p:sp>
        <p:nvSpPr>
          <p:cNvPr id="11" name="TextBox 10">
            <a:extLst>
              <a:ext uri="{FF2B5EF4-FFF2-40B4-BE49-F238E27FC236}">
                <a16:creationId xmlns:a16="http://schemas.microsoft.com/office/drawing/2014/main" id="{8C7604FC-66EE-C780-A9C3-3C2A90D1D2ED}"/>
              </a:ext>
            </a:extLst>
          </p:cNvPr>
          <p:cNvSpPr txBox="1"/>
          <p:nvPr/>
        </p:nvSpPr>
        <p:spPr>
          <a:xfrm>
            <a:off x="2034988" y="5697384"/>
            <a:ext cx="8122023" cy="646331"/>
          </a:xfrm>
          <a:prstGeom prst="rect">
            <a:avLst/>
          </a:prstGeom>
          <a:noFill/>
        </p:spPr>
        <p:txBody>
          <a:bodyPr wrap="square" rtlCol="0">
            <a:spAutoFit/>
          </a:bodyPr>
          <a:lstStyle/>
          <a:p>
            <a:r>
              <a:rPr lang="en-US" dirty="0"/>
              <a:t>Accuracy is improved once splitting the data by sex. Why is that? </a:t>
            </a:r>
            <a:br>
              <a:rPr lang="en-US" dirty="0"/>
            </a:br>
            <a:r>
              <a:rPr lang="en-US" dirty="0"/>
              <a:t>How do we compare the sensitivity and specificity?</a:t>
            </a:r>
          </a:p>
        </p:txBody>
      </p:sp>
      <p:pic>
        <p:nvPicPr>
          <p:cNvPr id="13" name="Picture 12">
            <a:extLst>
              <a:ext uri="{FF2B5EF4-FFF2-40B4-BE49-F238E27FC236}">
                <a16:creationId xmlns:a16="http://schemas.microsoft.com/office/drawing/2014/main" id="{C33EC53A-E62F-7E04-DBA9-A800D8CBECEC}"/>
              </a:ext>
            </a:extLst>
          </p:cNvPr>
          <p:cNvPicPr>
            <a:picLocks noChangeAspect="1"/>
          </p:cNvPicPr>
          <p:nvPr/>
        </p:nvPicPr>
        <p:blipFill>
          <a:blip r:embed="rId5"/>
          <a:stretch>
            <a:fillRect/>
          </a:stretch>
        </p:blipFill>
        <p:spPr>
          <a:xfrm>
            <a:off x="1024990" y="1070595"/>
            <a:ext cx="3315163" cy="4067743"/>
          </a:xfrm>
          <a:prstGeom prst="rect">
            <a:avLst/>
          </a:prstGeom>
        </p:spPr>
      </p:pic>
      <p:sp>
        <p:nvSpPr>
          <p:cNvPr id="6" name="TextBox 5">
            <a:extLst>
              <a:ext uri="{FF2B5EF4-FFF2-40B4-BE49-F238E27FC236}">
                <a16:creationId xmlns:a16="http://schemas.microsoft.com/office/drawing/2014/main" id="{7C1E57B0-0B18-E40D-5EEA-5143EEE131A7}"/>
              </a:ext>
            </a:extLst>
          </p:cNvPr>
          <p:cNvSpPr txBox="1"/>
          <p:nvPr/>
        </p:nvSpPr>
        <p:spPr>
          <a:xfrm>
            <a:off x="8881937" y="5048529"/>
            <a:ext cx="1937799" cy="369332"/>
          </a:xfrm>
          <a:prstGeom prst="rect">
            <a:avLst/>
          </a:prstGeom>
          <a:noFill/>
          <a:ln>
            <a:solidFill>
              <a:schemeClr val="tx1"/>
            </a:solidFill>
          </a:ln>
        </p:spPr>
        <p:txBody>
          <a:bodyPr wrap="square" rtlCol="0">
            <a:spAutoFit/>
          </a:bodyPr>
          <a:lstStyle/>
          <a:p>
            <a:r>
              <a:rPr lang="en-US" b="1" dirty="0"/>
              <a:t>Male Passengers</a:t>
            </a:r>
          </a:p>
        </p:txBody>
      </p:sp>
      <p:sp>
        <p:nvSpPr>
          <p:cNvPr id="5" name="TextBox 4">
            <a:extLst>
              <a:ext uri="{FF2B5EF4-FFF2-40B4-BE49-F238E27FC236}">
                <a16:creationId xmlns:a16="http://schemas.microsoft.com/office/drawing/2014/main" id="{D7F2406B-BB25-E420-2A71-47E33A1B4AD4}"/>
              </a:ext>
            </a:extLst>
          </p:cNvPr>
          <p:cNvSpPr txBox="1"/>
          <p:nvPr/>
        </p:nvSpPr>
        <p:spPr>
          <a:xfrm>
            <a:off x="5253317" y="5048529"/>
            <a:ext cx="2232211" cy="369332"/>
          </a:xfrm>
          <a:prstGeom prst="rect">
            <a:avLst/>
          </a:prstGeom>
          <a:noFill/>
          <a:ln>
            <a:solidFill>
              <a:schemeClr val="tx1"/>
            </a:solidFill>
          </a:ln>
        </p:spPr>
        <p:txBody>
          <a:bodyPr wrap="square" rtlCol="0">
            <a:spAutoFit/>
          </a:bodyPr>
          <a:lstStyle/>
          <a:p>
            <a:r>
              <a:rPr lang="en-US" b="1" dirty="0"/>
              <a:t>Female Passengers</a:t>
            </a:r>
          </a:p>
        </p:txBody>
      </p:sp>
      <p:sp>
        <p:nvSpPr>
          <p:cNvPr id="7" name="TextBox 6">
            <a:extLst>
              <a:ext uri="{FF2B5EF4-FFF2-40B4-BE49-F238E27FC236}">
                <a16:creationId xmlns:a16="http://schemas.microsoft.com/office/drawing/2014/main" id="{93E678B7-BA94-1836-9BE4-3772BEE09A63}"/>
              </a:ext>
            </a:extLst>
          </p:cNvPr>
          <p:cNvSpPr txBox="1"/>
          <p:nvPr/>
        </p:nvSpPr>
        <p:spPr>
          <a:xfrm>
            <a:off x="1827977" y="5048529"/>
            <a:ext cx="1709188" cy="369332"/>
          </a:xfrm>
          <a:prstGeom prst="rect">
            <a:avLst/>
          </a:prstGeom>
          <a:noFill/>
          <a:ln>
            <a:solidFill>
              <a:schemeClr val="tx1"/>
            </a:solidFill>
          </a:ln>
        </p:spPr>
        <p:txBody>
          <a:bodyPr wrap="square" rtlCol="0">
            <a:spAutoFit/>
          </a:bodyPr>
          <a:lstStyle/>
          <a:p>
            <a:r>
              <a:rPr lang="en-US" b="1" dirty="0"/>
              <a:t>All Passengers</a:t>
            </a:r>
          </a:p>
        </p:txBody>
      </p:sp>
      <p:sp>
        <p:nvSpPr>
          <p:cNvPr id="14" name="Rectangle 13">
            <a:extLst>
              <a:ext uri="{FF2B5EF4-FFF2-40B4-BE49-F238E27FC236}">
                <a16:creationId xmlns:a16="http://schemas.microsoft.com/office/drawing/2014/main" id="{ED6959A1-0992-6E73-CC15-E487477C0191}"/>
              </a:ext>
            </a:extLst>
          </p:cNvPr>
          <p:cNvSpPr/>
          <p:nvPr/>
        </p:nvSpPr>
        <p:spPr>
          <a:xfrm>
            <a:off x="1981200" y="2111188"/>
            <a:ext cx="8776447" cy="20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215F94-C54C-A379-18CD-CF87A2189200}"/>
              </a:ext>
            </a:extLst>
          </p:cNvPr>
          <p:cNvSpPr/>
          <p:nvPr/>
        </p:nvSpPr>
        <p:spPr>
          <a:xfrm>
            <a:off x="1981200" y="3429000"/>
            <a:ext cx="8776447" cy="3765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44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4ED6-792D-7B61-E189-9E4319CBC39A}"/>
              </a:ext>
            </a:extLst>
          </p:cNvPr>
          <p:cNvSpPr>
            <a:spLocks noGrp="1"/>
          </p:cNvSpPr>
          <p:nvPr>
            <p:ph type="title"/>
          </p:nvPr>
        </p:nvSpPr>
        <p:spPr>
          <a:xfrm>
            <a:off x="838200" y="365126"/>
            <a:ext cx="10515600" cy="873366"/>
          </a:xfrm>
        </p:spPr>
        <p:txBody>
          <a:bodyPr/>
          <a:lstStyle/>
          <a:p>
            <a:r>
              <a:rPr lang="en-US" dirty="0"/>
              <a:t>ChatGPT </a:t>
            </a:r>
          </a:p>
        </p:txBody>
      </p:sp>
      <p:sp>
        <p:nvSpPr>
          <p:cNvPr id="3" name="TextBox 2">
            <a:extLst>
              <a:ext uri="{FF2B5EF4-FFF2-40B4-BE49-F238E27FC236}">
                <a16:creationId xmlns:a16="http://schemas.microsoft.com/office/drawing/2014/main" id="{BF863BE6-77C4-2947-69C3-A805AFF2CC67}"/>
              </a:ext>
            </a:extLst>
          </p:cNvPr>
          <p:cNvSpPr txBox="1"/>
          <p:nvPr/>
        </p:nvSpPr>
        <p:spPr>
          <a:xfrm>
            <a:off x="838200" y="1238492"/>
            <a:ext cx="4665963" cy="5078313"/>
          </a:xfrm>
          <a:prstGeom prst="rect">
            <a:avLst/>
          </a:prstGeom>
          <a:noFill/>
        </p:spPr>
        <p:txBody>
          <a:bodyPr wrap="square" rtlCol="0">
            <a:spAutoFit/>
          </a:bodyPr>
          <a:lstStyle/>
          <a:p>
            <a:r>
              <a:rPr lang="en-US" dirty="0"/>
              <a:t>The code ran. It did not produce any visualizations, but the results were like mine in part 1, once I switched the seed to my seed. For part 2, I changed the age to 75, to compare to my test but the results were much different.</a:t>
            </a:r>
          </a:p>
          <a:p>
            <a:endParaRPr lang="en-US" dirty="0"/>
          </a:p>
          <a:p>
            <a:pPr latinLnBrk="1"/>
            <a:r>
              <a:rPr lang="en-US" i="1" dirty="0"/>
              <a:t>Part 1: Very similar to my results</a:t>
            </a:r>
          </a:p>
          <a:p>
            <a:pPr latinLnBrk="1"/>
            <a:r>
              <a:rPr lang="en-US" dirty="0"/>
              <a:t>Accuracy 0.6491228 Accuracy 0.3508772 Sensitivity   0.4897959 Specificity   0.7692308 </a:t>
            </a:r>
          </a:p>
          <a:p>
            <a:pPr latinLnBrk="1"/>
            <a:endParaRPr lang="en-US" dirty="0"/>
          </a:p>
          <a:p>
            <a:pPr latinLnBrk="1"/>
            <a:r>
              <a:rPr lang="en-US" i="1" dirty="0"/>
              <a:t>Part 2:  very different from my results</a:t>
            </a:r>
            <a:r>
              <a:rPr lang="en-US" dirty="0"/>
              <a:t>, but </a:t>
            </a:r>
          </a:p>
          <a:p>
            <a:pPr latinLnBrk="1"/>
            <a:r>
              <a:rPr lang="en-US" dirty="0"/>
              <a:t>more consistent with the actual data than </a:t>
            </a:r>
          </a:p>
          <a:p>
            <a:pPr latinLnBrk="1"/>
            <a:r>
              <a:rPr lang="en-US" dirty="0"/>
              <a:t>mine, why?</a:t>
            </a:r>
          </a:p>
          <a:p>
            <a:pPr latinLnBrk="1"/>
            <a:endParaRPr lang="en-US" dirty="0"/>
          </a:p>
          <a:p>
            <a:pPr latinLnBrk="1"/>
            <a:endParaRPr lang="en-US" dirty="0"/>
          </a:p>
          <a:p>
            <a:pPr latinLnBrk="1"/>
            <a:endParaRPr lang="en-US" dirty="0"/>
          </a:p>
          <a:p>
            <a:pPr latinLnBrk="1"/>
            <a:r>
              <a:rPr lang="en-US" i="1" dirty="0"/>
              <a:t>Part 3: similar to my results</a:t>
            </a:r>
          </a:p>
        </p:txBody>
      </p:sp>
      <p:pic>
        <p:nvPicPr>
          <p:cNvPr id="5" name="Picture 4">
            <a:extLst>
              <a:ext uri="{FF2B5EF4-FFF2-40B4-BE49-F238E27FC236}">
                <a16:creationId xmlns:a16="http://schemas.microsoft.com/office/drawing/2014/main" id="{C7FBFB85-A263-E506-4135-AB1816080212}"/>
              </a:ext>
            </a:extLst>
          </p:cNvPr>
          <p:cNvPicPr>
            <a:picLocks noChangeAspect="1"/>
          </p:cNvPicPr>
          <p:nvPr/>
        </p:nvPicPr>
        <p:blipFill>
          <a:blip r:embed="rId3"/>
          <a:stretch>
            <a:fillRect/>
          </a:stretch>
        </p:blipFill>
        <p:spPr>
          <a:xfrm>
            <a:off x="5543442" y="1331824"/>
            <a:ext cx="3258005" cy="4124901"/>
          </a:xfrm>
          <a:prstGeom prst="rect">
            <a:avLst/>
          </a:prstGeom>
        </p:spPr>
      </p:pic>
      <p:pic>
        <p:nvPicPr>
          <p:cNvPr id="7" name="Picture 6">
            <a:extLst>
              <a:ext uri="{FF2B5EF4-FFF2-40B4-BE49-F238E27FC236}">
                <a16:creationId xmlns:a16="http://schemas.microsoft.com/office/drawing/2014/main" id="{7E0CBAB5-6B2B-62E9-90F0-8E0B3603A177}"/>
              </a:ext>
            </a:extLst>
          </p:cNvPr>
          <p:cNvPicPr>
            <a:picLocks noChangeAspect="1"/>
          </p:cNvPicPr>
          <p:nvPr/>
        </p:nvPicPr>
        <p:blipFill>
          <a:blip r:embed="rId4"/>
          <a:stretch>
            <a:fillRect/>
          </a:stretch>
        </p:blipFill>
        <p:spPr>
          <a:xfrm>
            <a:off x="918660" y="5132830"/>
            <a:ext cx="4153480" cy="647790"/>
          </a:xfrm>
          <a:prstGeom prst="rect">
            <a:avLst/>
          </a:prstGeom>
        </p:spPr>
      </p:pic>
      <p:pic>
        <p:nvPicPr>
          <p:cNvPr id="11" name="Picture 10">
            <a:extLst>
              <a:ext uri="{FF2B5EF4-FFF2-40B4-BE49-F238E27FC236}">
                <a16:creationId xmlns:a16="http://schemas.microsoft.com/office/drawing/2014/main" id="{519D4540-D060-B610-540F-686DFBD9EB26}"/>
              </a:ext>
            </a:extLst>
          </p:cNvPr>
          <p:cNvPicPr>
            <a:picLocks noChangeAspect="1"/>
          </p:cNvPicPr>
          <p:nvPr/>
        </p:nvPicPr>
        <p:blipFill>
          <a:blip r:embed="rId5"/>
          <a:stretch>
            <a:fillRect/>
          </a:stretch>
        </p:blipFill>
        <p:spPr>
          <a:xfrm>
            <a:off x="8754317" y="1238492"/>
            <a:ext cx="3191320" cy="4153480"/>
          </a:xfrm>
          <a:prstGeom prst="rect">
            <a:avLst/>
          </a:prstGeom>
        </p:spPr>
      </p:pic>
      <p:sp>
        <p:nvSpPr>
          <p:cNvPr id="12" name="Rectangle 11">
            <a:extLst>
              <a:ext uri="{FF2B5EF4-FFF2-40B4-BE49-F238E27FC236}">
                <a16:creationId xmlns:a16="http://schemas.microsoft.com/office/drawing/2014/main" id="{DC3E70B5-BC84-E17A-0868-1B38169A68DA}"/>
              </a:ext>
            </a:extLst>
          </p:cNvPr>
          <p:cNvSpPr/>
          <p:nvPr/>
        </p:nvSpPr>
        <p:spPr>
          <a:xfrm>
            <a:off x="6096000" y="2488557"/>
            <a:ext cx="5257800" cy="185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714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40766-3AAF-5213-9BF0-D4724A286E34}"/>
              </a:ext>
            </a:extLst>
          </p:cNvPr>
          <p:cNvSpPr>
            <a:spLocks noGrp="1"/>
          </p:cNvSpPr>
          <p:nvPr>
            <p:ph type="title"/>
          </p:nvPr>
        </p:nvSpPr>
        <p:spPr>
          <a:xfrm>
            <a:off x="838200" y="365125"/>
            <a:ext cx="10515600" cy="815975"/>
          </a:xfrm>
        </p:spPr>
        <p:txBody>
          <a:bodyPr>
            <a:normAutofit/>
          </a:bodyPr>
          <a:lstStyle/>
          <a:p>
            <a:r>
              <a:rPr lang="en-US" sz="3200" dirty="0"/>
              <a:t>Inspect Iris Dataset and Partition into Training and Test Sets</a:t>
            </a:r>
          </a:p>
        </p:txBody>
      </p:sp>
      <p:pic>
        <p:nvPicPr>
          <p:cNvPr id="4" name="Picture 3">
            <a:extLst>
              <a:ext uri="{FF2B5EF4-FFF2-40B4-BE49-F238E27FC236}">
                <a16:creationId xmlns:a16="http://schemas.microsoft.com/office/drawing/2014/main" id="{08178635-8E4C-2B5E-AD75-D120A2B21394}"/>
              </a:ext>
            </a:extLst>
          </p:cNvPr>
          <p:cNvPicPr>
            <a:picLocks noChangeAspect="1"/>
          </p:cNvPicPr>
          <p:nvPr/>
        </p:nvPicPr>
        <p:blipFill>
          <a:blip r:embed="rId3"/>
          <a:stretch>
            <a:fillRect/>
          </a:stretch>
        </p:blipFill>
        <p:spPr>
          <a:xfrm>
            <a:off x="186491" y="1672265"/>
            <a:ext cx="5676842" cy="3159837"/>
          </a:xfrm>
          <a:prstGeom prst="rect">
            <a:avLst/>
          </a:prstGeom>
        </p:spPr>
      </p:pic>
      <p:pic>
        <p:nvPicPr>
          <p:cNvPr id="6" name="Picture 5">
            <a:extLst>
              <a:ext uri="{FF2B5EF4-FFF2-40B4-BE49-F238E27FC236}">
                <a16:creationId xmlns:a16="http://schemas.microsoft.com/office/drawing/2014/main" id="{1723FB24-C41A-5826-ABFC-BA762FC49793}"/>
              </a:ext>
            </a:extLst>
          </p:cNvPr>
          <p:cNvPicPr>
            <a:picLocks noChangeAspect="1"/>
          </p:cNvPicPr>
          <p:nvPr/>
        </p:nvPicPr>
        <p:blipFill>
          <a:blip r:embed="rId4"/>
          <a:stretch>
            <a:fillRect/>
          </a:stretch>
        </p:blipFill>
        <p:spPr>
          <a:xfrm>
            <a:off x="6153181" y="1181100"/>
            <a:ext cx="5852328" cy="4247517"/>
          </a:xfrm>
          <a:prstGeom prst="rect">
            <a:avLst/>
          </a:prstGeom>
        </p:spPr>
      </p:pic>
    </p:spTree>
    <p:extLst>
      <p:ext uri="{BB962C8B-B14F-4D97-AF65-F5344CB8AC3E}">
        <p14:creationId xmlns:p14="http://schemas.microsoft.com/office/powerpoint/2010/main" val="404829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47D0-4569-9375-6065-7DF928DCA5E7}"/>
              </a:ext>
            </a:extLst>
          </p:cNvPr>
          <p:cNvSpPr>
            <a:spLocks noGrp="1"/>
          </p:cNvSpPr>
          <p:nvPr>
            <p:ph type="title"/>
          </p:nvPr>
        </p:nvSpPr>
        <p:spPr>
          <a:xfrm>
            <a:off x="838200" y="205638"/>
            <a:ext cx="10515600" cy="751294"/>
          </a:xfrm>
        </p:spPr>
        <p:txBody>
          <a:bodyPr/>
          <a:lstStyle/>
          <a:p>
            <a:r>
              <a:rPr lang="en-US" dirty="0"/>
              <a:t>Fine tune the hyperparameter for k =1 to 90</a:t>
            </a:r>
          </a:p>
        </p:txBody>
      </p:sp>
      <p:pic>
        <p:nvPicPr>
          <p:cNvPr id="4" name="Picture 3">
            <a:extLst>
              <a:ext uri="{FF2B5EF4-FFF2-40B4-BE49-F238E27FC236}">
                <a16:creationId xmlns:a16="http://schemas.microsoft.com/office/drawing/2014/main" id="{1945ACA7-9D0C-764D-DA8E-C90E229FEE10}"/>
              </a:ext>
            </a:extLst>
          </p:cNvPr>
          <p:cNvPicPr>
            <a:picLocks noChangeAspect="1"/>
          </p:cNvPicPr>
          <p:nvPr/>
        </p:nvPicPr>
        <p:blipFill>
          <a:blip r:embed="rId3"/>
          <a:stretch>
            <a:fillRect/>
          </a:stretch>
        </p:blipFill>
        <p:spPr>
          <a:xfrm>
            <a:off x="1582979" y="948049"/>
            <a:ext cx="9026042" cy="4721224"/>
          </a:xfrm>
          <a:prstGeom prst="rect">
            <a:avLst/>
          </a:prstGeom>
        </p:spPr>
      </p:pic>
      <p:sp>
        <p:nvSpPr>
          <p:cNvPr id="5" name="TextBox 4">
            <a:extLst>
              <a:ext uri="{FF2B5EF4-FFF2-40B4-BE49-F238E27FC236}">
                <a16:creationId xmlns:a16="http://schemas.microsoft.com/office/drawing/2014/main" id="{4EF283D6-7CA6-34B1-0BEE-9ED1C58D4554}"/>
              </a:ext>
            </a:extLst>
          </p:cNvPr>
          <p:cNvSpPr txBox="1"/>
          <p:nvPr/>
        </p:nvSpPr>
        <p:spPr>
          <a:xfrm>
            <a:off x="1582980" y="5655826"/>
            <a:ext cx="9026042" cy="1077218"/>
          </a:xfrm>
          <a:prstGeom prst="rect">
            <a:avLst/>
          </a:prstGeom>
          <a:noFill/>
        </p:spPr>
        <p:txBody>
          <a:bodyPr wrap="square" rtlCol="0">
            <a:spAutoFit/>
          </a:bodyPr>
          <a:lstStyle/>
          <a:p>
            <a:r>
              <a:rPr lang="en-US" sz="1600" dirty="0"/>
              <a:t>According to the plot, k =3, 4, and 5 all have the highest accuracy. </a:t>
            </a:r>
          </a:p>
          <a:p>
            <a:endParaRPr lang="en-US" sz="1600" dirty="0"/>
          </a:p>
          <a:p>
            <a:r>
              <a:rPr lang="en-US" sz="1600" dirty="0"/>
              <a:t>I would go with 5, but that’s just an instinct. I can’t think of any reason why 5 would be better than 3 since they have the same accuracy???</a:t>
            </a:r>
          </a:p>
        </p:txBody>
      </p:sp>
    </p:spTree>
    <p:extLst>
      <p:ext uri="{BB962C8B-B14F-4D97-AF65-F5344CB8AC3E}">
        <p14:creationId xmlns:p14="http://schemas.microsoft.com/office/powerpoint/2010/main" val="3959389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59FED1-532A-F849-DF2E-743620145782}"/>
              </a:ext>
            </a:extLst>
          </p:cNvPr>
          <p:cNvPicPr>
            <a:picLocks noChangeAspect="1"/>
          </p:cNvPicPr>
          <p:nvPr/>
        </p:nvPicPr>
        <p:blipFill>
          <a:blip r:embed="rId3"/>
          <a:stretch>
            <a:fillRect/>
          </a:stretch>
        </p:blipFill>
        <p:spPr>
          <a:xfrm>
            <a:off x="8171889" y="1135410"/>
            <a:ext cx="3681843" cy="3926136"/>
          </a:xfrm>
          <a:prstGeom prst="rect">
            <a:avLst/>
          </a:prstGeom>
        </p:spPr>
      </p:pic>
      <p:pic>
        <p:nvPicPr>
          <p:cNvPr id="8" name="Picture 7">
            <a:extLst>
              <a:ext uri="{FF2B5EF4-FFF2-40B4-BE49-F238E27FC236}">
                <a16:creationId xmlns:a16="http://schemas.microsoft.com/office/drawing/2014/main" id="{9536683F-33DB-CF7B-BE40-2DC148A07F76}"/>
              </a:ext>
            </a:extLst>
          </p:cNvPr>
          <p:cNvPicPr>
            <a:picLocks noChangeAspect="1"/>
          </p:cNvPicPr>
          <p:nvPr/>
        </p:nvPicPr>
        <p:blipFill>
          <a:blip r:embed="rId4"/>
          <a:stretch>
            <a:fillRect/>
          </a:stretch>
        </p:blipFill>
        <p:spPr>
          <a:xfrm>
            <a:off x="200811" y="955973"/>
            <a:ext cx="7971078" cy="3655750"/>
          </a:xfrm>
          <a:prstGeom prst="rect">
            <a:avLst/>
          </a:prstGeom>
        </p:spPr>
      </p:pic>
      <p:sp>
        <p:nvSpPr>
          <p:cNvPr id="11" name="TextBox 10">
            <a:extLst>
              <a:ext uri="{FF2B5EF4-FFF2-40B4-BE49-F238E27FC236}">
                <a16:creationId xmlns:a16="http://schemas.microsoft.com/office/drawing/2014/main" id="{94001FF8-453D-FE04-57DA-2070EDEFF212}"/>
              </a:ext>
            </a:extLst>
          </p:cNvPr>
          <p:cNvSpPr txBox="1"/>
          <p:nvPr/>
        </p:nvSpPr>
        <p:spPr>
          <a:xfrm>
            <a:off x="1969462" y="4876880"/>
            <a:ext cx="4433777" cy="369332"/>
          </a:xfrm>
          <a:prstGeom prst="rect">
            <a:avLst/>
          </a:prstGeom>
          <a:noFill/>
        </p:spPr>
        <p:txBody>
          <a:bodyPr wrap="square" rtlCol="0">
            <a:spAutoFit/>
          </a:bodyPr>
          <a:lstStyle/>
          <a:p>
            <a:r>
              <a:rPr lang="en-US" dirty="0"/>
              <a:t>From this plot, the best k value is 34</a:t>
            </a:r>
          </a:p>
        </p:txBody>
      </p:sp>
      <p:sp>
        <p:nvSpPr>
          <p:cNvPr id="2" name="Title 1">
            <a:extLst>
              <a:ext uri="{FF2B5EF4-FFF2-40B4-BE49-F238E27FC236}">
                <a16:creationId xmlns:a16="http://schemas.microsoft.com/office/drawing/2014/main" id="{CBC85DCC-F5A2-CDB7-BB19-20E81B41C615}"/>
              </a:ext>
            </a:extLst>
          </p:cNvPr>
          <p:cNvSpPr>
            <a:spLocks noGrp="1"/>
          </p:cNvSpPr>
          <p:nvPr>
            <p:ph type="title"/>
          </p:nvPr>
        </p:nvSpPr>
        <p:spPr>
          <a:xfrm>
            <a:off x="838200" y="205638"/>
            <a:ext cx="10515600" cy="751294"/>
          </a:xfrm>
        </p:spPr>
        <p:txBody>
          <a:bodyPr/>
          <a:lstStyle/>
          <a:p>
            <a:r>
              <a:rPr lang="en-US" dirty="0"/>
              <a:t>Fine tune the hyperparameter for k =1 to 90</a:t>
            </a:r>
          </a:p>
        </p:txBody>
      </p:sp>
    </p:spTree>
    <p:extLst>
      <p:ext uri="{BB962C8B-B14F-4D97-AF65-F5344CB8AC3E}">
        <p14:creationId xmlns:p14="http://schemas.microsoft.com/office/powerpoint/2010/main" val="3086455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42BA-FAFE-4934-DBC7-884ACE79EA4E}"/>
              </a:ext>
            </a:extLst>
          </p:cNvPr>
          <p:cNvSpPr>
            <a:spLocks noGrp="1"/>
          </p:cNvSpPr>
          <p:nvPr>
            <p:ph type="title"/>
          </p:nvPr>
        </p:nvSpPr>
        <p:spPr/>
        <p:txBody>
          <a:bodyPr/>
          <a:lstStyle/>
          <a:p>
            <a:r>
              <a:rPr lang="en-US" dirty="0"/>
              <a:t>Takeaways and Questions</a:t>
            </a:r>
          </a:p>
        </p:txBody>
      </p:sp>
      <p:sp>
        <p:nvSpPr>
          <p:cNvPr id="3" name="TextBox 2">
            <a:extLst>
              <a:ext uri="{FF2B5EF4-FFF2-40B4-BE49-F238E27FC236}">
                <a16:creationId xmlns:a16="http://schemas.microsoft.com/office/drawing/2014/main" id="{D85D8C20-27F8-493B-0565-A3D5BF4CDFC5}"/>
              </a:ext>
            </a:extLst>
          </p:cNvPr>
          <p:cNvSpPr txBox="1"/>
          <p:nvPr/>
        </p:nvSpPr>
        <p:spPr>
          <a:xfrm>
            <a:off x="1075765" y="1976718"/>
            <a:ext cx="10515600" cy="3139321"/>
          </a:xfrm>
          <a:prstGeom prst="rect">
            <a:avLst/>
          </a:prstGeom>
          <a:noFill/>
        </p:spPr>
        <p:txBody>
          <a:bodyPr wrap="square" rtlCol="0">
            <a:spAutoFit/>
          </a:bodyPr>
          <a:lstStyle/>
          <a:p>
            <a:r>
              <a:rPr lang="en-US" dirty="0"/>
              <a:t>I could use the header instead of the column index, but what is a better way to find the index of a column if you know the header?</a:t>
            </a:r>
          </a:p>
          <a:p>
            <a:endParaRPr lang="en-US" dirty="0"/>
          </a:p>
          <a:p>
            <a:r>
              <a:rPr lang="en-US" dirty="0"/>
              <a:t>When do we do internal cv versus external cv, or both?</a:t>
            </a:r>
          </a:p>
          <a:p>
            <a:endParaRPr lang="en-US" dirty="0"/>
          </a:p>
          <a:p>
            <a:r>
              <a:rPr lang="en-US" dirty="0"/>
              <a:t>In the titanic dataset, can I assume that Survived = 0 means they didn’t survive? How do I find out?</a:t>
            </a:r>
          </a:p>
          <a:p>
            <a:endParaRPr lang="en-US" dirty="0"/>
          </a:p>
          <a:p>
            <a:r>
              <a:rPr lang="en-US" dirty="0"/>
              <a:t>When I fine tune the hyperparameter k, if multiple k values have the best accuracy– which one should I choose? Does it matter?</a:t>
            </a:r>
          </a:p>
          <a:p>
            <a:endParaRPr lang="en-US" dirty="0"/>
          </a:p>
          <a:p>
            <a:endParaRPr lang="en-US" dirty="0"/>
          </a:p>
        </p:txBody>
      </p:sp>
    </p:spTree>
    <p:extLst>
      <p:ext uri="{BB962C8B-B14F-4D97-AF65-F5344CB8AC3E}">
        <p14:creationId xmlns:p14="http://schemas.microsoft.com/office/powerpoint/2010/main" val="2799863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4850</TotalTime>
  <Words>1290</Words>
  <Application>Microsoft Office PowerPoint</Application>
  <PresentationFormat>Widescreen</PresentationFormat>
  <Paragraphs>117</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Cambria Math</vt:lpstr>
      <vt:lpstr>Office Theme</vt:lpstr>
      <vt:lpstr>Unit  6 For Live Session Assignment </vt:lpstr>
      <vt:lpstr>Fetch and Inspect the Titanic Dataset</vt:lpstr>
      <vt:lpstr>PowerPoint Presentation</vt:lpstr>
      <vt:lpstr>Classifications with K = 3, 5, 10 (OOPS)</vt:lpstr>
      <vt:lpstr>Classification Accuracy, Sensitivity, and Specificity</vt:lpstr>
      <vt:lpstr>Confusion Matrix</vt:lpstr>
      <vt:lpstr>Survival Probability of a 75-year-old in Different Passenger Classes</vt:lpstr>
      <vt:lpstr>Compare Classification of all Passengers vs Males vs Females</vt:lpstr>
      <vt:lpstr>ChatGPT </vt:lpstr>
      <vt:lpstr>Inspect Iris Dataset and Partition into Training and Test Sets</vt:lpstr>
      <vt:lpstr>Fine tune the hyperparameter for k =1 to 90</vt:lpstr>
      <vt:lpstr>Fine tune the hyperparameter for k =1 to 90</vt:lpstr>
      <vt:lpstr>Takeaways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64</cp:revision>
  <dcterms:created xsi:type="dcterms:W3CDTF">2026-01-23T01:05:28Z</dcterms:created>
  <dcterms:modified xsi:type="dcterms:W3CDTF">2026-02-09T03:03:16Z</dcterms:modified>
</cp:coreProperties>
</file>