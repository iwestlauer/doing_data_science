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9.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73" r:id="rId3"/>
    <p:sldId id="259" r:id="rId4"/>
    <p:sldId id="257" r:id="rId5"/>
    <p:sldId id="258" r:id="rId6"/>
    <p:sldId id="295" r:id="rId7"/>
    <p:sldId id="282" r:id="rId8"/>
    <p:sldId id="260" r:id="rId9"/>
    <p:sldId id="261" r:id="rId10"/>
    <p:sldId id="262" r:id="rId11"/>
    <p:sldId id="276" r:id="rId12"/>
    <p:sldId id="270" r:id="rId13"/>
    <p:sldId id="266" r:id="rId14"/>
    <p:sldId id="280" r:id="rId15"/>
    <p:sldId id="279" r:id="rId16"/>
    <p:sldId id="281" r:id="rId17"/>
    <p:sldId id="286" r:id="rId18"/>
    <p:sldId id="289" r:id="rId19"/>
    <p:sldId id="287" r:id="rId20"/>
    <p:sldId id="283" r:id="rId21"/>
    <p:sldId id="284" r:id="rId22"/>
    <p:sldId id="288" r:id="rId23"/>
    <p:sldId id="293" r:id="rId24"/>
    <p:sldId id="26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51A214CD-486D-4EC4-A68B-6286FC221822}">
          <p14:sldIdLst>
            <p14:sldId id="256"/>
            <p14:sldId id="273"/>
            <p14:sldId id="259"/>
            <p14:sldId id="257"/>
            <p14:sldId id="258"/>
            <p14:sldId id="295"/>
            <p14:sldId id="282"/>
            <p14:sldId id="260"/>
            <p14:sldId id="261"/>
            <p14:sldId id="262"/>
            <p14:sldId id="276"/>
            <p14:sldId id="270"/>
            <p14:sldId id="266"/>
            <p14:sldId id="280"/>
            <p14:sldId id="279"/>
            <p14:sldId id="281"/>
            <p14:sldId id="286"/>
            <p14:sldId id="289"/>
            <p14:sldId id="287"/>
            <p14:sldId id="283"/>
            <p14:sldId id="284"/>
            <p14:sldId id="288"/>
            <p14:sldId id="293"/>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4E291"/>
    <a:srgbClr val="E88631"/>
    <a:srgbClr val="7C3896"/>
    <a:srgbClr val="F8766D"/>
    <a:srgbClr val="619CFF"/>
    <a:srgbClr val="00BA38"/>
    <a:srgbClr val="FFFFFF"/>
    <a:srgbClr val="93AA00"/>
    <a:srgbClr val="D39200"/>
    <a:srgbClr val="DB72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712" autoAdjust="0"/>
  </p:normalViewPr>
  <p:slideViewPr>
    <p:cSldViewPr snapToGrid="0">
      <p:cViewPr varScale="1">
        <p:scale>
          <a:sx n="78" d="100"/>
          <a:sy n="78" d="100"/>
        </p:scale>
        <p:origin x="102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isabe\Desktop\MSDS6306\MSDS_6306_DDS\doing_data_science\Unit%208%20Project%20Preparation\unit8ED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isabe\Desktop\MSDS6306\MSDS_6306_DDS\doing_data_science\Unit%208%20Project%20Preparation\unit8EDA%20(version%20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isabe\Desktop\MSDS6306\MSDS_6306_DDS\doing_data_science\Unit%208%20Project%20Preparation\unit8EDA%20(version%20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isabe\Desktop\MSDS6306\MSDS_6306_DDS\doing_data_science\Unit%208%20Project%20Preparation\unit8EDA%20(version%20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isabe\Desktop\MSDS6306\MSDS_6306_DDS\doing_data_science\Unit%208%20Project%20Preparation\unit8EDA%20(version%20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isabe\Desktop\MSDS6306\MSDS_6306_DDS\doing_data_science\Unit%208%20Project%20Preparation\unit8EDA%20(version%201).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isabe\Desktop\MSDS6306\MSDS_6306_DDS\doing_data_science\Unit%208%20Project%20Preparation\unit8EDA%20(version%201).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isabe\Desktop\MSDS6306\MSDS_6306_DDS\doing_data_science\Unit%208%20Project%20Preparation\unit8EDA%20(version%201).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en-US"/>
              <a:t>Attrition Breakdown</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5A89-466C-8CA9-A225184A3CF1}"/>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5A89-466C-8CA9-A225184A3CF1}"/>
              </c:ext>
            </c:extLst>
          </c:dPt>
          <c:dLbls>
            <c:dLbl>
              <c:idx val="0"/>
              <c:layout>
                <c:manualLayout>
                  <c:x val="7.4732720909886266E-2"/>
                  <c:y val="9.9591353164187768E-2"/>
                </c:manualLayout>
              </c:layout>
              <c:dLblPos val="bestFit"/>
              <c:showLegendKey val="0"/>
              <c:showVal val="1"/>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1-5A89-466C-8CA9-A225184A3CF1}"/>
                </c:ext>
              </c:extLst>
            </c:dLbl>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ctr"/>
            <c:showLegendKey val="0"/>
            <c:showVal val="1"/>
            <c:showCatName val="1"/>
            <c:showSerName val="0"/>
            <c:showPercent val="1"/>
            <c:showBubbleSize val="0"/>
            <c:separator>
</c:separator>
            <c:showLeaderLines val="0"/>
            <c:extLst>
              <c:ext xmlns:c15="http://schemas.microsoft.com/office/drawing/2012/chart" uri="{CE6537A1-D6FC-4f65-9D91-7224C49458BB}">
                <c15:spPr xmlns:c15="http://schemas.microsoft.com/office/drawing/2012/chart">
                  <a:prstGeom prst="wedgeRectCallout">
                    <a:avLst/>
                  </a:prstGeom>
                  <a:pattFill prst="pct75">
                    <a:fgClr>
                      <a:schemeClr val="dk1">
                        <a:lumMod val="75000"/>
                        <a:lumOff val="25000"/>
                      </a:schemeClr>
                    </a:fgClr>
                    <a:bgClr>
                      <a:schemeClr val="dk1">
                        <a:lumMod val="65000"/>
                        <a:lumOff val="35000"/>
                      </a:schemeClr>
                    </a:bgClr>
                  </a:pattFill>
                  <a:ln>
                    <a:noFill/>
                  </a:ln>
                </c15:spPr>
              </c:ext>
            </c:extLst>
          </c:dLbls>
          <c:cat>
            <c:strRef>
              <c:f>Sheet6!$B$1:$C$1</c:f>
              <c:strCache>
                <c:ptCount val="2"/>
                <c:pt idx="0">
                  <c:v>Attrition-Yes</c:v>
                </c:pt>
                <c:pt idx="1">
                  <c:v>Attrition-No</c:v>
                </c:pt>
              </c:strCache>
            </c:strRef>
          </c:cat>
          <c:val>
            <c:numRef>
              <c:f>Sheet6!$B$2:$C$2</c:f>
              <c:numCache>
                <c:formatCode>General</c:formatCode>
                <c:ptCount val="2"/>
                <c:pt idx="0">
                  <c:v>140</c:v>
                </c:pt>
                <c:pt idx="1">
                  <c:v>730</c:v>
                </c:pt>
              </c:numCache>
            </c:numRef>
          </c:val>
          <c:extLst>
            <c:ext xmlns:c16="http://schemas.microsoft.com/office/drawing/2014/chart" uri="{C3380CC4-5D6E-409C-BE32-E72D297353CC}">
              <c16:uniqueId val="{00000004-5A89-466C-8CA9-A225184A3CF1}"/>
            </c:ext>
          </c:extLst>
        </c:ser>
        <c:dLbls>
          <c:dLblPos val="ctr"/>
          <c:showLegendKey val="0"/>
          <c:showVal val="0"/>
          <c:showCatName val="0"/>
          <c:showSerName val="0"/>
          <c:showPercent val="0"/>
          <c:showBubbleSize val="0"/>
          <c:showLeaderLines val="0"/>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en-US"/>
              <a:t>Job Role</a:t>
            </a:r>
          </a:p>
        </c:rich>
      </c:tx>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en-US"/>
        </a:p>
      </c:txPr>
    </c:title>
    <c:autoTitleDeleted val="0"/>
    <c:plotArea>
      <c:layout/>
      <c:pieChart>
        <c:varyColors val="1"/>
        <c:dLbls>
          <c:dLblPos val="outEnd"/>
          <c:showLegendKey val="0"/>
          <c:showVal val="0"/>
          <c:showCatName val="0"/>
          <c:showSerName val="0"/>
          <c:showPercent val="1"/>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en-US" dirty="0"/>
              <a:t>Job Role as percent of</a:t>
            </a:r>
            <a:r>
              <a:rPr lang="en-US" baseline="0" dirty="0"/>
              <a:t> total employees</a:t>
            </a:r>
            <a:endParaRPr lang="en-US" dirty="0"/>
          </a:p>
        </c:rich>
      </c:tx>
      <c:layout>
        <c:manualLayout>
          <c:xMode val="edge"/>
          <c:yMode val="edge"/>
          <c:x val="0.1860248287929526"/>
          <c:y val="0"/>
        </c:manualLayout>
      </c:layout>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'job role'!$B$1</c:f>
              <c:strCache>
                <c:ptCount val="1"/>
                <c:pt idx="0">
                  <c:v>Count</c:v>
                </c:pt>
              </c:strCache>
            </c:strRef>
          </c:tx>
          <c:dPt>
            <c:idx val="0"/>
            <c:bubble3D val="0"/>
            <c:spPr>
              <a:solidFill>
                <a:srgbClr val="F8766D"/>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C723-4123-BDB0-9BC5D1DEBE53}"/>
              </c:ext>
            </c:extLst>
          </c:dPt>
          <c:dPt>
            <c:idx val="1"/>
            <c:bubble3D val="0"/>
            <c:spPr>
              <a:solidFill>
                <a:srgbClr val="D39200"/>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C723-4123-BDB0-9BC5D1DEBE53}"/>
              </c:ext>
            </c:extLst>
          </c:dPt>
          <c:dPt>
            <c:idx val="2"/>
            <c:bubble3D val="0"/>
            <c:spPr>
              <a:solidFill>
                <a:srgbClr val="93AA00"/>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C723-4123-BDB0-9BC5D1DEBE53}"/>
              </c:ext>
            </c:extLst>
          </c:dPt>
          <c:dPt>
            <c:idx val="3"/>
            <c:bubble3D val="0"/>
            <c:spPr>
              <a:solidFill>
                <a:srgbClr val="00BA38"/>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C723-4123-BDB0-9BC5D1DEBE53}"/>
              </c:ext>
            </c:extLst>
          </c:dPt>
          <c:dPt>
            <c:idx val="4"/>
            <c:bubble3D val="0"/>
            <c:spPr>
              <a:solidFill>
                <a:srgbClr val="00C19F"/>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9-C723-4123-BDB0-9BC5D1DEBE53}"/>
              </c:ext>
            </c:extLst>
          </c:dPt>
          <c:dPt>
            <c:idx val="5"/>
            <c:bubble3D val="0"/>
            <c:spPr>
              <a:solidFill>
                <a:srgbClr val="00B9E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B-C723-4123-BDB0-9BC5D1DEBE53}"/>
              </c:ext>
            </c:extLst>
          </c:dPt>
          <c:dPt>
            <c:idx val="6"/>
            <c:bubble3D val="0"/>
            <c:spPr>
              <a:solidFill>
                <a:srgbClr val="619CFF"/>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D-C723-4123-BDB0-9BC5D1DEBE53}"/>
              </c:ext>
            </c:extLst>
          </c:dPt>
          <c:dPt>
            <c:idx val="7"/>
            <c:bubble3D val="0"/>
            <c:spPr>
              <a:solidFill>
                <a:srgbClr val="DB72FB"/>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F-C723-4123-BDB0-9BC5D1DEBE53}"/>
              </c:ext>
            </c:extLst>
          </c:dPt>
          <c:dPt>
            <c:idx val="8"/>
            <c:bubble3D val="0"/>
            <c:spPr>
              <a:solidFill>
                <a:srgbClr val="FF61C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1-C723-4123-BDB0-9BC5D1DEBE53}"/>
              </c:ext>
            </c:extLst>
          </c:dPt>
          <c:dLbls>
            <c:dLbl>
              <c:idx val="0"/>
              <c:layout>
                <c:manualLayout>
                  <c:x val="1.532567049808429E-2"/>
                  <c:y val="0"/>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rgbClr val="FF717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723-4123-BDB0-9BC5D1DEBE53}"/>
                </c:ext>
              </c:extLst>
            </c:dLbl>
            <c:dLbl>
              <c:idx val="1"/>
              <c:layout>
                <c:manualLayout>
                  <c:x val="1.9157088122605363E-2"/>
                  <c:y val="1.0906612133605999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rgbClr val="D39200"/>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723-4123-BDB0-9BC5D1DEBE53}"/>
                </c:ext>
              </c:extLst>
            </c:dLbl>
            <c:dLbl>
              <c:idx val="2"/>
              <c:layout>
                <c:manualLayout>
                  <c:x val="1.3409961685823755E-2"/>
                  <c:y val="-3.2719836400817999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rgbClr val="93AA00"/>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C723-4123-BDB0-9BC5D1DEBE53}"/>
                </c:ext>
              </c:extLst>
            </c:dLbl>
            <c:dLbl>
              <c:idx val="3"/>
              <c:layout>
                <c:manualLayout>
                  <c:x val="2.8735632183908046E-2"/>
                  <c:y val="0"/>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rgbClr val="08B040"/>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C723-4123-BDB0-9BC5D1DEBE53}"/>
                </c:ext>
              </c:extLst>
            </c:dLbl>
            <c:dLbl>
              <c:idx val="4"/>
              <c:layout>
                <c:manualLayout>
                  <c:x val="2.681992337164751E-2"/>
                  <c:y val="-9.9976122958684611E-17"/>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rgbClr val="07C593"/>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C723-4123-BDB0-9BC5D1DEBE53}"/>
                </c:ext>
              </c:extLst>
            </c:dLbl>
            <c:dLbl>
              <c:idx val="5"/>
              <c:layout>
                <c:manualLayout>
                  <c:x val="5.5555555555555629E-2"/>
                  <c:y val="3.8538127519336155E-4"/>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rgbClr val="3DBDDB"/>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B-C723-4123-BDB0-9BC5D1DEBE53}"/>
                </c:ext>
              </c:extLst>
            </c:dLbl>
            <c:dLbl>
              <c:idx val="6"/>
              <c:layout>
                <c:manualLayout>
                  <c:x val="-4.5977011494252894E-2"/>
                  <c:y val="-2.7266530334015995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rgbClr val="3399FF"/>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D-C723-4123-BDB0-9BC5D1DEBE53}"/>
                </c:ext>
              </c:extLst>
            </c:dLbl>
            <c:dLbl>
              <c:idx val="7"/>
              <c:layout>
                <c:manualLayout>
                  <c:x val="-3.8314176245210726E-3"/>
                  <c:y val="5.4533060668029492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rgbClr val="CC66FF"/>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F-C723-4123-BDB0-9BC5D1DEBE53}"/>
                </c:ext>
              </c:extLst>
            </c:dLbl>
            <c:dLbl>
              <c:idx val="8"/>
              <c:layout>
                <c:manualLayout>
                  <c:x val="-6.5134099616858274E-2"/>
                  <c:y val="1.9086571233810485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rgbClr val="FF66CC"/>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11-C723-4123-BDB0-9BC5D1DEBE53}"/>
                </c:ext>
              </c:extLst>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'job role'!$A$2:$A$10</c:f>
              <c:strCache>
                <c:ptCount val="9"/>
                <c:pt idx="0">
                  <c:v>Healthcare Representative</c:v>
                </c:pt>
                <c:pt idx="1">
                  <c:v>Human Resources</c:v>
                </c:pt>
                <c:pt idx="2">
                  <c:v>Laboratory Technician</c:v>
                </c:pt>
                <c:pt idx="3">
                  <c:v>Manager</c:v>
                </c:pt>
                <c:pt idx="4">
                  <c:v>Manufacturing Director</c:v>
                </c:pt>
                <c:pt idx="5">
                  <c:v>Research Director</c:v>
                </c:pt>
                <c:pt idx="6">
                  <c:v>Research Scientist</c:v>
                </c:pt>
                <c:pt idx="7">
                  <c:v>Sales Executive</c:v>
                </c:pt>
                <c:pt idx="8">
                  <c:v>Sales Representative</c:v>
                </c:pt>
              </c:strCache>
            </c:strRef>
          </c:cat>
          <c:val>
            <c:numRef>
              <c:f>'job role'!$B$2:$B$10</c:f>
              <c:numCache>
                <c:formatCode>General</c:formatCode>
                <c:ptCount val="9"/>
                <c:pt idx="0">
                  <c:v>76</c:v>
                </c:pt>
                <c:pt idx="1">
                  <c:v>27</c:v>
                </c:pt>
                <c:pt idx="2">
                  <c:v>153</c:v>
                </c:pt>
                <c:pt idx="3">
                  <c:v>51</c:v>
                </c:pt>
                <c:pt idx="4">
                  <c:v>87</c:v>
                </c:pt>
                <c:pt idx="5">
                  <c:v>51</c:v>
                </c:pt>
                <c:pt idx="6">
                  <c:v>172</c:v>
                </c:pt>
                <c:pt idx="7">
                  <c:v>200</c:v>
                </c:pt>
                <c:pt idx="8">
                  <c:v>53</c:v>
                </c:pt>
              </c:numCache>
            </c:numRef>
          </c:val>
          <c:extLst>
            <c:ext xmlns:c16="http://schemas.microsoft.com/office/drawing/2014/chart" uri="{C3380CC4-5D6E-409C-BE32-E72D297353CC}">
              <c16:uniqueId val="{00000012-C723-4123-BDB0-9BC5D1DEBE53}"/>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en-US"/>
              <a:t>Marital</a:t>
            </a:r>
            <a:r>
              <a:rPr lang="en-US" baseline="0"/>
              <a:t> status breakdown</a:t>
            </a:r>
            <a:endParaRPr lang="en-US"/>
          </a:p>
        </c:rich>
      </c:tx>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rgbClr val="F8766D"/>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8496-4E8A-89D6-FF98B435D37A}"/>
              </c:ext>
            </c:extLst>
          </c:dPt>
          <c:dPt>
            <c:idx val="1"/>
            <c:bubble3D val="0"/>
            <c:spPr>
              <a:solidFill>
                <a:srgbClr val="00BA38"/>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8496-4E8A-89D6-FF98B435D37A}"/>
              </c:ext>
            </c:extLst>
          </c:dPt>
          <c:dPt>
            <c:idx val="2"/>
            <c:bubble3D val="0"/>
            <c:spPr>
              <a:solidFill>
                <a:srgbClr val="619CFF"/>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8496-4E8A-89D6-FF98B435D37A}"/>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rgbClr val="F8766D"/>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1-8496-4E8A-89D6-FF98B435D37A}"/>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rgbClr val="00BA38"/>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3-8496-4E8A-89D6-FF98B435D37A}"/>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rgbClr val="619CFF"/>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5-8496-4E8A-89D6-FF98B435D37A}"/>
                </c:ext>
              </c:extLst>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'marital status'!$G$8:$G$10</c:f>
              <c:strCache>
                <c:ptCount val="3"/>
                <c:pt idx="0">
                  <c:v>Divorced</c:v>
                </c:pt>
                <c:pt idx="1">
                  <c:v>Married</c:v>
                </c:pt>
                <c:pt idx="2">
                  <c:v>Single</c:v>
                </c:pt>
              </c:strCache>
            </c:strRef>
          </c:cat>
          <c:val>
            <c:numRef>
              <c:f>'marital status'!$H$8:$H$10</c:f>
              <c:numCache>
                <c:formatCode>General</c:formatCode>
                <c:ptCount val="3"/>
                <c:pt idx="0">
                  <c:v>191</c:v>
                </c:pt>
                <c:pt idx="1">
                  <c:v>410</c:v>
                </c:pt>
                <c:pt idx="2">
                  <c:v>269</c:v>
                </c:pt>
              </c:numCache>
            </c:numRef>
          </c:val>
          <c:extLst>
            <c:ext xmlns:c16="http://schemas.microsoft.com/office/drawing/2014/chart" uri="{C3380CC4-5D6E-409C-BE32-E72D297353CC}">
              <c16:uniqueId val="{00000006-8496-4E8A-89D6-FF98B435D37A}"/>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en-US"/>
              <a:t>Department Breakdown</a:t>
            </a:r>
          </a:p>
        </c:rich>
      </c:tx>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rgbClr val="F8766D"/>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ADB8-4749-93F0-805BE04DFD5B}"/>
              </c:ext>
            </c:extLst>
          </c:dPt>
          <c:dPt>
            <c:idx val="1"/>
            <c:bubble3D val="0"/>
            <c:spPr>
              <a:solidFill>
                <a:srgbClr val="00BA38"/>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ADB8-4749-93F0-805BE04DFD5B}"/>
              </c:ext>
            </c:extLst>
          </c:dPt>
          <c:dPt>
            <c:idx val="2"/>
            <c:bubble3D val="0"/>
            <c:spPr>
              <a:solidFill>
                <a:srgbClr val="619CFF"/>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ADB8-4749-93F0-805BE04DFD5B}"/>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rgbClr val="F8766D"/>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1-ADB8-4749-93F0-805BE04DFD5B}"/>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rgbClr val="00BA38"/>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3-ADB8-4749-93F0-805BE04DFD5B}"/>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rgbClr val="619CFF"/>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5-ADB8-4749-93F0-805BE04DFD5B}"/>
                </c:ext>
              </c:extLst>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department!$F$9:$F$11</c:f>
              <c:strCache>
                <c:ptCount val="3"/>
                <c:pt idx="0">
                  <c:v>Human Resources</c:v>
                </c:pt>
                <c:pt idx="1">
                  <c:v>Research &amp; Development</c:v>
                </c:pt>
                <c:pt idx="2">
                  <c:v>Sales</c:v>
                </c:pt>
              </c:strCache>
            </c:strRef>
          </c:cat>
          <c:val>
            <c:numRef>
              <c:f>department!$G$9:$G$11</c:f>
              <c:numCache>
                <c:formatCode>General</c:formatCode>
                <c:ptCount val="3"/>
                <c:pt idx="0">
                  <c:v>35</c:v>
                </c:pt>
                <c:pt idx="1">
                  <c:v>562</c:v>
                </c:pt>
                <c:pt idx="2">
                  <c:v>273</c:v>
                </c:pt>
              </c:numCache>
            </c:numRef>
          </c:val>
          <c:extLst>
            <c:ext xmlns:c16="http://schemas.microsoft.com/office/drawing/2014/chart" uri="{C3380CC4-5D6E-409C-BE32-E72D297353CC}">
              <c16:uniqueId val="{00000006-ADB8-4749-93F0-805BE04DFD5B}"/>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'stock opt'!$G$1</c:f>
              <c:strCache>
                <c:ptCount val="1"/>
                <c:pt idx="0">
                  <c:v>Stock Option Level Breakdown</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DA11-4CF3-A80A-08E544995750}"/>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DA11-4CF3-A80A-08E544995750}"/>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DA11-4CF3-A80A-08E544995750}"/>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DA11-4CF3-A80A-08E544995750}"/>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1-DA11-4CF3-A80A-08E544995750}"/>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3-DA11-4CF3-A80A-08E544995750}"/>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5-DA11-4CF3-A80A-08E544995750}"/>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7-DA11-4CF3-A80A-08E544995750}"/>
                </c:ext>
              </c:extLst>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numRef>
              <c:f>'stock opt'!$F$2:$F$5</c:f>
              <c:numCache>
                <c:formatCode>General</c:formatCode>
                <c:ptCount val="4"/>
                <c:pt idx="0">
                  <c:v>0</c:v>
                </c:pt>
                <c:pt idx="1">
                  <c:v>1</c:v>
                </c:pt>
                <c:pt idx="2">
                  <c:v>2</c:v>
                </c:pt>
                <c:pt idx="3">
                  <c:v>3</c:v>
                </c:pt>
              </c:numCache>
            </c:numRef>
          </c:cat>
          <c:val>
            <c:numRef>
              <c:f>'stock opt'!$G$2:$G$5</c:f>
              <c:numCache>
                <c:formatCode>General</c:formatCode>
                <c:ptCount val="4"/>
                <c:pt idx="0">
                  <c:v>379</c:v>
                </c:pt>
                <c:pt idx="1">
                  <c:v>355</c:v>
                </c:pt>
                <c:pt idx="2">
                  <c:v>81</c:v>
                </c:pt>
                <c:pt idx="3">
                  <c:v>55</c:v>
                </c:pt>
              </c:numCache>
            </c:numRef>
          </c:val>
          <c:extLst>
            <c:ext xmlns:c16="http://schemas.microsoft.com/office/drawing/2014/chart" uri="{C3380CC4-5D6E-409C-BE32-E72D297353CC}">
              <c16:uniqueId val="{00000008-DA11-4CF3-A80A-08E544995750}"/>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en-US" dirty="0"/>
              <a:t>Job Involvement Level breakdown</a:t>
            </a:r>
          </a:p>
        </c:rich>
      </c:tx>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'job involvement'!$F$1</c:f>
              <c:strCache>
                <c:ptCount val="1"/>
                <c:pt idx="0">
                  <c:v>Job Involvement Level</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B2F6-4D03-9662-ABBFBDF140A9}"/>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B2F6-4D03-9662-ABBFBDF140A9}"/>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B2F6-4D03-9662-ABBFBDF140A9}"/>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B2F6-4D03-9662-ABBFBDF140A9}"/>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1-B2F6-4D03-9662-ABBFBDF140A9}"/>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3-B2F6-4D03-9662-ABBFBDF140A9}"/>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5-B2F6-4D03-9662-ABBFBDF140A9}"/>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7-B2F6-4D03-9662-ABBFBDF140A9}"/>
                </c:ext>
              </c:extLst>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val>
            <c:numRef>
              <c:f>'job involvement'!$F$2:$F$5</c:f>
              <c:numCache>
                <c:formatCode>General</c:formatCode>
                <c:ptCount val="4"/>
                <c:pt idx="0">
                  <c:v>1</c:v>
                </c:pt>
                <c:pt idx="1">
                  <c:v>2</c:v>
                </c:pt>
                <c:pt idx="2">
                  <c:v>3</c:v>
                </c:pt>
                <c:pt idx="3">
                  <c:v>4</c:v>
                </c:pt>
              </c:numCache>
            </c:numRef>
          </c:val>
          <c:extLst>
            <c:ext xmlns:c16="http://schemas.microsoft.com/office/drawing/2014/chart" uri="{C3380CC4-5D6E-409C-BE32-E72D297353CC}">
              <c16:uniqueId val="{00000008-B2F6-4D03-9662-ABBFBDF140A9}"/>
            </c:ext>
          </c:extLst>
        </c:ser>
        <c:ser>
          <c:idx val="1"/>
          <c:order val="1"/>
          <c:tx>
            <c:strRef>
              <c:f>'job involvement'!$G$1</c:f>
              <c:strCache>
                <c:ptCount val="1"/>
                <c:pt idx="0">
                  <c:v>Job Involvement Breakdown</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A-B2F6-4D03-9662-ABBFBDF140A9}"/>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C-B2F6-4D03-9662-ABBFBDF140A9}"/>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E-B2F6-4D03-9662-ABBFBDF140A9}"/>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0-B2F6-4D03-9662-ABBFBDF140A9}"/>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A-B2F6-4D03-9662-ABBFBDF140A9}"/>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C-B2F6-4D03-9662-ABBFBDF140A9}"/>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E-B2F6-4D03-9662-ABBFBDF140A9}"/>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10-B2F6-4D03-9662-ABBFBDF140A9}"/>
                </c:ext>
              </c:extLst>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val>
            <c:numRef>
              <c:f>'job involvement'!$G$2:$G$5</c:f>
              <c:numCache>
                <c:formatCode>General</c:formatCode>
                <c:ptCount val="4"/>
                <c:pt idx="0">
                  <c:v>47</c:v>
                </c:pt>
                <c:pt idx="1">
                  <c:v>228</c:v>
                </c:pt>
                <c:pt idx="2">
                  <c:v>514</c:v>
                </c:pt>
                <c:pt idx="3">
                  <c:v>81</c:v>
                </c:pt>
              </c:numCache>
            </c:numRef>
          </c:val>
          <c:extLst>
            <c:ext xmlns:c16="http://schemas.microsoft.com/office/drawing/2014/chart" uri="{C3380CC4-5D6E-409C-BE32-E72D297353CC}">
              <c16:uniqueId val="{00000011-B2F6-4D03-9662-ABBFBDF140A9}"/>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en-US"/>
              <a:t>Overtime breakdown</a:t>
            </a:r>
          </a:p>
        </c:rich>
      </c:tx>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overtime!$G$1</c:f>
              <c:strCache>
                <c:ptCount val="1"/>
                <c:pt idx="0">
                  <c:v>Count</c:v>
                </c:pt>
              </c:strCache>
            </c:strRef>
          </c:tx>
          <c:dPt>
            <c:idx val="0"/>
            <c:bubble3D val="0"/>
            <c:spPr>
              <a:solidFill>
                <a:srgbClr val="7C3896"/>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F5BC-4D33-8CE3-3DF1C10B2302}"/>
              </c:ext>
            </c:extLst>
          </c:dPt>
          <c:dPt>
            <c:idx val="1"/>
            <c:bubble3D val="0"/>
            <c:spPr>
              <a:solidFill>
                <a:srgbClr val="E8863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F5BC-4D33-8CE3-3DF1C10B2302}"/>
              </c:ext>
            </c:extLst>
          </c:dPt>
          <c:dLbls>
            <c:dLbl>
              <c:idx val="0"/>
              <c:spPr>
                <a:noFill/>
                <a:ln>
                  <a:noFill/>
                </a:ln>
                <a:effectLst/>
              </c:spPr>
              <c:txPr>
                <a:bodyPr rot="0" spcFirstLastPara="1" vertOverflow="ellipsis" vert="horz" wrap="square" lIns="38100" tIns="19050" rIns="38100" bIns="19050" anchor="ctr" anchorCtr="1">
                  <a:noAutofit/>
                </a:bodyPr>
                <a:lstStyle/>
                <a:p>
                  <a:pPr>
                    <a:defRPr sz="1000" b="1" i="0" u="none" strike="noStrike" kern="1200" spc="0" baseline="0">
                      <a:solidFill>
                        <a:srgbClr val="7C3896"/>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layout>
                    <c:manualLayout>
                      <c:w val="9.0630275853496076E-2"/>
                      <c:h val="0.14026563920001262"/>
                    </c:manualLayout>
                  </c15:layout>
                </c:ext>
                <c:ext xmlns:c16="http://schemas.microsoft.com/office/drawing/2014/chart" uri="{C3380CC4-5D6E-409C-BE32-E72D297353CC}">
                  <c16:uniqueId val="{00000001-F5BC-4D33-8CE3-3DF1C10B2302}"/>
                </c:ext>
              </c:extLst>
            </c:dLbl>
            <c:dLbl>
              <c:idx val="1"/>
              <c:tx>
                <c:rich>
                  <a:bodyPr rot="0" spcFirstLastPara="1" vertOverflow="ellipsis" vert="horz" wrap="square" lIns="38100" tIns="19050" rIns="38100" bIns="19050" anchor="ctr" anchorCtr="1">
                    <a:noAutofit/>
                  </a:bodyPr>
                  <a:lstStyle/>
                  <a:p>
                    <a:pPr>
                      <a:defRPr sz="1000" b="1" i="0" u="none" strike="noStrike" kern="1200" spc="0" baseline="0">
                        <a:solidFill>
                          <a:srgbClr val="E88631"/>
                        </a:solidFill>
                        <a:latin typeface="+mn-lt"/>
                        <a:ea typeface="+mn-ea"/>
                        <a:cs typeface="+mn-cs"/>
                      </a:defRPr>
                    </a:pPr>
                    <a:fld id="{D6A178F2-E8EC-4126-B913-9373D21C1785}" type="CATEGORYNAME">
                      <a:rPr lang="en-US">
                        <a:solidFill>
                          <a:srgbClr val="E88631"/>
                        </a:solidFill>
                      </a:rPr>
                      <a:pPr>
                        <a:defRPr>
                          <a:solidFill>
                            <a:srgbClr val="E88631"/>
                          </a:solidFill>
                        </a:defRPr>
                      </a:pPr>
                      <a:t>[CATEGORY NAME]</a:t>
                    </a:fld>
                    <a:r>
                      <a:rPr lang="en-US" baseline="0" dirty="0">
                        <a:solidFill>
                          <a:srgbClr val="E88631"/>
                        </a:solidFill>
                      </a:rPr>
                      <a:t>
</a:t>
                    </a:r>
                    <a:fld id="{F76819F6-8382-4899-BC17-F8950FA6D876}" type="PERCENTAGE">
                      <a:rPr lang="en-US" baseline="0">
                        <a:solidFill>
                          <a:srgbClr val="E88631"/>
                        </a:solidFill>
                      </a:rPr>
                      <a:pPr>
                        <a:defRPr>
                          <a:solidFill>
                            <a:srgbClr val="E88631"/>
                          </a:solidFill>
                        </a:defRPr>
                      </a:pPr>
                      <a:t>[PERCENTAGE]</a:t>
                    </a:fld>
                    <a:endParaRPr lang="en-US" baseline="0" dirty="0">
                      <a:solidFill>
                        <a:srgbClr val="E88631"/>
                      </a:solidFill>
                    </a:endParaRPr>
                  </a:p>
                </c:rich>
              </c:tx>
              <c:spPr>
                <a:noFill/>
                <a:ln>
                  <a:noFill/>
                </a:ln>
                <a:effectLst/>
              </c:spPr>
              <c:txPr>
                <a:bodyPr rot="0" spcFirstLastPara="1" vertOverflow="ellipsis" vert="horz" wrap="square" lIns="38100" tIns="19050" rIns="38100" bIns="19050" anchor="ctr" anchorCtr="1">
                  <a:noAutofit/>
                </a:bodyPr>
                <a:lstStyle/>
                <a:p>
                  <a:pPr>
                    <a:defRPr sz="1000" b="1" i="0" u="none" strike="noStrike" kern="1200" spc="0" baseline="0">
                      <a:solidFill>
                        <a:srgbClr val="E88631"/>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layout>
                    <c:manualLayout>
                      <c:w val="8.8312071873815234E-2"/>
                      <c:h val="0.15952760558287621"/>
                    </c:manualLayout>
                  </c15:layout>
                  <c15:dlblFieldTable/>
                  <c15:showDataLabelsRange val="0"/>
                </c:ext>
                <c:ext xmlns:c16="http://schemas.microsoft.com/office/drawing/2014/chart" uri="{C3380CC4-5D6E-409C-BE32-E72D297353CC}">
                  <c16:uniqueId val="{00000003-F5BC-4D33-8CE3-3DF1C10B2302}"/>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rgbClr val="7C3896"/>
                    </a:solidFill>
                    <a:latin typeface="+mn-lt"/>
                    <a:ea typeface="+mn-ea"/>
                    <a:cs typeface="+mn-cs"/>
                  </a:defRPr>
                </a:pPr>
                <a:endParaRPr lang="en-US"/>
              </a:p>
            </c:tx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overtime!$F$2:$F$3</c:f>
              <c:strCache>
                <c:ptCount val="2"/>
                <c:pt idx="0">
                  <c:v>No</c:v>
                </c:pt>
                <c:pt idx="1">
                  <c:v>Yes</c:v>
                </c:pt>
              </c:strCache>
            </c:strRef>
          </c:cat>
          <c:val>
            <c:numRef>
              <c:f>overtime!$G$2:$G$3</c:f>
              <c:numCache>
                <c:formatCode>General</c:formatCode>
                <c:ptCount val="2"/>
                <c:pt idx="0">
                  <c:v>618</c:v>
                </c:pt>
                <c:pt idx="1">
                  <c:v>252</c:v>
                </c:pt>
              </c:numCache>
            </c:numRef>
          </c:val>
          <c:extLst>
            <c:ext xmlns:c16="http://schemas.microsoft.com/office/drawing/2014/chart" uri="{C3380CC4-5D6E-409C-BE32-E72D297353CC}">
              <c16:uniqueId val="{00000004-F5BC-4D33-8CE3-3DF1C10B2302}"/>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94C814-EF62-4A01-AD8E-20F8B4058B68}" type="datetimeFigureOut">
              <a:rPr lang="en-US" smtClean="0"/>
              <a:t>3/3/2026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0CA7B-D47A-433D-94F2-73A031C78B7F}" type="slidenum">
              <a:rPr lang="en-US" smtClean="0"/>
              <a:t>‹#›</a:t>
            </a:fld>
            <a:endParaRPr lang="en-US"/>
          </a:p>
        </p:txBody>
      </p:sp>
    </p:spTree>
    <p:extLst>
      <p:ext uri="{BB962C8B-B14F-4D97-AF65-F5344CB8AC3E}">
        <p14:creationId xmlns:p14="http://schemas.microsoft.com/office/powerpoint/2010/main" val="348260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514350" indent="-514350">
              <a:buFont typeface="+mj-lt"/>
              <a:buAutoNum type="arabicPeriod"/>
            </a:pPr>
            <a:r>
              <a:rPr lang="en-US" dirty="0"/>
              <a:t>What is the cost of employee incentive, to retain employees?</a:t>
            </a:r>
          </a:p>
          <a:p>
            <a:pPr marL="514350" indent="-514350">
              <a:buFont typeface="+mj-lt"/>
              <a:buAutoNum type="arabicPeriod"/>
            </a:pPr>
            <a:r>
              <a:rPr lang="en-US" dirty="0"/>
              <a:t>What is the cost to replace employees who leave?</a:t>
            </a:r>
          </a:p>
          <a:p>
            <a:pPr marL="514350" indent="-514350">
              <a:buFont typeface="+mj-lt"/>
              <a:buAutoNum type="arabicPeriod"/>
            </a:pPr>
            <a:r>
              <a:rPr lang="en-US" dirty="0"/>
              <a:t>What factors lead to employees leaving?</a:t>
            </a:r>
          </a:p>
          <a:p>
            <a:pPr marL="514350" indent="-514350">
              <a:buFont typeface="+mj-lt"/>
              <a:buAutoNum type="arabicPeriod"/>
            </a:pPr>
            <a:r>
              <a:rPr lang="en-US" dirty="0"/>
              <a:t>What factors lead to employees staying?</a:t>
            </a:r>
          </a:p>
          <a:p>
            <a:endParaRPr lang="en-US" dirty="0"/>
          </a:p>
        </p:txBody>
      </p:sp>
      <p:sp>
        <p:nvSpPr>
          <p:cNvPr id="4" name="Slide Number Placeholder 3"/>
          <p:cNvSpPr>
            <a:spLocks noGrp="1"/>
          </p:cNvSpPr>
          <p:nvPr>
            <p:ph type="sldNum" sz="quarter" idx="5"/>
          </p:nvPr>
        </p:nvSpPr>
        <p:spPr/>
        <p:txBody>
          <a:bodyPr/>
          <a:lstStyle/>
          <a:p>
            <a:fld id="{4140CA7B-D47A-433D-94F2-73A031C78B7F}" type="slidenum">
              <a:rPr lang="en-US" smtClean="0"/>
              <a:t>2</a:t>
            </a:fld>
            <a:endParaRPr lang="en-US"/>
          </a:p>
        </p:txBody>
      </p:sp>
    </p:spTree>
    <p:extLst>
      <p:ext uri="{BB962C8B-B14F-4D97-AF65-F5344CB8AC3E}">
        <p14:creationId xmlns:p14="http://schemas.microsoft.com/office/powerpoint/2010/main" val="3777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400 times as much to replace employees as to provide incentives</a:t>
            </a:r>
          </a:p>
        </p:txBody>
      </p:sp>
      <p:sp>
        <p:nvSpPr>
          <p:cNvPr id="4" name="Slide Number Placeholder 3"/>
          <p:cNvSpPr>
            <a:spLocks noGrp="1"/>
          </p:cNvSpPr>
          <p:nvPr>
            <p:ph type="sldNum" sz="quarter" idx="5"/>
          </p:nvPr>
        </p:nvSpPr>
        <p:spPr/>
        <p:txBody>
          <a:bodyPr/>
          <a:lstStyle/>
          <a:p>
            <a:fld id="{4140CA7B-D47A-433D-94F2-73A031C78B7F}" type="slidenum">
              <a:rPr lang="en-US" smtClean="0"/>
              <a:t>3</a:t>
            </a:fld>
            <a:endParaRPr lang="en-US"/>
          </a:p>
        </p:txBody>
      </p:sp>
    </p:spTree>
    <p:extLst>
      <p:ext uri="{BB962C8B-B14F-4D97-AF65-F5344CB8AC3E}">
        <p14:creationId xmlns:p14="http://schemas.microsoft.com/office/powerpoint/2010/main" val="95747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the </a:t>
            </a:r>
            <a:r>
              <a:rPr lang="en-US" dirty="0" err="1"/>
              <a:t>skimr</a:t>
            </a:r>
            <a:r>
              <a:rPr lang="en-US" dirty="0"/>
              <a:t> library to get a quick look at the numerical variables, I can quickly spot some irrelevant variables: ID, </a:t>
            </a:r>
            <a:r>
              <a:rPr lang="en-US" dirty="0" err="1"/>
              <a:t>EmployeeNumber</a:t>
            </a:r>
            <a:r>
              <a:rPr lang="en-US" dirty="0"/>
              <a:t>, </a:t>
            </a:r>
            <a:r>
              <a:rPr lang="en-US" dirty="0" err="1"/>
              <a:t>StandardHours</a:t>
            </a:r>
            <a:r>
              <a:rPr lang="en-US" dirty="0"/>
              <a:t>.</a:t>
            </a:r>
          </a:p>
          <a:p>
            <a:endParaRPr lang="en-US" dirty="0"/>
          </a:p>
          <a:p>
            <a:r>
              <a:rPr lang="en-US" dirty="0"/>
              <a:t>Hourly Rate and Monthly Rate are unclear?</a:t>
            </a:r>
          </a:p>
          <a:p>
            <a:endParaRPr lang="en-US" dirty="0"/>
          </a:p>
          <a:p>
            <a:r>
              <a:rPr lang="en-US" dirty="0"/>
              <a:t>I also noted that there were no missing values in the dataset.</a:t>
            </a:r>
          </a:p>
          <a:p>
            <a:endParaRPr lang="en-US" dirty="0"/>
          </a:p>
          <a:p>
            <a:r>
              <a:rPr lang="en-US" dirty="0"/>
              <a:t>At first glance, some variables I want to take a closer look at: </a:t>
            </a:r>
            <a:r>
              <a:rPr lang="en-US" dirty="0" err="1"/>
              <a:t>YearsInCurrentRole</a:t>
            </a:r>
            <a:r>
              <a:rPr lang="en-US" dirty="0"/>
              <a:t>, </a:t>
            </a:r>
            <a:r>
              <a:rPr lang="en-US" dirty="0" err="1"/>
              <a:t>NumCompaniesWorked</a:t>
            </a:r>
            <a:r>
              <a:rPr lang="en-US" dirty="0"/>
              <a:t>, Education, </a:t>
            </a:r>
            <a:r>
              <a:rPr lang="en-US" dirty="0" err="1"/>
              <a:t>JobLevel</a:t>
            </a:r>
            <a:r>
              <a:rPr lang="en-US" dirty="0"/>
              <a:t>, </a:t>
            </a:r>
            <a:r>
              <a:rPr lang="en-US" dirty="0" err="1"/>
              <a:t>MonthlyIncome</a:t>
            </a:r>
            <a:r>
              <a:rPr lang="en-US" dirty="0"/>
              <a:t>, </a:t>
            </a:r>
            <a:r>
              <a:rPr lang="en-US" dirty="0" err="1"/>
              <a:t>JobSatisfaction</a:t>
            </a:r>
            <a:r>
              <a:rPr lang="en-US" dirty="0"/>
              <a:t>, </a:t>
            </a:r>
            <a:r>
              <a:rPr lang="en-US" dirty="0" err="1"/>
              <a:t>TotalWorkingYears</a:t>
            </a:r>
            <a:r>
              <a:rPr lang="en-US" dirty="0"/>
              <a:t>,</a:t>
            </a:r>
          </a:p>
          <a:p>
            <a:endParaRPr lang="en-US" dirty="0"/>
          </a:p>
        </p:txBody>
      </p:sp>
      <p:sp>
        <p:nvSpPr>
          <p:cNvPr id="4" name="Slide Number Placeholder 3"/>
          <p:cNvSpPr>
            <a:spLocks noGrp="1"/>
          </p:cNvSpPr>
          <p:nvPr>
            <p:ph type="sldNum" sz="quarter" idx="5"/>
          </p:nvPr>
        </p:nvSpPr>
        <p:spPr/>
        <p:txBody>
          <a:bodyPr/>
          <a:lstStyle/>
          <a:p>
            <a:fld id="{4140CA7B-D47A-433D-94F2-73A031C78B7F}" type="slidenum">
              <a:rPr lang="en-US" smtClean="0"/>
              <a:t>5</a:t>
            </a:fld>
            <a:endParaRPr lang="en-US"/>
          </a:p>
        </p:txBody>
      </p:sp>
    </p:spTree>
    <p:extLst>
      <p:ext uri="{BB962C8B-B14F-4D97-AF65-F5344CB8AC3E}">
        <p14:creationId xmlns:p14="http://schemas.microsoft.com/office/powerpoint/2010/main" val="2928941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07459-AC67-2305-24F6-E76BD046E5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15C90A-D846-E8C2-64AF-76AB48FFA8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0E2D3F-DBE6-4EF2-411F-D7B53BABA0F7}"/>
              </a:ext>
            </a:extLst>
          </p:cNvPr>
          <p:cNvSpPr>
            <a:spLocks noGrp="1"/>
          </p:cNvSpPr>
          <p:nvPr>
            <p:ph type="body" idx="1"/>
          </p:nvPr>
        </p:nvSpPr>
        <p:spPr/>
        <p:txBody>
          <a:bodyPr/>
          <a:lstStyle/>
          <a:p>
            <a:r>
              <a:rPr lang="en-US" dirty="0"/>
              <a:t>Using the </a:t>
            </a:r>
            <a:r>
              <a:rPr lang="en-US" dirty="0" err="1"/>
              <a:t>skimr</a:t>
            </a:r>
            <a:r>
              <a:rPr lang="en-US" dirty="0"/>
              <a:t> library to get a quick look at the numerical variables, I can quickly spot some irrelevant variables: ID, </a:t>
            </a:r>
            <a:r>
              <a:rPr lang="en-US" dirty="0" err="1"/>
              <a:t>EmployeeNumber</a:t>
            </a:r>
            <a:r>
              <a:rPr lang="en-US" dirty="0"/>
              <a:t>, </a:t>
            </a:r>
            <a:r>
              <a:rPr lang="en-US" dirty="0" err="1"/>
              <a:t>StandardHours</a:t>
            </a:r>
            <a:r>
              <a:rPr lang="en-US" dirty="0"/>
              <a:t>.</a:t>
            </a:r>
          </a:p>
          <a:p>
            <a:endParaRPr lang="en-US" dirty="0"/>
          </a:p>
          <a:p>
            <a:r>
              <a:rPr lang="en-US" dirty="0"/>
              <a:t>Hourly Rate and Monthly Rate are unclear?</a:t>
            </a:r>
          </a:p>
          <a:p>
            <a:endParaRPr lang="en-US" dirty="0"/>
          </a:p>
          <a:p>
            <a:r>
              <a:rPr lang="en-US" dirty="0"/>
              <a:t>I also noted that there were no missing values in the dataset.</a:t>
            </a:r>
          </a:p>
          <a:p>
            <a:endParaRPr lang="en-US" dirty="0"/>
          </a:p>
          <a:p>
            <a:r>
              <a:rPr lang="en-US" dirty="0"/>
              <a:t>At first glance, some variables I want to take a closer look at: </a:t>
            </a:r>
            <a:r>
              <a:rPr lang="en-US" dirty="0" err="1"/>
              <a:t>YearsInCurrentRole</a:t>
            </a:r>
            <a:r>
              <a:rPr lang="en-US" dirty="0"/>
              <a:t>, </a:t>
            </a:r>
            <a:r>
              <a:rPr lang="en-US" dirty="0" err="1"/>
              <a:t>NumCompaniesWorked</a:t>
            </a:r>
            <a:r>
              <a:rPr lang="en-US" dirty="0"/>
              <a:t>, Education, </a:t>
            </a:r>
            <a:r>
              <a:rPr lang="en-US" dirty="0" err="1"/>
              <a:t>JobLevel</a:t>
            </a:r>
            <a:r>
              <a:rPr lang="en-US" dirty="0"/>
              <a:t>, </a:t>
            </a:r>
            <a:r>
              <a:rPr lang="en-US" dirty="0" err="1"/>
              <a:t>MonthlyIncome</a:t>
            </a:r>
            <a:r>
              <a:rPr lang="en-US" dirty="0"/>
              <a:t>, </a:t>
            </a:r>
            <a:r>
              <a:rPr lang="en-US" dirty="0" err="1"/>
              <a:t>JobSatisfaction</a:t>
            </a:r>
            <a:r>
              <a:rPr lang="en-US" dirty="0"/>
              <a:t>, </a:t>
            </a:r>
            <a:r>
              <a:rPr lang="en-US" dirty="0" err="1"/>
              <a:t>TotalWorkingYears</a:t>
            </a:r>
            <a:r>
              <a:rPr lang="en-US" dirty="0"/>
              <a:t>,</a:t>
            </a:r>
          </a:p>
          <a:p>
            <a:endParaRPr lang="en-US" dirty="0"/>
          </a:p>
        </p:txBody>
      </p:sp>
      <p:sp>
        <p:nvSpPr>
          <p:cNvPr id="4" name="Slide Number Placeholder 3">
            <a:extLst>
              <a:ext uri="{FF2B5EF4-FFF2-40B4-BE49-F238E27FC236}">
                <a16:creationId xmlns:a16="http://schemas.microsoft.com/office/drawing/2014/main" id="{0A084B37-01F3-EA78-168B-0C53A52454FC}"/>
              </a:ext>
            </a:extLst>
          </p:cNvPr>
          <p:cNvSpPr>
            <a:spLocks noGrp="1"/>
          </p:cNvSpPr>
          <p:nvPr>
            <p:ph type="sldNum" sz="quarter" idx="5"/>
          </p:nvPr>
        </p:nvSpPr>
        <p:spPr/>
        <p:txBody>
          <a:bodyPr/>
          <a:lstStyle/>
          <a:p>
            <a:fld id="{4140CA7B-D47A-433D-94F2-73A031C78B7F}" type="slidenum">
              <a:rPr lang="en-US" smtClean="0"/>
              <a:t>6</a:t>
            </a:fld>
            <a:endParaRPr lang="en-US"/>
          </a:p>
        </p:txBody>
      </p:sp>
    </p:spTree>
    <p:extLst>
      <p:ext uri="{BB962C8B-B14F-4D97-AF65-F5344CB8AC3E}">
        <p14:creationId xmlns:p14="http://schemas.microsoft.com/office/powerpoint/2010/main" val="16324616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t>These features measured in years are well correlated because for example, the older an employee, the longer he or she may have been working. The longer an employee has been working, the longer with the company. The longer an employee is with the company, the longer they may have been in their current role or with their current manager.</a:t>
            </a:r>
            <a:endParaRPr lang="en-US" i="1" dirty="0"/>
          </a:p>
          <a:p>
            <a:endParaRPr lang="en-US" dirty="0"/>
          </a:p>
        </p:txBody>
      </p:sp>
      <p:sp>
        <p:nvSpPr>
          <p:cNvPr id="4" name="Slide Number Placeholder 3"/>
          <p:cNvSpPr>
            <a:spLocks noGrp="1"/>
          </p:cNvSpPr>
          <p:nvPr>
            <p:ph type="sldNum" sz="quarter" idx="5"/>
          </p:nvPr>
        </p:nvSpPr>
        <p:spPr/>
        <p:txBody>
          <a:bodyPr/>
          <a:lstStyle/>
          <a:p>
            <a:fld id="{4140CA7B-D47A-433D-94F2-73A031C78B7F}" type="slidenum">
              <a:rPr lang="en-US" smtClean="0"/>
              <a:t>10</a:t>
            </a:fld>
            <a:endParaRPr lang="en-US"/>
          </a:p>
        </p:txBody>
      </p:sp>
    </p:spTree>
    <p:extLst>
      <p:ext uri="{BB962C8B-B14F-4D97-AF65-F5344CB8AC3E}">
        <p14:creationId xmlns:p14="http://schemas.microsoft.com/office/powerpoint/2010/main" val="2042047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 research director and manager have a high correlation with Job Level..</a:t>
            </a:r>
          </a:p>
        </p:txBody>
      </p:sp>
      <p:sp>
        <p:nvSpPr>
          <p:cNvPr id="4" name="Slide Number Placeholder 3"/>
          <p:cNvSpPr>
            <a:spLocks noGrp="1"/>
          </p:cNvSpPr>
          <p:nvPr>
            <p:ph type="sldNum" sz="quarter" idx="5"/>
          </p:nvPr>
        </p:nvSpPr>
        <p:spPr/>
        <p:txBody>
          <a:bodyPr/>
          <a:lstStyle/>
          <a:p>
            <a:fld id="{4140CA7B-D47A-433D-94F2-73A031C78B7F}" type="slidenum">
              <a:rPr lang="en-US" smtClean="0"/>
              <a:t>11</a:t>
            </a:fld>
            <a:endParaRPr lang="en-US"/>
          </a:p>
        </p:txBody>
      </p:sp>
    </p:spTree>
    <p:extLst>
      <p:ext uri="{BB962C8B-B14F-4D97-AF65-F5344CB8AC3E}">
        <p14:creationId xmlns:p14="http://schemas.microsoft.com/office/powerpoint/2010/main" val="1232694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of the “year variables” are strongly correlated with each other. </a:t>
            </a:r>
          </a:p>
          <a:p>
            <a:r>
              <a:rPr lang="en-US" dirty="0"/>
              <a:t>We may need to select one or combine one or more into a derived feature. </a:t>
            </a:r>
          </a:p>
          <a:p>
            <a:r>
              <a:rPr lang="en-US" dirty="0"/>
              <a:t>I wonder if a derived feature could have a stronger correlation with attrition than these do.</a:t>
            </a:r>
          </a:p>
          <a:p>
            <a:endParaRPr lang="en-US" dirty="0"/>
          </a:p>
          <a:p>
            <a:r>
              <a:rPr lang="en-US" dirty="0"/>
              <a:t>Should I focus only one the ones with the greatest positive correlation with attrition????</a:t>
            </a:r>
          </a:p>
        </p:txBody>
      </p:sp>
      <p:sp>
        <p:nvSpPr>
          <p:cNvPr id="4" name="Slide Number Placeholder 3"/>
          <p:cNvSpPr>
            <a:spLocks noGrp="1"/>
          </p:cNvSpPr>
          <p:nvPr>
            <p:ph type="sldNum" sz="quarter" idx="5"/>
          </p:nvPr>
        </p:nvSpPr>
        <p:spPr/>
        <p:txBody>
          <a:bodyPr/>
          <a:lstStyle/>
          <a:p>
            <a:fld id="{4140CA7B-D47A-433D-94F2-73A031C78B7F}" type="slidenum">
              <a:rPr lang="en-US" smtClean="0"/>
              <a:t>13</a:t>
            </a:fld>
            <a:endParaRPr lang="en-US"/>
          </a:p>
        </p:txBody>
      </p:sp>
    </p:spTree>
    <p:extLst>
      <p:ext uri="{BB962C8B-B14F-4D97-AF65-F5344CB8AC3E}">
        <p14:creationId xmlns:p14="http://schemas.microsoft.com/office/powerpoint/2010/main" val="2153419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you see a lot more attrition in the sales reps and </a:t>
            </a:r>
            <a:r>
              <a:rPr lang="en-US" dirty="0" err="1"/>
              <a:t>hr</a:t>
            </a:r>
            <a:r>
              <a:rPr lang="en-US" dirty="0"/>
              <a:t> roles, but those only make a small percent of all the employees. (Over half of those who left made up less than 10% of all employees- in the job roles of sales rep and HR.) but, Most of the employees are in the job roles of sales exec, research scientist, and lab tech – making up over half of those who left. </a:t>
            </a:r>
          </a:p>
        </p:txBody>
      </p:sp>
      <p:sp>
        <p:nvSpPr>
          <p:cNvPr id="4" name="Slide Number Placeholder 3"/>
          <p:cNvSpPr>
            <a:spLocks noGrp="1"/>
          </p:cNvSpPr>
          <p:nvPr>
            <p:ph type="sldNum" sz="quarter" idx="5"/>
          </p:nvPr>
        </p:nvSpPr>
        <p:spPr/>
        <p:txBody>
          <a:bodyPr/>
          <a:lstStyle/>
          <a:p>
            <a:fld id="{4140CA7B-D47A-433D-94F2-73A031C78B7F}" type="slidenum">
              <a:rPr lang="en-US" smtClean="0"/>
              <a:t>14</a:t>
            </a:fld>
            <a:endParaRPr lang="en-US"/>
          </a:p>
        </p:txBody>
      </p:sp>
    </p:spTree>
    <p:extLst>
      <p:ext uri="{BB962C8B-B14F-4D97-AF65-F5344CB8AC3E}">
        <p14:creationId xmlns:p14="http://schemas.microsoft.com/office/powerpoint/2010/main" val="1682741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 percent of the employees have a stock option level 0, and over 25% of those who left had a stock option level of 0. However, over 20% of those who left had a stock option level 3.. And only 6% of your employees have a stock option level 3. So why is it that those employees are leaving?</a:t>
            </a:r>
          </a:p>
        </p:txBody>
      </p:sp>
      <p:sp>
        <p:nvSpPr>
          <p:cNvPr id="4" name="Slide Number Placeholder 3"/>
          <p:cNvSpPr>
            <a:spLocks noGrp="1"/>
          </p:cNvSpPr>
          <p:nvPr>
            <p:ph type="sldNum" sz="quarter" idx="5"/>
          </p:nvPr>
        </p:nvSpPr>
        <p:spPr/>
        <p:txBody>
          <a:bodyPr/>
          <a:lstStyle/>
          <a:p>
            <a:fld id="{4140CA7B-D47A-433D-94F2-73A031C78B7F}" type="slidenum">
              <a:rPr lang="en-US" smtClean="0"/>
              <a:t>17</a:t>
            </a:fld>
            <a:endParaRPr lang="en-US"/>
          </a:p>
        </p:txBody>
      </p:sp>
    </p:spTree>
    <p:extLst>
      <p:ext uri="{BB962C8B-B14F-4D97-AF65-F5344CB8AC3E}">
        <p14:creationId xmlns:p14="http://schemas.microsoft.com/office/powerpoint/2010/main" val="11569955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need to train classification models on numeric predictors, so if there are any features for classification I should find the numeric feature that is most closely related. </a:t>
            </a:r>
            <a:br>
              <a:rPr lang="en-US" dirty="0"/>
            </a:br>
            <a:r>
              <a:rPr lang="en-US" dirty="0"/>
              <a:t>Is marital status related to age?</a:t>
            </a:r>
          </a:p>
          <a:p>
            <a:r>
              <a:rPr lang="en-US" dirty="0"/>
              <a:t>Can I just change overtime to a 0 and 1?</a:t>
            </a:r>
          </a:p>
        </p:txBody>
      </p:sp>
      <p:sp>
        <p:nvSpPr>
          <p:cNvPr id="4" name="Slide Number Placeholder 3"/>
          <p:cNvSpPr>
            <a:spLocks noGrp="1"/>
          </p:cNvSpPr>
          <p:nvPr>
            <p:ph type="sldNum" sz="quarter" idx="5"/>
          </p:nvPr>
        </p:nvSpPr>
        <p:spPr/>
        <p:txBody>
          <a:bodyPr/>
          <a:lstStyle/>
          <a:p>
            <a:fld id="{4140CA7B-D47A-433D-94F2-73A031C78B7F}" type="slidenum">
              <a:rPr lang="en-US" smtClean="0"/>
              <a:t>22</a:t>
            </a:fld>
            <a:endParaRPr lang="en-US"/>
          </a:p>
        </p:txBody>
      </p:sp>
    </p:spTree>
    <p:extLst>
      <p:ext uri="{BB962C8B-B14F-4D97-AF65-F5344CB8AC3E}">
        <p14:creationId xmlns:p14="http://schemas.microsoft.com/office/powerpoint/2010/main" val="753315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3836B-E2FF-646A-6259-A00FE53C26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F01AC37-219F-80CF-A55F-908ABEAA02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9F51AE-93D3-BC63-A3CE-C451B793FCD7}"/>
              </a:ext>
            </a:extLst>
          </p:cNvPr>
          <p:cNvSpPr>
            <a:spLocks noGrp="1"/>
          </p:cNvSpPr>
          <p:nvPr>
            <p:ph type="dt" sz="half" idx="10"/>
          </p:nvPr>
        </p:nvSpPr>
        <p:spPr/>
        <p:txBody>
          <a:bodyPr/>
          <a:lstStyle/>
          <a:p>
            <a:fld id="{71EE5AA8-1D05-40EC-AE1C-6ED613F0026F}" type="datetimeFigureOut">
              <a:rPr lang="en-US" smtClean="0"/>
              <a:t>3/3/2026</a:t>
            </a:fld>
            <a:endParaRPr lang="en-US"/>
          </a:p>
        </p:txBody>
      </p:sp>
      <p:sp>
        <p:nvSpPr>
          <p:cNvPr id="5" name="Footer Placeholder 4">
            <a:extLst>
              <a:ext uri="{FF2B5EF4-FFF2-40B4-BE49-F238E27FC236}">
                <a16:creationId xmlns:a16="http://schemas.microsoft.com/office/drawing/2014/main" id="{118B8FF3-C0A7-4AB8-F509-F526163121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554A09-8FA3-D245-EE17-C2EEF624129A}"/>
              </a:ext>
            </a:extLst>
          </p:cNvPr>
          <p:cNvSpPr>
            <a:spLocks noGrp="1"/>
          </p:cNvSpPr>
          <p:nvPr>
            <p:ph type="sldNum" sz="quarter" idx="12"/>
          </p:nvPr>
        </p:nvSpPr>
        <p:spPr/>
        <p:txBody>
          <a:bodyPr/>
          <a:lstStyle/>
          <a:p>
            <a:fld id="{EA0D364A-B597-40F8-92C9-C0385B2C9827}" type="slidenum">
              <a:rPr lang="en-US" smtClean="0"/>
              <a:t>‹#›</a:t>
            </a:fld>
            <a:endParaRPr lang="en-US"/>
          </a:p>
        </p:txBody>
      </p:sp>
    </p:spTree>
    <p:extLst>
      <p:ext uri="{BB962C8B-B14F-4D97-AF65-F5344CB8AC3E}">
        <p14:creationId xmlns:p14="http://schemas.microsoft.com/office/powerpoint/2010/main" val="33016394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D56CD-585C-4182-D29F-E36D5149FF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A53781-3872-2C67-521E-A15907166C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C24608-743D-B878-1F47-E01580A77231}"/>
              </a:ext>
            </a:extLst>
          </p:cNvPr>
          <p:cNvSpPr>
            <a:spLocks noGrp="1"/>
          </p:cNvSpPr>
          <p:nvPr>
            <p:ph type="dt" sz="half" idx="10"/>
          </p:nvPr>
        </p:nvSpPr>
        <p:spPr/>
        <p:txBody>
          <a:bodyPr/>
          <a:lstStyle/>
          <a:p>
            <a:fld id="{71EE5AA8-1D05-40EC-AE1C-6ED613F0026F}" type="datetimeFigureOut">
              <a:rPr lang="en-US" smtClean="0"/>
              <a:t>3/3/2026</a:t>
            </a:fld>
            <a:endParaRPr lang="en-US"/>
          </a:p>
        </p:txBody>
      </p:sp>
      <p:sp>
        <p:nvSpPr>
          <p:cNvPr id="5" name="Footer Placeholder 4">
            <a:extLst>
              <a:ext uri="{FF2B5EF4-FFF2-40B4-BE49-F238E27FC236}">
                <a16:creationId xmlns:a16="http://schemas.microsoft.com/office/drawing/2014/main" id="{C7812735-E03E-48EF-E5EE-743A68FC4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F5CED-A061-8ACE-5524-87299B5B24FB}"/>
              </a:ext>
            </a:extLst>
          </p:cNvPr>
          <p:cNvSpPr>
            <a:spLocks noGrp="1"/>
          </p:cNvSpPr>
          <p:nvPr>
            <p:ph type="sldNum" sz="quarter" idx="12"/>
          </p:nvPr>
        </p:nvSpPr>
        <p:spPr/>
        <p:txBody>
          <a:bodyPr/>
          <a:lstStyle/>
          <a:p>
            <a:fld id="{EA0D364A-B597-40F8-92C9-C0385B2C9827}" type="slidenum">
              <a:rPr lang="en-US" smtClean="0"/>
              <a:t>‹#›</a:t>
            </a:fld>
            <a:endParaRPr lang="en-US"/>
          </a:p>
        </p:txBody>
      </p:sp>
    </p:spTree>
    <p:extLst>
      <p:ext uri="{BB962C8B-B14F-4D97-AF65-F5344CB8AC3E}">
        <p14:creationId xmlns:p14="http://schemas.microsoft.com/office/powerpoint/2010/main" val="1594862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B5FCE-13D7-2FB9-989F-EA75844B83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D7F38B7-4AC7-7EDF-4C86-A00C68FE13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5159556-70BD-7ACB-B89A-B65F095C8227}"/>
              </a:ext>
            </a:extLst>
          </p:cNvPr>
          <p:cNvSpPr>
            <a:spLocks noGrp="1"/>
          </p:cNvSpPr>
          <p:nvPr>
            <p:ph type="dt" sz="half" idx="10"/>
          </p:nvPr>
        </p:nvSpPr>
        <p:spPr/>
        <p:txBody>
          <a:bodyPr/>
          <a:lstStyle/>
          <a:p>
            <a:fld id="{71EE5AA8-1D05-40EC-AE1C-6ED613F0026F}" type="datetimeFigureOut">
              <a:rPr lang="en-US" smtClean="0"/>
              <a:t>3/3/2026</a:t>
            </a:fld>
            <a:endParaRPr lang="en-US"/>
          </a:p>
        </p:txBody>
      </p:sp>
      <p:sp>
        <p:nvSpPr>
          <p:cNvPr id="5" name="Footer Placeholder 4">
            <a:extLst>
              <a:ext uri="{FF2B5EF4-FFF2-40B4-BE49-F238E27FC236}">
                <a16:creationId xmlns:a16="http://schemas.microsoft.com/office/drawing/2014/main" id="{BEF21191-DF11-D247-0788-C1C2649EE7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3B8CD9-1445-F2DD-641D-598290AFABA3}"/>
              </a:ext>
            </a:extLst>
          </p:cNvPr>
          <p:cNvSpPr>
            <a:spLocks noGrp="1"/>
          </p:cNvSpPr>
          <p:nvPr>
            <p:ph type="sldNum" sz="quarter" idx="12"/>
          </p:nvPr>
        </p:nvSpPr>
        <p:spPr/>
        <p:txBody>
          <a:bodyPr/>
          <a:lstStyle/>
          <a:p>
            <a:fld id="{EA0D364A-B597-40F8-92C9-C0385B2C9827}" type="slidenum">
              <a:rPr lang="en-US" smtClean="0"/>
              <a:t>‹#›</a:t>
            </a:fld>
            <a:endParaRPr lang="en-US"/>
          </a:p>
        </p:txBody>
      </p:sp>
    </p:spTree>
    <p:extLst>
      <p:ext uri="{BB962C8B-B14F-4D97-AF65-F5344CB8AC3E}">
        <p14:creationId xmlns:p14="http://schemas.microsoft.com/office/powerpoint/2010/main" val="3172955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2E774-D3D3-96D3-27E0-B3D9ADEAF9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AAC846-3518-1082-7782-047420C68C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F2EB63-7D16-B7BB-FB04-1714338DDE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E5EEC3-4B95-3CED-3744-7C099C400402}"/>
              </a:ext>
            </a:extLst>
          </p:cNvPr>
          <p:cNvSpPr>
            <a:spLocks noGrp="1"/>
          </p:cNvSpPr>
          <p:nvPr>
            <p:ph type="dt" sz="half" idx="10"/>
          </p:nvPr>
        </p:nvSpPr>
        <p:spPr/>
        <p:txBody>
          <a:bodyPr/>
          <a:lstStyle/>
          <a:p>
            <a:fld id="{71EE5AA8-1D05-40EC-AE1C-6ED613F0026F}" type="datetimeFigureOut">
              <a:rPr lang="en-US" smtClean="0"/>
              <a:t>3/3/2026</a:t>
            </a:fld>
            <a:endParaRPr lang="en-US"/>
          </a:p>
        </p:txBody>
      </p:sp>
      <p:sp>
        <p:nvSpPr>
          <p:cNvPr id="6" name="Footer Placeholder 5">
            <a:extLst>
              <a:ext uri="{FF2B5EF4-FFF2-40B4-BE49-F238E27FC236}">
                <a16:creationId xmlns:a16="http://schemas.microsoft.com/office/drawing/2014/main" id="{148DB292-00D2-AF8A-0551-B5EAEC7E4D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7DDBBA-2907-B6EC-3DD2-18F56E9CAFAF}"/>
              </a:ext>
            </a:extLst>
          </p:cNvPr>
          <p:cNvSpPr>
            <a:spLocks noGrp="1"/>
          </p:cNvSpPr>
          <p:nvPr>
            <p:ph type="sldNum" sz="quarter" idx="12"/>
          </p:nvPr>
        </p:nvSpPr>
        <p:spPr/>
        <p:txBody>
          <a:bodyPr/>
          <a:lstStyle/>
          <a:p>
            <a:fld id="{EA0D364A-B597-40F8-92C9-C0385B2C9827}" type="slidenum">
              <a:rPr lang="en-US" smtClean="0"/>
              <a:t>‹#›</a:t>
            </a:fld>
            <a:endParaRPr lang="en-US"/>
          </a:p>
        </p:txBody>
      </p:sp>
    </p:spTree>
    <p:extLst>
      <p:ext uri="{BB962C8B-B14F-4D97-AF65-F5344CB8AC3E}">
        <p14:creationId xmlns:p14="http://schemas.microsoft.com/office/powerpoint/2010/main" val="3563252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E9908-63A8-B2BB-8E50-E2F8EF0A2BA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ED1A47-B20E-35E4-A79B-C90146A7E2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4007B6-1CC4-2C0B-D58D-447584B9C2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ED7C69A-7F14-877C-5459-C09692416E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85ECE0-2B0D-7DCA-2B01-0C96048D82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4072656-A696-34E8-492D-1562EF02CAF6}"/>
              </a:ext>
            </a:extLst>
          </p:cNvPr>
          <p:cNvSpPr>
            <a:spLocks noGrp="1"/>
          </p:cNvSpPr>
          <p:nvPr>
            <p:ph type="dt" sz="half" idx="10"/>
          </p:nvPr>
        </p:nvSpPr>
        <p:spPr/>
        <p:txBody>
          <a:bodyPr/>
          <a:lstStyle/>
          <a:p>
            <a:fld id="{71EE5AA8-1D05-40EC-AE1C-6ED613F0026F}" type="datetimeFigureOut">
              <a:rPr lang="en-US" smtClean="0"/>
              <a:t>3/3/2026</a:t>
            </a:fld>
            <a:endParaRPr lang="en-US"/>
          </a:p>
        </p:txBody>
      </p:sp>
      <p:sp>
        <p:nvSpPr>
          <p:cNvPr id="8" name="Footer Placeholder 7">
            <a:extLst>
              <a:ext uri="{FF2B5EF4-FFF2-40B4-BE49-F238E27FC236}">
                <a16:creationId xmlns:a16="http://schemas.microsoft.com/office/drawing/2014/main" id="{FA97FE3D-63FB-9B66-D1EF-773B5D42BC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80B84C-37DA-2E6F-132D-255C113EF2C1}"/>
              </a:ext>
            </a:extLst>
          </p:cNvPr>
          <p:cNvSpPr>
            <a:spLocks noGrp="1"/>
          </p:cNvSpPr>
          <p:nvPr>
            <p:ph type="sldNum" sz="quarter" idx="12"/>
          </p:nvPr>
        </p:nvSpPr>
        <p:spPr/>
        <p:txBody>
          <a:bodyPr/>
          <a:lstStyle/>
          <a:p>
            <a:fld id="{EA0D364A-B597-40F8-92C9-C0385B2C9827}" type="slidenum">
              <a:rPr lang="en-US" smtClean="0"/>
              <a:t>‹#›</a:t>
            </a:fld>
            <a:endParaRPr lang="en-US"/>
          </a:p>
        </p:txBody>
      </p:sp>
    </p:spTree>
    <p:extLst>
      <p:ext uri="{BB962C8B-B14F-4D97-AF65-F5344CB8AC3E}">
        <p14:creationId xmlns:p14="http://schemas.microsoft.com/office/powerpoint/2010/main" val="1381729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70D61-4D7A-68E3-EFFF-AF71598FFD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11F359-0331-FE78-C628-44BE82D36C2D}"/>
              </a:ext>
            </a:extLst>
          </p:cNvPr>
          <p:cNvSpPr>
            <a:spLocks noGrp="1"/>
          </p:cNvSpPr>
          <p:nvPr>
            <p:ph type="dt" sz="half" idx="10"/>
          </p:nvPr>
        </p:nvSpPr>
        <p:spPr/>
        <p:txBody>
          <a:bodyPr/>
          <a:lstStyle/>
          <a:p>
            <a:fld id="{71EE5AA8-1D05-40EC-AE1C-6ED613F0026F}" type="datetimeFigureOut">
              <a:rPr lang="en-US" smtClean="0"/>
              <a:t>3/3/2026</a:t>
            </a:fld>
            <a:endParaRPr lang="en-US"/>
          </a:p>
        </p:txBody>
      </p:sp>
      <p:sp>
        <p:nvSpPr>
          <p:cNvPr id="4" name="Footer Placeholder 3">
            <a:extLst>
              <a:ext uri="{FF2B5EF4-FFF2-40B4-BE49-F238E27FC236}">
                <a16:creationId xmlns:a16="http://schemas.microsoft.com/office/drawing/2014/main" id="{64E5D535-BD2A-C834-53BB-2D53734844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2641BF-E1EE-A7BE-07E2-012A5BDB68F1}"/>
              </a:ext>
            </a:extLst>
          </p:cNvPr>
          <p:cNvSpPr>
            <a:spLocks noGrp="1"/>
          </p:cNvSpPr>
          <p:nvPr>
            <p:ph type="sldNum" sz="quarter" idx="12"/>
          </p:nvPr>
        </p:nvSpPr>
        <p:spPr/>
        <p:txBody>
          <a:bodyPr/>
          <a:lstStyle/>
          <a:p>
            <a:fld id="{EA0D364A-B597-40F8-92C9-C0385B2C9827}" type="slidenum">
              <a:rPr lang="en-US" smtClean="0"/>
              <a:t>‹#›</a:t>
            </a:fld>
            <a:endParaRPr lang="en-US"/>
          </a:p>
        </p:txBody>
      </p:sp>
    </p:spTree>
    <p:extLst>
      <p:ext uri="{BB962C8B-B14F-4D97-AF65-F5344CB8AC3E}">
        <p14:creationId xmlns:p14="http://schemas.microsoft.com/office/powerpoint/2010/main" val="2078498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84DF04-37B4-1A51-27D4-459A28FC0CC2}"/>
              </a:ext>
            </a:extLst>
          </p:cNvPr>
          <p:cNvSpPr>
            <a:spLocks noGrp="1"/>
          </p:cNvSpPr>
          <p:nvPr>
            <p:ph type="dt" sz="half" idx="10"/>
          </p:nvPr>
        </p:nvSpPr>
        <p:spPr/>
        <p:txBody>
          <a:bodyPr/>
          <a:lstStyle/>
          <a:p>
            <a:fld id="{71EE5AA8-1D05-40EC-AE1C-6ED613F0026F}" type="datetimeFigureOut">
              <a:rPr lang="en-US" smtClean="0"/>
              <a:t>3/3/2026</a:t>
            </a:fld>
            <a:endParaRPr lang="en-US"/>
          </a:p>
        </p:txBody>
      </p:sp>
      <p:sp>
        <p:nvSpPr>
          <p:cNvPr id="3" name="Footer Placeholder 2">
            <a:extLst>
              <a:ext uri="{FF2B5EF4-FFF2-40B4-BE49-F238E27FC236}">
                <a16:creationId xmlns:a16="http://schemas.microsoft.com/office/drawing/2014/main" id="{AF103B4F-8465-2F90-A8C4-DF82884B56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D8350F-33D6-CD54-0ABC-6EFEAB33DD1D}"/>
              </a:ext>
            </a:extLst>
          </p:cNvPr>
          <p:cNvSpPr>
            <a:spLocks noGrp="1"/>
          </p:cNvSpPr>
          <p:nvPr>
            <p:ph type="sldNum" sz="quarter" idx="12"/>
          </p:nvPr>
        </p:nvSpPr>
        <p:spPr/>
        <p:txBody>
          <a:bodyPr/>
          <a:lstStyle/>
          <a:p>
            <a:fld id="{EA0D364A-B597-40F8-92C9-C0385B2C9827}" type="slidenum">
              <a:rPr lang="en-US" smtClean="0"/>
              <a:t>‹#›</a:t>
            </a:fld>
            <a:endParaRPr lang="en-US"/>
          </a:p>
        </p:txBody>
      </p:sp>
    </p:spTree>
    <p:extLst>
      <p:ext uri="{BB962C8B-B14F-4D97-AF65-F5344CB8AC3E}">
        <p14:creationId xmlns:p14="http://schemas.microsoft.com/office/powerpoint/2010/main" val="407367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86E5E-E798-0622-8F3C-7D1E18C3E3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B393ED-DBC4-931D-7F30-AE7FCD3644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6FA58B-1542-3505-8B85-4981D3FA3F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DEAA53-6995-0C2A-8043-1612C22862AB}"/>
              </a:ext>
            </a:extLst>
          </p:cNvPr>
          <p:cNvSpPr>
            <a:spLocks noGrp="1"/>
          </p:cNvSpPr>
          <p:nvPr>
            <p:ph type="dt" sz="half" idx="10"/>
          </p:nvPr>
        </p:nvSpPr>
        <p:spPr/>
        <p:txBody>
          <a:bodyPr/>
          <a:lstStyle/>
          <a:p>
            <a:fld id="{71EE5AA8-1D05-40EC-AE1C-6ED613F0026F}" type="datetimeFigureOut">
              <a:rPr lang="en-US" smtClean="0"/>
              <a:t>3/3/2026</a:t>
            </a:fld>
            <a:endParaRPr lang="en-US"/>
          </a:p>
        </p:txBody>
      </p:sp>
      <p:sp>
        <p:nvSpPr>
          <p:cNvPr id="6" name="Footer Placeholder 5">
            <a:extLst>
              <a:ext uri="{FF2B5EF4-FFF2-40B4-BE49-F238E27FC236}">
                <a16:creationId xmlns:a16="http://schemas.microsoft.com/office/drawing/2014/main" id="{6AA96DA0-AAD7-A5E5-9173-4B2C82A44D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576E0F-90A7-1DC3-B89E-4099E72676F2}"/>
              </a:ext>
            </a:extLst>
          </p:cNvPr>
          <p:cNvSpPr>
            <a:spLocks noGrp="1"/>
          </p:cNvSpPr>
          <p:nvPr>
            <p:ph type="sldNum" sz="quarter" idx="12"/>
          </p:nvPr>
        </p:nvSpPr>
        <p:spPr/>
        <p:txBody>
          <a:bodyPr/>
          <a:lstStyle/>
          <a:p>
            <a:fld id="{EA0D364A-B597-40F8-92C9-C0385B2C9827}" type="slidenum">
              <a:rPr lang="en-US" smtClean="0"/>
              <a:t>‹#›</a:t>
            </a:fld>
            <a:endParaRPr lang="en-US"/>
          </a:p>
        </p:txBody>
      </p:sp>
    </p:spTree>
    <p:extLst>
      <p:ext uri="{BB962C8B-B14F-4D97-AF65-F5344CB8AC3E}">
        <p14:creationId xmlns:p14="http://schemas.microsoft.com/office/powerpoint/2010/main" val="439089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87094-04BB-A1B3-6A61-4CF4A2972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3142375-B859-9853-53DE-41CA1184EA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375B09-C3F1-C8B4-2C42-3C516B87FE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069968-0237-ACF8-B42D-4AB0033DBC5D}"/>
              </a:ext>
            </a:extLst>
          </p:cNvPr>
          <p:cNvSpPr>
            <a:spLocks noGrp="1"/>
          </p:cNvSpPr>
          <p:nvPr>
            <p:ph type="dt" sz="half" idx="10"/>
          </p:nvPr>
        </p:nvSpPr>
        <p:spPr/>
        <p:txBody>
          <a:bodyPr/>
          <a:lstStyle/>
          <a:p>
            <a:fld id="{71EE5AA8-1D05-40EC-AE1C-6ED613F0026F}" type="datetimeFigureOut">
              <a:rPr lang="en-US" smtClean="0"/>
              <a:t>3/3/2026</a:t>
            </a:fld>
            <a:endParaRPr lang="en-US"/>
          </a:p>
        </p:txBody>
      </p:sp>
      <p:sp>
        <p:nvSpPr>
          <p:cNvPr id="6" name="Footer Placeholder 5">
            <a:extLst>
              <a:ext uri="{FF2B5EF4-FFF2-40B4-BE49-F238E27FC236}">
                <a16:creationId xmlns:a16="http://schemas.microsoft.com/office/drawing/2014/main" id="{82A48148-487B-3AD0-9E9D-8D9BEC05D3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2DC834-3CF8-23DB-3013-C432AD713CF0}"/>
              </a:ext>
            </a:extLst>
          </p:cNvPr>
          <p:cNvSpPr>
            <a:spLocks noGrp="1"/>
          </p:cNvSpPr>
          <p:nvPr>
            <p:ph type="sldNum" sz="quarter" idx="12"/>
          </p:nvPr>
        </p:nvSpPr>
        <p:spPr/>
        <p:txBody>
          <a:bodyPr/>
          <a:lstStyle/>
          <a:p>
            <a:fld id="{EA0D364A-B597-40F8-92C9-C0385B2C9827}" type="slidenum">
              <a:rPr lang="en-US" smtClean="0"/>
              <a:t>‹#›</a:t>
            </a:fld>
            <a:endParaRPr lang="en-US"/>
          </a:p>
        </p:txBody>
      </p:sp>
    </p:spTree>
    <p:extLst>
      <p:ext uri="{BB962C8B-B14F-4D97-AF65-F5344CB8AC3E}">
        <p14:creationId xmlns:p14="http://schemas.microsoft.com/office/powerpoint/2010/main" val="1498276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BD878-A0BA-1790-8C14-C2099E3B440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89A2FB-03B0-44FC-3C86-1199030D0B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EB809E-BECB-E265-066D-78803949F659}"/>
              </a:ext>
            </a:extLst>
          </p:cNvPr>
          <p:cNvSpPr>
            <a:spLocks noGrp="1"/>
          </p:cNvSpPr>
          <p:nvPr>
            <p:ph type="dt" sz="half" idx="10"/>
          </p:nvPr>
        </p:nvSpPr>
        <p:spPr/>
        <p:txBody>
          <a:bodyPr/>
          <a:lstStyle/>
          <a:p>
            <a:fld id="{71EE5AA8-1D05-40EC-AE1C-6ED613F0026F}" type="datetimeFigureOut">
              <a:rPr lang="en-US" smtClean="0"/>
              <a:t>3/3/2026</a:t>
            </a:fld>
            <a:endParaRPr lang="en-US"/>
          </a:p>
        </p:txBody>
      </p:sp>
      <p:sp>
        <p:nvSpPr>
          <p:cNvPr id="5" name="Footer Placeholder 4">
            <a:extLst>
              <a:ext uri="{FF2B5EF4-FFF2-40B4-BE49-F238E27FC236}">
                <a16:creationId xmlns:a16="http://schemas.microsoft.com/office/drawing/2014/main" id="{870E99CF-6435-A0C0-A9FC-758F6B0564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197843-8535-D10D-9A3B-035502475D8F}"/>
              </a:ext>
            </a:extLst>
          </p:cNvPr>
          <p:cNvSpPr>
            <a:spLocks noGrp="1"/>
          </p:cNvSpPr>
          <p:nvPr>
            <p:ph type="sldNum" sz="quarter" idx="12"/>
          </p:nvPr>
        </p:nvSpPr>
        <p:spPr/>
        <p:txBody>
          <a:bodyPr/>
          <a:lstStyle/>
          <a:p>
            <a:fld id="{EA0D364A-B597-40F8-92C9-C0385B2C9827}" type="slidenum">
              <a:rPr lang="en-US" smtClean="0"/>
              <a:t>‹#›</a:t>
            </a:fld>
            <a:endParaRPr lang="en-US"/>
          </a:p>
        </p:txBody>
      </p:sp>
    </p:spTree>
    <p:extLst>
      <p:ext uri="{BB962C8B-B14F-4D97-AF65-F5344CB8AC3E}">
        <p14:creationId xmlns:p14="http://schemas.microsoft.com/office/powerpoint/2010/main" val="2049250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D708D6-C10D-367B-B9EF-5AFB137D74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30C7A9-3D1B-A090-4DF1-27DCA3E88F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2CACF2-5E0B-2D63-9094-133E7425A191}"/>
              </a:ext>
            </a:extLst>
          </p:cNvPr>
          <p:cNvSpPr>
            <a:spLocks noGrp="1"/>
          </p:cNvSpPr>
          <p:nvPr>
            <p:ph type="dt" sz="half" idx="10"/>
          </p:nvPr>
        </p:nvSpPr>
        <p:spPr/>
        <p:txBody>
          <a:bodyPr/>
          <a:lstStyle/>
          <a:p>
            <a:fld id="{71EE5AA8-1D05-40EC-AE1C-6ED613F0026F}" type="datetimeFigureOut">
              <a:rPr lang="en-US" smtClean="0"/>
              <a:t>3/3/2026</a:t>
            </a:fld>
            <a:endParaRPr lang="en-US"/>
          </a:p>
        </p:txBody>
      </p:sp>
      <p:sp>
        <p:nvSpPr>
          <p:cNvPr id="5" name="Footer Placeholder 4">
            <a:extLst>
              <a:ext uri="{FF2B5EF4-FFF2-40B4-BE49-F238E27FC236}">
                <a16:creationId xmlns:a16="http://schemas.microsoft.com/office/drawing/2014/main" id="{C4DFF7F3-3D0D-48BF-184E-408931119E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9A30EF-6288-AC44-9951-262D678EF970}"/>
              </a:ext>
            </a:extLst>
          </p:cNvPr>
          <p:cNvSpPr>
            <a:spLocks noGrp="1"/>
          </p:cNvSpPr>
          <p:nvPr>
            <p:ph type="sldNum" sz="quarter" idx="12"/>
          </p:nvPr>
        </p:nvSpPr>
        <p:spPr/>
        <p:txBody>
          <a:bodyPr/>
          <a:lstStyle/>
          <a:p>
            <a:fld id="{EA0D364A-B597-40F8-92C9-C0385B2C9827}" type="slidenum">
              <a:rPr lang="en-US" smtClean="0"/>
              <a:t>‹#›</a:t>
            </a:fld>
            <a:endParaRPr lang="en-US"/>
          </a:p>
        </p:txBody>
      </p:sp>
    </p:spTree>
    <p:extLst>
      <p:ext uri="{BB962C8B-B14F-4D97-AF65-F5344CB8AC3E}">
        <p14:creationId xmlns:p14="http://schemas.microsoft.com/office/powerpoint/2010/main" val="257199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C8AD9F-E511-D927-496A-36C2C47451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2930022-16AE-5D6C-E8F3-389C45238F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255E8F-DA71-8E22-82FF-F01222BBE4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EE5AA8-1D05-40EC-AE1C-6ED613F0026F}" type="datetimeFigureOut">
              <a:rPr lang="en-US" smtClean="0"/>
              <a:t>3/3/2026</a:t>
            </a:fld>
            <a:endParaRPr lang="en-US"/>
          </a:p>
        </p:txBody>
      </p:sp>
      <p:sp>
        <p:nvSpPr>
          <p:cNvPr id="5" name="Footer Placeholder 4">
            <a:extLst>
              <a:ext uri="{FF2B5EF4-FFF2-40B4-BE49-F238E27FC236}">
                <a16:creationId xmlns:a16="http://schemas.microsoft.com/office/drawing/2014/main" id="{2CBDAD55-C2A0-CB13-7091-9224946D4A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E033A43-A1E4-570A-B6C7-39297F9E28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0D364A-B597-40F8-92C9-C0385B2C9827}" type="slidenum">
              <a:rPr lang="en-US" smtClean="0"/>
              <a:t>‹#›</a:t>
            </a:fld>
            <a:endParaRPr lang="en-US"/>
          </a:p>
        </p:txBody>
      </p:sp>
    </p:spTree>
    <p:extLst>
      <p:ext uri="{BB962C8B-B14F-4D97-AF65-F5344CB8AC3E}">
        <p14:creationId xmlns:p14="http://schemas.microsoft.com/office/powerpoint/2010/main" val="42640674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chart" Target="../charts/chart3.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chart" Target="../charts/chart6.xml"/></Relationships>
</file>

<file path=ppt/slides/_rels/slide1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merriam-webster.com/dictionary/attrition"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50189-D561-7E72-A7F2-3205BB5BC2B7}"/>
              </a:ext>
            </a:extLst>
          </p:cNvPr>
          <p:cNvSpPr>
            <a:spLocks noGrp="1"/>
          </p:cNvSpPr>
          <p:nvPr>
            <p:ph type="ctrTitle"/>
          </p:nvPr>
        </p:nvSpPr>
        <p:spPr/>
        <p:txBody>
          <a:bodyPr/>
          <a:lstStyle/>
          <a:p>
            <a:r>
              <a:rPr lang="en-US" dirty="0"/>
              <a:t>Case Study 1 EDA and Initial Modeling</a:t>
            </a:r>
          </a:p>
        </p:txBody>
      </p:sp>
      <p:sp>
        <p:nvSpPr>
          <p:cNvPr id="3" name="Subtitle 2">
            <a:extLst>
              <a:ext uri="{FF2B5EF4-FFF2-40B4-BE49-F238E27FC236}">
                <a16:creationId xmlns:a16="http://schemas.microsoft.com/office/drawing/2014/main" id="{60E32147-58DF-59A1-72B5-B1A9D85A5E53}"/>
              </a:ext>
            </a:extLst>
          </p:cNvPr>
          <p:cNvSpPr>
            <a:spLocks noGrp="1"/>
          </p:cNvSpPr>
          <p:nvPr>
            <p:ph type="subTitle" idx="1"/>
          </p:nvPr>
        </p:nvSpPr>
        <p:spPr/>
        <p:txBody>
          <a:bodyPr/>
          <a:lstStyle/>
          <a:p>
            <a:r>
              <a:rPr lang="en-US" dirty="0"/>
              <a:t>Unit 8 Project Preparation</a:t>
            </a:r>
          </a:p>
          <a:p>
            <a:r>
              <a:rPr lang="en-US" dirty="0"/>
              <a:t>Isabella Westlauer</a:t>
            </a:r>
          </a:p>
          <a:p>
            <a:r>
              <a:rPr lang="en-US" dirty="0"/>
              <a:t>3/1/2026</a:t>
            </a:r>
          </a:p>
        </p:txBody>
      </p:sp>
    </p:spTree>
    <p:extLst>
      <p:ext uri="{BB962C8B-B14F-4D97-AF65-F5344CB8AC3E}">
        <p14:creationId xmlns:p14="http://schemas.microsoft.com/office/powerpoint/2010/main" val="216682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8E4C5-70AA-416B-B33F-C67A9FFBA1B3}"/>
              </a:ext>
            </a:extLst>
          </p:cNvPr>
          <p:cNvSpPr>
            <a:spLocks noGrp="1"/>
          </p:cNvSpPr>
          <p:nvPr>
            <p:ph type="title"/>
          </p:nvPr>
        </p:nvSpPr>
        <p:spPr/>
        <p:txBody>
          <a:bodyPr>
            <a:normAutofit fontScale="90000"/>
          </a:bodyPr>
          <a:lstStyle/>
          <a:p>
            <a:r>
              <a:rPr lang="en-US" dirty="0"/>
              <a:t>Goal: Compare Cost of Employee Incentive vs. Replacement by Analyzing Attrition Factors</a:t>
            </a:r>
          </a:p>
        </p:txBody>
      </p:sp>
      <p:sp>
        <p:nvSpPr>
          <p:cNvPr id="3" name="Content Placeholder 2">
            <a:extLst>
              <a:ext uri="{FF2B5EF4-FFF2-40B4-BE49-F238E27FC236}">
                <a16:creationId xmlns:a16="http://schemas.microsoft.com/office/drawing/2014/main" id="{8403684F-C439-4461-AA51-91FDA27FB8EE}"/>
              </a:ext>
            </a:extLst>
          </p:cNvPr>
          <p:cNvSpPr>
            <a:spLocks noGrp="1"/>
          </p:cNvSpPr>
          <p:nvPr>
            <p:ph idx="1"/>
          </p:nvPr>
        </p:nvSpPr>
        <p:spPr>
          <a:xfrm>
            <a:off x="838200" y="1825625"/>
            <a:ext cx="10515600" cy="1699628"/>
          </a:xfrm>
        </p:spPr>
        <p:txBody>
          <a:bodyPr>
            <a:normAutofit/>
          </a:bodyPr>
          <a:lstStyle/>
          <a:p>
            <a:pPr marL="514350" indent="-514350">
              <a:buFont typeface="+mj-lt"/>
              <a:buAutoNum type="arabicPeriod"/>
            </a:pPr>
            <a:r>
              <a:rPr lang="en-US" sz="2400" dirty="0"/>
              <a:t>Cost of incentives</a:t>
            </a:r>
          </a:p>
          <a:p>
            <a:pPr marL="514350" indent="-514350">
              <a:buFont typeface="+mj-lt"/>
              <a:buAutoNum type="arabicPeriod"/>
            </a:pPr>
            <a:r>
              <a:rPr lang="en-US" sz="2400" dirty="0"/>
              <a:t>Cost of replacement</a:t>
            </a:r>
          </a:p>
          <a:p>
            <a:pPr marL="514350" indent="-514350">
              <a:buFont typeface="+mj-lt"/>
              <a:buAutoNum type="arabicPeriod"/>
            </a:pPr>
            <a:r>
              <a:rPr lang="en-US" sz="2400" dirty="0"/>
              <a:t>Factors correlated with attrition</a:t>
            </a:r>
          </a:p>
        </p:txBody>
      </p:sp>
      <p:sp>
        <p:nvSpPr>
          <p:cNvPr id="4" name="Arrow: Left-Right 3">
            <a:extLst>
              <a:ext uri="{FF2B5EF4-FFF2-40B4-BE49-F238E27FC236}">
                <a16:creationId xmlns:a16="http://schemas.microsoft.com/office/drawing/2014/main" id="{C9A14BE4-B4F8-7D4B-9A18-87805BD9FA13}"/>
              </a:ext>
            </a:extLst>
          </p:cNvPr>
          <p:cNvSpPr/>
          <p:nvPr/>
        </p:nvSpPr>
        <p:spPr>
          <a:xfrm>
            <a:off x="3930238" y="3940327"/>
            <a:ext cx="3994638" cy="715108"/>
          </a:xfrm>
          <a:prstGeom prst="leftRightArrow">
            <a:avLst/>
          </a:prstGeom>
          <a:gradFill flip="none" rotWithShape="1">
            <a:gsLst>
              <a:gs pos="0">
                <a:srgbClr val="FF0000"/>
              </a:gs>
              <a:gs pos="100000">
                <a:srgbClr val="00B0F0"/>
              </a:gs>
              <a:gs pos="52000">
                <a:schemeClr val="accent1">
                  <a:lumMod val="30000"/>
                  <a:lumOff val="70000"/>
                </a:scheme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F383CC3-0120-A1C9-F7C7-9A0BA774948E}"/>
              </a:ext>
            </a:extLst>
          </p:cNvPr>
          <p:cNvSpPr txBox="1"/>
          <p:nvPr/>
        </p:nvSpPr>
        <p:spPr>
          <a:xfrm>
            <a:off x="8272172" y="3836216"/>
            <a:ext cx="2368062" cy="923330"/>
          </a:xfrm>
          <a:prstGeom prst="rect">
            <a:avLst/>
          </a:prstGeom>
          <a:noFill/>
          <a:ln>
            <a:solidFill>
              <a:schemeClr val="accent1"/>
            </a:solidFill>
          </a:ln>
        </p:spPr>
        <p:txBody>
          <a:bodyPr wrap="square" rtlCol="0">
            <a:spAutoFit/>
          </a:bodyPr>
          <a:lstStyle/>
          <a:p>
            <a:r>
              <a:rPr lang="en-US" dirty="0"/>
              <a:t>Employees Retained</a:t>
            </a:r>
          </a:p>
          <a:p>
            <a:endParaRPr lang="en-US" dirty="0"/>
          </a:p>
          <a:p>
            <a:r>
              <a:rPr lang="en-US" dirty="0"/>
              <a:t> Incentive cost: </a:t>
            </a:r>
            <a:r>
              <a:rPr lang="en-US" b="1" dirty="0"/>
              <a:t>$200</a:t>
            </a:r>
          </a:p>
        </p:txBody>
      </p:sp>
      <p:sp>
        <p:nvSpPr>
          <p:cNvPr id="6" name="TextBox 5">
            <a:extLst>
              <a:ext uri="{FF2B5EF4-FFF2-40B4-BE49-F238E27FC236}">
                <a16:creationId xmlns:a16="http://schemas.microsoft.com/office/drawing/2014/main" id="{6F16E497-AD7E-056F-1F83-AB9C4522E566}"/>
              </a:ext>
            </a:extLst>
          </p:cNvPr>
          <p:cNvSpPr txBox="1"/>
          <p:nvPr/>
        </p:nvSpPr>
        <p:spPr>
          <a:xfrm>
            <a:off x="1214880" y="3836216"/>
            <a:ext cx="2368062" cy="1754326"/>
          </a:xfrm>
          <a:prstGeom prst="rect">
            <a:avLst/>
          </a:prstGeom>
          <a:noFill/>
          <a:ln>
            <a:solidFill>
              <a:schemeClr val="accent1"/>
            </a:solidFill>
          </a:ln>
        </p:spPr>
        <p:txBody>
          <a:bodyPr wrap="square" rtlCol="0">
            <a:spAutoFit/>
          </a:bodyPr>
          <a:lstStyle/>
          <a:p>
            <a:r>
              <a:rPr lang="en-US" dirty="0"/>
              <a:t>Employees Lost</a:t>
            </a:r>
          </a:p>
          <a:p>
            <a:endParaRPr lang="en-US" dirty="0"/>
          </a:p>
          <a:p>
            <a:r>
              <a:rPr lang="en-US" dirty="0"/>
              <a:t>Replacement cost: </a:t>
            </a:r>
            <a:r>
              <a:rPr lang="en-US" b="1" dirty="0"/>
              <a:t>50% - 400%</a:t>
            </a:r>
            <a:r>
              <a:rPr lang="en-US" dirty="0"/>
              <a:t> of the employee’s annual salary</a:t>
            </a:r>
          </a:p>
        </p:txBody>
      </p:sp>
    </p:spTree>
    <p:extLst>
      <p:ext uri="{BB962C8B-B14F-4D97-AF65-F5344CB8AC3E}">
        <p14:creationId xmlns:p14="http://schemas.microsoft.com/office/powerpoint/2010/main" val="2002850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F148C-1A92-22F8-F289-DC10A4C91594}"/>
              </a:ext>
            </a:extLst>
          </p:cNvPr>
          <p:cNvSpPr>
            <a:spLocks noGrp="1"/>
          </p:cNvSpPr>
          <p:nvPr>
            <p:ph type="title"/>
          </p:nvPr>
        </p:nvSpPr>
        <p:spPr/>
        <p:txBody>
          <a:bodyPr/>
          <a:lstStyle/>
          <a:p>
            <a:r>
              <a:rPr lang="en-US" dirty="0"/>
              <a:t>What is attrition?</a:t>
            </a:r>
          </a:p>
        </p:txBody>
      </p:sp>
      <p:sp>
        <p:nvSpPr>
          <p:cNvPr id="3" name="Content Placeholder 2">
            <a:extLst>
              <a:ext uri="{FF2B5EF4-FFF2-40B4-BE49-F238E27FC236}">
                <a16:creationId xmlns:a16="http://schemas.microsoft.com/office/drawing/2014/main" id="{0FB5A54D-1127-03F0-3B58-24A97BA62227}"/>
              </a:ext>
            </a:extLst>
          </p:cNvPr>
          <p:cNvSpPr>
            <a:spLocks noGrp="1"/>
          </p:cNvSpPr>
          <p:nvPr>
            <p:ph idx="1"/>
          </p:nvPr>
        </p:nvSpPr>
        <p:spPr>
          <a:xfrm>
            <a:off x="838199" y="1690689"/>
            <a:ext cx="4042559" cy="4486274"/>
          </a:xfrm>
        </p:spPr>
        <p:txBody>
          <a:bodyPr>
            <a:normAutofit/>
          </a:bodyPr>
          <a:lstStyle/>
          <a:p>
            <a:pPr marL="0" indent="0">
              <a:buNone/>
            </a:pPr>
            <a:r>
              <a:rPr lang="en-US" sz="2000" dirty="0"/>
              <a:t>Losing employees to resignation, retirement, or death</a:t>
            </a:r>
          </a:p>
          <a:p>
            <a:pPr marL="0" indent="0">
              <a:buNone/>
            </a:pPr>
            <a:r>
              <a:rPr lang="en-US" sz="2000" b="1" dirty="0"/>
              <a:t>Frito Lay’s attrition rate: 16%</a:t>
            </a:r>
          </a:p>
          <a:p>
            <a:endParaRPr lang="en-US" sz="2000" b="1" dirty="0"/>
          </a:p>
          <a:p>
            <a:pPr marL="0" indent="0">
              <a:buNone/>
            </a:pPr>
            <a:r>
              <a:rPr lang="en-US" b="1" u="sng" dirty="0"/>
              <a:t>For 140 employees</a:t>
            </a:r>
          </a:p>
          <a:p>
            <a:pPr marL="0" indent="0">
              <a:buNone/>
            </a:pPr>
            <a:r>
              <a:rPr lang="en-US" sz="3600" dirty="0"/>
              <a:t>Incentives: </a:t>
            </a:r>
          </a:p>
          <a:p>
            <a:pPr marL="0" indent="0">
              <a:buNone/>
            </a:pPr>
            <a:r>
              <a:rPr lang="en-US" sz="3600" b="1" dirty="0"/>
              <a:t>$28,000</a:t>
            </a:r>
          </a:p>
          <a:p>
            <a:pPr marL="0" indent="0">
              <a:buNone/>
            </a:pPr>
            <a:r>
              <a:rPr lang="en-US" sz="3600" dirty="0"/>
              <a:t>Replacement: </a:t>
            </a:r>
            <a:r>
              <a:rPr lang="en-US" sz="3600" b="1" dirty="0"/>
              <a:t>$10,735,644</a:t>
            </a:r>
          </a:p>
        </p:txBody>
      </p:sp>
      <p:graphicFrame>
        <p:nvGraphicFramePr>
          <p:cNvPr id="4" name="Chart 3">
            <a:extLst>
              <a:ext uri="{FF2B5EF4-FFF2-40B4-BE49-F238E27FC236}">
                <a16:creationId xmlns:a16="http://schemas.microsoft.com/office/drawing/2014/main" id="{42B71153-7EB4-192E-4F40-9E5744CD87D2}"/>
              </a:ext>
            </a:extLst>
          </p:cNvPr>
          <p:cNvGraphicFramePr>
            <a:graphicFrameLocks/>
          </p:cNvGraphicFramePr>
          <p:nvPr>
            <p:extLst>
              <p:ext uri="{D42A27DB-BD31-4B8C-83A1-F6EECF244321}">
                <p14:modId xmlns:p14="http://schemas.microsoft.com/office/powerpoint/2010/main" val="1035113589"/>
              </p:ext>
            </p:extLst>
          </p:nvPr>
        </p:nvGraphicFramePr>
        <p:xfrm>
          <a:off x="4880759" y="1690688"/>
          <a:ext cx="6473042" cy="448627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77600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E1F5D-1C3E-9691-3993-8E37222094B8}"/>
              </a:ext>
            </a:extLst>
          </p:cNvPr>
          <p:cNvSpPr>
            <a:spLocks noGrp="1"/>
          </p:cNvSpPr>
          <p:nvPr>
            <p:ph type="title"/>
          </p:nvPr>
        </p:nvSpPr>
        <p:spPr/>
        <p:txBody>
          <a:bodyPr/>
          <a:lstStyle/>
          <a:p>
            <a:r>
              <a:rPr lang="en-US" dirty="0"/>
              <a:t>Summary of Categorical Features</a:t>
            </a:r>
          </a:p>
        </p:txBody>
      </p:sp>
      <p:graphicFrame>
        <p:nvGraphicFramePr>
          <p:cNvPr id="4" name="Table 3">
            <a:extLst>
              <a:ext uri="{FF2B5EF4-FFF2-40B4-BE49-F238E27FC236}">
                <a16:creationId xmlns:a16="http://schemas.microsoft.com/office/drawing/2014/main" id="{0EC88E33-CCA5-3213-2232-8F76F3226F69}"/>
              </a:ext>
            </a:extLst>
          </p:cNvPr>
          <p:cNvGraphicFramePr>
            <a:graphicFrameLocks noGrp="1"/>
          </p:cNvGraphicFramePr>
          <p:nvPr>
            <p:extLst>
              <p:ext uri="{D42A27DB-BD31-4B8C-83A1-F6EECF244321}">
                <p14:modId xmlns:p14="http://schemas.microsoft.com/office/powerpoint/2010/main" val="3204785920"/>
              </p:ext>
            </p:extLst>
          </p:nvPr>
        </p:nvGraphicFramePr>
        <p:xfrm>
          <a:off x="392723" y="1690688"/>
          <a:ext cx="11406554" cy="4362450"/>
        </p:xfrm>
        <a:graphic>
          <a:graphicData uri="http://schemas.openxmlformats.org/drawingml/2006/table">
            <a:tbl>
              <a:tblPr firstRow="1">
                <a:tableStyleId>{9D7B26C5-4107-4FEC-AEDC-1716B250A1EF}</a:tableStyleId>
              </a:tblPr>
              <a:tblGrid>
                <a:gridCol w="861646">
                  <a:extLst>
                    <a:ext uri="{9D8B030D-6E8A-4147-A177-3AD203B41FA5}">
                      <a16:colId xmlns:a16="http://schemas.microsoft.com/office/drawing/2014/main" val="141046849"/>
                    </a:ext>
                  </a:extLst>
                </a:gridCol>
                <a:gridCol w="1547446">
                  <a:extLst>
                    <a:ext uri="{9D8B030D-6E8A-4147-A177-3AD203B41FA5}">
                      <a16:colId xmlns:a16="http://schemas.microsoft.com/office/drawing/2014/main" val="4260688003"/>
                    </a:ext>
                  </a:extLst>
                </a:gridCol>
                <a:gridCol w="1594339">
                  <a:extLst>
                    <a:ext uri="{9D8B030D-6E8A-4147-A177-3AD203B41FA5}">
                      <a16:colId xmlns:a16="http://schemas.microsoft.com/office/drawing/2014/main" val="346797416"/>
                    </a:ext>
                  </a:extLst>
                </a:gridCol>
                <a:gridCol w="1524000">
                  <a:extLst>
                    <a:ext uri="{9D8B030D-6E8A-4147-A177-3AD203B41FA5}">
                      <a16:colId xmlns:a16="http://schemas.microsoft.com/office/drawing/2014/main" val="4200872691"/>
                    </a:ext>
                  </a:extLst>
                </a:gridCol>
                <a:gridCol w="890954">
                  <a:extLst>
                    <a:ext uri="{9D8B030D-6E8A-4147-A177-3AD203B41FA5}">
                      <a16:colId xmlns:a16="http://schemas.microsoft.com/office/drawing/2014/main" val="3770368860"/>
                    </a:ext>
                  </a:extLst>
                </a:gridCol>
                <a:gridCol w="1887415">
                  <a:extLst>
                    <a:ext uri="{9D8B030D-6E8A-4147-A177-3AD203B41FA5}">
                      <a16:colId xmlns:a16="http://schemas.microsoft.com/office/drawing/2014/main" val="86829996"/>
                    </a:ext>
                  </a:extLst>
                </a:gridCol>
                <a:gridCol w="1266092">
                  <a:extLst>
                    <a:ext uri="{9D8B030D-6E8A-4147-A177-3AD203B41FA5}">
                      <a16:colId xmlns:a16="http://schemas.microsoft.com/office/drawing/2014/main" val="3213316401"/>
                    </a:ext>
                  </a:extLst>
                </a:gridCol>
                <a:gridCol w="793499">
                  <a:extLst>
                    <a:ext uri="{9D8B030D-6E8A-4147-A177-3AD203B41FA5}">
                      <a16:colId xmlns:a16="http://schemas.microsoft.com/office/drawing/2014/main" val="1620281525"/>
                    </a:ext>
                  </a:extLst>
                </a:gridCol>
                <a:gridCol w="1041163">
                  <a:extLst>
                    <a:ext uri="{9D8B030D-6E8A-4147-A177-3AD203B41FA5}">
                      <a16:colId xmlns:a16="http://schemas.microsoft.com/office/drawing/2014/main" val="460035510"/>
                    </a:ext>
                  </a:extLst>
                </a:gridCol>
              </a:tblGrid>
              <a:tr h="436245">
                <a:tc>
                  <a:txBody>
                    <a:bodyPr/>
                    <a:lstStyle/>
                    <a:p>
                      <a:pPr algn="l" fontAlgn="ctr">
                        <a:buNone/>
                      </a:pPr>
                      <a:r>
                        <a:rPr lang="en-US" sz="1400" u="none" strike="noStrike" dirty="0">
                          <a:effectLst/>
                        </a:rPr>
                        <a:t>Attrition</a:t>
                      </a:r>
                      <a:endParaRPr lang="en-US" sz="1400" b="1" i="0" u="none" strike="noStrike" dirty="0">
                        <a:solidFill>
                          <a:srgbClr val="000000"/>
                        </a:solidFill>
                        <a:effectLst/>
                        <a:latin typeface="+mn-lt"/>
                      </a:endParaRPr>
                    </a:p>
                  </a:txBody>
                  <a:tcPr marL="9525" marR="9525" marT="9525" marB="0" anchor="ctr"/>
                </a:tc>
                <a:tc>
                  <a:txBody>
                    <a:bodyPr/>
                    <a:lstStyle/>
                    <a:p>
                      <a:pPr algn="l" fontAlgn="ctr">
                        <a:buNone/>
                      </a:pPr>
                      <a:r>
                        <a:rPr lang="en-US" sz="1400" u="none" strike="noStrike" dirty="0" err="1">
                          <a:effectLst/>
                        </a:rPr>
                        <a:t>BusinessTravel</a:t>
                      </a:r>
                      <a:endParaRPr lang="en-US" sz="1400" b="1" i="0" u="none" strike="noStrike" dirty="0">
                        <a:solidFill>
                          <a:srgbClr val="000000"/>
                        </a:solidFill>
                        <a:effectLst/>
                        <a:latin typeface="+mn-lt"/>
                      </a:endParaRPr>
                    </a:p>
                  </a:txBody>
                  <a:tcPr marL="9525" marR="9525" marT="9525" marB="0" anchor="ctr"/>
                </a:tc>
                <a:tc>
                  <a:txBody>
                    <a:bodyPr/>
                    <a:lstStyle/>
                    <a:p>
                      <a:pPr algn="l" fontAlgn="ctr">
                        <a:buNone/>
                      </a:pPr>
                      <a:r>
                        <a:rPr lang="en-US" sz="1400" u="none" strike="noStrike" dirty="0">
                          <a:effectLst/>
                        </a:rPr>
                        <a:t>Department</a:t>
                      </a:r>
                      <a:endParaRPr lang="en-US" sz="1400" b="1" i="0" u="none" strike="noStrike" dirty="0">
                        <a:solidFill>
                          <a:srgbClr val="000000"/>
                        </a:solidFill>
                        <a:effectLst/>
                        <a:latin typeface="+mn-lt"/>
                      </a:endParaRPr>
                    </a:p>
                  </a:txBody>
                  <a:tcPr marL="9525" marR="9525" marT="9525" marB="0" anchor="ctr"/>
                </a:tc>
                <a:tc>
                  <a:txBody>
                    <a:bodyPr/>
                    <a:lstStyle/>
                    <a:p>
                      <a:pPr algn="l" fontAlgn="ctr">
                        <a:buNone/>
                      </a:pPr>
                      <a:r>
                        <a:rPr lang="en-US" sz="1400" u="none" strike="noStrike" dirty="0" err="1">
                          <a:effectLst/>
                        </a:rPr>
                        <a:t>EducationField</a:t>
                      </a:r>
                      <a:endParaRPr lang="en-US" sz="1400" b="1" i="0" u="none" strike="noStrike" dirty="0">
                        <a:solidFill>
                          <a:srgbClr val="000000"/>
                        </a:solidFill>
                        <a:effectLst/>
                        <a:latin typeface="+mn-lt"/>
                      </a:endParaRPr>
                    </a:p>
                  </a:txBody>
                  <a:tcPr marL="9525" marR="9525" marT="9525" marB="0" anchor="ctr"/>
                </a:tc>
                <a:tc>
                  <a:txBody>
                    <a:bodyPr/>
                    <a:lstStyle/>
                    <a:p>
                      <a:pPr algn="l" fontAlgn="ctr">
                        <a:buNone/>
                      </a:pPr>
                      <a:r>
                        <a:rPr lang="en-US" sz="1400" u="none" strike="noStrike" dirty="0">
                          <a:effectLst/>
                        </a:rPr>
                        <a:t>Gender</a:t>
                      </a:r>
                      <a:endParaRPr lang="en-US" sz="1400" b="1" i="0" u="none" strike="noStrike" dirty="0">
                        <a:solidFill>
                          <a:srgbClr val="000000"/>
                        </a:solidFill>
                        <a:effectLst/>
                        <a:latin typeface="+mn-lt"/>
                      </a:endParaRPr>
                    </a:p>
                  </a:txBody>
                  <a:tcPr marL="9525" marR="9525" marT="9525" marB="0" anchor="ctr"/>
                </a:tc>
                <a:tc>
                  <a:txBody>
                    <a:bodyPr/>
                    <a:lstStyle/>
                    <a:p>
                      <a:pPr algn="l" fontAlgn="ctr">
                        <a:buNone/>
                      </a:pPr>
                      <a:r>
                        <a:rPr lang="en-US" sz="1400" u="none" strike="noStrike" dirty="0" err="1">
                          <a:effectLst/>
                        </a:rPr>
                        <a:t>JobRole</a:t>
                      </a:r>
                      <a:endParaRPr lang="en-US" sz="1400" b="1" i="0" u="none" strike="noStrike" dirty="0">
                        <a:solidFill>
                          <a:srgbClr val="000000"/>
                        </a:solidFill>
                        <a:effectLst/>
                        <a:latin typeface="+mn-lt"/>
                      </a:endParaRPr>
                    </a:p>
                  </a:txBody>
                  <a:tcPr marL="9525" marR="9525" marT="9525" marB="0" anchor="ctr"/>
                </a:tc>
                <a:tc>
                  <a:txBody>
                    <a:bodyPr/>
                    <a:lstStyle/>
                    <a:p>
                      <a:pPr algn="l" fontAlgn="ctr">
                        <a:buNone/>
                      </a:pPr>
                      <a:r>
                        <a:rPr lang="en-US" sz="1400" u="none" strike="noStrike" dirty="0" err="1">
                          <a:effectLst/>
                        </a:rPr>
                        <a:t>MaritalStatus</a:t>
                      </a:r>
                      <a:endParaRPr lang="en-US" sz="1400" b="1" i="0" u="none" strike="noStrike" dirty="0">
                        <a:solidFill>
                          <a:srgbClr val="000000"/>
                        </a:solidFill>
                        <a:effectLst/>
                        <a:latin typeface="+mn-lt"/>
                      </a:endParaRPr>
                    </a:p>
                  </a:txBody>
                  <a:tcPr marL="9525" marR="9525" marT="9525" marB="0" anchor="ctr"/>
                </a:tc>
                <a:tc>
                  <a:txBody>
                    <a:bodyPr/>
                    <a:lstStyle/>
                    <a:p>
                      <a:pPr algn="l" fontAlgn="ctr">
                        <a:buNone/>
                      </a:pPr>
                      <a:r>
                        <a:rPr lang="en-US" sz="1400" u="none" strike="noStrike" dirty="0">
                          <a:effectLst/>
                          <a:highlight>
                            <a:srgbClr val="FFFF00"/>
                          </a:highlight>
                        </a:rPr>
                        <a:t>Over18</a:t>
                      </a:r>
                      <a:endParaRPr lang="en-US" sz="1400" b="1" i="0" u="none" strike="noStrike" dirty="0">
                        <a:solidFill>
                          <a:srgbClr val="000000"/>
                        </a:solidFill>
                        <a:effectLst/>
                        <a:highlight>
                          <a:srgbClr val="FFFF00"/>
                        </a:highlight>
                        <a:latin typeface="+mn-lt"/>
                      </a:endParaRPr>
                    </a:p>
                  </a:txBody>
                  <a:tcPr marL="9525" marR="9525" marT="9525" marB="0" anchor="ctr"/>
                </a:tc>
                <a:tc>
                  <a:txBody>
                    <a:bodyPr/>
                    <a:lstStyle/>
                    <a:p>
                      <a:pPr algn="l" fontAlgn="ctr">
                        <a:buNone/>
                      </a:pPr>
                      <a:r>
                        <a:rPr lang="en-US" sz="1400" u="none" strike="noStrike" dirty="0" err="1">
                          <a:effectLst/>
                        </a:rPr>
                        <a:t>OverTime</a:t>
                      </a:r>
                      <a:endParaRPr lang="en-US" sz="1400" b="1"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1129566903"/>
                  </a:ext>
                </a:extLst>
              </a:tr>
              <a:tr h="436245">
                <a:tc>
                  <a:txBody>
                    <a:bodyPr/>
                    <a:lstStyle/>
                    <a:p>
                      <a:pPr algn="l" fontAlgn="ctr">
                        <a:buNone/>
                      </a:pPr>
                      <a:r>
                        <a:rPr lang="en-US" sz="1400" u="none" strike="noStrike">
                          <a:effectLst/>
                        </a:rPr>
                        <a:t>No</a:t>
                      </a:r>
                      <a:endParaRPr lang="en-US" sz="1400" b="0" i="0" u="none" strike="noStrike">
                        <a:solidFill>
                          <a:srgbClr val="000000"/>
                        </a:solidFill>
                        <a:effectLst/>
                        <a:latin typeface="+mn-lt"/>
                      </a:endParaRPr>
                    </a:p>
                  </a:txBody>
                  <a:tcPr marL="9525" marR="9525" marT="9525" marB="0" anchor="ctr"/>
                </a:tc>
                <a:tc>
                  <a:txBody>
                    <a:bodyPr/>
                    <a:lstStyle/>
                    <a:p>
                      <a:pPr algn="l" fontAlgn="ctr">
                        <a:buNone/>
                      </a:pPr>
                      <a:r>
                        <a:rPr lang="en-US" sz="1400" u="none" strike="noStrike">
                          <a:effectLst/>
                        </a:rPr>
                        <a:t>Travel_Rarely</a:t>
                      </a:r>
                      <a:endParaRPr lang="en-US" sz="1400" b="0" i="0" u="none" strike="noStrike">
                        <a:solidFill>
                          <a:srgbClr val="000000"/>
                        </a:solidFill>
                        <a:effectLst/>
                        <a:latin typeface="+mn-lt"/>
                      </a:endParaRPr>
                    </a:p>
                  </a:txBody>
                  <a:tcPr marL="9525" marR="9525" marT="9525" marB="0" anchor="ctr"/>
                </a:tc>
                <a:tc>
                  <a:txBody>
                    <a:bodyPr/>
                    <a:lstStyle/>
                    <a:p>
                      <a:pPr algn="l" fontAlgn="ctr">
                        <a:buNone/>
                      </a:pPr>
                      <a:r>
                        <a:rPr lang="en-US" sz="1400" u="none" strike="noStrike">
                          <a:effectLst/>
                        </a:rPr>
                        <a:t>Sales                  </a:t>
                      </a:r>
                      <a:endParaRPr lang="en-US" sz="1400" b="0" i="0" u="none" strike="noStrike">
                        <a:solidFill>
                          <a:srgbClr val="000000"/>
                        </a:solidFill>
                        <a:effectLst/>
                        <a:latin typeface="+mn-lt"/>
                      </a:endParaRPr>
                    </a:p>
                  </a:txBody>
                  <a:tcPr marL="9525" marR="9525" marT="9525" marB="0" anchor="ctr"/>
                </a:tc>
                <a:tc>
                  <a:txBody>
                    <a:bodyPr/>
                    <a:lstStyle/>
                    <a:p>
                      <a:pPr algn="l" fontAlgn="ctr">
                        <a:buNone/>
                      </a:pPr>
                      <a:r>
                        <a:rPr lang="en-US" sz="1400" u="none" strike="noStrike" dirty="0">
                          <a:effectLst/>
                        </a:rPr>
                        <a:t>Life Sciences</a:t>
                      </a:r>
                      <a:endParaRPr lang="en-US" sz="1400" b="0" i="0" u="none" strike="noStrike" dirty="0">
                        <a:solidFill>
                          <a:srgbClr val="000000"/>
                        </a:solidFill>
                        <a:effectLst/>
                        <a:latin typeface="+mn-lt"/>
                      </a:endParaRPr>
                    </a:p>
                  </a:txBody>
                  <a:tcPr marL="9525" marR="9525" marT="9525" marB="0" anchor="ctr"/>
                </a:tc>
                <a:tc>
                  <a:txBody>
                    <a:bodyPr/>
                    <a:lstStyle/>
                    <a:p>
                      <a:pPr algn="l" fontAlgn="ctr">
                        <a:buNone/>
                      </a:pPr>
                      <a:r>
                        <a:rPr lang="en-US" sz="1400" u="none" strike="noStrike" dirty="0">
                          <a:effectLst/>
                        </a:rPr>
                        <a:t>Male</a:t>
                      </a:r>
                      <a:endParaRPr lang="en-US" sz="1400" b="0" i="0" u="none" strike="noStrike" dirty="0">
                        <a:solidFill>
                          <a:srgbClr val="000000"/>
                        </a:solidFill>
                        <a:effectLst/>
                        <a:latin typeface="+mn-lt"/>
                      </a:endParaRPr>
                    </a:p>
                  </a:txBody>
                  <a:tcPr marL="9525" marR="9525" marT="9525" marB="0" anchor="ctr"/>
                </a:tc>
                <a:tc>
                  <a:txBody>
                    <a:bodyPr/>
                    <a:lstStyle/>
                    <a:p>
                      <a:pPr algn="l" fontAlgn="ctr">
                        <a:buNone/>
                      </a:pPr>
                      <a:r>
                        <a:rPr lang="en-US" sz="1400" u="none" strike="noStrike">
                          <a:effectLst/>
                        </a:rPr>
                        <a:t>Sales Executive</a:t>
                      </a:r>
                      <a:endParaRPr lang="en-US" sz="1400" b="0" i="0" u="none" strike="noStrike">
                        <a:solidFill>
                          <a:srgbClr val="000000"/>
                        </a:solidFill>
                        <a:effectLst/>
                        <a:latin typeface="+mn-lt"/>
                      </a:endParaRPr>
                    </a:p>
                  </a:txBody>
                  <a:tcPr marL="9525" marR="9525" marT="9525" marB="0" anchor="ctr"/>
                </a:tc>
                <a:tc>
                  <a:txBody>
                    <a:bodyPr/>
                    <a:lstStyle/>
                    <a:p>
                      <a:pPr algn="l" fontAlgn="ctr">
                        <a:buNone/>
                      </a:pPr>
                      <a:r>
                        <a:rPr lang="en-US" sz="1400" u="none" strike="noStrike">
                          <a:effectLst/>
                        </a:rPr>
                        <a:t>Divorced</a:t>
                      </a:r>
                      <a:endParaRPr lang="en-US" sz="1400" b="0" i="0" u="none" strike="noStrike">
                        <a:solidFill>
                          <a:srgbClr val="000000"/>
                        </a:solidFill>
                        <a:effectLst/>
                        <a:latin typeface="+mn-lt"/>
                      </a:endParaRPr>
                    </a:p>
                  </a:txBody>
                  <a:tcPr marL="9525" marR="9525" marT="9525" marB="0" anchor="ctr"/>
                </a:tc>
                <a:tc>
                  <a:txBody>
                    <a:bodyPr/>
                    <a:lstStyle/>
                    <a:p>
                      <a:pPr algn="l" fontAlgn="ctr">
                        <a:buNone/>
                      </a:pPr>
                      <a:r>
                        <a:rPr lang="en-US" sz="1400" u="none" strike="noStrike" dirty="0">
                          <a:effectLst/>
                          <a:highlight>
                            <a:srgbClr val="FFFF00"/>
                          </a:highlight>
                        </a:rPr>
                        <a:t>Y</a:t>
                      </a:r>
                      <a:endParaRPr lang="en-US" sz="1400" b="0" i="0" u="none" strike="noStrike" dirty="0">
                        <a:solidFill>
                          <a:srgbClr val="000000"/>
                        </a:solidFill>
                        <a:effectLst/>
                        <a:highlight>
                          <a:srgbClr val="FFFF00"/>
                        </a:highlight>
                        <a:latin typeface="+mn-lt"/>
                      </a:endParaRPr>
                    </a:p>
                  </a:txBody>
                  <a:tcPr marL="9525" marR="9525" marT="9525" marB="0" anchor="ctr"/>
                </a:tc>
                <a:tc>
                  <a:txBody>
                    <a:bodyPr/>
                    <a:lstStyle/>
                    <a:p>
                      <a:pPr algn="l" fontAlgn="ctr">
                        <a:buNone/>
                      </a:pPr>
                      <a:r>
                        <a:rPr lang="en-US" sz="1400" u="none" strike="noStrike" dirty="0">
                          <a:effectLst/>
                        </a:rPr>
                        <a:t>No</a:t>
                      </a:r>
                      <a:endParaRPr lang="en-US" sz="14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3191688769"/>
                  </a:ext>
                </a:extLst>
              </a:tr>
              <a:tr h="436245">
                <a:tc>
                  <a:txBody>
                    <a:bodyPr/>
                    <a:lstStyle/>
                    <a:p>
                      <a:pPr algn="l" fontAlgn="ctr">
                        <a:buNone/>
                      </a:pPr>
                      <a:r>
                        <a:rPr lang="en-US" sz="1400" u="none" strike="noStrike">
                          <a:effectLst/>
                        </a:rPr>
                        <a:t>Yes</a:t>
                      </a:r>
                      <a:endParaRPr lang="en-US" sz="1400" b="0" i="0" u="none" strike="noStrike">
                        <a:solidFill>
                          <a:srgbClr val="000000"/>
                        </a:solidFill>
                        <a:effectLst/>
                        <a:latin typeface="+mn-lt"/>
                      </a:endParaRPr>
                    </a:p>
                  </a:txBody>
                  <a:tcPr marL="9525" marR="9525" marT="9525" marB="0" anchor="ctr"/>
                </a:tc>
                <a:tc>
                  <a:txBody>
                    <a:bodyPr/>
                    <a:lstStyle/>
                    <a:p>
                      <a:pPr algn="l" fontAlgn="ctr">
                        <a:buNone/>
                      </a:pPr>
                      <a:r>
                        <a:rPr lang="en-US" sz="1400" u="none" strike="noStrike">
                          <a:effectLst/>
                        </a:rPr>
                        <a:t>Travel_Frequently</a:t>
                      </a:r>
                      <a:endParaRPr lang="en-US" sz="1400" b="0" i="0" u="none" strike="noStrike">
                        <a:solidFill>
                          <a:srgbClr val="000000"/>
                        </a:solidFill>
                        <a:effectLst/>
                        <a:latin typeface="+mn-lt"/>
                      </a:endParaRPr>
                    </a:p>
                  </a:txBody>
                  <a:tcPr marL="9525" marR="9525" marT="9525" marB="0" anchor="ctr"/>
                </a:tc>
                <a:tc>
                  <a:txBody>
                    <a:bodyPr/>
                    <a:lstStyle/>
                    <a:p>
                      <a:pPr algn="l" fontAlgn="ctr">
                        <a:buNone/>
                      </a:pPr>
                      <a:r>
                        <a:rPr lang="en-US" sz="1400" u="none" strike="noStrike">
                          <a:effectLst/>
                        </a:rPr>
                        <a:t>Research &amp; Development </a:t>
                      </a:r>
                      <a:endParaRPr lang="en-US" sz="1400" b="0" i="0" u="none" strike="noStrike">
                        <a:solidFill>
                          <a:srgbClr val="000000"/>
                        </a:solidFill>
                        <a:effectLst/>
                        <a:latin typeface="+mn-lt"/>
                      </a:endParaRPr>
                    </a:p>
                  </a:txBody>
                  <a:tcPr marL="9525" marR="9525" marT="9525" marB="0" anchor="ctr"/>
                </a:tc>
                <a:tc>
                  <a:txBody>
                    <a:bodyPr/>
                    <a:lstStyle/>
                    <a:p>
                      <a:pPr algn="l" fontAlgn="ctr">
                        <a:buNone/>
                      </a:pPr>
                      <a:r>
                        <a:rPr lang="en-US" sz="1400" u="none" strike="noStrike" dirty="0">
                          <a:effectLst/>
                        </a:rPr>
                        <a:t>Medical</a:t>
                      </a:r>
                      <a:endParaRPr lang="en-US" sz="1400" b="0" i="0" u="none" strike="noStrike" dirty="0">
                        <a:solidFill>
                          <a:srgbClr val="000000"/>
                        </a:solidFill>
                        <a:effectLst/>
                        <a:latin typeface="+mn-lt"/>
                      </a:endParaRPr>
                    </a:p>
                  </a:txBody>
                  <a:tcPr marL="9525" marR="9525" marT="9525" marB="0" anchor="ctr"/>
                </a:tc>
                <a:tc>
                  <a:txBody>
                    <a:bodyPr/>
                    <a:lstStyle/>
                    <a:p>
                      <a:pPr algn="l" fontAlgn="ctr">
                        <a:buNone/>
                      </a:pPr>
                      <a:r>
                        <a:rPr lang="en-US" sz="1400" u="none" strike="noStrike">
                          <a:effectLst/>
                        </a:rPr>
                        <a:t>Female</a:t>
                      </a:r>
                      <a:endParaRPr lang="en-US" sz="1400" b="0" i="0" u="none" strike="noStrike">
                        <a:solidFill>
                          <a:srgbClr val="000000"/>
                        </a:solidFill>
                        <a:effectLst/>
                        <a:latin typeface="+mn-lt"/>
                      </a:endParaRPr>
                    </a:p>
                  </a:txBody>
                  <a:tcPr marL="9525" marR="9525" marT="9525" marB="0" anchor="ctr"/>
                </a:tc>
                <a:tc>
                  <a:txBody>
                    <a:bodyPr/>
                    <a:lstStyle/>
                    <a:p>
                      <a:pPr algn="l" fontAlgn="b">
                        <a:buNone/>
                      </a:pPr>
                      <a:r>
                        <a:rPr lang="en-US" sz="1400" u="none" strike="noStrike">
                          <a:effectLst/>
                        </a:rPr>
                        <a:t>Research Director</a:t>
                      </a:r>
                      <a:endParaRPr lang="en-US" sz="1400" b="0" i="0" u="none" strike="noStrike">
                        <a:solidFill>
                          <a:srgbClr val="000000"/>
                        </a:solidFill>
                        <a:effectLst/>
                        <a:latin typeface="+mn-lt"/>
                      </a:endParaRPr>
                    </a:p>
                  </a:txBody>
                  <a:tcPr marL="9525" marR="9525" marT="9525" marB="0" anchor="ctr"/>
                </a:tc>
                <a:tc>
                  <a:txBody>
                    <a:bodyPr/>
                    <a:lstStyle/>
                    <a:p>
                      <a:pPr algn="l" fontAlgn="ctr">
                        <a:buNone/>
                      </a:pPr>
                      <a:r>
                        <a:rPr lang="en-US" sz="1400" u="none" strike="noStrike">
                          <a:effectLst/>
                        </a:rPr>
                        <a:t>Single</a:t>
                      </a: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ctr">
                        <a:buNone/>
                      </a:pPr>
                      <a:r>
                        <a:rPr lang="en-US" sz="1400" u="none" strike="noStrike">
                          <a:effectLst/>
                        </a:rPr>
                        <a:t>Yes</a:t>
                      </a:r>
                      <a:endParaRPr lang="en-US" sz="1400" b="0" i="0" u="none" strike="noStrike">
                        <a:solidFill>
                          <a:srgbClr val="000000"/>
                        </a:solidFill>
                        <a:effectLst/>
                        <a:latin typeface="+mn-lt"/>
                      </a:endParaRPr>
                    </a:p>
                  </a:txBody>
                  <a:tcPr marL="9525" marR="9525" marT="9525" marB="0" anchor="ctr"/>
                </a:tc>
                <a:extLst>
                  <a:ext uri="{0D108BD9-81ED-4DB2-BD59-A6C34878D82A}">
                    <a16:rowId xmlns:a16="http://schemas.microsoft.com/office/drawing/2014/main" val="2315290186"/>
                  </a:ext>
                </a:extLst>
              </a:tr>
              <a:tr h="436245">
                <a:tc>
                  <a:txBody>
                    <a:bodyPr/>
                    <a:lstStyle/>
                    <a:p>
                      <a:pPr algn="l" fontAlgn="ctr">
                        <a:buNone/>
                      </a:pPr>
                      <a:endParaRPr lang="en-US" sz="1400" b="0" i="0" u="none" strike="noStrike">
                        <a:solidFill>
                          <a:srgbClr val="000000"/>
                        </a:solidFill>
                        <a:effectLst/>
                        <a:latin typeface="+mn-lt"/>
                      </a:endParaRPr>
                    </a:p>
                  </a:txBody>
                  <a:tcPr marL="9525" marR="9525" marT="9525" marB="0" anchor="ctr"/>
                </a:tc>
                <a:tc>
                  <a:txBody>
                    <a:bodyPr/>
                    <a:lstStyle/>
                    <a:p>
                      <a:pPr algn="l" fontAlgn="ctr">
                        <a:buNone/>
                      </a:pPr>
                      <a:r>
                        <a:rPr lang="en-US" sz="1400" u="none" strike="noStrike">
                          <a:effectLst/>
                        </a:rPr>
                        <a:t>Non-Travel</a:t>
                      </a:r>
                      <a:endParaRPr lang="en-US" sz="1400" b="0" i="0" u="none" strike="noStrike">
                        <a:solidFill>
                          <a:srgbClr val="000000"/>
                        </a:solidFill>
                        <a:effectLst/>
                        <a:latin typeface="+mn-lt"/>
                      </a:endParaRPr>
                    </a:p>
                  </a:txBody>
                  <a:tcPr marL="9525" marR="9525" marT="9525" marB="0" anchor="ctr"/>
                </a:tc>
                <a:tc>
                  <a:txBody>
                    <a:bodyPr/>
                    <a:lstStyle/>
                    <a:p>
                      <a:pPr algn="l" fontAlgn="ctr">
                        <a:buNone/>
                      </a:pPr>
                      <a:r>
                        <a:rPr lang="en-US" sz="1400" u="none" strike="noStrike">
                          <a:effectLst/>
                        </a:rPr>
                        <a:t>Human Resources  </a:t>
                      </a:r>
                      <a:endParaRPr lang="en-US" sz="1400" b="0" i="0" u="none" strike="noStrike">
                        <a:solidFill>
                          <a:srgbClr val="000000"/>
                        </a:solidFill>
                        <a:effectLst/>
                        <a:latin typeface="+mn-lt"/>
                      </a:endParaRPr>
                    </a:p>
                  </a:txBody>
                  <a:tcPr marL="9525" marR="9525" marT="9525" marB="0" anchor="ctr"/>
                </a:tc>
                <a:tc>
                  <a:txBody>
                    <a:bodyPr/>
                    <a:lstStyle/>
                    <a:p>
                      <a:pPr algn="l" fontAlgn="ctr">
                        <a:buNone/>
                      </a:pPr>
                      <a:r>
                        <a:rPr lang="en-US" sz="1400" u="none" strike="noStrike" dirty="0">
                          <a:effectLst/>
                        </a:rPr>
                        <a:t>Marketing</a:t>
                      </a:r>
                      <a:endParaRPr lang="en-US" sz="1400" b="0" i="0" u="none" strike="noStrike" dirty="0">
                        <a:solidFill>
                          <a:srgbClr val="000000"/>
                        </a:solidFill>
                        <a:effectLst/>
                        <a:latin typeface="+mn-lt"/>
                      </a:endParaRPr>
                    </a:p>
                  </a:txBody>
                  <a:tcPr marL="9525" marR="9525" marT="9525" marB="0" anchor="ctr"/>
                </a:tc>
                <a:tc>
                  <a:txBody>
                    <a:bodyPr/>
                    <a:lstStyle/>
                    <a:p>
                      <a:pPr algn="l" fontAlgn="ctr">
                        <a:buNone/>
                      </a:pPr>
                      <a:endParaRPr lang="en-US" sz="1400" b="0" i="0" u="none" strike="noStrike" dirty="0">
                        <a:solidFill>
                          <a:srgbClr val="000000"/>
                        </a:solidFill>
                        <a:effectLst/>
                        <a:latin typeface="+mn-lt"/>
                      </a:endParaRPr>
                    </a:p>
                  </a:txBody>
                  <a:tcPr marL="9525" marR="9525" marT="9525" marB="0" anchor="ctr"/>
                </a:tc>
                <a:tc>
                  <a:txBody>
                    <a:bodyPr/>
                    <a:lstStyle/>
                    <a:p>
                      <a:pPr algn="l" fontAlgn="b">
                        <a:buNone/>
                      </a:pPr>
                      <a:r>
                        <a:rPr lang="en-US" sz="1400" u="none" strike="noStrike">
                          <a:effectLst/>
                        </a:rPr>
                        <a:t>Manufacturing Director</a:t>
                      </a:r>
                      <a:endParaRPr lang="en-US" sz="1400" b="0" i="0" u="none" strike="noStrike">
                        <a:solidFill>
                          <a:srgbClr val="000000"/>
                        </a:solidFill>
                        <a:effectLst/>
                        <a:latin typeface="+mn-lt"/>
                      </a:endParaRPr>
                    </a:p>
                  </a:txBody>
                  <a:tcPr marL="9525" marR="9525" marT="9525" marB="0" anchor="ctr"/>
                </a:tc>
                <a:tc>
                  <a:txBody>
                    <a:bodyPr/>
                    <a:lstStyle/>
                    <a:p>
                      <a:pPr algn="l" fontAlgn="ctr">
                        <a:buNone/>
                      </a:pPr>
                      <a:r>
                        <a:rPr lang="en-US" sz="1400" u="none" strike="noStrike">
                          <a:effectLst/>
                        </a:rPr>
                        <a:t>Married</a:t>
                      </a: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extLst>
                  <a:ext uri="{0D108BD9-81ED-4DB2-BD59-A6C34878D82A}">
                    <a16:rowId xmlns:a16="http://schemas.microsoft.com/office/drawing/2014/main" val="1726022765"/>
                  </a:ext>
                </a:extLst>
              </a:tr>
              <a:tr h="436245">
                <a:tc>
                  <a:txBody>
                    <a:bodyPr/>
                    <a:lstStyle/>
                    <a:p>
                      <a:pPr algn="l" fontAlgn="ctr">
                        <a:buNone/>
                      </a:pPr>
                      <a:endParaRPr lang="en-US" sz="1400" b="0" i="0" u="none" strike="noStrike">
                        <a:solidFill>
                          <a:srgbClr val="000000"/>
                        </a:solidFill>
                        <a:effectLst/>
                        <a:latin typeface="+mn-lt"/>
                      </a:endParaRPr>
                    </a:p>
                  </a:txBody>
                  <a:tcPr marL="9525" marR="9525" marT="9525" marB="0" anchor="ctr"/>
                </a:tc>
                <a:tc>
                  <a:txBody>
                    <a:bodyPr/>
                    <a:lstStyle/>
                    <a:p>
                      <a:pPr algn="l" fontAlgn="ctr">
                        <a:buNone/>
                      </a:pPr>
                      <a:endParaRPr lang="en-US" sz="1400" b="0" i="0" u="none" strike="noStrike">
                        <a:solidFill>
                          <a:srgbClr val="000000"/>
                        </a:solidFill>
                        <a:effectLst/>
                        <a:latin typeface="+mn-lt"/>
                      </a:endParaRPr>
                    </a:p>
                  </a:txBody>
                  <a:tcPr marL="9525" marR="9525" marT="9525" marB="0" anchor="ctr"/>
                </a:tc>
                <a:tc>
                  <a:txBody>
                    <a:bodyPr/>
                    <a:lstStyle/>
                    <a:p>
                      <a:pPr algn="l" fontAlgn="ctr">
                        <a:buNone/>
                      </a:pPr>
                      <a:endParaRPr lang="en-US" sz="1400" b="0" i="0" u="none" strike="noStrike">
                        <a:solidFill>
                          <a:srgbClr val="000000"/>
                        </a:solidFill>
                        <a:effectLst/>
                        <a:latin typeface="+mn-lt"/>
                      </a:endParaRPr>
                    </a:p>
                  </a:txBody>
                  <a:tcPr marL="9525" marR="9525" marT="9525" marB="0" anchor="ctr"/>
                </a:tc>
                <a:tc>
                  <a:txBody>
                    <a:bodyPr/>
                    <a:lstStyle/>
                    <a:p>
                      <a:pPr algn="l" fontAlgn="ctr">
                        <a:buNone/>
                      </a:pPr>
                      <a:r>
                        <a:rPr lang="en-US" sz="1400" u="none" strike="noStrike">
                          <a:effectLst/>
                        </a:rPr>
                        <a:t>Technical Degree</a:t>
                      </a:r>
                      <a:endParaRPr lang="en-US" sz="1400" b="0" i="0" u="none" strike="noStrike">
                        <a:solidFill>
                          <a:srgbClr val="000000"/>
                        </a:solidFill>
                        <a:effectLst/>
                        <a:latin typeface="+mn-lt"/>
                      </a:endParaRPr>
                    </a:p>
                  </a:txBody>
                  <a:tcPr marL="9525" marR="9525" marT="9525" marB="0" anchor="ctr"/>
                </a:tc>
                <a:tc>
                  <a:txBody>
                    <a:bodyPr/>
                    <a:lstStyle/>
                    <a:p>
                      <a:pPr algn="l" fontAlgn="ctr">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r>
                        <a:rPr lang="en-US" sz="1400" u="none" strike="noStrike">
                          <a:effectLst/>
                        </a:rPr>
                        <a:t>Research Scientist</a:t>
                      </a:r>
                      <a:endParaRPr lang="en-US" sz="1400" b="0" i="0" u="none" strike="noStrike">
                        <a:solidFill>
                          <a:srgbClr val="000000"/>
                        </a:solidFill>
                        <a:effectLst/>
                        <a:latin typeface="+mn-lt"/>
                      </a:endParaRPr>
                    </a:p>
                  </a:txBody>
                  <a:tcPr marL="9525" marR="9525" marT="9525" marB="0" anchor="ctr"/>
                </a:tc>
                <a:tc>
                  <a:txBody>
                    <a:bodyPr/>
                    <a:lstStyle/>
                    <a:p>
                      <a:pPr algn="l" fontAlgn="ctr">
                        <a:buNone/>
                      </a:pPr>
                      <a:endParaRPr lang="en-US" sz="1400" b="0" i="0" u="none" strike="noStrike">
                        <a:solidFill>
                          <a:srgbClr val="000000"/>
                        </a:solidFill>
                        <a:effectLst/>
                        <a:latin typeface="+mn-lt"/>
                      </a:endParaRPr>
                    </a:p>
                  </a:txBody>
                  <a:tcPr marL="9525" marR="9525" marT="9525" marB="0" anchor="ctr"/>
                </a:tc>
                <a:tc>
                  <a:txBody>
                    <a:bodyPr/>
                    <a:lstStyle/>
                    <a:p>
                      <a:pPr algn="l" fontAlgn="ctr">
                        <a:buNone/>
                      </a:pPr>
                      <a:endParaRPr lang="en-US" sz="1400" b="0" i="0" u="none" strike="noStrike">
                        <a:solidFill>
                          <a:srgbClr val="000000"/>
                        </a:solidFill>
                        <a:effectLst/>
                        <a:latin typeface="+mn-lt"/>
                      </a:endParaRPr>
                    </a:p>
                  </a:txBody>
                  <a:tcPr marL="9525" marR="9525" marT="9525" marB="0" anchor="ctr"/>
                </a:tc>
                <a:tc>
                  <a:txBody>
                    <a:bodyPr/>
                    <a:lstStyle/>
                    <a:p>
                      <a:pPr algn="l" fontAlgn="ctr">
                        <a:buNone/>
                      </a:pPr>
                      <a:endParaRPr lang="en-US" sz="1400" b="0" i="0" u="none" strike="noStrike">
                        <a:solidFill>
                          <a:srgbClr val="000000"/>
                        </a:solidFill>
                        <a:effectLst/>
                        <a:latin typeface="+mn-lt"/>
                      </a:endParaRPr>
                    </a:p>
                  </a:txBody>
                  <a:tcPr marL="9525" marR="9525" marT="9525" marB="0" anchor="ctr"/>
                </a:tc>
                <a:extLst>
                  <a:ext uri="{0D108BD9-81ED-4DB2-BD59-A6C34878D82A}">
                    <a16:rowId xmlns:a16="http://schemas.microsoft.com/office/drawing/2014/main" val="4239054227"/>
                  </a:ext>
                </a:extLst>
              </a:tr>
              <a:tr h="436245">
                <a:tc>
                  <a:txBody>
                    <a:bodyPr/>
                    <a:lstStyle/>
                    <a:p>
                      <a:pPr algn="l" fontAlgn="ctr">
                        <a:buNone/>
                      </a:pPr>
                      <a:endParaRPr lang="en-US" sz="1400" b="0" i="0" u="none" strike="noStrike">
                        <a:solidFill>
                          <a:srgbClr val="000000"/>
                        </a:solidFill>
                        <a:effectLst/>
                        <a:latin typeface="+mn-lt"/>
                      </a:endParaRPr>
                    </a:p>
                  </a:txBody>
                  <a:tcPr marL="9525" marR="9525" marT="9525" marB="0" anchor="ctr"/>
                </a:tc>
                <a:tc>
                  <a:txBody>
                    <a:bodyPr/>
                    <a:lstStyle/>
                    <a:p>
                      <a:pPr algn="l" fontAlgn="ctr">
                        <a:buNone/>
                      </a:pPr>
                      <a:endParaRPr lang="en-US" sz="1400" b="0" i="0" u="none" strike="noStrike">
                        <a:solidFill>
                          <a:srgbClr val="000000"/>
                        </a:solidFill>
                        <a:effectLst/>
                        <a:latin typeface="+mn-lt"/>
                      </a:endParaRPr>
                    </a:p>
                  </a:txBody>
                  <a:tcPr marL="9525" marR="9525" marT="9525" marB="0" anchor="ctr"/>
                </a:tc>
                <a:tc>
                  <a:txBody>
                    <a:bodyPr/>
                    <a:lstStyle/>
                    <a:p>
                      <a:pPr algn="l" fontAlgn="ctr">
                        <a:buNone/>
                      </a:pPr>
                      <a:endParaRPr lang="en-US" sz="1400" b="0" i="0" u="none" strike="noStrike">
                        <a:solidFill>
                          <a:srgbClr val="000000"/>
                        </a:solidFill>
                        <a:effectLst/>
                        <a:latin typeface="+mn-lt"/>
                      </a:endParaRPr>
                    </a:p>
                  </a:txBody>
                  <a:tcPr marL="9525" marR="9525" marT="9525" marB="0" anchor="ctr"/>
                </a:tc>
                <a:tc>
                  <a:txBody>
                    <a:bodyPr/>
                    <a:lstStyle/>
                    <a:p>
                      <a:pPr algn="l" fontAlgn="ctr">
                        <a:buNone/>
                      </a:pPr>
                      <a:r>
                        <a:rPr lang="en-US" sz="1400" u="none" strike="noStrike">
                          <a:effectLst/>
                        </a:rPr>
                        <a:t>Other</a:t>
                      </a:r>
                      <a:endParaRPr lang="en-US" sz="1400" b="0" i="0" u="none" strike="noStrike">
                        <a:solidFill>
                          <a:srgbClr val="000000"/>
                        </a:solidFill>
                        <a:effectLst/>
                        <a:latin typeface="+mn-lt"/>
                      </a:endParaRPr>
                    </a:p>
                  </a:txBody>
                  <a:tcPr marL="9525" marR="9525" marT="9525" marB="0" anchor="ctr"/>
                </a:tc>
                <a:tc>
                  <a:txBody>
                    <a:bodyPr/>
                    <a:lstStyle/>
                    <a:p>
                      <a:pPr algn="l" fontAlgn="ctr">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r>
                        <a:rPr lang="en-US" sz="1400" u="none" strike="noStrike">
                          <a:effectLst/>
                        </a:rPr>
                        <a:t>Sales Representative</a:t>
                      </a: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extLst>
                  <a:ext uri="{0D108BD9-81ED-4DB2-BD59-A6C34878D82A}">
                    <a16:rowId xmlns:a16="http://schemas.microsoft.com/office/drawing/2014/main" val="3593531129"/>
                  </a:ext>
                </a:extLst>
              </a:tr>
              <a:tr h="436245">
                <a:tc>
                  <a:txBody>
                    <a:bodyPr/>
                    <a:lstStyle/>
                    <a:p>
                      <a:pPr algn="l" fontAlgn="ctr">
                        <a:buNone/>
                      </a:pPr>
                      <a:endParaRPr lang="en-US" sz="1400" b="0" i="0" u="none" strike="noStrike">
                        <a:solidFill>
                          <a:srgbClr val="000000"/>
                        </a:solidFill>
                        <a:effectLst/>
                        <a:latin typeface="+mn-lt"/>
                      </a:endParaRPr>
                    </a:p>
                  </a:txBody>
                  <a:tcPr marL="9525" marR="9525" marT="9525" marB="0" anchor="ctr"/>
                </a:tc>
                <a:tc>
                  <a:txBody>
                    <a:bodyPr/>
                    <a:lstStyle/>
                    <a:p>
                      <a:pPr algn="l" fontAlgn="ctr">
                        <a:buNone/>
                      </a:pPr>
                      <a:endParaRPr lang="en-US" sz="1400" b="0" i="0" u="none" strike="noStrike">
                        <a:solidFill>
                          <a:srgbClr val="000000"/>
                        </a:solidFill>
                        <a:effectLst/>
                        <a:latin typeface="+mn-lt"/>
                      </a:endParaRPr>
                    </a:p>
                  </a:txBody>
                  <a:tcPr marL="9525" marR="9525" marT="9525" marB="0" anchor="ctr"/>
                </a:tc>
                <a:tc>
                  <a:txBody>
                    <a:bodyPr/>
                    <a:lstStyle/>
                    <a:p>
                      <a:pPr algn="l" fontAlgn="ctr">
                        <a:buNone/>
                      </a:pPr>
                      <a:endParaRPr lang="en-US" sz="1400" b="0" i="0" u="none" strike="noStrike">
                        <a:solidFill>
                          <a:srgbClr val="000000"/>
                        </a:solidFill>
                        <a:effectLst/>
                        <a:latin typeface="+mn-lt"/>
                      </a:endParaRPr>
                    </a:p>
                  </a:txBody>
                  <a:tcPr marL="9525" marR="9525" marT="9525" marB="0" anchor="ctr"/>
                </a:tc>
                <a:tc>
                  <a:txBody>
                    <a:bodyPr/>
                    <a:lstStyle/>
                    <a:p>
                      <a:pPr algn="l" fontAlgn="ctr">
                        <a:buNone/>
                      </a:pPr>
                      <a:r>
                        <a:rPr lang="en-US" sz="1400" u="none" strike="noStrike" dirty="0">
                          <a:effectLst/>
                        </a:rPr>
                        <a:t>Human Resources</a:t>
                      </a:r>
                      <a:endParaRPr lang="en-US" sz="1400" b="0" i="0" u="none" strike="noStrike" dirty="0">
                        <a:solidFill>
                          <a:srgbClr val="000000"/>
                        </a:solidFill>
                        <a:effectLst/>
                        <a:latin typeface="+mn-lt"/>
                      </a:endParaRPr>
                    </a:p>
                  </a:txBody>
                  <a:tcPr marL="9525" marR="9525" marT="9525" marB="0" anchor="ctr"/>
                </a:tc>
                <a:tc>
                  <a:txBody>
                    <a:bodyPr/>
                    <a:lstStyle/>
                    <a:p>
                      <a:pPr algn="l" fontAlgn="ctr">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r>
                        <a:rPr lang="en-US" sz="1400" u="none" strike="noStrike">
                          <a:effectLst/>
                        </a:rPr>
                        <a:t>Healthcare Representative</a:t>
                      </a: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extLst>
                  <a:ext uri="{0D108BD9-81ED-4DB2-BD59-A6C34878D82A}">
                    <a16:rowId xmlns:a16="http://schemas.microsoft.com/office/drawing/2014/main" val="1677410151"/>
                  </a:ext>
                </a:extLst>
              </a:tr>
              <a:tr h="436245">
                <a:tc>
                  <a:txBody>
                    <a:bodyPr/>
                    <a:lstStyle/>
                    <a:p>
                      <a:pPr algn="l" fontAlgn="ctr">
                        <a:buNone/>
                      </a:pPr>
                      <a:endParaRPr lang="en-US" sz="1400" b="0" i="0" u="none" strike="noStrike">
                        <a:solidFill>
                          <a:srgbClr val="000000"/>
                        </a:solidFill>
                        <a:effectLst/>
                        <a:latin typeface="+mn-lt"/>
                      </a:endParaRPr>
                    </a:p>
                  </a:txBody>
                  <a:tcPr marL="9525" marR="9525" marT="9525" marB="0" anchor="ctr"/>
                </a:tc>
                <a:tc>
                  <a:txBody>
                    <a:bodyPr/>
                    <a:lstStyle/>
                    <a:p>
                      <a:pPr algn="l" fontAlgn="ctr">
                        <a:buNone/>
                      </a:pPr>
                      <a:endParaRPr lang="en-US" sz="1400" b="0" i="0" u="none" strike="noStrike">
                        <a:solidFill>
                          <a:srgbClr val="000000"/>
                        </a:solidFill>
                        <a:effectLst/>
                        <a:latin typeface="+mn-lt"/>
                      </a:endParaRPr>
                    </a:p>
                  </a:txBody>
                  <a:tcPr marL="9525" marR="9525" marT="9525" marB="0" anchor="ctr"/>
                </a:tc>
                <a:tc>
                  <a:txBody>
                    <a:bodyPr/>
                    <a:lstStyle/>
                    <a:p>
                      <a:pPr algn="l" fontAlgn="ctr">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r>
                        <a:rPr lang="en-US" sz="1400" u="none" strike="noStrike">
                          <a:effectLst/>
                        </a:rPr>
                        <a:t>Manager</a:t>
                      </a: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extLst>
                  <a:ext uri="{0D108BD9-81ED-4DB2-BD59-A6C34878D82A}">
                    <a16:rowId xmlns:a16="http://schemas.microsoft.com/office/drawing/2014/main" val="427986062"/>
                  </a:ext>
                </a:extLst>
              </a:tr>
              <a:tr h="436245">
                <a:tc>
                  <a:txBody>
                    <a:bodyPr/>
                    <a:lstStyle/>
                    <a:p>
                      <a:pPr algn="l" fontAlgn="ctr">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r>
                        <a:rPr lang="en-US" sz="1400" u="none" strike="noStrike">
                          <a:effectLst/>
                        </a:rPr>
                        <a:t>Human Resources</a:t>
                      </a: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extLst>
                  <a:ext uri="{0D108BD9-81ED-4DB2-BD59-A6C34878D82A}">
                    <a16:rowId xmlns:a16="http://schemas.microsoft.com/office/drawing/2014/main" val="463497982"/>
                  </a:ext>
                </a:extLst>
              </a:tr>
              <a:tr h="436245">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r>
                        <a:rPr lang="en-US" sz="1400" u="none" strike="noStrike">
                          <a:effectLst/>
                        </a:rPr>
                        <a:t>Laboratory Technician</a:t>
                      </a: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a:solidFill>
                          <a:srgbClr val="000000"/>
                        </a:solidFill>
                        <a:effectLst/>
                        <a:latin typeface="+mn-lt"/>
                      </a:endParaRPr>
                    </a:p>
                  </a:txBody>
                  <a:tcPr marL="9525" marR="9525" marT="9525" marB="0" anchor="ctr"/>
                </a:tc>
                <a:tc>
                  <a:txBody>
                    <a:bodyPr/>
                    <a:lstStyle/>
                    <a:p>
                      <a:pPr algn="l" fontAlgn="b">
                        <a:buNone/>
                      </a:pPr>
                      <a:endParaRPr lang="en-US" sz="14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1037351226"/>
                  </a:ext>
                </a:extLst>
              </a:tr>
            </a:tbl>
          </a:graphicData>
        </a:graphic>
      </p:graphicFrame>
    </p:spTree>
    <p:extLst>
      <p:ext uri="{BB962C8B-B14F-4D97-AF65-F5344CB8AC3E}">
        <p14:creationId xmlns:p14="http://schemas.microsoft.com/office/powerpoint/2010/main" val="3618320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BA1D9-6E67-722D-4DB3-81CB5581BA80}"/>
              </a:ext>
            </a:extLst>
          </p:cNvPr>
          <p:cNvSpPr>
            <a:spLocks noGrp="1"/>
          </p:cNvSpPr>
          <p:nvPr>
            <p:ph type="title"/>
          </p:nvPr>
        </p:nvSpPr>
        <p:spPr>
          <a:xfrm>
            <a:off x="838200" y="365126"/>
            <a:ext cx="10515600" cy="902702"/>
          </a:xfrm>
        </p:spPr>
        <p:txBody>
          <a:bodyPr/>
          <a:lstStyle/>
          <a:p>
            <a:r>
              <a:rPr lang="en-US" dirty="0"/>
              <a:t>Summary of Numerical Features</a:t>
            </a:r>
          </a:p>
        </p:txBody>
      </p:sp>
      <p:graphicFrame>
        <p:nvGraphicFramePr>
          <p:cNvPr id="6" name="Table 5">
            <a:extLst>
              <a:ext uri="{FF2B5EF4-FFF2-40B4-BE49-F238E27FC236}">
                <a16:creationId xmlns:a16="http://schemas.microsoft.com/office/drawing/2014/main" id="{93DFA60F-D7D9-933C-B3CE-64F9A6342C6E}"/>
              </a:ext>
            </a:extLst>
          </p:cNvPr>
          <p:cNvGraphicFramePr>
            <a:graphicFrameLocks noGrp="1"/>
          </p:cNvGraphicFramePr>
          <p:nvPr>
            <p:extLst>
              <p:ext uri="{D42A27DB-BD31-4B8C-83A1-F6EECF244321}">
                <p14:modId xmlns:p14="http://schemas.microsoft.com/office/powerpoint/2010/main" val="548359457"/>
              </p:ext>
            </p:extLst>
          </p:nvPr>
        </p:nvGraphicFramePr>
        <p:xfrm>
          <a:off x="252663" y="1170290"/>
          <a:ext cx="9122986" cy="5447075"/>
        </p:xfrm>
        <a:graphic>
          <a:graphicData uri="http://schemas.openxmlformats.org/drawingml/2006/table">
            <a:tbl>
              <a:tblPr>
                <a:tableStyleId>{5C22544A-7EE6-4342-B048-85BDC9FD1C3A}</a:tableStyleId>
              </a:tblPr>
              <a:tblGrid>
                <a:gridCol w="2347173">
                  <a:extLst>
                    <a:ext uri="{9D8B030D-6E8A-4147-A177-3AD203B41FA5}">
                      <a16:colId xmlns:a16="http://schemas.microsoft.com/office/drawing/2014/main" val="2153369555"/>
                    </a:ext>
                  </a:extLst>
                </a:gridCol>
                <a:gridCol w="1381123">
                  <a:extLst>
                    <a:ext uri="{9D8B030D-6E8A-4147-A177-3AD203B41FA5}">
                      <a16:colId xmlns:a16="http://schemas.microsoft.com/office/drawing/2014/main" val="2901879968"/>
                    </a:ext>
                  </a:extLst>
                </a:gridCol>
                <a:gridCol w="1381123">
                  <a:extLst>
                    <a:ext uri="{9D8B030D-6E8A-4147-A177-3AD203B41FA5}">
                      <a16:colId xmlns:a16="http://schemas.microsoft.com/office/drawing/2014/main" val="3317210060"/>
                    </a:ext>
                  </a:extLst>
                </a:gridCol>
                <a:gridCol w="944631">
                  <a:extLst>
                    <a:ext uri="{9D8B030D-6E8A-4147-A177-3AD203B41FA5}">
                      <a16:colId xmlns:a16="http://schemas.microsoft.com/office/drawing/2014/main" val="880145637"/>
                    </a:ext>
                  </a:extLst>
                </a:gridCol>
                <a:gridCol w="944631">
                  <a:extLst>
                    <a:ext uri="{9D8B030D-6E8A-4147-A177-3AD203B41FA5}">
                      <a16:colId xmlns:a16="http://schemas.microsoft.com/office/drawing/2014/main" val="477866041"/>
                    </a:ext>
                  </a:extLst>
                </a:gridCol>
                <a:gridCol w="944631">
                  <a:extLst>
                    <a:ext uri="{9D8B030D-6E8A-4147-A177-3AD203B41FA5}">
                      <a16:colId xmlns:a16="http://schemas.microsoft.com/office/drawing/2014/main" val="2417917716"/>
                    </a:ext>
                  </a:extLst>
                </a:gridCol>
                <a:gridCol w="1179674">
                  <a:extLst>
                    <a:ext uri="{9D8B030D-6E8A-4147-A177-3AD203B41FA5}">
                      <a16:colId xmlns:a16="http://schemas.microsoft.com/office/drawing/2014/main" val="4258837493"/>
                    </a:ext>
                  </a:extLst>
                </a:gridCol>
              </a:tblGrid>
              <a:tr h="220163">
                <a:tc>
                  <a:txBody>
                    <a:bodyPr/>
                    <a:lstStyle/>
                    <a:p>
                      <a:pPr algn="ctr" fontAlgn="b">
                        <a:buNone/>
                      </a:pPr>
                      <a:r>
                        <a:rPr lang="en-US" sz="1200" b="1" u="none" strike="noStrike">
                          <a:effectLst/>
                        </a:rPr>
                        <a:t>Variable</a:t>
                      </a:r>
                      <a:endParaRPr lang="en-US" sz="1200" b="1" i="0" u="none" strike="noStrike">
                        <a:solidFill>
                          <a:srgbClr val="333333"/>
                        </a:solidFill>
                        <a:effectLst/>
                        <a:latin typeface="Segoe UI" panose="020B0502040204020203" pitchFamily="34" charset="0"/>
                      </a:endParaRPr>
                    </a:p>
                  </a:txBody>
                  <a:tcPr marL="6918" marR="6918" marT="6918" marB="0" anchor="b"/>
                </a:tc>
                <a:tc>
                  <a:txBody>
                    <a:bodyPr/>
                    <a:lstStyle/>
                    <a:p>
                      <a:pPr algn="ctr" fontAlgn="b">
                        <a:buNone/>
                      </a:pPr>
                      <a:r>
                        <a:rPr lang="en-US" sz="1200" b="1" u="none" strike="noStrike">
                          <a:effectLst/>
                        </a:rPr>
                        <a:t>Mean</a:t>
                      </a:r>
                      <a:endParaRPr lang="en-US" sz="1200" b="1" i="0" u="none" strike="noStrike">
                        <a:solidFill>
                          <a:srgbClr val="333333"/>
                        </a:solidFill>
                        <a:effectLst/>
                        <a:latin typeface="Segoe UI" panose="020B0502040204020203" pitchFamily="34" charset="0"/>
                      </a:endParaRPr>
                    </a:p>
                  </a:txBody>
                  <a:tcPr marL="6918" marR="6918" marT="6918" marB="0" anchor="b"/>
                </a:tc>
                <a:tc>
                  <a:txBody>
                    <a:bodyPr/>
                    <a:lstStyle/>
                    <a:p>
                      <a:pPr algn="ctr" fontAlgn="b">
                        <a:buNone/>
                      </a:pPr>
                      <a:r>
                        <a:rPr lang="en-US" sz="1200" b="1" u="none" strike="noStrike" dirty="0">
                          <a:effectLst/>
                        </a:rPr>
                        <a:t>SD</a:t>
                      </a:r>
                      <a:endParaRPr lang="en-US" sz="1200" b="1" i="0" u="none" strike="noStrike" dirty="0">
                        <a:solidFill>
                          <a:srgbClr val="333333"/>
                        </a:solidFill>
                        <a:effectLst/>
                        <a:latin typeface="Segoe UI" panose="020B0502040204020203" pitchFamily="34" charset="0"/>
                      </a:endParaRPr>
                    </a:p>
                  </a:txBody>
                  <a:tcPr marL="6918" marR="6918" marT="6918" marB="0" anchor="b"/>
                </a:tc>
                <a:tc>
                  <a:txBody>
                    <a:bodyPr/>
                    <a:lstStyle/>
                    <a:p>
                      <a:pPr algn="ctr" fontAlgn="b">
                        <a:buNone/>
                      </a:pPr>
                      <a:r>
                        <a:rPr lang="en-US" sz="1200" b="1" i="0" u="none" strike="noStrike" dirty="0">
                          <a:solidFill>
                            <a:srgbClr val="333333"/>
                          </a:solidFill>
                          <a:effectLst/>
                          <a:latin typeface="Segoe UI" panose="020B0502040204020203" pitchFamily="34" charset="0"/>
                        </a:rPr>
                        <a:t>Min</a:t>
                      </a:r>
                    </a:p>
                  </a:txBody>
                  <a:tcPr marL="6918" marR="6918" marT="6918" marB="0" anchor="b"/>
                </a:tc>
                <a:tc>
                  <a:txBody>
                    <a:bodyPr/>
                    <a:lstStyle/>
                    <a:p>
                      <a:pPr algn="ctr" fontAlgn="b">
                        <a:buNone/>
                      </a:pPr>
                      <a:r>
                        <a:rPr lang="en-US" sz="1200" b="1" u="none" strike="noStrike" dirty="0">
                          <a:effectLst/>
                        </a:rPr>
                        <a:t>Median</a:t>
                      </a:r>
                      <a:endParaRPr lang="en-US" sz="1200" b="1" i="0" u="none" strike="noStrike" dirty="0">
                        <a:solidFill>
                          <a:srgbClr val="333333"/>
                        </a:solidFill>
                        <a:effectLst/>
                        <a:latin typeface="Segoe UI" panose="020B0502040204020203" pitchFamily="34" charset="0"/>
                      </a:endParaRPr>
                    </a:p>
                  </a:txBody>
                  <a:tcPr marL="6918" marR="6918" marT="6918" marB="0" anchor="b"/>
                </a:tc>
                <a:tc>
                  <a:txBody>
                    <a:bodyPr/>
                    <a:lstStyle/>
                    <a:p>
                      <a:pPr algn="ctr" fontAlgn="b">
                        <a:buNone/>
                      </a:pPr>
                      <a:r>
                        <a:rPr lang="en-US" sz="1200" b="1" u="none" strike="noStrike" dirty="0">
                          <a:effectLst/>
                        </a:rPr>
                        <a:t>Max</a:t>
                      </a:r>
                      <a:endParaRPr lang="en-US" sz="1200" b="1" i="0" u="none" strike="noStrike" dirty="0">
                        <a:solidFill>
                          <a:srgbClr val="333333"/>
                        </a:solidFill>
                        <a:effectLst/>
                        <a:latin typeface="Segoe UI" panose="020B0502040204020203" pitchFamily="34" charset="0"/>
                      </a:endParaRPr>
                    </a:p>
                  </a:txBody>
                  <a:tcPr marL="6918" marR="6918" marT="6918" marB="0" anchor="b"/>
                </a:tc>
                <a:tc>
                  <a:txBody>
                    <a:bodyPr/>
                    <a:lstStyle/>
                    <a:p>
                      <a:pPr algn="ctr" fontAlgn="b">
                        <a:buNone/>
                      </a:pPr>
                      <a:r>
                        <a:rPr lang="en-US" sz="1200" b="1" u="none" strike="noStrike" dirty="0">
                          <a:effectLst/>
                        </a:rPr>
                        <a:t>histogram</a:t>
                      </a:r>
                      <a:endParaRPr lang="en-US" sz="1200" b="1" i="0" u="none" strike="noStrike" dirty="0">
                        <a:solidFill>
                          <a:srgbClr val="333333"/>
                        </a:solidFill>
                        <a:effectLst/>
                        <a:latin typeface="Segoe UI" panose="020B0502040204020203" pitchFamily="34" charset="0"/>
                      </a:endParaRPr>
                    </a:p>
                  </a:txBody>
                  <a:tcPr marL="6918" marR="6918" marT="6918" marB="0" anchor="b"/>
                </a:tc>
                <a:extLst>
                  <a:ext uri="{0D108BD9-81ED-4DB2-BD59-A6C34878D82A}">
                    <a16:rowId xmlns:a16="http://schemas.microsoft.com/office/drawing/2014/main" val="2287014882"/>
                  </a:ext>
                </a:extLst>
              </a:tr>
              <a:tr h="232714">
                <a:tc>
                  <a:txBody>
                    <a:bodyPr/>
                    <a:lstStyle/>
                    <a:p>
                      <a:pPr algn="l" fontAlgn="ctr">
                        <a:buNone/>
                      </a:pPr>
                      <a:r>
                        <a:rPr lang="en-US" sz="1200" u="none" strike="noStrike" dirty="0">
                          <a:effectLst/>
                        </a:rPr>
                        <a:t>Age</a:t>
                      </a:r>
                      <a:endParaRPr lang="en-US" sz="1200" b="0" i="0" u="none" strike="noStrike" dirty="0">
                        <a:solidFill>
                          <a:srgbClr val="333333"/>
                        </a:solidFill>
                        <a:effectLst/>
                        <a:latin typeface="Segoe UI" panose="020B0502040204020203" pitchFamily="34" charset="0"/>
                      </a:endParaRPr>
                    </a:p>
                  </a:txBody>
                  <a:tcPr marL="62261" marR="6918" marT="6918" marB="0" anchor="ctr"/>
                </a:tc>
                <a:tc>
                  <a:txBody>
                    <a:bodyPr/>
                    <a:lstStyle/>
                    <a:p>
                      <a:pPr algn="r" fontAlgn="ctr">
                        <a:buNone/>
                      </a:pPr>
                      <a:r>
                        <a:rPr lang="en-US" sz="1200" u="none" strike="noStrike" dirty="0">
                          <a:effectLst/>
                        </a:rPr>
                        <a:t>36.828736</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8.9259504</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18</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35</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60</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dirty="0">
                          <a:effectLst/>
                        </a:rPr>
                        <a:t>▂▇▇▃▂</a:t>
                      </a:r>
                      <a:endParaRPr lang="en-US" sz="1200" b="0" i="0" u="none" strike="noStrike" dirty="0">
                        <a:solidFill>
                          <a:srgbClr val="333333"/>
                        </a:solidFill>
                        <a:effectLst/>
                        <a:latin typeface="Segoe UI" panose="020B0502040204020203" pitchFamily="34" charset="0"/>
                      </a:endParaRPr>
                    </a:p>
                  </a:txBody>
                  <a:tcPr marL="62261" marR="6918" marT="6918" marB="0" anchor="ctr"/>
                </a:tc>
                <a:extLst>
                  <a:ext uri="{0D108BD9-81ED-4DB2-BD59-A6C34878D82A}">
                    <a16:rowId xmlns:a16="http://schemas.microsoft.com/office/drawing/2014/main" val="3973020327"/>
                  </a:ext>
                </a:extLst>
              </a:tr>
              <a:tr h="232714">
                <a:tc>
                  <a:txBody>
                    <a:bodyPr/>
                    <a:lstStyle/>
                    <a:p>
                      <a:pPr algn="l" fontAlgn="ctr">
                        <a:buNone/>
                      </a:pPr>
                      <a:r>
                        <a:rPr lang="en-US" sz="1200" u="none" strike="noStrike">
                          <a:effectLst/>
                        </a:rPr>
                        <a:t>DailyRate</a:t>
                      </a:r>
                      <a:endParaRPr lang="en-US" sz="1200" b="0" i="0" u="none" strike="noStrike">
                        <a:solidFill>
                          <a:srgbClr val="333333"/>
                        </a:solidFill>
                        <a:effectLst/>
                        <a:latin typeface="Segoe UI" panose="020B0502040204020203" pitchFamily="34" charset="0"/>
                      </a:endParaRPr>
                    </a:p>
                  </a:txBody>
                  <a:tcPr marL="62261" marR="6918" marT="6918" marB="0" anchor="ctr"/>
                </a:tc>
                <a:tc>
                  <a:txBody>
                    <a:bodyPr/>
                    <a:lstStyle/>
                    <a:p>
                      <a:pPr algn="r" fontAlgn="ctr">
                        <a:buNone/>
                      </a:pPr>
                      <a:r>
                        <a:rPr lang="en-US" sz="1200" u="none" strike="noStrike">
                          <a:effectLst/>
                        </a:rPr>
                        <a:t>815.227586</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401.1162803</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103</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817.5</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1499</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a:effectLst/>
                        </a:rPr>
                        <a:t>▇▇▇▇▇</a:t>
                      </a:r>
                      <a:endParaRPr lang="en-US" sz="1200" b="0" i="0" u="none" strike="noStrike">
                        <a:solidFill>
                          <a:srgbClr val="333333"/>
                        </a:solidFill>
                        <a:effectLst/>
                        <a:latin typeface="Segoe UI" panose="020B0502040204020203" pitchFamily="34" charset="0"/>
                      </a:endParaRPr>
                    </a:p>
                  </a:txBody>
                  <a:tcPr marL="62261" marR="6918" marT="6918" marB="0" anchor="ctr"/>
                </a:tc>
                <a:extLst>
                  <a:ext uri="{0D108BD9-81ED-4DB2-BD59-A6C34878D82A}">
                    <a16:rowId xmlns:a16="http://schemas.microsoft.com/office/drawing/2014/main" val="2978755399"/>
                  </a:ext>
                </a:extLst>
              </a:tr>
              <a:tr h="232714">
                <a:tc>
                  <a:txBody>
                    <a:bodyPr/>
                    <a:lstStyle/>
                    <a:p>
                      <a:pPr algn="l" fontAlgn="ctr">
                        <a:buNone/>
                      </a:pPr>
                      <a:r>
                        <a:rPr lang="en-US" sz="1200" u="none" strike="noStrike" dirty="0" err="1">
                          <a:effectLst/>
                        </a:rPr>
                        <a:t>DistanceFromHome</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tc>
                  <a:txBody>
                    <a:bodyPr/>
                    <a:lstStyle/>
                    <a:p>
                      <a:pPr algn="r" fontAlgn="ctr">
                        <a:buNone/>
                      </a:pPr>
                      <a:r>
                        <a:rPr lang="en-US" sz="1200" u="none" strike="noStrike">
                          <a:effectLst/>
                        </a:rPr>
                        <a:t>9.33908</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8.1367039</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7</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29</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dirty="0">
                          <a:effectLst/>
                        </a:rPr>
                        <a:t>▇▅▂▂▂</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extLst>
                  <a:ext uri="{0D108BD9-81ED-4DB2-BD59-A6C34878D82A}">
                    <a16:rowId xmlns:a16="http://schemas.microsoft.com/office/drawing/2014/main" val="2345488165"/>
                  </a:ext>
                </a:extLst>
              </a:tr>
              <a:tr h="232714">
                <a:tc>
                  <a:txBody>
                    <a:bodyPr/>
                    <a:lstStyle/>
                    <a:p>
                      <a:pPr algn="l" fontAlgn="ctr">
                        <a:buNone/>
                      </a:pPr>
                      <a:r>
                        <a:rPr lang="en-US" sz="1200" u="none" strike="noStrike">
                          <a:effectLst/>
                        </a:rPr>
                        <a:t>Education</a:t>
                      </a:r>
                      <a:endParaRPr lang="en-US" sz="1200" b="0" i="0" u="none" strike="noStrike">
                        <a:solidFill>
                          <a:srgbClr val="333333"/>
                        </a:solidFill>
                        <a:effectLst/>
                        <a:latin typeface="Segoe UI" panose="020B0502040204020203" pitchFamily="34" charset="0"/>
                      </a:endParaRPr>
                    </a:p>
                  </a:txBody>
                  <a:tcPr marL="62261" marR="6918" marT="6918" marB="0" anchor="ctr"/>
                </a:tc>
                <a:tc>
                  <a:txBody>
                    <a:bodyPr/>
                    <a:lstStyle/>
                    <a:p>
                      <a:pPr algn="r" fontAlgn="ctr">
                        <a:buNone/>
                      </a:pPr>
                      <a:r>
                        <a:rPr lang="en-US" sz="1200" u="none" strike="noStrike">
                          <a:effectLst/>
                        </a:rPr>
                        <a:t>2.901149</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1.0230366</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3</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5</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a:effectLst/>
                        </a:rPr>
                        <a:t>▂▅▇▆▁</a:t>
                      </a:r>
                      <a:endParaRPr lang="en-US" sz="1200" b="0" i="0" u="none" strike="noStrike">
                        <a:solidFill>
                          <a:srgbClr val="333333"/>
                        </a:solidFill>
                        <a:effectLst/>
                        <a:latin typeface="Segoe UI" panose="020B0502040204020203" pitchFamily="34" charset="0"/>
                      </a:endParaRPr>
                    </a:p>
                  </a:txBody>
                  <a:tcPr marL="62261" marR="6918" marT="6918" marB="0" anchor="ctr"/>
                </a:tc>
                <a:extLst>
                  <a:ext uri="{0D108BD9-81ED-4DB2-BD59-A6C34878D82A}">
                    <a16:rowId xmlns:a16="http://schemas.microsoft.com/office/drawing/2014/main" val="1246769353"/>
                  </a:ext>
                </a:extLst>
              </a:tr>
              <a:tr h="232714">
                <a:tc>
                  <a:txBody>
                    <a:bodyPr/>
                    <a:lstStyle/>
                    <a:p>
                      <a:pPr algn="l" fontAlgn="ctr">
                        <a:buNone/>
                      </a:pPr>
                      <a:r>
                        <a:rPr lang="en-US" sz="1200" u="none" strike="noStrike" dirty="0" err="1">
                          <a:effectLst/>
                        </a:rPr>
                        <a:t>EnvironmentSatisfaction</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tc>
                  <a:txBody>
                    <a:bodyPr/>
                    <a:lstStyle/>
                    <a:p>
                      <a:pPr algn="r" fontAlgn="ctr">
                        <a:buNone/>
                      </a:pPr>
                      <a:r>
                        <a:rPr lang="en-US" sz="1200" u="none" strike="noStrike">
                          <a:effectLst/>
                        </a:rPr>
                        <a:t>2.701149</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1.0993768</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3</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4</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dirty="0">
                          <a:effectLst/>
                        </a:rPr>
                        <a:t>▅▆▁▇▇</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extLst>
                  <a:ext uri="{0D108BD9-81ED-4DB2-BD59-A6C34878D82A}">
                    <a16:rowId xmlns:a16="http://schemas.microsoft.com/office/drawing/2014/main" val="2219882419"/>
                  </a:ext>
                </a:extLst>
              </a:tr>
              <a:tr h="232714">
                <a:tc>
                  <a:txBody>
                    <a:bodyPr/>
                    <a:lstStyle/>
                    <a:p>
                      <a:pPr algn="l" fontAlgn="ctr">
                        <a:buNone/>
                      </a:pPr>
                      <a:r>
                        <a:rPr lang="en-US" sz="1200" u="none" strike="noStrike" dirty="0" err="1">
                          <a:effectLst/>
                        </a:rPr>
                        <a:t>HourlyRate</a:t>
                      </a:r>
                      <a:endParaRPr lang="en-US" sz="1200" b="0" i="0" u="none" strike="noStrike" dirty="0">
                        <a:solidFill>
                          <a:srgbClr val="333333"/>
                        </a:solidFill>
                        <a:effectLst/>
                        <a:latin typeface="Segoe UI" panose="020B0502040204020203" pitchFamily="34" charset="0"/>
                      </a:endParaRPr>
                    </a:p>
                  </a:txBody>
                  <a:tcPr marL="62261" marR="6918" marT="6918" marB="0" anchor="ctr"/>
                </a:tc>
                <a:tc>
                  <a:txBody>
                    <a:bodyPr/>
                    <a:lstStyle/>
                    <a:p>
                      <a:pPr algn="r" fontAlgn="ctr">
                        <a:buNone/>
                      </a:pPr>
                      <a:r>
                        <a:rPr lang="en-US" sz="1200" u="none" strike="noStrike">
                          <a:effectLst/>
                        </a:rPr>
                        <a:t>65.613793</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20.1271629</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30</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66</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100</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a:effectLst/>
                        </a:rPr>
                        <a:t>▇▇▆▇▇</a:t>
                      </a:r>
                      <a:endParaRPr lang="en-US" sz="1200" b="0" i="0" u="none" strike="noStrike">
                        <a:solidFill>
                          <a:srgbClr val="333333"/>
                        </a:solidFill>
                        <a:effectLst/>
                        <a:latin typeface="Segoe UI" panose="020B0502040204020203" pitchFamily="34" charset="0"/>
                      </a:endParaRPr>
                    </a:p>
                  </a:txBody>
                  <a:tcPr marL="62261" marR="6918" marT="6918" marB="0" anchor="ctr"/>
                </a:tc>
                <a:extLst>
                  <a:ext uri="{0D108BD9-81ED-4DB2-BD59-A6C34878D82A}">
                    <a16:rowId xmlns:a16="http://schemas.microsoft.com/office/drawing/2014/main" val="694634149"/>
                  </a:ext>
                </a:extLst>
              </a:tr>
              <a:tr h="220163">
                <a:tc>
                  <a:txBody>
                    <a:bodyPr/>
                    <a:lstStyle/>
                    <a:p>
                      <a:pPr algn="l" fontAlgn="ctr">
                        <a:buNone/>
                      </a:pPr>
                      <a:r>
                        <a:rPr lang="en-US" sz="1200" u="none" strike="noStrike" dirty="0">
                          <a:effectLst/>
                        </a:rPr>
                        <a:t>JobInvolvement</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tc>
                  <a:txBody>
                    <a:bodyPr/>
                    <a:lstStyle/>
                    <a:p>
                      <a:pPr algn="r" fontAlgn="ctr">
                        <a:buNone/>
                      </a:pPr>
                      <a:r>
                        <a:rPr lang="en-US" sz="1200" u="none" strike="noStrike">
                          <a:effectLst/>
                        </a:rPr>
                        <a:t>2.722989</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0.7036321</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3</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4</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dirty="0">
                          <a:effectLst/>
                        </a:rPr>
                        <a:t>▁▃▁▇▁</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extLst>
                  <a:ext uri="{0D108BD9-81ED-4DB2-BD59-A6C34878D82A}">
                    <a16:rowId xmlns:a16="http://schemas.microsoft.com/office/drawing/2014/main" val="1151001985"/>
                  </a:ext>
                </a:extLst>
              </a:tr>
              <a:tr h="232714">
                <a:tc>
                  <a:txBody>
                    <a:bodyPr/>
                    <a:lstStyle/>
                    <a:p>
                      <a:pPr algn="l" fontAlgn="ctr">
                        <a:buNone/>
                      </a:pPr>
                      <a:r>
                        <a:rPr lang="en-US" sz="1200" u="none" strike="noStrike" dirty="0" err="1">
                          <a:effectLst/>
                        </a:rPr>
                        <a:t>JobLevel</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tc>
                  <a:txBody>
                    <a:bodyPr/>
                    <a:lstStyle/>
                    <a:p>
                      <a:pPr algn="r" fontAlgn="ctr">
                        <a:buNone/>
                      </a:pPr>
                      <a:r>
                        <a:rPr lang="en-US" sz="1200" u="none" strike="noStrike">
                          <a:effectLst/>
                        </a:rPr>
                        <a:t>2.03908</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1.0901121</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2</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dirty="0">
                          <a:effectLst/>
                        </a:rPr>
                        <a:t>5</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dirty="0">
                          <a:effectLst/>
                        </a:rPr>
                        <a:t>▇▇▃▂▁</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extLst>
                  <a:ext uri="{0D108BD9-81ED-4DB2-BD59-A6C34878D82A}">
                    <a16:rowId xmlns:a16="http://schemas.microsoft.com/office/drawing/2014/main" val="4180756166"/>
                  </a:ext>
                </a:extLst>
              </a:tr>
              <a:tr h="232714">
                <a:tc>
                  <a:txBody>
                    <a:bodyPr/>
                    <a:lstStyle/>
                    <a:p>
                      <a:pPr algn="l" fontAlgn="ctr">
                        <a:buNone/>
                      </a:pPr>
                      <a:r>
                        <a:rPr lang="en-US" sz="1200" u="none" strike="noStrike" dirty="0" err="1">
                          <a:effectLst/>
                        </a:rPr>
                        <a:t>JobSatisfaction</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tc>
                  <a:txBody>
                    <a:bodyPr/>
                    <a:lstStyle/>
                    <a:p>
                      <a:pPr algn="r" fontAlgn="ctr">
                        <a:buNone/>
                      </a:pPr>
                      <a:r>
                        <a:rPr lang="en-US" sz="1200" u="none" strike="noStrike" dirty="0">
                          <a:effectLst/>
                        </a:rPr>
                        <a:t>2.709195</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dirty="0">
                          <a:effectLst/>
                        </a:rPr>
                        <a:t>1.1145168</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dirty="0">
                          <a:effectLst/>
                        </a:rPr>
                        <a:t>1</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dirty="0">
                          <a:effectLst/>
                        </a:rPr>
                        <a:t>3</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dirty="0">
                          <a:effectLst/>
                        </a:rPr>
                        <a:t>4</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dirty="0">
                          <a:effectLst/>
                        </a:rPr>
                        <a:t>▅▅▁▇▇</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extLst>
                  <a:ext uri="{0D108BD9-81ED-4DB2-BD59-A6C34878D82A}">
                    <a16:rowId xmlns:a16="http://schemas.microsoft.com/office/drawing/2014/main" val="3352107502"/>
                  </a:ext>
                </a:extLst>
              </a:tr>
              <a:tr h="220163">
                <a:tc>
                  <a:txBody>
                    <a:bodyPr/>
                    <a:lstStyle/>
                    <a:p>
                      <a:pPr algn="l" fontAlgn="ctr">
                        <a:buNone/>
                      </a:pPr>
                      <a:r>
                        <a:rPr lang="en-US" sz="1200" u="none" strike="noStrike" dirty="0">
                          <a:effectLst/>
                        </a:rPr>
                        <a:t>MonthlyIncome</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tc>
                  <a:txBody>
                    <a:bodyPr/>
                    <a:lstStyle/>
                    <a:p>
                      <a:pPr algn="r" fontAlgn="ctr">
                        <a:buNone/>
                      </a:pPr>
                      <a:r>
                        <a:rPr lang="en-US" sz="1200" u="none" strike="noStrike" dirty="0">
                          <a:effectLst/>
                        </a:rPr>
                        <a:t>6390.264368</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4597.695974</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1081</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4945.5</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19999</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dirty="0">
                          <a:effectLst/>
                        </a:rPr>
                        <a:t>▇▅▂▁▁</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extLst>
                  <a:ext uri="{0D108BD9-81ED-4DB2-BD59-A6C34878D82A}">
                    <a16:rowId xmlns:a16="http://schemas.microsoft.com/office/drawing/2014/main" val="1502851817"/>
                  </a:ext>
                </a:extLst>
              </a:tr>
              <a:tr h="232714">
                <a:tc>
                  <a:txBody>
                    <a:bodyPr/>
                    <a:lstStyle/>
                    <a:p>
                      <a:pPr algn="l" fontAlgn="ctr">
                        <a:buNone/>
                      </a:pPr>
                      <a:r>
                        <a:rPr lang="en-US" sz="1200" u="none" strike="noStrike">
                          <a:effectLst/>
                        </a:rPr>
                        <a:t>MonthlyRate</a:t>
                      </a:r>
                      <a:endParaRPr lang="en-US" sz="1200" b="0" i="0" u="none" strike="noStrike">
                        <a:solidFill>
                          <a:srgbClr val="333333"/>
                        </a:solidFill>
                        <a:effectLst/>
                        <a:latin typeface="Segoe UI" panose="020B0502040204020203" pitchFamily="34" charset="0"/>
                      </a:endParaRPr>
                    </a:p>
                  </a:txBody>
                  <a:tcPr marL="62261" marR="6918" marT="6918" marB="0" anchor="ctr"/>
                </a:tc>
                <a:tc>
                  <a:txBody>
                    <a:bodyPr/>
                    <a:lstStyle/>
                    <a:p>
                      <a:pPr algn="r" fontAlgn="ctr">
                        <a:buNone/>
                      </a:pPr>
                      <a:r>
                        <a:rPr lang="en-US" sz="1200" u="none" strike="noStrike">
                          <a:effectLst/>
                        </a:rPr>
                        <a:t>14325.62069</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dirty="0">
                          <a:effectLst/>
                        </a:rPr>
                        <a:t>7108.381928</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2094</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14074.5</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26997</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a:effectLst/>
                        </a:rPr>
                        <a:t>▇▇▇▇▇</a:t>
                      </a:r>
                      <a:endParaRPr lang="en-US" sz="1200" b="0" i="0" u="none" strike="noStrike">
                        <a:solidFill>
                          <a:srgbClr val="333333"/>
                        </a:solidFill>
                        <a:effectLst/>
                        <a:latin typeface="Segoe UI" panose="020B0502040204020203" pitchFamily="34" charset="0"/>
                      </a:endParaRPr>
                    </a:p>
                  </a:txBody>
                  <a:tcPr marL="62261" marR="6918" marT="6918" marB="0" anchor="ctr"/>
                </a:tc>
                <a:extLst>
                  <a:ext uri="{0D108BD9-81ED-4DB2-BD59-A6C34878D82A}">
                    <a16:rowId xmlns:a16="http://schemas.microsoft.com/office/drawing/2014/main" val="961246726"/>
                  </a:ext>
                </a:extLst>
              </a:tr>
              <a:tr h="232714">
                <a:tc>
                  <a:txBody>
                    <a:bodyPr/>
                    <a:lstStyle/>
                    <a:p>
                      <a:pPr algn="l" fontAlgn="ctr">
                        <a:buNone/>
                      </a:pPr>
                      <a:r>
                        <a:rPr lang="en-US" sz="1200" u="none" strike="noStrike">
                          <a:effectLst/>
                        </a:rPr>
                        <a:t>NumCompaniesWorked</a:t>
                      </a:r>
                      <a:endParaRPr lang="en-US" sz="1200" b="0" i="0" u="none" strike="noStrike">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tc>
                  <a:txBody>
                    <a:bodyPr/>
                    <a:lstStyle/>
                    <a:p>
                      <a:pPr algn="r" fontAlgn="ctr">
                        <a:buNone/>
                      </a:pPr>
                      <a:r>
                        <a:rPr lang="en-US" sz="1200" u="none" strike="noStrike">
                          <a:effectLst/>
                        </a:rPr>
                        <a:t>2.727586</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2.520443</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0</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2</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9</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dirty="0">
                          <a:effectLst/>
                        </a:rPr>
                        <a:t>▇▃▂▂▁</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extLst>
                  <a:ext uri="{0D108BD9-81ED-4DB2-BD59-A6C34878D82A}">
                    <a16:rowId xmlns:a16="http://schemas.microsoft.com/office/drawing/2014/main" val="1474565410"/>
                  </a:ext>
                </a:extLst>
              </a:tr>
              <a:tr h="232714">
                <a:tc>
                  <a:txBody>
                    <a:bodyPr/>
                    <a:lstStyle/>
                    <a:p>
                      <a:pPr algn="l" fontAlgn="ctr">
                        <a:buNone/>
                      </a:pPr>
                      <a:r>
                        <a:rPr lang="en-US" sz="1200" u="none" strike="noStrike" dirty="0" err="1">
                          <a:effectLst/>
                        </a:rPr>
                        <a:t>PercentSalaryHike</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tc>
                  <a:txBody>
                    <a:bodyPr/>
                    <a:lstStyle/>
                    <a:p>
                      <a:pPr algn="r" fontAlgn="ctr">
                        <a:buNone/>
                      </a:pPr>
                      <a:r>
                        <a:rPr lang="en-US" sz="1200" u="none" strike="noStrike">
                          <a:effectLst/>
                        </a:rPr>
                        <a:t>15.2</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3.6754402</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11</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14</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25</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dirty="0">
                          <a:effectLst/>
                        </a:rPr>
                        <a:t>▇▅▃▂▁</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extLst>
                  <a:ext uri="{0D108BD9-81ED-4DB2-BD59-A6C34878D82A}">
                    <a16:rowId xmlns:a16="http://schemas.microsoft.com/office/drawing/2014/main" val="342686047"/>
                  </a:ext>
                </a:extLst>
              </a:tr>
              <a:tr h="220163">
                <a:tc>
                  <a:txBody>
                    <a:bodyPr/>
                    <a:lstStyle/>
                    <a:p>
                      <a:pPr algn="l" fontAlgn="ctr">
                        <a:buNone/>
                      </a:pPr>
                      <a:r>
                        <a:rPr lang="en-US" sz="1200" u="none" strike="noStrike">
                          <a:effectLst/>
                        </a:rPr>
                        <a:t>PerformanceRating</a:t>
                      </a:r>
                      <a:endParaRPr lang="en-US" sz="1200" b="0" i="0" u="none" strike="noStrike">
                        <a:solidFill>
                          <a:srgbClr val="333333"/>
                        </a:solidFill>
                        <a:effectLst/>
                        <a:latin typeface="Segoe UI" panose="020B0502040204020203" pitchFamily="34" charset="0"/>
                      </a:endParaRPr>
                    </a:p>
                  </a:txBody>
                  <a:tcPr marL="62261" marR="6918" marT="6918" marB="0" anchor="ctr"/>
                </a:tc>
                <a:tc>
                  <a:txBody>
                    <a:bodyPr/>
                    <a:lstStyle/>
                    <a:p>
                      <a:pPr algn="r" fontAlgn="ctr">
                        <a:buNone/>
                      </a:pPr>
                      <a:r>
                        <a:rPr lang="en-US" sz="1200" u="none" strike="noStrike">
                          <a:effectLst/>
                        </a:rPr>
                        <a:t>3.151724</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0.3589596</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3</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3</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4</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a:effectLst/>
                        </a:rPr>
                        <a:t>▇▁▁▁▂</a:t>
                      </a:r>
                      <a:endParaRPr lang="en-US" sz="1200" b="0" i="0" u="none" strike="noStrike">
                        <a:solidFill>
                          <a:srgbClr val="333333"/>
                        </a:solidFill>
                        <a:effectLst/>
                        <a:latin typeface="Segoe UI" panose="020B0502040204020203" pitchFamily="34" charset="0"/>
                      </a:endParaRPr>
                    </a:p>
                  </a:txBody>
                  <a:tcPr marL="62261" marR="6918" marT="6918" marB="0" anchor="ctr"/>
                </a:tc>
                <a:extLst>
                  <a:ext uri="{0D108BD9-81ED-4DB2-BD59-A6C34878D82A}">
                    <a16:rowId xmlns:a16="http://schemas.microsoft.com/office/drawing/2014/main" val="2100514275"/>
                  </a:ext>
                </a:extLst>
              </a:tr>
              <a:tr h="232714">
                <a:tc>
                  <a:txBody>
                    <a:bodyPr/>
                    <a:lstStyle/>
                    <a:p>
                      <a:pPr algn="l" fontAlgn="ctr">
                        <a:buNone/>
                      </a:pPr>
                      <a:r>
                        <a:rPr lang="en-US" sz="1200" u="none" strike="noStrike" dirty="0" err="1">
                          <a:effectLst/>
                        </a:rPr>
                        <a:t>RelationshipSatisfaction</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tc>
                  <a:txBody>
                    <a:bodyPr/>
                    <a:lstStyle/>
                    <a:p>
                      <a:pPr algn="r" fontAlgn="ctr">
                        <a:buNone/>
                      </a:pPr>
                      <a:r>
                        <a:rPr lang="en-US" sz="1200" u="none" strike="noStrike">
                          <a:effectLst/>
                        </a:rPr>
                        <a:t>2.706897</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1.1024915</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3</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4</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dirty="0">
                          <a:effectLst/>
                        </a:rPr>
                        <a:t>▅▅▁▇▇</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extLst>
                  <a:ext uri="{0D108BD9-81ED-4DB2-BD59-A6C34878D82A}">
                    <a16:rowId xmlns:a16="http://schemas.microsoft.com/office/drawing/2014/main" val="3415710869"/>
                  </a:ext>
                </a:extLst>
              </a:tr>
              <a:tr h="220163">
                <a:tc>
                  <a:txBody>
                    <a:bodyPr/>
                    <a:lstStyle/>
                    <a:p>
                      <a:pPr algn="l" fontAlgn="ctr">
                        <a:buNone/>
                      </a:pPr>
                      <a:r>
                        <a:rPr lang="en-US" sz="1200" u="none" strike="noStrike" dirty="0" err="1">
                          <a:effectLst/>
                        </a:rPr>
                        <a:t>StockOptionLevel</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tc>
                  <a:txBody>
                    <a:bodyPr/>
                    <a:lstStyle/>
                    <a:p>
                      <a:pPr algn="r" fontAlgn="ctr">
                        <a:buNone/>
                      </a:pPr>
                      <a:r>
                        <a:rPr lang="en-US" sz="1200" u="none" strike="noStrike" dirty="0">
                          <a:effectLst/>
                        </a:rPr>
                        <a:t>0.783908</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0.857764</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0</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3</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dirty="0">
                          <a:effectLst/>
                        </a:rPr>
                        <a:t>▇▇▁▂▁</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extLst>
                  <a:ext uri="{0D108BD9-81ED-4DB2-BD59-A6C34878D82A}">
                    <a16:rowId xmlns:a16="http://schemas.microsoft.com/office/drawing/2014/main" val="1441996350"/>
                  </a:ext>
                </a:extLst>
              </a:tr>
              <a:tr h="220163">
                <a:tc>
                  <a:txBody>
                    <a:bodyPr/>
                    <a:lstStyle/>
                    <a:p>
                      <a:pPr algn="l" fontAlgn="ctr">
                        <a:buNone/>
                      </a:pPr>
                      <a:r>
                        <a:rPr lang="en-US" sz="1200" u="none" strike="noStrike" dirty="0" err="1">
                          <a:effectLst/>
                        </a:rPr>
                        <a:t>TotalWorkingYears</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tc>
                  <a:txBody>
                    <a:bodyPr/>
                    <a:lstStyle/>
                    <a:p>
                      <a:pPr algn="r" fontAlgn="ctr">
                        <a:buNone/>
                      </a:pPr>
                      <a:r>
                        <a:rPr lang="en-US" sz="1200" u="none" strike="noStrike">
                          <a:effectLst/>
                        </a:rPr>
                        <a:t>11.052874</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7.5136675</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0</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10</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40</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dirty="0">
                          <a:effectLst/>
                        </a:rPr>
                        <a:t>▇▇▂▁▁</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extLst>
                  <a:ext uri="{0D108BD9-81ED-4DB2-BD59-A6C34878D82A}">
                    <a16:rowId xmlns:a16="http://schemas.microsoft.com/office/drawing/2014/main" val="1233758879"/>
                  </a:ext>
                </a:extLst>
              </a:tr>
              <a:tr h="232714">
                <a:tc>
                  <a:txBody>
                    <a:bodyPr/>
                    <a:lstStyle/>
                    <a:p>
                      <a:pPr algn="l" fontAlgn="ctr">
                        <a:buNone/>
                      </a:pPr>
                      <a:r>
                        <a:rPr lang="en-US" sz="1200" u="none" strike="noStrike">
                          <a:effectLst/>
                        </a:rPr>
                        <a:t>TrainingTimesLastYear</a:t>
                      </a:r>
                      <a:endParaRPr lang="en-US" sz="1200" b="0" i="0" u="none" strike="noStrike">
                        <a:solidFill>
                          <a:srgbClr val="333333"/>
                        </a:solidFill>
                        <a:effectLst/>
                        <a:latin typeface="Segoe UI" panose="020B0502040204020203" pitchFamily="34" charset="0"/>
                      </a:endParaRPr>
                    </a:p>
                  </a:txBody>
                  <a:tcPr marL="62261" marR="6918" marT="6918" marB="0" anchor="ctr"/>
                </a:tc>
                <a:tc>
                  <a:txBody>
                    <a:bodyPr/>
                    <a:lstStyle/>
                    <a:p>
                      <a:pPr algn="r" fontAlgn="ctr">
                        <a:buNone/>
                      </a:pPr>
                      <a:r>
                        <a:rPr lang="en-US" sz="1200" u="none" strike="noStrike">
                          <a:effectLst/>
                        </a:rPr>
                        <a:t>2.832184</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1.2726651</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0</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3</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6</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a:effectLst/>
                        </a:rPr>
                        <a:t>▂▇▇▂▃</a:t>
                      </a:r>
                      <a:endParaRPr lang="en-US" sz="1200" b="0" i="0" u="none" strike="noStrike">
                        <a:solidFill>
                          <a:srgbClr val="333333"/>
                        </a:solidFill>
                        <a:effectLst/>
                        <a:latin typeface="Segoe UI" panose="020B0502040204020203" pitchFamily="34" charset="0"/>
                      </a:endParaRPr>
                    </a:p>
                  </a:txBody>
                  <a:tcPr marL="62261" marR="6918" marT="6918" marB="0" anchor="ctr"/>
                </a:tc>
                <a:extLst>
                  <a:ext uri="{0D108BD9-81ED-4DB2-BD59-A6C34878D82A}">
                    <a16:rowId xmlns:a16="http://schemas.microsoft.com/office/drawing/2014/main" val="2679095697"/>
                  </a:ext>
                </a:extLst>
              </a:tr>
              <a:tr h="220163">
                <a:tc>
                  <a:txBody>
                    <a:bodyPr/>
                    <a:lstStyle/>
                    <a:p>
                      <a:pPr algn="l" fontAlgn="ctr">
                        <a:buNone/>
                      </a:pPr>
                      <a:r>
                        <a:rPr lang="en-US" sz="1200" u="none" strike="noStrike" dirty="0" err="1">
                          <a:effectLst/>
                        </a:rPr>
                        <a:t>WorkLifeBalance</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tc>
                  <a:txBody>
                    <a:bodyPr/>
                    <a:lstStyle/>
                    <a:p>
                      <a:pPr algn="r" fontAlgn="ctr">
                        <a:buNone/>
                      </a:pPr>
                      <a:r>
                        <a:rPr lang="en-US" sz="1200" u="none" strike="noStrike" dirty="0">
                          <a:effectLst/>
                        </a:rPr>
                        <a:t>2.781609</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dirty="0">
                          <a:effectLst/>
                        </a:rPr>
                        <a:t>0.7119769</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dirty="0">
                          <a:effectLst/>
                        </a:rPr>
                        <a:t>1</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dirty="0">
                          <a:effectLst/>
                        </a:rPr>
                        <a:t>3</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dirty="0">
                          <a:effectLst/>
                        </a:rPr>
                        <a:t>4</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dirty="0">
                          <a:effectLst/>
                        </a:rPr>
                        <a:t>▁▃▁▇▂</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extLst>
                  <a:ext uri="{0D108BD9-81ED-4DB2-BD59-A6C34878D82A}">
                    <a16:rowId xmlns:a16="http://schemas.microsoft.com/office/drawing/2014/main" val="3920864778"/>
                  </a:ext>
                </a:extLst>
              </a:tr>
              <a:tr h="220163">
                <a:tc>
                  <a:txBody>
                    <a:bodyPr/>
                    <a:lstStyle/>
                    <a:p>
                      <a:pPr algn="l" fontAlgn="ctr">
                        <a:buNone/>
                      </a:pPr>
                      <a:r>
                        <a:rPr lang="en-US" sz="1200" u="none" strike="noStrike" dirty="0" err="1">
                          <a:effectLst/>
                        </a:rPr>
                        <a:t>YearsAtCompany</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tc>
                  <a:txBody>
                    <a:bodyPr/>
                    <a:lstStyle/>
                    <a:p>
                      <a:pPr algn="r" fontAlgn="ctr">
                        <a:buNone/>
                      </a:pPr>
                      <a:r>
                        <a:rPr lang="en-US" sz="1200" u="none" strike="noStrike" dirty="0">
                          <a:effectLst/>
                        </a:rPr>
                        <a:t>6.962069</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dirty="0">
                          <a:effectLst/>
                        </a:rPr>
                        <a:t>6.021036</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0</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5</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40</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dirty="0">
                          <a:effectLst/>
                        </a:rPr>
                        <a:t>▇▃▁▁▁</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extLst>
                  <a:ext uri="{0D108BD9-81ED-4DB2-BD59-A6C34878D82A}">
                    <a16:rowId xmlns:a16="http://schemas.microsoft.com/office/drawing/2014/main" val="667424371"/>
                  </a:ext>
                </a:extLst>
              </a:tr>
              <a:tr h="220163">
                <a:tc>
                  <a:txBody>
                    <a:bodyPr/>
                    <a:lstStyle/>
                    <a:p>
                      <a:pPr algn="l" fontAlgn="ctr">
                        <a:buNone/>
                      </a:pPr>
                      <a:r>
                        <a:rPr lang="en-US" sz="1200" u="none" strike="noStrike" dirty="0" err="1">
                          <a:effectLst/>
                        </a:rPr>
                        <a:t>YearsInCurrentRole</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tc>
                  <a:txBody>
                    <a:bodyPr/>
                    <a:lstStyle/>
                    <a:p>
                      <a:pPr algn="r" fontAlgn="ctr">
                        <a:buNone/>
                      </a:pPr>
                      <a:r>
                        <a:rPr lang="en-US" sz="1200" u="none" strike="noStrike">
                          <a:effectLst/>
                        </a:rPr>
                        <a:t>4.204598</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3.6393169</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0</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3</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18</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dirty="0">
                          <a:effectLst/>
                        </a:rPr>
                        <a:t>▇▃▂▁▁</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extLst>
                  <a:ext uri="{0D108BD9-81ED-4DB2-BD59-A6C34878D82A}">
                    <a16:rowId xmlns:a16="http://schemas.microsoft.com/office/drawing/2014/main" val="2397391904"/>
                  </a:ext>
                </a:extLst>
              </a:tr>
              <a:tr h="220163">
                <a:tc>
                  <a:txBody>
                    <a:bodyPr/>
                    <a:lstStyle/>
                    <a:p>
                      <a:pPr algn="l" fontAlgn="ctr">
                        <a:buNone/>
                      </a:pPr>
                      <a:r>
                        <a:rPr lang="en-US" sz="1200" u="none" strike="noStrike" dirty="0" err="1">
                          <a:effectLst/>
                        </a:rPr>
                        <a:t>YearsSinceLastPromotion</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tc>
                  <a:txBody>
                    <a:bodyPr/>
                    <a:lstStyle/>
                    <a:p>
                      <a:pPr algn="r" fontAlgn="ctr">
                        <a:buNone/>
                      </a:pPr>
                      <a:r>
                        <a:rPr lang="en-US" sz="1200" u="none" strike="noStrike">
                          <a:effectLst/>
                        </a:rPr>
                        <a:t>2.168966</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3.1858725</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0</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a:effectLst/>
                        </a:rPr>
                        <a:t>15</a:t>
                      </a:r>
                      <a:endParaRPr lang="en-US" sz="1200" b="0" i="0" u="none" strike="noStrike">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dirty="0">
                          <a:effectLst/>
                        </a:rPr>
                        <a:t>▇▁▁▁▁</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extLst>
                  <a:ext uri="{0D108BD9-81ED-4DB2-BD59-A6C34878D82A}">
                    <a16:rowId xmlns:a16="http://schemas.microsoft.com/office/drawing/2014/main" val="1542390348"/>
                  </a:ext>
                </a:extLst>
              </a:tr>
              <a:tr h="220163">
                <a:tc>
                  <a:txBody>
                    <a:bodyPr/>
                    <a:lstStyle/>
                    <a:p>
                      <a:pPr algn="l" fontAlgn="ctr">
                        <a:buNone/>
                      </a:pPr>
                      <a:r>
                        <a:rPr lang="en-US" sz="1200" u="none" strike="noStrike" dirty="0">
                          <a:effectLst/>
                        </a:rPr>
                        <a:t>YearsWithCurrManager</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tc>
                  <a:txBody>
                    <a:bodyPr/>
                    <a:lstStyle/>
                    <a:p>
                      <a:pPr algn="r" fontAlgn="ctr">
                        <a:buNone/>
                      </a:pPr>
                      <a:r>
                        <a:rPr lang="en-US" sz="1200" u="none" strike="noStrike" dirty="0">
                          <a:effectLst/>
                        </a:rPr>
                        <a:t>4.14023</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dirty="0">
                          <a:effectLst/>
                        </a:rPr>
                        <a:t>3.5744413</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dirty="0">
                          <a:effectLst/>
                        </a:rPr>
                        <a:t>0</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dirty="0">
                          <a:effectLst/>
                        </a:rPr>
                        <a:t>3</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r" fontAlgn="ctr">
                        <a:buNone/>
                      </a:pPr>
                      <a:r>
                        <a:rPr lang="en-US" sz="1200" u="none" strike="noStrike" dirty="0">
                          <a:effectLst/>
                        </a:rPr>
                        <a:t>17</a:t>
                      </a:r>
                      <a:endParaRPr lang="en-US" sz="1200" b="0" i="0" u="none" strike="noStrike" dirty="0">
                        <a:solidFill>
                          <a:srgbClr val="333333"/>
                        </a:solidFill>
                        <a:effectLst/>
                        <a:latin typeface="Segoe UI" panose="020B0502040204020203" pitchFamily="34" charset="0"/>
                      </a:endParaRPr>
                    </a:p>
                  </a:txBody>
                  <a:tcPr marL="6918" marR="62261" marT="6918" marB="0" anchor="ctr"/>
                </a:tc>
                <a:tc>
                  <a:txBody>
                    <a:bodyPr/>
                    <a:lstStyle/>
                    <a:p>
                      <a:pPr algn="l" fontAlgn="ctr">
                        <a:buNone/>
                      </a:pPr>
                      <a:r>
                        <a:rPr lang="en-US" sz="1200" u="none" strike="noStrike" dirty="0">
                          <a:effectLst/>
                        </a:rPr>
                        <a:t>▇▂▅▁▁</a:t>
                      </a:r>
                      <a:endParaRPr lang="en-US" sz="12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extLst>
                  <a:ext uri="{0D108BD9-81ED-4DB2-BD59-A6C34878D82A}">
                    <a16:rowId xmlns:a16="http://schemas.microsoft.com/office/drawing/2014/main" val="3888384021"/>
                  </a:ext>
                </a:extLst>
              </a:tr>
            </a:tbl>
          </a:graphicData>
        </a:graphic>
      </p:graphicFrame>
      <p:sp>
        <p:nvSpPr>
          <p:cNvPr id="3" name="TextBox 2">
            <a:extLst>
              <a:ext uri="{FF2B5EF4-FFF2-40B4-BE49-F238E27FC236}">
                <a16:creationId xmlns:a16="http://schemas.microsoft.com/office/drawing/2014/main" id="{E12AFD40-1045-D282-B523-3842C9F09130}"/>
              </a:ext>
            </a:extLst>
          </p:cNvPr>
          <p:cNvSpPr txBox="1"/>
          <p:nvPr/>
        </p:nvSpPr>
        <p:spPr>
          <a:xfrm>
            <a:off x="9497568" y="1170291"/>
            <a:ext cx="1828800" cy="646331"/>
          </a:xfrm>
          <a:prstGeom prst="rect">
            <a:avLst/>
          </a:prstGeom>
          <a:solidFill>
            <a:schemeClr val="accent1">
              <a:lumMod val="60000"/>
              <a:lumOff val="40000"/>
            </a:schemeClr>
          </a:solidFill>
        </p:spPr>
        <p:txBody>
          <a:bodyPr wrap="square" rtlCol="0">
            <a:spAutoFit/>
          </a:bodyPr>
          <a:lstStyle/>
          <a:p>
            <a:r>
              <a:rPr lang="en-US" dirty="0"/>
              <a:t>High and Low distribution</a:t>
            </a:r>
          </a:p>
        </p:txBody>
      </p:sp>
      <p:sp>
        <p:nvSpPr>
          <p:cNvPr id="4" name="TextBox 3">
            <a:extLst>
              <a:ext uri="{FF2B5EF4-FFF2-40B4-BE49-F238E27FC236}">
                <a16:creationId xmlns:a16="http://schemas.microsoft.com/office/drawing/2014/main" id="{C07A5366-7AFF-8B9E-4556-2E21EF11280C}"/>
              </a:ext>
            </a:extLst>
          </p:cNvPr>
          <p:cNvSpPr txBox="1"/>
          <p:nvPr/>
        </p:nvSpPr>
        <p:spPr>
          <a:xfrm>
            <a:off x="9497568" y="2259909"/>
            <a:ext cx="1828800" cy="646331"/>
          </a:xfrm>
          <a:prstGeom prst="rect">
            <a:avLst/>
          </a:prstGeom>
          <a:solidFill>
            <a:schemeClr val="accent3">
              <a:lumMod val="40000"/>
              <a:lumOff val="60000"/>
            </a:schemeClr>
          </a:solidFill>
        </p:spPr>
        <p:txBody>
          <a:bodyPr wrap="square" rtlCol="0">
            <a:spAutoFit/>
          </a:bodyPr>
          <a:lstStyle/>
          <a:p>
            <a:r>
              <a:rPr lang="en-US" dirty="0"/>
              <a:t>Right Skew distribution</a:t>
            </a:r>
          </a:p>
        </p:txBody>
      </p:sp>
      <p:sp>
        <p:nvSpPr>
          <p:cNvPr id="8" name="TextBox 7">
            <a:extLst>
              <a:ext uri="{FF2B5EF4-FFF2-40B4-BE49-F238E27FC236}">
                <a16:creationId xmlns:a16="http://schemas.microsoft.com/office/drawing/2014/main" id="{DD3882E5-7141-407B-38EB-3624FB6E8A9C}"/>
              </a:ext>
            </a:extLst>
          </p:cNvPr>
          <p:cNvSpPr txBox="1"/>
          <p:nvPr/>
        </p:nvSpPr>
        <p:spPr>
          <a:xfrm>
            <a:off x="9497568" y="1834355"/>
            <a:ext cx="1828800" cy="369332"/>
          </a:xfrm>
          <a:prstGeom prst="rect">
            <a:avLst/>
          </a:prstGeom>
          <a:noFill/>
        </p:spPr>
        <p:txBody>
          <a:bodyPr wrap="square" rtlCol="0">
            <a:spAutoFit/>
          </a:bodyPr>
          <a:lstStyle/>
          <a:p>
            <a:r>
              <a:rPr lang="en-US" dirty="0"/>
              <a:t>ratings (1 to 5)</a:t>
            </a:r>
          </a:p>
        </p:txBody>
      </p:sp>
      <p:sp>
        <p:nvSpPr>
          <p:cNvPr id="9" name="TextBox 8">
            <a:extLst>
              <a:ext uri="{FF2B5EF4-FFF2-40B4-BE49-F238E27FC236}">
                <a16:creationId xmlns:a16="http://schemas.microsoft.com/office/drawing/2014/main" id="{E1A8D8BC-D5E1-5A39-CE42-305587782ECD}"/>
              </a:ext>
            </a:extLst>
          </p:cNvPr>
          <p:cNvSpPr txBox="1"/>
          <p:nvPr/>
        </p:nvSpPr>
        <p:spPr>
          <a:xfrm>
            <a:off x="9497568" y="2962462"/>
            <a:ext cx="1828800" cy="1477328"/>
          </a:xfrm>
          <a:prstGeom prst="rect">
            <a:avLst/>
          </a:prstGeom>
          <a:noFill/>
        </p:spPr>
        <p:txBody>
          <a:bodyPr wrap="square" rtlCol="0">
            <a:spAutoFit/>
          </a:bodyPr>
          <a:lstStyle/>
          <a:p>
            <a:r>
              <a:rPr lang="en-US" dirty="0"/>
              <a:t>most employees are on the low end and few employees are on the high end</a:t>
            </a:r>
          </a:p>
        </p:txBody>
      </p:sp>
      <p:sp>
        <p:nvSpPr>
          <p:cNvPr id="5" name="TextBox 4">
            <a:extLst>
              <a:ext uri="{FF2B5EF4-FFF2-40B4-BE49-F238E27FC236}">
                <a16:creationId xmlns:a16="http://schemas.microsoft.com/office/drawing/2014/main" id="{5EE60F8D-60E2-0503-69C2-7AE2DD65EBE2}"/>
              </a:ext>
            </a:extLst>
          </p:cNvPr>
          <p:cNvSpPr txBox="1"/>
          <p:nvPr/>
        </p:nvSpPr>
        <p:spPr>
          <a:xfrm>
            <a:off x="9525000" y="4642420"/>
            <a:ext cx="1828800" cy="1569660"/>
          </a:xfrm>
          <a:prstGeom prst="rect">
            <a:avLst/>
          </a:prstGeom>
          <a:noFill/>
        </p:spPr>
        <p:txBody>
          <a:bodyPr wrap="square" rtlCol="0">
            <a:spAutoFit/>
          </a:bodyPr>
          <a:lstStyle/>
          <a:p>
            <a:r>
              <a:rPr lang="en-US" sz="1600" i="1" dirty="0"/>
              <a:t>ID, </a:t>
            </a:r>
            <a:r>
              <a:rPr lang="en-US" sz="1600" i="1" dirty="0" err="1"/>
              <a:t>EmployeeCount</a:t>
            </a:r>
            <a:r>
              <a:rPr lang="en-US" sz="1600" i="1" dirty="0"/>
              <a:t>, </a:t>
            </a:r>
            <a:r>
              <a:rPr lang="en-US" sz="1600" i="1" dirty="0" err="1"/>
              <a:t>EmployeeNumber</a:t>
            </a:r>
            <a:r>
              <a:rPr lang="en-US" sz="1600" i="1" dirty="0"/>
              <a:t>, and </a:t>
            </a:r>
            <a:r>
              <a:rPr lang="en-US" sz="1600" i="1" dirty="0" err="1"/>
              <a:t>StandardHours</a:t>
            </a:r>
            <a:r>
              <a:rPr lang="en-US" sz="1600" i="1" dirty="0"/>
              <a:t> were removed.</a:t>
            </a:r>
          </a:p>
        </p:txBody>
      </p:sp>
    </p:spTree>
    <p:extLst>
      <p:ext uri="{BB962C8B-B14F-4D97-AF65-F5344CB8AC3E}">
        <p14:creationId xmlns:p14="http://schemas.microsoft.com/office/powerpoint/2010/main" val="2539072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684E6-2428-7EEA-06C0-6B29A4BBD8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B2916E-9424-63A9-9AE2-67A5ECFC8AF7}"/>
              </a:ext>
            </a:extLst>
          </p:cNvPr>
          <p:cNvSpPr>
            <a:spLocks noGrp="1"/>
          </p:cNvSpPr>
          <p:nvPr>
            <p:ph type="title"/>
          </p:nvPr>
        </p:nvSpPr>
        <p:spPr>
          <a:xfrm>
            <a:off x="838200" y="242143"/>
            <a:ext cx="10515600" cy="902702"/>
          </a:xfrm>
        </p:spPr>
        <p:txBody>
          <a:bodyPr/>
          <a:lstStyle/>
          <a:p>
            <a:r>
              <a:rPr lang="en-US" dirty="0"/>
              <a:t>Summary of Numerical Features</a:t>
            </a:r>
          </a:p>
        </p:txBody>
      </p:sp>
      <p:graphicFrame>
        <p:nvGraphicFramePr>
          <p:cNvPr id="6" name="Table 5">
            <a:extLst>
              <a:ext uri="{FF2B5EF4-FFF2-40B4-BE49-F238E27FC236}">
                <a16:creationId xmlns:a16="http://schemas.microsoft.com/office/drawing/2014/main" id="{9F0A809D-6588-A5D4-772A-A7AFD747F351}"/>
              </a:ext>
            </a:extLst>
          </p:cNvPr>
          <p:cNvGraphicFramePr>
            <a:graphicFrameLocks noGrp="1"/>
          </p:cNvGraphicFramePr>
          <p:nvPr>
            <p:extLst>
              <p:ext uri="{D42A27DB-BD31-4B8C-83A1-F6EECF244321}">
                <p14:modId xmlns:p14="http://schemas.microsoft.com/office/powerpoint/2010/main" val="2348794339"/>
              </p:ext>
            </p:extLst>
          </p:nvPr>
        </p:nvGraphicFramePr>
        <p:xfrm>
          <a:off x="1020454" y="1144845"/>
          <a:ext cx="5329058" cy="5447927"/>
        </p:xfrm>
        <a:graphic>
          <a:graphicData uri="http://schemas.openxmlformats.org/drawingml/2006/table">
            <a:tbl>
              <a:tblPr>
                <a:tableStyleId>{5C22544A-7EE6-4342-B048-85BDC9FD1C3A}</a:tableStyleId>
              </a:tblPr>
              <a:tblGrid>
                <a:gridCol w="2664529">
                  <a:extLst>
                    <a:ext uri="{9D8B030D-6E8A-4147-A177-3AD203B41FA5}">
                      <a16:colId xmlns:a16="http://schemas.microsoft.com/office/drawing/2014/main" val="2153369555"/>
                    </a:ext>
                  </a:extLst>
                </a:gridCol>
                <a:gridCol w="2664529">
                  <a:extLst>
                    <a:ext uri="{9D8B030D-6E8A-4147-A177-3AD203B41FA5}">
                      <a16:colId xmlns:a16="http://schemas.microsoft.com/office/drawing/2014/main" val="4258837493"/>
                    </a:ext>
                  </a:extLst>
                </a:gridCol>
              </a:tblGrid>
              <a:tr h="286733">
                <a:tc>
                  <a:txBody>
                    <a:bodyPr/>
                    <a:lstStyle/>
                    <a:p>
                      <a:pPr algn="ctr" fontAlgn="b">
                        <a:buNone/>
                      </a:pPr>
                      <a:r>
                        <a:rPr lang="en-US" sz="1600" b="1" u="none" strike="noStrike" dirty="0">
                          <a:effectLst/>
                        </a:rPr>
                        <a:t>Variable</a:t>
                      </a:r>
                      <a:endParaRPr lang="en-US" sz="1600" b="1" i="0" u="none" strike="noStrike" dirty="0">
                        <a:solidFill>
                          <a:srgbClr val="333333"/>
                        </a:solidFill>
                        <a:effectLst/>
                        <a:latin typeface="Segoe UI" panose="020B0502040204020203" pitchFamily="34" charset="0"/>
                      </a:endParaRPr>
                    </a:p>
                  </a:txBody>
                  <a:tcPr marL="6918" marR="6918" marT="6918" marB="0" anchor="b"/>
                </a:tc>
                <a:tc>
                  <a:txBody>
                    <a:bodyPr/>
                    <a:lstStyle/>
                    <a:p>
                      <a:pPr algn="ctr" fontAlgn="b">
                        <a:buNone/>
                      </a:pPr>
                      <a:r>
                        <a:rPr lang="en-US" sz="1800" b="1" u="none" strike="noStrike" dirty="0">
                          <a:effectLst/>
                        </a:rPr>
                        <a:t>Histogram</a:t>
                      </a:r>
                      <a:endParaRPr lang="en-US" sz="1800" b="1" i="0" u="none" strike="noStrike" dirty="0">
                        <a:solidFill>
                          <a:srgbClr val="333333"/>
                        </a:solidFill>
                        <a:effectLst/>
                        <a:latin typeface="Segoe UI" panose="020B0502040204020203" pitchFamily="34" charset="0"/>
                      </a:endParaRPr>
                    </a:p>
                  </a:txBody>
                  <a:tcPr marL="6918" marR="6918" marT="6918" marB="0" anchor="b"/>
                </a:tc>
                <a:extLst>
                  <a:ext uri="{0D108BD9-81ED-4DB2-BD59-A6C34878D82A}">
                    <a16:rowId xmlns:a16="http://schemas.microsoft.com/office/drawing/2014/main" val="2287014882"/>
                  </a:ext>
                </a:extLst>
              </a:tr>
              <a:tr h="286733">
                <a:tc>
                  <a:txBody>
                    <a:bodyPr/>
                    <a:lstStyle/>
                    <a:p>
                      <a:pPr algn="l" fontAlgn="ctr">
                        <a:buNone/>
                      </a:pPr>
                      <a:r>
                        <a:rPr lang="en-US" sz="1600" u="none" strike="noStrike" dirty="0">
                          <a:effectLst/>
                        </a:rPr>
                        <a:t>Age</a:t>
                      </a:r>
                      <a:endParaRPr lang="en-US" sz="1600" b="0" i="0" u="none" strike="noStrike" dirty="0">
                        <a:solidFill>
                          <a:srgbClr val="333333"/>
                        </a:solidFill>
                        <a:effectLst/>
                        <a:latin typeface="Segoe UI" panose="020B0502040204020203" pitchFamily="34" charset="0"/>
                      </a:endParaRPr>
                    </a:p>
                  </a:txBody>
                  <a:tcPr marL="62261" marR="6918" marT="6918" marB="0" anchor="ctr"/>
                </a:tc>
                <a:tc>
                  <a:txBody>
                    <a:bodyPr/>
                    <a:lstStyle/>
                    <a:p>
                      <a:pPr algn="ctr" fontAlgn="ctr">
                        <a:buNone/>
                      </a:pPr>
                      <a:r>
                        <a:rPr lang="en-US" sz="1800" u="none" strike="noStrike" dirty="0">
                          <a:effectLst/>
                        </a:rPr>
                        <a:t>▂▇▇▃▂</a:t>
                      </a:r>
                      <a:endParaRPr lang="en-US" sz="1800" b="0" i="0" u="none" strike="noStrike" dirty="0">
                        <a:solidFill>
                          <a:srgbClr val="333333"/>
                        </a:solidFill>
                        <a:effectLst/>
                        <a:latin typeface="Segoe UI" panose="020B0502040204020203" pitchFamily="34" charset="0"/>
                      </a:endParaRPr>
                    </a:p>
                  </a:txBody>
                  <a:tcPr marL="62261" marR="6918" marT="6918" marB="0" anchor="ctr"/>
                </a:tc>
                <a:extLst>
                  <a:ext uri="{0D108BD9-81ED-4DB2-BD59-A6C34878D82A}">
                    <a16:rowId xmlns:a16="http://schemas.microsoft.com/office/drawing/2014/main" val="3973020327"/>
                  </a:ext>
                </a:extLst>
              </a:tr>
              <a:tr h="286733">
                <a:tc>
                  <a:txBody>
                    <a:bodyPr/>
                    <a:lstStyle/>
                    <a:p>
                      <a:pPr algn="l" fontAlgn="ctr">
                        <a:buNone/>
                      </a:pPr>
                      <a:r>
                        <a:rPr lang="en-US" sz="1600" u="none" strike="noStrike" dirty="0">
                          <a:effectLst/>
                        </a:rPr>
                        <a:t>Education</a:t>
                      </a:r>
                      <a:endParaRPr lang="en-US" sz="1600" b="0" i="0" u="none" strike="noStrike" dirty="0">
                        <a:solidFill>
                          <a:srgbClr val="333333"/>
                        </a:solidFill>
                        <a:effectLst/>
                        <a:latin typeface="Segoe UI" panose="020B0502040204020203" pitchFamily="34" charset="0"/>
                      </a:endParaRPr>
                    </a:p>
                  </a:txBody>
                  <a:tcPr marL="62261" marR="6918" marT="6918" marB="0" anchor="ctr"/>
                </a:tc>
                <a:tc>
                  <a:txBody>
                    <a:bodyPr/>
                    <a:lstStyle/>
                    <a:p>
                      <a:pPr algn="ctr" fontAlgn="ctr">
                        <a:buNone/>
                      </a:pPr>
                      <a:r>
                        <a:rPr lang="en-US" sz="1800" u="none" strike="noStrike" dirty="0">
                          <a:effectLst/>
                        </a:rPr>
                        <a:t>▂▅▇▆▁</a:t>
                      </a:r>
                      <a:endParaRPr lang="en-US" sz="1800" b="0" i="0" u="none" strike="noStrike" dirty="0">
                        <a:solidFill>
                          <a:srgbClr val="333333"/>
                        </a:solidFill>
                        <a:effectLst/>
                        <a:latin typeface="Segoe UI" panose="020B0502040204020203" pitchFamily="34" charset="0"/>
                      </a:endParaRPr>
                    </a:p>
                  </a:txBody>
                  <a:tcPr marL="62261" marR="6918" marT="6918" marB="0" anchor="ctr"/>
                </a:tc>
                <a:extLst>
                  <a:ext uri="{0D108BD9-81ED-4DB2-BD59-A6C34878D82A}">
                    <a16:rowId xmlns:a16="http://schemas.microsoft.com/office/drawing/2014/main" val="1246769353"/>
                  </a:ext>
                </a:extLst>
              </a:tr>
              <a:tr h="286733">
                <a:tc>
                  <a:txBody>
                    <a:bodyPr/>
                    <a:lstStyle/>
                    <a:p>
                      <a:pPr algn="l" fontAlgn="ctr">
                        <a:buNone/>
                      </a:pPr>
                      <a:r>
                        <a:rPr lang="en-US" sz="1600" u="none" strike="noStrike" dirty="0" err="1">
                          <a:effectLst/>
                        </a:rPr>
                        <a:t>EnvironmentSatisfaction</a:t>
                      </a:r>
                      <a:endParaRPr lang="en-US" sz="16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tc>
                  <a:txBody>
                    <a:bodyPr/>
                    <a:lstStyle/>
                    <a:p>
                      <a:pPr algn="ctr" fontAlgn="ctr">
                        <a:buNone/>
                      </a:pPr>
                      <a:r>
                        <a:rPr lang="en-US" sz="1800" u="none" strike="noStrike" dirty="0">
                          <a:effectLst/>
                        </a:rPr>
                        <a:t>▅▆▁▇▇</a:t>
                      </a:r>
                      <a:endParaRPr lang="en-US" sz="18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extLst>
                  <a:ext uri="{0D108BD9-81ED-4DB2-BD59-A6C34878D82A}">
                    <a16:rowId xmlns:a16="http://schemas.microsoft.com/office/drawing/2014/main" val="2219882419"/>
                  </a:ext>
                </a:extLst>
              </a:tr>
              <a:tr h="286733">
                <a:tc>
                  <a:txBody>
                    <a:bodyPr/>
                    <a:lstStyle/>
                    <a:p>
                      <a:pPr algn="l" fontAlgn="ctr">
                        <a:buNone/>
                      </a:pPr>
                      <a:r>
                        <a:rPr lang="en-US" sz="1600" u="none" strike="noStrike" dirty="0">
                          <a:effectLst/>
                        </a:rPr>
                        <a:t>JobInvolvement</a:t>
                      </a:r>
                      <a:endParaRPr lang="en-US" sz="16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tc>
                  <a:txBody>
                    <a:bodyPr/>
                    <a:lstStyle/>
                    <a:p>
                      <a:pPr algn="ctr" fontAlgn="ctr">
                        <a:buNone/>
                      </a:pPr>
                      <a:r>
                        <a:rPr lang="en-US" sz="1800" u="none" strike="noStrike" dirty="0">
                          <a:effectLst/>
                        </a:rPr>
                        <a:t>▁▃▁▇▁</a:t>
                      </a:r>
                      <a:endParaRPr lang="en-US" sz="18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extLst>
                  <a:ext uri="{0D108BD9-81ED-4DB2-BD59-A6C34878D82A}">
                    <a16:rowId xmlns:a16="http://schemas.microsoft.com/office/drawing/2014/main" val="1151001985"/>
                  </a:ext>
                </a:extLst>
              </a:tr>
              <a:tr h="286733">
                <a:tc>
                  <a:txBody>
                    <a:bodyPr/>
                    <a:lstStyle/>
                    <a:p>
                      <a:pPr algn="l" fontAlgn="ctr">
                        <a:buNone/>
                      </a:pPr>
                      <a:r>
                        <a:rPr lang="en-US" sz="1600" u="none" strike="noStrike" dirty="0" err="1">
                          <a:effectLst/>
                        </a:rPr>
                        <a:t>JobSatisfaction</a:t>
                      </a:r>
                      <a:endParaRPr lang="en-US" sz="16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tc>
                  <a:txBody>
                    <a:bodyPr/>
                    <a:lstStyle/>
                    <a:p>
                      <a:pPr algn="ctr" fontAlgn="ctr">
                        <a:buNone/>
                      </a:pPr>
                      <a:r>
                        <a:rPr lang="en-US" sz="1800" u="none" strike="noStrike" dirty="0">
                          <a:effectLst/>
                        </a:rPr>
                        <a:t>▅▅▁▇▇</a:t>
                      </a:r>
                      <a:endParaRPr lang="en-US" sz="18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extLst>
                  <a:ext uri="{0D108BD9-81ED-4DB2-BD59-A6C34878D82A}">
                    <a16:rowId xmlns:a16="http://schemas.microsoft.com/office/drawing/2014/main" val="3352107502"/>
                  </a:ext>
                </a:extLst>
              </a:tr>
              <a:tr h="286733">
                <a:tc>
                  <a:txBody>
                    <a:bodyPr/>
                    <a:lstStyle/>
                    <a:p>
                      <a:pPr algn="l" fontAlgn="ctr">
                        <a:buNone/>
                      </a:pPr>
                      <a:r>
                        <a:rPr lang="en-US" sz="1600" u="none" strike="noStrike" dirty="0" err="1">
                          <a:effectLst/>
                        </a:rPr>
                        <a:t>RelationshipSatisfaction</a:t>
                      </a:r>
                      <a:endParaRPr lang="en-US" sz="16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tc>
                  <a:txBody>
                    <a:bodyPr/>
                    <a:lstStyle/>
                    <a:p>
                      <a:pPr algn="ctr" fontAlgn="ctr">
                        <a:buNone/>
                      </a:pPr>
                      <a:r>
                        <a:rPr lang="en-US" sz="1800" u="none" strike="noStrike" dirty="0">
                          <a:effectLst/>
                        </a:rPr>
                        <a:t>▅▅▁▇▇</a:t>
                      </a:r>
                      <a:endParaRPr lang="en-US" sz="18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extLst>
                  <a:ext uri="{0D108BD9-81ED-4DB2-BD59-A6C34878D82A}">
                    <a16:rowId xmlns:a16="http://schemas.microsoft.com/office/drawing/2014/main" val="3127072313"/>
                  </a:ext>
                </a:extLst>
              </a:tr>
              <a:tr h="286733">
                <a:tc>
                  <a:txBody>
                    <a:bodyPr/>
                    <a:lstStyle/>
                    <a:p>
                      <a:pPr algn="l" fontAlgn="ctr">
                        <a:buNone/>
                      </a:pPr>
                      <a:r>
                        <a:rPr lang="en-US" sz="1600" u="none" strike="noStrike" dirty="0" err="1">
                          <a:effectLst/>
                        </a:rPr>
                        <a:t>WorkLifeBalance</a:t>
                      </a:r>
                      <a:endParaRPr lang="en-US" sz="16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tc>
                  <a:txBody>
                    <a:bodyPr/>
                    <a:lstStyle/>
                    <a:p>
                      <a:pPr algn="ctr" fontAlgn="ctr">
                        <a:buNone/>
                      </a:pPr>
                      <a:r>
                        <a:rPr lang="en-US" sz="1800" u="none" strike="noStrike" dirty="0">
                          <a:effectLst/>
                        </a:rPr>
                        <a:t>▁▃▁▇▂</a:t>
                      </a:r>
                      <a:endParaRPr lang="en-US" sz="1800" b="0" i="0" u="none" strike="noStrike" dirty="0">
                        <a:solidFill>
                          <a:srgbClr val="333333"/>
                        </a:solidFill>
                        <a:effectLst/>
                        <a:latin typeface="Segoe UI" panose="020B0502040204020203" pitchFamily="34" charset="0"/>
                      </a:endParaRPr>
                    </a:p>
                  </a:txBody>
                  <a:tcPr marL="62261" marR="6918" marT="6918" marB="0" anchor="ctr">
                    <a:solidFill>
                      <a:schemeClr val="accent1">
                        <a:lumMod val="60000"/>
                        <a:lumOff val="40000"/>
                      </a:schemeClr>
                    </a:solidFill>
                  </a:tcPr>
                </a:tc>
                <a:extLst>
                  <a:ext uri="{0D108BD9-81ED-4DB2-BD59-A6C34878D82A}">
                    <a16:rowId xmlns:a16="http://schemas.microsoft.com/office/drawing/2014/main" val="1706568188"/>
                  </a:ext>
                </a:extLst>
              </a:tr>
              <a:tr h="286733">
                <a:tc>
                  <a:txBody>
                    <a:bodyPr/>
                    <a:lstStyle/>
                    <a:p>
                      <a:pPr algn="l" fontAlgn="ctr">
                        <a:buNone/>
                      </a:pPr>
                      <a:r>
                        <a:rPr lang="en-US" sz="1600" u="none" strike="noStrike" dirty="0" err="1">
                          <a:effectLst/>
                        </a:rPr>
                        <a:t>StockOptionLevel</a:t>
                      </a:r>
                      <a:endParaRPr lang="en-US" sz="1600" b="0" i="0" u="none" strike="noStrike" dirty="0">
                        <a:solidFill>
                          <a:srgbClr val="333333"/>
                        </a:solidFill>
                        <a:effectLst/>
                        <a:latin typeface="Segoe UI" panose="020B0502040204020203" pitchFamily="34" charset="0"/>
                      </a:endParaRPr>
                    </a:p>
                  </a:txBody>
                  <a:tcPr marL="62261" marR="6918" marT="6918" marB="0" anchor="ctr">
                    <a:solidFill>
                      <a:srgbClr val="84E291"/>
                    </a:solidFill>
                  </a:tcPr>
                </a:tc>
                <a:tc>
                  <a:txBody>
                    <a:bodyPr/>
                    <a:lstStyle/>
                    <a:p>
                      <a:pPr algn="ctr" fontAlgn="ctr">
                        <a:buNone/>
                      </a:pPr>
                      <a:r>
                        <a:rPr lang="en-US" sz="1800" u="none" strike="noStrike" dirty="0">
                          <a:effectLst/>
                        </a:rPr>
                        <a:t>▇▇▁▂▁</a:t>
                      </a:r>
                      <a:endParaRPr lang="en-US" sz="1800" b="0" i="0" u="none" strike="noStrike" dirty="0">
                        <a:solidFill>
                          <a:srgbClr val="333333"/>
                        </a:solidFill>
                        <a:effectLst/>
                        <a:latin typeface="Segoe UI" panose="020B0502040204020203" pitchFamily="34" charset="0"/>
                      </a:endParaRPr>
                    </a:p>
                  </a:txBody>
                  <a:tcPr marL="62261" marR="6918" marT="6918" marB="0" anchor="ctr">
                    <a:solidFill>
                      <a:srgbClr val="84E291"/>
                    </a:solidFill>
                  </a:tcPr>
                </a:tc>
                <a:extLst>
                  <a:ext uri="{0D108BD9-81ED-4DB2-BD59-A6C34878D82A}">
                    <a16:rowId xmlns:a16="http://schemas.microsoft.com/office/drawing/2014/main" val="4217552733"/>
                  </a:ext>
                </a:extLst>
              </a:tr>
              <a:tr h="286733">
                <a:tc>
                  <a:txBody>
                    <a:bodyPr/>
                    <a:lstStyle/>
                    <a:p>
                      <a:pPr algn="l" fontAlgn="ctr">
                        <a:buNone/>
                      </a:pPr>
                      <a:r>
                        <a:rPr lang="en-US" sz="1600" u="none" strike="noStrike" dirty="0" err="1">
                          <a:effectLst/>
                        </a:rPr>
                        <a:t>DistanceFromHome</a:t>
                      </a:r>
                      <a:endParaRPr lang="en-US" sz="1600" b="0" i="0" u="none" strike="noStrike" dirty="0">
                        <a:solidFill>
                          <a:srgbClr val="333333"/>
                        </a:solidFill>
                        <a:effectLst/>
                        <a:latin typeface="Segoe UI" panose="020B0502040204020203" pitchFamily="34" charset="0"/>
                      </a:endParaRPr>
                    </a:p>
                  </a:txBody>
                  <a:tcPr marL="62261" marR="6918" marT="6918" marB="0" anchor="ctr">
                    <a:solidFill>
                      <a:srgbClr val="84E291"/>
                    </a:solidFill>
                  </a:tcPr>
                </a:tc>
                <a:tc>
                  <a:txBody>
                    <a:bodyPr/>
                    <a:lstStyle/>
                    <a:p>
                      <a:pPr algn="ctr" fontAlgn="ctr">
                        <a:buNone/>
                      </a:pPr>
                      <a:r>
                        <a:rPr lang="en-US" sz="1800" u="none" strike="noStrike" dirty="0">
                          <a:effectLst/>
                        </a:rPr>
                        <a:t>▇▅▂▂▂</a:t>
                      </a:r>
                      <a:endParaRPr lang="en-US" sz="1800" b="0" i="0" u="none" strike="noStrike" dirty="0">
                        <a:solidFill>
                          <a:srgbClr val="333333"/>
                        </a:solidFill>
                        <a:effectLst/>
                        <a:latin typeface="Segoe UI" panose="020B0502040204020203" pitchFamily="34" charset="0"/>
                      </a:endParaRPr>
                    </a:p>
                  </a:txBody>
                  <a:tcPr marL="62261" marR="6918" marT="6918" marB="0" anchor="ctr">
                    <a:solidFill>
                      <a:srgbClr val="84E291"/>
                    </a:solidFill>
                  </a:tcPr>
                </a:tc>
                <a:extLst>
                  <a:ext uri="{0D108BD9-81ED-4DB2-BD59-A6C34878D82A}">
                    <a16:rowId xmlns:a16="http://schemas.microsoft.com/office/drawing/2014/main" val="3017078361"/>
                  </a:ext>
                </a:extLst>
              </a:tr>
              <a:tr h="286733">
                <a:tc>
                  <a:txBody>
                    <a:bodyPr/>
                    <a:lstStyle/>
                    <a:p>
                      <a:pPr algn="l" fontAlgn="ctr">
                        <a:buNone/>
                      </a:pPr>
                      <a:r>
                        <a:rPr lang="en-US" sz="1600" u="none" strike="noStrike" dirty="0" err="1">
                          <a:effectLst/>
                        </a:rPr>
                        <a:t>JobLevel</a:t>
                      </a:r>
                      <a:endParaRPr lang="en-US" sz="1600" b="0" i="0" u="none" strike="noStrike" dirty="0">
                        <a:solidFill>
                          <a:srgbClr val="333333"/>
                        </a:solidFill>
                        <a:effectLst/>
                        <a:latin typeface="Segoe UI" panose="020B0502040204020203" pitchFamily="34" charset="0"/>
                      </a:endParaRPr>
                    </a:p>
                  </a:txBody>
                  <a:tcPr marL="62261" marR="6918" marT="6918" marB="0" anchor="ctr">
                    <a:solidFill>
                      <a:srgbClr val="84E291"/>
                    </a:solidFill>
                  </a:tcPr>
                </a:tc>
                <a:tc>
                  <a:txBody>
                    <a:bodyPr/>
                    <a:lstStyle/>
                    <a:p>
                      <a:pPr algn="ctr" fontAlgn="ctr">
                        <a:buNone/>
                      </a:pPr>
                      <a:r>
                        <a:rPr lang="en-US" sz="1800" u="none" strike="noStrike" dirty="0">
                          <a:effectLst/>
                        </a:rPr>
                        <a:t>▇▇▃▂▁</a:t>
                      </a:r>
                      <a:endParaRPr lang="en-US" sz="1800" b="0" i="0" u="none" strike="noStrike" dirty="0">
                        <a:solidFill>
                          <a:srgbClr val="333333"/>
                        </a:solidFill>
                        <a:effectLst/>
                        <a:latin typeface="Segoe UI" panose="020B0502040204020203" pitchFamily="34" charset="0"/>
                      </a:endParaRPr>
                    </a:p>
                  </a:txBody>
                  <a:tcPr marL="62261" marR="6918" marT="6918" marB="0" anchor="ctr">
                    <a:solidFill>
                      <a:srgbClr val="84E291"/>
                    </a:solidFill>
                  </a:tcPr>
                </a:tc>
                <a:extLst>
                  <a:ext uri="{0D108BD9-81ED-4DB2-BD59-A6C34878D82A}">
                    <a16:rowId xmlns:a16="http://schemas.microsoft.com/office/drawing/2014/main" val="445757133"/>
                  </a:ext>
                </a:extLst>
              </a:tr>
              <a:tr h="286733">
                <a:tc>
                  <a:txBody>
                    <a:bodyPr/>
                    <a:lstStyle/>
                    <a:p>
                      <a:pPr algn="l" fontAlgn="ctr">
                        <a:buNone/>
                      </a:pPr>
                      <a:r>
                        <a:rPr lang="en-US" sz="1600" u="none" strike="noStrike" dirty="0">
                          <a:effectLst/>
                        </a:rPr>
                        <a:t>MonthlyIncome</a:t>
                      </a:r>
                      <a:endParaRPr lang="en-US" sz="16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tc>
                  <a:txBody>
                    <a:bodyPr/>
                    <a:lstStyle/>
                    <a:p>
                      <a:pPr algn="ctr" fontAlgn="ctr">
                        <a:buNone/>
                      </a:pPr>
                      <a:r>
                        <a:rPr lang="en-US" sz="1800" u="none" strike="noStrike" dirty="0">
                          <a:effectLst/>
                        </a:rPr>
                        <a:t>▇▅▂▁▁</a:t>
                      </a:r>
                      <a:endParaRPr lang="en-US" sz="18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extLst>
                  <a:ext uri="{0D108BD9-81ED-4DB2-BD59-A6C34878D82A}">
                    <a16:rowId xmlns:a16="http://schemas.microsoft.com/office/drawing/2014/main" val="1502851817"/>
                  </a:ext>
                </a:extLst>
              </a:tr>
              <a:tr h="286733">
                <a:tc>
                  <a:txBody>
                    <a:bodyPr/>
                    <a:lstStyle/>
                    <a:p>
                      <a:pPr algn="l" fontAlgn="ctr">
                        <a:buNone/>
                      </a:pPr>
                      <a:r>
                        <a:rPr lang="en-US" sz="1600" u="none" strike="noStrike" dirty="0" err="1">
                          <a:effectLst/>
                        </a:rPr>
                        <a:t>NumCompaniesWorked</a:t>
                      </a:r>
                      <a:endParaRPr lang="en-US" sz="16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tc>
                  <a:txBody>
                    <a:bodyPr/>
                    <a:lstStyle/>
                    <a:p>
                      <a:pPr algn="ctr" fontAlgn="ctr">
                        <a:buNone/>
                      </a:pPr>
                      <a:r>
                        <a:rPr lang="en-US" sz="1800" u="none" strike="noStrike" dirty="0">
                          <a:effectLst/>
                        </a:rPr>
                        <a:t>▇▃▂▂▁</a:t>
                      </a:r>
                      <a:endParaRPr lang="en-US" sz="18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extLst>
                  <a:ext uri="{0D108BD9-81ED-4DB2-BD59-A6C34878D82A}">
                    <a16:rowId xmlns:a16="http://schemas.microsoft.com/office/drawing/2014/main" val="1474565410"/>
                  </a:ext>
                </a:extLst>
              </a:tr>
              <a:tr h="286733">
                <a:tc>
                  <a:txBody>
                    <a:bodyPr/>
                    <a:lstStyle/>
                    <a:p>
                      <a:pPr algn="l" fontAlgn="ctr">
                        <a:buNone/>
                      </a:pPr>
                      <a:r>
                        <a:rPr lang="en-US" sz="1600" u="none" strike="noStrike" dirty="0" err="1">
                          <a:effectLst/>
                        </a:rPr>
                        <a:t>PercentSalaryHike</a:t>
                      </a:r>
                      <a:endParaRPr lang="en-US" sz="16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tc>
                  <a:txBody>
                    <a:bodyPr/>
                    <a:lstStyle/>
                    <a:p>
                      <a:pPr algn="ctr" fontAlgn="ctr">
                        <a:buNone/>
                      </a:pPr>
                      <a:r>
                        <a:rPr lang="en-US" sz="1800" u="none" strike="noStrike" dirty="0">
                          <a:effectLst/>
                        </a:rPr>
                        <a:t>▇▅▃▂▁</a:t>
                      </a:r>
                      <a:endParaRPr lang="en-US" sz="18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extLst>
                  <a:ext uri="{0D108BD9-81ED-4DB2-BD59-A6C34878D82A}">
                    <a16:rowId xmlns:a16="http://schemas.microsoft.com/office/drawing/2014/main" val="342686047"/>
                  </a:ext>
                </a:extLst>
              </a:tr>
              <a:tr h="286733">
                <a:tc>
                  <a:txBody>
                    <a:bodyPr/>
                    <a:lstStyle/>
                    <a:p>
                      <a:pPr marL="0" algn="l" defTabSz="914400" rtl="0" eaLnBrk="1" fontAlgn="ctr" latinLnBrk="0" hangingPunct="1">
                        <a:buNone/>
                      </a:pPr>
                      <a:r>
                        <a:rPr lang="en-US" sz="1600" u="none" strike="noStrike" kern="1200" dirty="0" err="1">
                          <a:solidFill>
                            <a:schemeClr val="dk1"/>
                          </a:solidFill>
                          <a:effectLst/>
                          <a:latin typeface="+mn-lt"/>
                          <a:ea typeface="+mn-ea"/>
                          <a:cs typeface="+mn-cs"/>
                        </a:rPr>
                        <a:t>TotalWorkingYears</a:t>
                      </a:r>
                      <a:endParaRPr lang="en-US" sz="1600" u="none" strike="noStrike" kern="1200" dirty="0">
                        <a:solidFill>
                          <a:schemeClr val="dk1"/>
                        </a:solidFill>
                        <a:effectLst/>
                        <a:latin typeface="+mn-lt"/>
                        <a:ea typeface="+mn-ea"/>
                        <a:cs typeface="+mn-cs"/>
                      </a:endParaRPr>
                    </a:p>
                  </a:txBody>
                  <a:tcPr marL="62261" marR="6918" marT="6918" marB="0" anchor="ctr">
                    <a:solidFill>
                      <a:srgbClr val="84E291"/>
                    </a:solidFill>
                  </a:tcPr>
                </a:tc>
                <a:tc>
                  <a:txBody>
                    <a:bodyPr/>
                    <a:lstStyle/>
                    <a:p>
                      <a:pPr marL="0" algn="ctr" defTabSz="914400" rtl="0" eaLnBrk="1" fontAlgn="ctr" latinLnBrk="0" hangingPunct="1">
                        <a:buNone/>
                      </a:pPr>
                      <a:r>
                        <a:rPr lang="en-US" sz="1800" u="none" strike="noStrike" kern="1200" dirty="0">
                          <a:solidFill>
                            <a:schemeClr val="dk1"/>
                          </a:solidFill>
                          <a:effectLst/>
                          <a:latin typeface="+mn-lt"/>
                          <a:ea typeface="+mn-ea"/>
                          <a:cs typeface="+mn-cs"/>
                        </a:rPr>
                        <a:t>▇▇▂▁▁</a:t>
                      </a:r>
                    </a:p>
                  </a:txBody>
                  <a:tcPr marL="62261" marR="6918" marT="6918" marB="0" anchor="ctr">
                    <a:solidFill>
                      <a:srgbClr val="84E291"/>
                    </a:solidFill>
                  </a:tcPr>
                </a:tc>
                <a:extLst>
                  <a:ext uri="{0D108BD9-81ED-4DB2-BD59-A6C34878D82A}">
                    <a16:rowId xmlns:a16="http://schemas.microsoft.com/office/drawing/2014/main" val="3641006982"/>
                  </a:ext>
                </a:extLst>
              </a:tr>
              <a:tr h="286733">
                <a:tc>
                  <a:txBody>
                    <a:bodyPr/>
                    <a:lstStyle/>
                    <a:p>
                      <a:pPr algn="l" fontAlgn="ctr">
                        <a:buNone/>
                      </a:pPr>
                      <a:r>
                        <a:rPr lang="en-US" sz="1600" u="none" strike="noStrike" dirty="0" err="1">
                          <a:effectLst/>
                        </a:rPr>
                        <a:t>YearsAtCompany</a:t>
                      </a:r>
                      <a:endParaRPr lang="en-US" sz="16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tc>
                  <a:txBody>
                    <a:bodyPr/>
                    <a:lstStyle/>
                    <a:p>
                      <a:pPr algn="ctr" fontAlgn="ctr">
                        <a:buNone/>
                      </a:pPr>
                      <a:r>
                        <a:rPr lang="en-US" sz="1800" u="none" strike="noStrike" dirty="0">
                          <a:effectLst/>
                        </a:rPr>
                        <a:t>▇▃▁▁▁</a:t>
                      </a:r>
                      <a:endParaRPr lang="en-US" sz="18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extLst>
                  <a:ext uri="{0D108BD9-81ED-4DB2-BD59-A6C34878D82A}">
                    <a16:rowId xmlns:a16="http://schemas.microsoft.com/office/drawing/2014/main" val="667424371"/>
                  </a:ext>
                </a:extLst>
              </a:tr>
              <a:tr h="286733">
                <a:tc>
                  <a:txBody>
                    <a:bodyPr/>
                    <a:lstStyle/>
                    <a:p>
                      <a:pPr algn="l" fontAlgn="ctr">
                        <a:buNone/>
                      </a:pPr>
                      <a:r>
                        <a:rPr lang="en-US" sz="1600" u="none" strike="noStrike" dirty="0" err="1">
                          <a:effectLst/>
                        </a:rPr>
                        <a:t>YearsInCurrentRole</a:t>
                      </a:r>
                      <a:endParaRPr lang="en-US" sz="16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tc>
                  <a:txBody>
                    <a:bodyPr/>
                    <a:lstStyle/>
                    <a:p>
                      <a:pPr algn="ctr" fontAlgn="ctr">
                        <a:buNone/>
                      </a:pPr>
                      <a:r>
                        <a:rPr lang="en-US" sz="1800" u="none" strike="noStrike" dirty="0">
                          <a:effectLst/>
                        </a:rPr>
                        <a:t>▇▃▂▁▁</a:t>
                      </a:r>
                      <a:endParaRPr lang="en-US" sz="18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extLst>
                  <a:ext uri="{0D108BD9-81ED-4DB2-BD59-A6C34878D82A}">
                    <a16:rowId xmlns:a16="http://schemas.microsoft.com/office/drawing/2014/main" val="2397391904"/>
                  </a:ext>
                </a:extLst>
              </a:tr>
              <a:tr h="286733">
                <a:tc>
                  <a:txBody>
                    <a:bodyPr/>
                    <a:lstStyle/>
                    <a:p>
                      <a:pPr algn="l" fontAlgn="ctr">
                        <a:buNone/>
                      </a:pPr>
                      <a:r>
                        <a:rPr lang="en-US" sz="1600" u="none" strike="noStrike" dirty="0" err="1">
                          <a:effectLst/>
                        </a:rPr>
                        <a:t>YearsSinceLastPromotion</a:t>
                      </a:r>
                      <a:endParaRPr lang="en-US" sz="16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tc>
                  <a:txBody>
                    <a:bodyPr/>
                    <a:lstStyle/>
                    <a:p>
                      <a:pPr algn="ctr" fontAlgn="ctr">
                        <a:buNone/>
                      </a:pPr>
                      <a:r>
                        <a:rPr lang="en-US" sz="1800" u="none" strike="noStrike" dirty="0">
                          <a:effectLst/>
                        </a:rPr>
                        <a:t>▇▁▁▁▁</a:t>
                      </a:r>
                      <a:endParaRPr lang="en-US" sz="18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extLst>
                  <a:ext uri="{0D108BD9-81ED-4DB2-BD59-A6C34878D82A}">
                    <a16:rowId xmlns:a16="http://schemas.microsoft.com/office/drawing/2014/main" val="1542390348"/>
                  </a:ext>
                </a:extLst>
              </a:tr>
              <a:tr h="286733">
                <a:tc>
                  <a:txBody>
                    <a:bodyPr/>
                    <a:lstStyle/>
                    <a:p>
                      <a:pPr algn="l" fontAlgn="ctr">
                        <a:buNone/>
                      </a:pPr>
                      <a:r>
                        <a:rPr lang="en-US" sz="1600" u="none" strike="noStrike" dirty="0">
                          <a:effectLst/>
                        </a:rPr>
                        <a:t>YearsWithCurrManager</a:t>
                      </a:r>
                      <a:endParaRPr lang="en-US" sz="16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tc>
                  <a:txBody>
                    <a:bodyPr/>
                    <a:lstStyle/>
                    <a:p>
                      <a:pPr algn="ctr" fontAlgn="ctr">
                        <a:buNone/>
                      </a:pPr>
                      <a:r>
                        <a:rPr lang="en-US" sz="1800" u="none" strike="noStrike" dirty="0">
                          <a:effectLst/>
                        </a:rPr>
                        <a:t>▇▂▅▁▁</a:t>
                      </a:r>
                      <a:endParaRPr lang="en-US" sz="1800" b="0" i="0" u="none" strike="noStrike" dirty="0">
                        <a:solidFill>
                          <a:srgbClr val="333333"/>
                        </a:solidFill>
                        <a:effectLst/>
                        <a:latin typeface="Segoe UI" panose="020B0502040204020203" pitchFamily="34" charset="0"/>
                      </a:endParaRPr>
                    </a:p>
                  </a:txBody>
                  <a:tcPr marL="62261" marR="6918" marT="6918" marB="0" anchor="ctr">
                    <a:solidFill>
                      <a:schemeClr val="accent3">
                        <a:lumMod val="40000"/>
                        <a:lumOff val="60000"/>
                      </a:schemeClr>
                    </a:solidFill>
                  </a:tcPr>
                </a:tc>
                <a:extLst>
                  <a:ext uri="{0D108BD9-81ED-4DB2-BD59-A6C34878D82A}">
                    <a16:rowId xmlns:a16="http://schemas.microsoft.com/office/drawing/2014/main" val="3888384021"/>
                  </a:ext>
                </a:extLst>
              </a:tr>
            </a:tbl>
          </a:graphicData>
        </a:graphic>
      </p:graphicFrame>
      <p:sp>
        <p:nvSpPr>
          <p:cNvPr id="3" name="TextBox 2">
            <a:extLst>
              <a:ext uri="{FF2B5EF4-FFF2-40B4-BE49-F238E27FC236}">
                <a16:creationId xmlns:a16="http://schemas.microsoft.com/office/drawing/2014/main" id="{608F0C1D-179F-3197-81CC-8813D119674C}"/>
              </a:ext>
            </a:extLst>
          </p:cNvPr>
          <p:cNvSpPr txBox="1"/>
          <p:nvPr/>
        </p:nvSpPr>
        <p:spPr>
          <a:xfrm>
            <a:off x="7595616" y="1292211"/>
            <a:ext cx="3758184" cy="369332"/>
          </a:xfrm>
          <a:prstGeom prst="rect">
            <a:avLst/>
          </a:prstGeom>
          <a:solidFill>
            <a:schemeClr val="accent1">
              <a:lumMod val="60000"/>
              <a:lumOff val="40000"/>
            </a:schemeClr>
          </a:solidFill>
        </p:spPr>
        <p:txBody>
          <a:bodyPr wrap="square" rtlCol="0">
            <a:spAutoFit/>
          </a:bodyPr>
          <a:lstStyle/>
          <a:p>
            <a:r>
              <a:rPr lang="en-US" dirty="0"/>
              <a:t>High and Low distribution</a:t>
            </a:r>
          </a:p>
        </p:txBody>
      </p:sp>
      <p:sp>
        <p:nvSpPr>
          <p:cNvPr id="4" name="TextBox 3">
            <a:extLst>
              <a:ext uri="{FF2B5EF4-FFF2-40B4-BE49-F238E27FC236}">
                <a16:creationId xmlns:a16="http://schemas.microsoft.com/office/drawing/2014/main" id="{CB7DBE64-A61E-3B9E-0773-BBAE6E9FE5E9}"/>
              </a:ext>
            </a:extLst>
          </p:cNvPr>
          <p:cNvSpPr txBox="1"/>
          <p:nvPr/>
        </p:nvSpPr>
        <p:spPr>
          <a:xfrm>
            <a:off x="7595616" y="2381829"/>
            <a:ext cx="3758184" cy="369332"/>
          </a:xfrm>
          <a:prstGeom prst="rect">
            <a:avLst/>
          </a:prstGeom>
          <a:solidFill>
            <a:schemeClr val="accent3">
              <a:lumMod val="40000"/>
              <a:lumOff val="60000"/>
            </a:schemeClr>
          </a:solidFill>
        </p:spPr>
        <p:txBody>
          <a:bodyPr wrap="square" rtlCol="0">
            <a:spAutoFit/>
          </a:bodyPr>
          <a:lstStyle/>
          <a:p>
            <a:r>
              <a:rPr lang="en-US" dirty="0"/>
              <a:t>Right Skew distribution</a:t>
            </a:r>
          </a:p>
        </p:txBody>
      </p:sp>
      <p:sp>
        <p:nvSpPr>
          <p:cNvPr id="8" name="TextBox 7">
            <a:extLst>
              <a:ext uri="{FF2B5EF4-FFF2-40B4-BE49-F238E27FC236}">
                <a16:creationId xmlns:a16="http://schemas.microsoft.com/office/drawing/2014/main" id="{B1E8A2D6-0A56-91E5-C99D-F808CBEF9D44}"/>
              </a:ext>
            </a:extLst>
          </p:cNvPr>
          <p:cNvSpPr txBox="1"/>
          <p:nvPr/>
        </p:nvSpPr>
        <p:spPr>
          <a:xfrm>
            <a:off x="7595616" y="1956275"/>
            <a:ext cx="3758184" cy="369332"/>
          </a:xfrm>
          <a:prstGeom prst="rect">
            <a:avLst/>
          </a:prstGeom>
          <a:noFill/>
        </p:spPr>
        <p:txBody>
          <a:bodyPr wrap="square" rtlCol="0">
            <a:spAutoFit/>
          </a:bodyPr>
          <a:lstStyle/>
          <a:p>
            <a:r>
              <a:rPr lang="en-US" dirty="0"/>
              <a:t>ratings (1 to 5)</a:t>
            </a:r>
          </a:p>
        </p:txBody>
      </p:sp>
      <p:sp>
        <p:nvSpPr>
          <p:cNvPr id="9" name="TextBox 8">
            <a:extLst>
              <a:ext uri="{FF2B5EF4-FFF2-40B4-BE49-F238E27FC236}">
                <a16:creationId xmlns:a16="http://schemas.microsoft.com/office/drawing/2014/main" id="{19EC57EF-09B6-1C0F-D744-5E2121D788F2}"/>
              </a:ext>
            </a:extLst>
          </p:cNvPr>
          <p:cNvSpPr txBox="1"/>
          <p:nvPr/>
        </p:nvSpPr>
        <p:spPr>
          <a:xfrm>
            <a:off x="7595616" y="3084382"/>
            <a:ext cx="3758184" cy="923330"/>
          </a:xfrm>
          <a:prstGeom prst="rect">
            <a:avLst/>
          </a:prstGeom>
          <a:noFill/>
        </p:spPr>
        <p:txBody>
          <a:bodyPr wrap="square" rtlCol="0">
            <a:spAutoFit/>
          </a:bodyPr>
          <a:lstStyle/>
          <a:p>
            <a:r>
              <a:rPr lang="en-US" dirty="0"/>
              <a:t>most employees are on the low end and few employees are on the high end</a:t>
            </a:r>
          </a:p>
        </p:txBody>
      </p:sp>
      <p:sp>
        <p:nvSpPr>
          <p:cNvPr id="5" name="TextBox 4">
            <a:extLst>
              <a:ext uri="{FF2B5EF4-FFF2-40B4-BE49-F238E27FC236}">
                <a16:creationId xmlns:a16="http://schemas.microsoft.com/office/drawing/2014/main" id="{9DFE9C85-CCF7-A4A7-F5FD-E7CC3B5D014B}"/>
              </a:ext>
            </a:extLst>
          </p:cNvPr>
          <p:cNvSpPr txBox="1"/>
          <p:nvPr/>
        </p:nvSpPr>
        <p:spPr>
          <a:xfrm>
            <a:off x="7620000" y="4439948"/>
            <a:ext cx="3758184" cy="2062103"/>
          </a:xfrm>
          <a:prstGeom prst="rect">
            <a:avLst/>
          </a:prstGeom>
          <a:noFill/>
        </p:spPr>
        <p:txBody>
          <a:bodyPr wrap="square" rtlCol="0">
            <a:spAutoFit/>
          </a:bodyPr>
          <a:lstStyle/>
          <a:p>
            <a:r>
              <a:rPr lang="en-US" sz="1600" i="1" dirty="0"/>
              <a:t>ID, </a:t>
            </a:r>
            <a:r>
              <a:rPr lang="en-US" sz="1600" i="1" dirty="0" err="1"/>
              <a:t>EmployeeCount</a:t>
            </a:r>
            <a:r>
              <a:rPr lang="en-US" sz="1600" i="1" dirty="0"/>
              <a:t>, </a:t>
            </a:r>
            <a:r>
              <a:rPr lang="en-US" sz="1600" i="1" dirty="0" err="1"/>
              <a:t>EmployeeNumber</a:t>
            </a:r>
            <a:r>
              <a:rPr lang="en-US" sz="1600" i="1" dirty="0"/>
              <a:t>, </a:t>
            </a:r>
            <a:r>
              <a:rPr lang="en-US" sz="1600" i="1" dirty="0" err="1"/>
              <a:t>HourlyRate</a:t>
            </a:r>
            <a:r>
              <a:rPr lang="en-US" sz="1600" i="1" dirty="0"/>
              <a:t>, </a:t>
            </a:r>
            <a:r>
              <a:rPr lang="en-US" sz="1600" i="1" dirty="0" err="1"/>
              <a:t>DailyRate</a:t>
            </a:r>
            <a:r>
              <a:rPr lang="en-US" sz="1600" i="1" dirty="0"/>
              <a:t>, </a:t>
            </a:r>
            <a:r>
              <a:rPr lang="en-US" sz="1600" i="1" dirty="0" err="1"/>
              <a:t>MonthlyRate</a:t>
            </a:r>
            <a:r>
              <a:rPr lang="en-US" sz="1600" i="1" dirty="0"/>
              <a:t> and </a:t>
            </a:r>
            <a:r>
              <a:rPr lang="en-US" sz="1600" i="1" dirty="0" err="1"/>
              <a:t>StandardHours</a:t>
            </a:r>
            <a:r>
              <a:rPr lang="en-US" sz="1600" i="1" dirty="0"/>
              <a:t> are not useful.</a:t>
            </a:r>
          </a:p>
          <a:p>
            <a:endParaRPr lang="en-US" sz="1600" i="1" dirty="0"/>
          </a:p>
          <a:p>
            <a:endParaRPr lang="en-US" sz="1600" i="1" dirty="0"/>
          </a:p>
          <a:p>
            <a:r>
              <a:rPr lang="en-US" sz="1600" i="1" dirty="0"/>
              <a:t>Years variables look similar in distribution.</a:t>
            </a:r>
          </a:p>
          <a:p>
            <a:endParaRPr lang="en-US" sz="1600" i="1" dirty="0"/>
          </a:p>
        </p:txBody>
      </p:sp>
    </p:spTree>
    <p:extLst>
      <p:ext uri="{BB962C8B-B14F-4D97-AF65-F5344CB8AC3E}">
        <p14:creationId xmlns:p14="http://schemas.microsoft.com/office/powerpoint/2010/main" val="4079740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4A98D419-745E-4ACB-CDE8-B44E01362829}"/>
              </a:ext>
            </a:extLst>
          </p:cNvPr>
          <p:cNvPicPr>
            <a:picLocks noChangeAspect="1"/>
          </p:cNvPicPr>
          <p:nvPr/>
        </p:nvPicPr>
        <p:blipFill>
          <a:blip r:embed="rId2"/>
          <a:stretch>
            <a:fillRect/>
          </a:stretch>
        </p:blipFill>
        <p:spPr>
          <a:xfrm>
            <a:off x="1690687" y="557212"/>
            <a:ext cx="8810625" cy="5743575"/>
          </a:xfrm>
          <a:prstGeom prst="rect">
            <a:avLst/>
          </a:prstGeom>
        </p:spPr>
      </p:pic>
    </p:spTree>
    <p:extLst>
      <p:ext uri="{BB962C8B-B14F-4D97-AF65-F5344CB8AC3E}">
        <p14:creationId xmlns:p14="http://schemas.microsoft.com/office/powerpoint/2010/main" val="2830838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AF9FB-FC27-DBC3-7C53-9C0BAF0153E4}"/>
              </a:ext>
            </a:extLst>
          </p:cNvPr>
          <p:cNvSpPr>
            <a:spLocks noGrp="1"/>
          </p:cNvSpPr>
          <p:nvPr>
            <p:ph type="title"/>
          </p:nvPr>
        </p:nvSpPr>
        <p:spPr>
          <a:xfrm>
            <a:off x="838200" y="365125"/>
            <a:ext cx="10515600" cy="976787"/>
          </a:xfrm>
        </p:spPr>
        <p:txBody>
          <a:bodyPr>
            <a:normAutofit/>
          </a:bodyPr>
          <a:lstStyle/>
          <a:p>
            <a:r>
              <a:rPr lang="en-US" sz="3600" dirty="0"/>
              <a:t>Correlation Heatmaps</a:t>
            </a:r>
          </a:p>
        </p:txBody>
      </p:sp>
      <p:pic>
        <p:nvPicPr>
          <p:cNvPr id="7" name="Picture 6">
            <a:extLst>
              <a:ext uri="{FF2B5EF4-FFF2-40B4-BE49-F238E27FC236}">
                <a16:creationId xmlns:a16="http://schemas.microsoft.com/office/drawing/2014/main" id="{D9A1CE2E-73AD-0BDB-6C21-D1FF12F2A315}"/>
              </a:ext>
            </a:extLst>
          </p:cNvPr>
          <p:cNvPicPr>
            <a:picLocks noChangeAspect="1"/>
          </p:cNvPicPr>
          <p:nvPr/>
        </p:nvPicPr>
        <p:blipFill>
          <a:blip r:embed="rId2">
            <a:extLst>
              <a:ext uri="{28A0092B-C50C-407E-A947-70E740481C1C}">
                <a14:useLocalDpi xmlns:a14="http://schemas.microsoft.com/office/drawing/2010/main" val="0"/>
              </a:ext>
            </a:extLst>
          </a:blip>
          <a:srcRect b="11894"/>
          <a:stretch>
            <a:fillRect/>
          </a:stretch>
        </p:blipFill>
        <p:spPr>
          <a:xfrm>
            <a:off x="3254392" y="1252782"/>
            <a:ext cx="7042068" cy="4883323"/>
          </a:xfrm>
          <a:prstGeom prst="rect">
            <a:avLst/>
          </a:prstGeom>
        </p:spPr>
      </p:pic>
      <p:sp>
        <p:nvSpPr>
          <p:cNvPr id="8" name="Rectangle 7">
            <a:extLst>
              <a:ext uri="{FF2B5EF4-FFF2-40B4-BE49-F238E27FC236}">
                <a16:creationId xmlns:a16="http://schemas.microsoft.com/office/drawing/2014/main" id="{EE26FDD3-49C6-CEDA-48E4-4DC7F059FAE3}"/>
              </a:ext>
            </a:extLst>
          </p:cNvPr>
          <p:cNvSpPr/>
          <p:nvPr/>
        </p:nvSpPr>
        <p:spPr>
          <a:xfrm>
            <a:off x="9684585" y="1341912"/>
            <a:ext cx="499299" cy="442949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7CD8540-897D-6759-7B3E-6B023A5CC339}"/>
              </a:ext>
            </a:extLst>
          </p:cNvPr>
          <p:cNvSpPr/>
          <p:nvPr/>
        </p:nvSpPr>
        <p:spPr>
          <a:xfrm rot="16200000">
            <a:off x="6462905" y="206253"/>
            <a:ext cx="869709" cy="657225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CAD30F1-E9D4-3CC3-8630-BBF9C8BAE581}"/>
              </a:ext>
            </a:extLst>
          </p:cNvPr>
          <p:cNvSpPr txBox="1"/>
          <p:nvPr/>
        </p:nvSpPr>
        <p:spPr>
          <a:xfrm>
            <a:off x="8432718" y="1480274"/>
            <a:ext cx="3147951" cy="646331"/>
          </a:xfrm>
          <a:prstGeom prst="rect">
            <a:avLst/>
          </a:prstGeom>
          <a:noFill/>
        </p:spPr>
        <p:txBody>
          <a:bodyPr wrap="square" rtlCol="0">
            <a:spAutoFit/>
          </a:bodyPr>
          <a:lstStyle/>
          <a:p>
            <a:br>
              <a:rPr lang="en-US" dirty="0"/>
            </a:br>
            <a:endParaRPr lang="en-US" dirty="0"/>
          </a:p>
        </p:txBody>
      </p:sp>
      <p:sp>
        <p:nvSpPr>
          <p:cNvPr id="3" name="Rectangle 2">
            <a:extLst>
              <a:ext uri="{FF2B5EF4-FFF2-40B4-BE49-F238E27FC236}">
                <a16:creationId xmlns:a16="http://schemas.microsoft.com/office/drawing/2014/main" id="{FE7D42CD-CA07-04D5-25E4-518C45B302C6}"/>
              </a:ext>
            </a:extLst>
          </p:cNvPr>
          <p:cNvSpPr/>
          <p:nvPr/>
        </p:nvSpPr>
        <p:spPr>
          <a:xfrm>
            <a:off x="3706884" y="2209800"/>
            <a:ext cx="6477000" cy="2952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F539B38-2BBD-3631-12D8-119764C092DD}"/>
              </a:ext>
            </a:extLst>
          </p:cNvPr>
          <p:cNvSpPr txBox="1"/>
          <p:nvPr/>
        </p:nvSpPr>
        <p:spPr>
          <a:xfrm>
            <a:off x="870194" y="2126605"/>
            <a:ext cx="2384196" cy="1754326"/>
          </a:xfrm>
          <a:prstGeom prst="rect">
            <a:avLst/>
          </a:prstGeom>
          <a:noFill/>
        </p:spPr>
        <p:txBody>
          <a:bodyPr wrap="square" rtlCol="0">
            <a:spAutoFit/>
          </a:bodyPr>
          <a:lstStyle/>
          <a:p>
            <a:r>
              <a:rPr lang="en-US" dirty="0"/>
              <a:t>Stock Option</a:t>
            </a:r>
          </a:p>
          <a:p>
            <a:r>
              <a:rPr lang="en-US" dirty="0"/>
              <a:t>Level</a:t>
            </a:r>
          </a:p>
          <a:p>
            <a:br>
              <a:rPr lang="en-US" dirty="0"/>
            </a:br>
            <a:r>
              <a:rPr lang="en-US" dirty="0"/>
              <a:t>Job Satisfaction</a:t>
            </a:r>
          </a:p>
          <a:p>
            <a:r>
              <a:rPr lang="en-US" dirty="0"/>
              <a:t>Job Level</a:t>
            </a:r>
          </a:p>
          <a:p>
            <a:r>
              <a:rPr lang="en-US" dirty="0"/>
              <a:t>Job Involvement</a:t>
            </a:r>
          </a:p>
        </p:txBody>
      </p:sp>
    </p:spTree>
    <p:extLst>
      <p:ext uri="{BB962C8B-B14F-4D97-AF65-F5344CB8AC3E}">
        <p14:creationId xmlns:p14="http://schemas.microsoft.com/office/powerpoint/2010/main" val="315297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2197B-4055-BF02-466C-22CAB6D99F49}"/>
              </a:ext>
            </a:extLst>
          </p:cNvPr>
          <p:cNvSpPr>
            <a:spLocks noGrp="1"/>
          </p:cNvSpPr>
          <p:nvPr>
            <p:ph type="title"/>
          </p:nvPr>
        </p:nvSpPr>
        <p:spPr>
          <a:xfrm>
            <a:off x="838200" y="365126"/>
            <a:ext cx="10515600" cy="1073146"/>
          </a:xfrm>
        </p:spPr>
        <p:txBody>
          <a:bodyPr>
            <a:normAutofit/>
          </a:bodyPr>
          <a:lstStyle/>
          <a:p>
            <a:r>
              <a:rPr lang="en-US" sz="3600" dirty="0"/>
              <a:t>Correlation Heatmaps</a:t>
            </a:r>
          </a:p>
        </p:txBody>
      </p:sp>
      <p:pic>
        <p:nvPicPr>
          <p:cNvPr id="13" name="Picture 12">
            <a:extLst>
              <a:ext uri="{FF2B5EF4-FFF2-40B4-BE49-F238E27FC236}">
                <a16:creationId xmlns:a16="http://schemas.microsoft.com/office/drawing/2014/main" id="{15250E63-79ED-975B-001D-E12928C828B8}"/>
              </a:ext>
            </a:extLst>
          </p:cNvPr>
          <p:cNvPicPr>
            <a:picLocks noChangeAspect="1"/>
          </p:cNvPicPr>
          <p:nvPr/>
        </p:nvPicPr>
        <p:blipFill>
          <a:blip r:embed="rId2">
            <a:extLst>
              <a:ext uri="{28A0092B-C50C-407E-A947-70E740481C1C}">
                <a14:useLocalDpi xmlns:a14="http://schemas.microsoft.com/office/drawing/2010/main" val="0"/>
              </a:ext>
            </a:extLst>
          </a:blip>
          <a:srcRect b="11445"/>
          <a:stretch>
            <a:fillRect/>
          </a:stretch>
        </p:blipFill>
        <p:spPr>
          <a:xfrm>
            <a:off x="2662984" y="1341912"/>
            <a:ext cx="7320545" cy="4457309"/>
          </a:xfrm>
          <a:prstGeom prst="rect">
            <a:avLst/>
          </a:prstGeom>
        </p:spPr>
      </p:pic>
      <p:sp>
        <p:nvSpPr>
          <p:cNvPr id="15" name="Rectangle 14">
            <a:extLst>
              <a:ext uri="{FF2B5EF4-FFF2-40B4-BE49-F238E27FC236}">
                <a16:creationId xmlns:a16="http://schemas.microsoft.com/office/drawing/2014/main" id="{6C67E420-B3AE-0A67-59CB-CC2237D79D9F}"/>
              </a:ext>
            </a:extLst>
          </p:cNvPr>
          <p:cNvSpPr/>
          <p:nvPr/>
        </p:nvSpPr>
        <p:spPr>
          <a:xfrm>
            <a:off x="7860532" y="1438274"/>
            <a:ext cx="669851" cy="418147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177D101-9AB0-BC76-9FF5-940C1346D805}"/>
              </a:ext>
            </a:extLst>
          </p:cNvPr>
          <p:cNvSpPr/>
          <p:nvPr/>
        </p:nvSpPr>
        <p:spPr>
          <a:xfrm rot="16200000">
            <a:off x="5358561" y="-1028702"/>
            <a:ext cx="704851" cy="563879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C60C834-3A7E-BE49-843A-84957B20F993}"/>
              </a:ext>
            </a:extLst>
          </p:cNvPr>
          <p:cNvSpPr/>
          <p:nvPr/>
        </p:nvSpPr>
        <p:spPr>
          <a:xfrm>
            <a:off x="2786809" y="3562350"/>
            <a:ext cx="5743575" cy="35242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 name="TextBox 3">
            <a:extLst>
              <a:ext uri="{FF2B5EF4-FFF2-40B4-BE49-F238E27FC236}">
                <a16:creationId xmlns:a16="http://schemas.microsoft.com/office/drawing/2014/main" id="{9A4F200A-60D3-077F-0650-A2F6F745F9A8}"/>
              </a:ext>
            </a:extLst>
          </p:cNvPr>
          <p:cNvSpPr txBox="1"/>
          <p:nvPr/>
        </p:nvSpPr>
        <p:spPr>
          <a:xfrm>
            <a:off x="917472" y="1497686"/>
            <a:ext cx="2264706" cy="3693319"/>
          </a:xfrm>
          <a:prstGeom prst="rect">
            <a:avLst/>
          </a:prstGeom>
          <a:noFill/>
        </p:spPr>
        <p:txBody>
          <a:bodyPr wrap="square" rtlCol="0">
            <a:spAutoFit/>
          </a:bodyPr>
          <a:lstStyle/>
          <a:p>
            <a:r>
              <a:rPr lang="en-US" dirty="0"/>
              <a:t>Over Time </a:t>
            </a:r>
          </a:p>
          <a:p>
            <a:endParaRPr lang="en-US" dirty="0"/>
          </a:p>
          <a:p>
            <a:endParaRPr lang="en-US" dirty="0"/>
          </a:p>
          <a:p>
            <a:endParaRPr lang="en-US" dirty="0"/>
          </a:p>
          <a:p>
            <a:endParaRPr lang="en-US" dirty="0"/>
          </a:p>
          <a:p>
            <a:endParaRPr lang="en-US" dirty="0"/>
          </a:p>
          <a:p>
            <a:endParaRPr lang="en-US" dirty="0"/>
          </a:p>
          <a:p>
            <a:r>
              <a:rPr lang="en-US" dirty="0"/>
              <a:t>Monthly</a:t>
            </a:r>
          </a:p>
          <a:p>
            <a:r>
              <a:rPr lang="en-US" dirty="0"/>
              <a:t>Income</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569012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F3518-F0E0-3764-082C-B0BD3BBBAABB}"/>
              </a:ext>
            </a:extLst>
          </p:cNvPr>
          <p:cNvSpPr>
            <a:spLocks noGrp="1"/>
          </p:cNvSpPr>
          <p:nvPr>
            <p:ph type="title"/>
          </p:nvPr>
        </p:nvSpPr>
        <p:spPr>
          <a:xfrm>
            <a:off x="838200" y="365125"/>
            <a:ext cx="10515600" cy="650215"/>
          </a:xfrm>
        </p:spPr>
        <p:txBody>
          <a:bodyPr>
            <a:normAutofit/>
          </a:bodyPr>
          <a:lstStyle/>
          <a:p>
            <a:r>
              <a:rPr lang="en-US" sz="3600" dirty="0"/>
              <a:t>Correlation Heatmaps</a:t>
            </a:r>
          </a:p>
        </p:txBody>
      </p:sp>
      <p:pic>
        <p:nvPicPr>
          <p:cNvPr id="5" name="Content Placeholder 4">
            <a:extLst>
              <a:ext uri="{FF2B5EF4-FFF2-40B4-BE49-F238E27FC236}">
                <a16:creationId xmlns:a16="http://schemas.microsoft.com/office/drawing/2014/main" id="{1E16175C-096D-027F-F921-2C16004A37E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b="11939"/>
          <a:stretch>
            <a:fillRect/>
          </a:stretch>
        </p:blipFill>
        <p:spPr>
          <a:xfrm>
            <a:off x="3454481" y="1207168"/>
            <a:ext cx="7042067" cy="4880811"/>
          </a:xfrm>
          <a:prstGeom prst="rect">
            <a:avLst/>
          </a:prstGeom>
        </p:spPr>
      </p:pic>
      <p:sp>
        <p:nvSpPr>
          <p:cNvPr id="6" name="Rectangle 5">
            <a:extLst>
              <a:ext uri="{FF2B5EF4-FFF2-40B4-BE49-F238E27FC236}">
                <a16:creationId xmlns:a16="http://schemas.microsoft.com/office/drawing/2014/main" id="{AE635045-D1FD-97BF-AFD5-BF646347B66C}"/>
              </a:ext>
            </a:extLst>
          </p:cNvPr>
          <p:cNvSpPr/>
          <p:nvPr/>
        </p:nvSpPr>
        <p:spPr>
          <a:xfrm rot="16200000">
            <a:off x="6253879" y="255778"/>
            <a:ext cx="1541945" cy="666216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F4E0168-1029-6132-AC67-783F167E5D59}"/>
              </a:ext>
            </a:extLst>
          </p:cNvPr>
          <p:cNvSpPr/>
          <p:nvPr/>
        </p:nvSpPr>
        <p:spPr>
          <a:xfrm rot="16200000">
            <a:off x="6790940" y="-1120581"/>
            <a:ext cx="363425" cy="676656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B657CE3-E80B-1186-78D2-20D26EA75EAB}"/>
              </a:ext>
            </a:extLst>
          </p:cNvPr>
          <p:cNvSpPr/>
          <p:nvPr/>
        </p:nvSpPr>
        <p:spPr>
          <a:xfrm rot="5400000">
            <a:off x="8236296" y="3508636"/>
            <a:ext cx="3543300" cy="69597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8641376-932C-C8F7-5344-BCCE7E386B2E}"/>
              </a:ext>
            </a:extLst>
          </p:cNvPr>
          <p:cNvSpPr txBox="1"/>
          <p:nvPr/>
        </p:nvSpPr>
        <p:spPr>
          <a:xfrm>
            <a:off x="567360" y="1495509"/>
            <a:ext cx="3022011" cy="2862322"/>
          </a:xfrm>
          <a:prstGeom prst="rect">
            <a:avLst/>
          </a:prstGeom>
          <a:noFill/>
        </p:spPr>
        <p:txBody>
          <a:bodyPr wrap="square" rtlCol="0">
            <a:spAutoFit/>
          </a:bodyPr>
          <a:lstStyle/>
          <a:p>
            <a:r>
              <a:rPr lang="en-US" dirty="0"/>
              <a:t>Years…</a:t>
            </a:r>
          </a:p>
          <a:p>
            <a:endParaRPr lang="en-US" dirty="0"/>
          </a:p>
          <a:p>
            <a:pPr marL="285750" indent="-285750">
              <a:buFont typeface="Arial" panose="020B0604020202020204" pitchFamily="34" charset="0"/>
              <a:buChar char="•"/>
            </a:pPr>
            <a:r>
              <a:rPr lang="en-US" dirty="0"/>
              <a:t>     With Current Manager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In Current Role</a:t>
            </a:r>
          </a:p>
          <a:p>
            <a:pPr marL="285750" indent="-285750">
              <a:buFont typeface="Arial" panose="020B0604020202020204" pitchFamily="34" charset="0"/>
              <a:buChar char="•"/>
            </a:pPr>
            <a:r>
              <a:rPr lang="en-US" dirty="0"/>
              <a:t>     At Company</a:t>
            </a:r>
          </a:p>
          <a:p>
            <a:pPr marL="285750" indent="-285750">
              <a:buFont typeface="Arial" panose="020B0604020202020204" pitchFamily="34" charset="0"/>
              <a:buChar char="•"/>
            </a:pPr>
            <a:r>
              <a:rPr lang="en-US" dirty="0"/>
              <a:t>     Total in Workforce</a:t>
            </a:r>
          </a:p>
          <a:p>
            <a:endParaRPr lang="en-US" dirty="0"/>
          </a:p>
          <a:p>
            <a:r>
              <a:rPr lang="en-US" dirty="0"/>
              <a:t>Age</a:t>
            </a:r>
          </a:p>
        </p:txBody>
      </p:sp>
    </p:spTree>
    <p:extLst>
      <p:ext uri="{BB962C8B-B14F-4D97-AF65-F5344CB8AC3E}">
        <p14:creationId xmlns:p14="http://schemas.microsoft.com/office/powerpoint/2010/main" val="2891821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2BBF7-6638-78C2-BD5E-10E2C3DE2CFB}"/>
              </a:ext>
            </a:extLst>
          </p:cNvPr>
          <p:cNvSpPr>
            <a:spLocks noGrp="1"/>
          </p:cNvSpPr>
          <p:nvPr>
            <p:ph type="title"/>
          </p:nvPr>
        </p:nvSpPr>
        <p:spPr>
          <a:xfrm>
            <a:off x="838200" y="365125"/>
            <a:ext cx="10515600" cy="784053"/>
          </a:xfrm>
        </p:spPr>
        <p:txBody>
          <a:bodyPr>
            <a:noAutofit/>
          </a:bodyPr>
          <a:lstStyle/>
          <a:p>
            <a:r>
              <a:rPr lang="en-US" sz="3200" dirty="0"/>
              <a:t>Correlation Heatmaps</a:t>
            </a:r>
          </a:p>
        </p:txBody>
      </p:sp>
      <p:pic>
        <p:nvPicPr>
          <p:cNvPr id="7" name="Picture 6">
            <a:extLst>
              <a:ext uri="{FF2B5EF4-FFF2-40B4-BE49-F238E27FC236}">
                <a16:creationId xmlns:a16="http://schemas.microsoft.com/office/drawing/2014/main" id="{56CC5436-6883-C6C3-84C8-1E2207A414CE}"/>
              </a:ext>
            </a:extLst>
          </p:cNvPr>
          <p:cNvPicPr>
            <a:picLocks noChangeAspect="1"/>
          </p:cNvPicPr>
          <p:nvPr/>
        </p:nvPicPr>
        <p:blipFill>
          <a:blip r:embed="rId3"/>
          <a:srcRect b="9215"/>
          <a:stretch>
            <a:fillRect/>
          </a:stretch>
        </p:blipFill>
        <p:spPr>
          <a:xfrm>
            <a:off x="3776676" y="1088984"/>
            <a:ext cx="6171136" cy="5215563"/>
          </a:xfrm>
          <a:prstGeom prst="rect">
            <a:avLst/>
          </a:prstGeom>
        </p:spPr>
      </p:pic>
      <p:sp>
        <p:nvSpPr>
          <p:cNvPr id="3" name="Rectangle 2">
            <a:extLst>
              <a:ext uri="{FF2B5EF4-FFF2-40B4-BE49-F238E27FC236}">
                <a16:creationId xmlns:a16="http://schemas.microsoft.com/office/drawing/2014/main" id="{D84CC86C-40CF-0959-6203-33BF752F07FA}"/>
              </a:ext>
            </a:extLst>
          </p:cNvPr>
          <p:cNvSpPr/>
          <p:nvPr/>
        </p:nvSpPr>
        <p:spPr>
          <a:xfrm rot="5400000">
            <a:off x="4327537" y="3205876"/>
            <a:ext cx="4516034" cy="37789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9B866D9-111C-8682-27F5-7A8D4A800371}"/>
              </a:ext>
            </a:extLst>
          </p:cNvPr>
          <p:cNvSpPr/>
          <p:nvPr/>
        </p:nvSpPr>
        <p:spPr>
          <a:xfrm rot="5400000">
            <a:off x="5768662" y="3277565"/>
            <a:ext cx="274320" cy="17373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29A14CB-CAE1-3918-1101-98387C04271A}"/>
              </a:ext>
            </a:extLst>
          </p:cNvPr>
          <p:cNvSpPr/>
          <p:nvPr/>
        </p:nvSpPr>
        <p:spPr>
          <a:xfrm rot="5400000">
            <a:off x="5266564" y="-101034"/>
            <a:ext cx="274320" cy="27432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9085098-B324-38DA-8FCC-6F174451C784}"/>
              </a:ext>
            </a:extLst>
          </p:cNvPr>
          <p:cNvSpPr/>
          <p:nvPr/>
        </p:nvSpPr>
        <p:spPr>
          <a:xfrm rot="5400000">
            <a:off x="5268027" y="937191"/>
            <a:ext cx="274320" cy="27432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9E5B678-9FCD-BF85-936A-B45A0B934BDB}"/>
              </a:ext>
            </a:extLst>
          </p:cNvPr>
          <p:cNvSpPr txBox="1"/>
          <p:nvPr/>
        </p:nvSpPr>
        <p:spPr>
          <a:xfrm>
            <a:off x="878310" y="1088984"/>
            <a:ext cx="2896081" cy="3139321"/>
          </a:xfrm>
          <a:prstGeom prst="rect">
            <a:avLst/>
          </a:prstGeom>
          <a:noFill/>
        </p:spPr>
        <p:txBody>
          <a:bodyPr wrap="square" rtlCol="0">
            <a:spAutoFit/>
          </a:bodyPr>
          <a:lstStyle/>
          <a:p>
            <a:r>
              <a:rPr lang="en-US" dirty="0"/>
              <a:t>Sales Representative</a:t>
            </a:r>
          </a:p>
          <a:p>
            <a:endParaRPr lang="en-US" dirty="0"/>
          </a:p>
          <a:p>
            <a:endParaRPr lang="en-US" dirty="0"/>
          </a:p>
          <a:p>
            <a:r>
              <a:rPr lang="en-US" dirty="0"/>
              <a:t>Research Director</a:t>
            </a:r>
          </a:p>
          <a:p>
            <a:r>
              <a:rPr lang="en-US" dirty="0"/>
              <a:t>Manufacturing Director</a:t>
            </a:r>
          </a:p>
          <a:p>
            <a:endParaRPr lang="en-US" dirty="0"/>
          </a:p>
          <a:p>
            <a:endParaRPr lang="en-US" dirty="0"/>
          </a:p>
          <a:p>
            <a:endParaRPr lang="en-US" dirty="0"/>
          </a:p>
          <a:p>
            <a:endParaRPr lang="en-US" dirty="0"/>
          </a:p>
          <a:p>
            <a:endParaRPr lang="en-US" dirty="0"/>
          </a:p>
          <a:p>
            <a:r>
              <a:rPr lang="en-US" dirty="0"/>
              <a:t>Job Level</a:t>
            </a:r>
          </a:p>
        </p:txBody>
      </p:sp>
      <p:sp>
        <p:nvSpPr>
          <p:cNvPr id="10" name="Rectangle 9">
            <a:extLst>
              <a:ext uri="{FF2B5EF4-FFF2-40B4-BE49-F238E27FC236}">
                <a16:creationId xmlns:a16="http://schemas.microsoft.com/office/drawing/2014/main" id="{DA4385DB-7CC8-282D-8FD6-F51D4E49C5AC}"/>
              </a:ext>
            </a:extLst>
          </p:cNvPr>
          <p:cNvSpPr/>
          <p:nvPr/>
        </p:nvSpPr>
        <p:spPr>
          <a:xfrm rot="5400000">
            <a:off x="5264011" y="656449"/>
            <a:ext cx="274320" cy="27432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4474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B70E1-CCC9-922E-59E1-8547220AED5E}"/>
              </a:ext>
            </a:extLst>
          </p:cNvPr>
          <p:cNvSpPr>
            <a:spLocks noGrp="1"/>
          </p:cNvSpPr>
          <p:nvPr>
            <p:ph type="title"/>
          </p:nvPr>
        </p:nvSpPr>
        <p:spPr>
          <a:xfrm>
            <a:off x="838200" y="365125"/>
            <a:ext cx="10515600" cy="711321"/>
          </a:xfrm>
        </p:spPr>
        <p:txBody>
          <a:bodyPr>
            <a:normAutofit/>
          </a:bodyPr>
          <a:lstStyle/>
          <a:p>
            <a:r>
              <a:rPr lang="en-US" sz="3200" dirty="0"/>
              <a:t>Correlation Heatmaps</a:t>
            </a:r>
          </a:p>
        </p:txBody>
      </p:sp>
      <p:pic>
        <p:nvPicPr>
          <p:cNvPr id="10" name="Picture 9">
            <a:extLst>
              <a:ext uri="{FF2B5EF4-FFF2-40B4-BE49-F238E27FC236}">
                <a16:creationId xmlns:a16="http://schemas.microsoft.com/office/drawing/2014/main" id="{9A259DE7-8555-1628-9AC8-DA83ED976876}"/>
              </a:ext>
            </a:extLst>
          </p:cNvPr>
          <p:cNvPicPr>
            <a:picLocks noChangeAspect="1"/>
          </p:cNvPicPr>
          <p:nvPr/>
        </p:nvPicPr>
        <p:blipFill>
          <a:blip r:embed="rId2"/>
          <a:srcRect b="8398"/>
          <a:stretch>
            <a:fillRect/>
          </a:stretch>
        </p:blipFill>
        <p:spPr>
          <a:xfrm>
            <a:off x="3298468" y="1044548"/>
            <a:ext cx="6306300" cy="5223906"/>
          </a:xfrm>
          <a:prstGeom prst="rect">
            <a:avLst/>
          </a:prstGeom>
        </p:spPr>
      </p:pic>
      <p:sp>
        <p:nvSpPr>
          <p:cNvPr id="11" name="Rectangle 10">
            <a:extLst>
              <a:ext uri="{FF2B5EF4-FFF2-40B4-BE49-F238E27FC236}">
                <a16:creationId xmlns:a16="http://schemas.microsoft.com/office/drawing/2014/main" id="{4AD57F85-5B18-9A6D-3736-795833DC1F54}"/>
              </a:ext>
            </a:extLst>
          </p:cNvPr>
          <p:cNvSpPr/>
          <p:nvPr/>
        </p:nvSpPr>
        <p:spPr>
          <a:xfrm rot="5400000">
            <a:off x="5400108" y="2348141"/>
            <a:ext cx="247650" cy="268847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F25D89B-3F2A-27AA-D068-E88F3C1EC369}"/>
              </a:ext>
            </a:extLst>
          </p:cNvPr>
          <p:cNvSpPr/>
          <p:nvPr/>
        </p:nvSpPr>
        <p:spPr>
          <a:xfrm rot="16200000">
            <a:off x="4375309" y="3227954"/>
            <a:ext cx="4635304" cy="35041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0FB177F-B81A-C7D1-8E84-A78A1E0522F3}"/>
              </a:ext>
            </a:extLst>
          </p:cNvPr>
          <p:cNvSpPr/>
          <p:nvPr/>
        </p:nvSpPr>
        <p:spPr>
          <a:xfrm rot="16200000">
            <a:off x="5007371" y="-6746"/>
            <a:ext cx="772431" cy="294916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555E956-1185-7047-06B9-F93D447293F2}"/>
              </a:ext>
            </a:extLst>
          </p:cNvPr>
          <p:cNvSpPr txBox="1"/>
          <p:nvPr/>
        </p:nvSpPr>
        <p:spPr>
          <a:xfrm>
            <a:off x="838200" y="1044547"/>
            <a:ext cx="2460267" cy="3416320"/>
          </a:xfrm>
          <a:prstGeom prst="rect">
            <a:avLst/>
          </a:prstGeom>
          <a:noFill/>
        </p:spPr>
        <p:txBody>
          <a:bodyPr wrap="square" rtlCol="0">
            <a:spAutoFit/>
          </a:bodyPr>
          <a:lstStyle/>
          <a:p>
            <a:r>
              <a:rPr lang="en-US" dirty="0"/>
              <a:t>Marital Status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Stock Option Level</a:t>
            </a:r>
          </a:p>
          <a:p>
            <a:endParaRPr lang="en-US" dirty="0"/>
          </a:p>
          <a:p>
            <a:endParaRPr lang="en-US" dirty="0"/>
          </a:p>
        </p:txBody>
      </p:sp>
    </p:spTree>
    <p:extLst>
      <p:ext uri="{BB962C8B-B14F-4D97-AF65-F5344CB8AC3E}">
        <p14:creationId xmlns:p14="http://schemas.microsoft.com/office/powerpoint/2010/main" val="1306269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B58ED-A1BF-868F-40E1-8731D7975C19}"/>
              </a:ext>
            </a:extLst>
          </p:cNvPr>
          <p:cNvSpPr>
            <a:spLocks noGrp="1"/>
          </p:cNvSpPr>
          <p:nvPr>
            <p:ph type="title"/>
          </p:nvPr>
        </p:nvSpPr>
        <p:spPr>
          <a:xfrm>
            <a:off x="838200" y="365126"/>
            <a:ext cx="10515600" cy="828490"/>
          </a:xfrm>
        </p:spPr>
        <p:txBody>
          <a:bodyPr>
            <a:noAutofit/>
          </a:bodyPr>
          <a:lstStyle/>
          <a:p>
            <a:r>
              <a:rPr lang="en-US" sz="3600" dirty="0"/>
              <a:t>Variables of Interest Based on Correlation Heatmaps</a:t>
            </a:r>
          </a:p>
        </p:txBody>
      </p:sp>
      <p:graphicFrame>
        <p:nvGraphicFramePr>
          <p:cNvPr id="4" name="Table 3">
            <a:extLst>
              <a:ext uri="{FF2B5EF4-FFF2-40B4-BE49-F238E27FC236}">
                <a16:creationId xmlns:a16="http://schemas.microsoft.com/office/drawing/2014/main" id="{DF5AEBB1-2432-7C72-10ED-3D238FEB9BE6}"/>
              </a:ext>
            </a:extLst>
          </p:cNvPr>
          <p:cNvGraphicFramePr>
            <a:graphicFrameLocks noGrp="1"/>
          </p:cNvGraphicFramePr>
          <p:nvPr>
            <p:extLst>
              <p:ext uri="{D42A27DB-BD31-4B8C-83A1-F6EECF244321}">
                <p14:modId xmlns:p14="http://schemas.microsoft.com/office/powerpoint/2010/main" val="3335063961"/>
              </p:ext>
            </p:extLst>
          </p:nvPr>
        </p:nvGraphicFramePr>
        <p:xfrm>
          <a:off x="2672862" y="1193616"/>
          <a:ext cx="6846276" cy="5029200"/>
        </p:xfrm>
        <a:graphic>
          <a:graphicData uri="http://schemas.openxmlformats.org/drawingml/2006/table">
            <a:tbl>
              <a:tblPr firstRow="1" bandRow="1">
                <a:tableStyleId>{5C22544A-7EE6-4342-B048-85BDC9FD1C3A}</a:tableStyleId>
              </a:tblPr>
              <a:tblGrid>
                <a:gridCol w="3528647">
                  <a:extLst>
                    <a:ext uri="{9D8B030D-6E8A-4147-A177-3AD203B41FA5}">
                      <a16:colId xmlns:a16="http://schemas.microsoft.com/office/drawing/2014/main" val="2535992751"/>
                    </a:ext>
                  </a:extLst>
                </a:gridCol>
                <a:gridCol w="1488830">
                  <a:extLst>
                    <a:ext uri="{9D8B030D-6E8A-4147-A177-3AD203B41FA5}">
                      <a16:colId xmlns:a16="http://schemas.microsoft.com/office/drawing/2014/main" val="1279076727"/>
                    </a:ext>
                  </a:extLst>
                </a:gridCol>
                <a:gridCol w="1828799">
                  <a:extLst>
                    <a:ext uri="{9D8B030D-6E8A-4147-A177-3AD203B41FA5}">
                      <a16:colId xmlns:a16="http://schemas.microsoft.com/office/drawing/2014/main" val="3511723638"/>
                    </a:ext>
                  </a:extLst>
                </a:gridCol>
              </a:tblGrid>
              <a:tr h="274320">
                <a:tc>
                  <a:txBody>
                    <a:bodyPr/>
                    <a:lstStyle/>
                    <a:p>
                      <a:r>
                        <a:rPr lang="en-US" sz="1600" dirty="0"/>
                        <a:t>Variables of Interest</a:t>
                      </a:r>
                    </a:p>
                  </a:txBody>
                  <a:tcPr/>
                </a:tc>
                <a:tc gridSpan="2">
                  <a:txBody>
                    <a:bodyPr/>
                    <a:lstStyle/>
                    <a:p>
                      <a:pPr algn="ctr"/>
                      <a:r>
                        <a:rPr lang="en-US" sz="1600" dirty="0"/>
                        <a:t>Correlation with Attrition</a:t>
                      </a:r>
                    </a:p>
                  </a:txBody>
                  <a:tcPr anchor="ctr"/>
                </a:tc>
                <a:tc hMerge="1">
                  <a:txBody>
                    <a:bodyPr/>
                    <a:lstStyle/>
                    <a:p>
                      <a:endParaRPr lang="en-US" dirty="0"/>
                    </a:p>
                  </a:txBody>
                  <a:tcPr/>
                </a:tc>
                <a:extLst>
                  <a:ext uri="{0D108BD9-81ED-4DB2-BD59-A6C34878D82A}">
                    <a16:rowId xmlns:a16="http://schemas.microsoft.com/office/drawing/2014/main" val="2457595942"/>
                  </a:ext>
                </a:extLst>
              </a:tr>
              <a:tr h="274320">
                <a:tc>
                  <a:txBody>
                    <a:bodyPr/>
                    <a:lstStyle/>
                    <a:p>
                      <a:r>
                        <a:rPr lang="en-US" sz="1600" b="1" dirty="0" err="1"/>
                        <a:t>OverTime</a:t>
                      </a:r>
                      <a:endParaRPr lang="en-US" sz="1600" b="1" dirty="0"/>
                    </a:p>
                  </a:txBody>
                  <a:tcPr/>
                </a:tc>
                <a:tc>
                  <a:txBody>
                    <a:bodyPr/>
                    <a:lstStyle/>
                    <a:p>
                      <a:r>
                        <a:rPr lang="en-US" sz="1600" b="1" dirty="0">
                          <a:solidFill>
                            <a:srgbClr val="FF0000"/>
                          </a:solidFill>
                        </a:rPr>
                        <a:t>Positive</a:t>
                      </a:r>
                    </a:p>
                  </a:txBody>
                  <a:tcPr/>
                </a:tc>
                <a:tc>
                  <a:txBody>
                    <a:bodyPr/>
                    <a:lstStyle/>
                    <a:p>
                      <a:r>
                        <a:rPr lang="en-US" sz="1600" b="1" dirty="0">
                          <a:solidFill>
                            <a:srgbClr val="FF0000"/>
                          </a:solidFill>
                        </a:rPr>
                        <a:t>0.27</a:t>
                      </a:r>
                    </a:p>
                  </a:txBody>
                  <a:tcPr/>
                </a:tc>
                <a:extLst>
                  <a:ext uri="{0D108BD9-81ED-4DB2-BD59-A6C34878D82A}">
                    <a16:rowId xmlns:a16="http://schemas.microsoft.com/office/drawing/2014/main" val="2824405874"/>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a:t>JobRole_Sales</a:t>
                      </a:r>
                      <a:r>
                        <a:rPr lang="en-US" sz="1600" b="1" dirty="0"/>
                        <a:t> Representative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rPr>
                        <a:t>Positive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rPr>
                        <a:t>0.20</a:t>
                      </a:r>
                    </a:p>
                  </a:txBody>
                  <a:tcPr/>
                </a:tc>
                <a:extLst>
                  <a:ext uri="{0D108BD9-81ED-4DB2-BD59-A6C34878D82A}">
                    <a16:rowId xmlns:a16="http://schemas.microsoft.com/office/drawing/2014/main" val="2367364238"/>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a:t>MaritalStatus_Single</a:t>
                      </a:r>
                      <a:endParaRPr lang="en-US"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rPr>
                        <a:t>Positive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rgbClr val="FF0000"/>
                          </a:solidFill>
                        </a:rPr>
                        <a:t>0.18</a:t>
                      </a:r>
                    </a:p>
                  </a:txBody>
                  <a:tcPr/>
                </a:tc>
                <a:extLst>
                  <a:ext uri="{0D108BD9-81ED-4DB2-BD59-A6C34878D82A}">
                    <a16:rowId xmlns:a16="http://schemas.microsoft.com/office/drawing/2014/main" val="2424598981"/>
                  </a:ext>
                </a:extLst>
              </a:tr>
              <a:tr h="274320">
                <a:tc>
                  <a:txBody>
                    <a:bodyPr/>
                    <a:lstStyle/>
                    <a:p>
                      <a:r>
                        <a:rPr lang="en-US" sz="1600" b="1" dirty="0"/>
                        <a:t>JobInvolvement</a:t>
                      </a:r>
                    </a:p>
                  </a:txBody>
                  <a:tcPr/>
                </a:tc>
                <a:tc>
                  <a:txBody>
                    <a:bodyPr/>
                    <a:lstStyle/>
                    <a:p>
                      <a:r>
                        <a:rPr lang="en-US" sz="1600" b="1" dirty="0"/>
                        <a:t>Negative</a:t>
                      </a:r>
                    </a:p>
                  </a:txBody>
                  <a:tcPr/>
                </a:tc>
                <a:tc>
                  <a:txBody>
                    <a:bodyPr/>
                    <a:lstStyle/>
                    <a:p>
                      <a:r>
                        <a:rPr lang="en-US" sz="1600" b="1" dirty="0"/>
                        <a:t>0.19</a:t>
                      </a:r>
                    </a:p>
                  </a:txBody>
                  <a:tcPr/>
                </a:tc>
                <a:extLst>
                  <a:ext uri="{0D108BD9-81ED-4DB2-BD59-A6C34878D82A}">
                    <a16:rowId xmlns:a16="http://schemas.microsoft.com/office/drawing/2014/main" val="276343878"/>
                  </a:ext>
                </a:extLst>
              </a:tr>
              <a:tr h="274320">
                <a:tc>
                  <a:txBody>
                    <a:bodyPr/>
                    <a:lstStyle/>
                    <a:p>
                      <a:r>
                        <a:rPr lang="en-US" sz="1600" b="1" dirty="0" err="1"/>
                        <a:t>TotalWorkingYears</a:t>
                      </a:r>
                      <a:endParaRPr lang="en-US"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Aptos" panose="02110004020202020204"/>
                          <a:ea typeface="+mn-ea"/>
                          <a:cs typeface="+mn-cs"/>
                        </a:rPr>
                        <a:t>Negative</a:t>
                      </a:r>
                      <a:endParaRPr kumimoji="0" lang="en-US" sz="16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tc>
                <a:tc>
                  <a:txBody>
                    <a:bodyPr/>
                    <a:lstStyle/>
                    <a:p>
                      <a:r>
                        <a:rPr lang="en-US" sz="1600" b="1" dirty="0"/>
                        <a:t>0.17</a:t>
                      </a:r>
                    </a:p>
                  </a:txBody>
                  <a:tcPr/>
                </a:tc>
                <a:extLst>
                  <a:ext uri="{0D108BD9-81ED-4DB2-BD59-A6C34878D82A}">
                    <a16:rowId xmlns:a16="http://schemas.microsoft.com/office/drawing/2014/main" val="2080988334"/>
                  </a:ext>
                </a:extLst>
              </a:tr>
              <a:tr h="274320">
                <a:tc>
                  <a:txBody>
                    <a:bodyPr/>
                    <a:lstStyle/>
                    <a:p>
                      <a:r>
                        <a:rPr lang="en-US" sz="1600" b="1" dirty="0" err="1"/>
                        <a:t>JobLevel</a:t>
                      </a:r>
                      <a:endParaRPr lang="en-US" sz="1600" b="1" dirty="0"/>
                    </a:p>
                  </a:txBody>
                  <a:tcPr/>
                </a:tc>
                <a:tc>
                  <a:txBody>
                    <a:bodyPr/>
                    <a:lstStyle/>
                    <a:p>
                      <a:r>
                        <a:rPr lang="en-US" sz="1600" b="1" dirty="0"/>
                        <a:t>Negative</a:t>
                      </a:r>
                    </a:p>
                  </a:txBody>
                  <a:tcPr/>
                </a:tc>
                <a:tc>
                  <a:txBody>
                    <a:bodyPr/>
                    <a:lstStyle/>
                    <a:p>
                      <a:r>
                        <a:rPr lang="en-US" sz="1600" b="1" dirty="0"/>
                        <a:t>0.16</a:t>
                      </a:r>
                    </a:p>
                  </a:txBody>
                  <a:tcPr/>
                </a:tc>
                <a:extLst>
                  <a:ext uri="{0D108BD9-81ED-4DB2-BD59-A6C34878D82A}">
                    <a16:rowId xmlns:a16="http://schemas.microsoft.com/office/drawing/2014/main" val="2910792472"/>
                  </a:ext>
                </a:extLst>
              </a:tr>
              <a:tr h="274320">
                <a:tc>
                  <a:txBody>
                    <a:bodyPr/>
                    <a:lstStyle/>
                    <a:p>
                      <a:r>
                        <a:rPr lang="en-US" sz="1600" b="1" dirty="0" err="1"/>
                        <a:t>YearsInCurrentRole</a:t>
                      </a:r>
                      <a:endParaRPr lang="en-US"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Aptos" panose="02110004020202020204"/>
                          <a:ea typeface="+mn-ea"/>
                          <a:cs typeface="+mn-cs"/>
                        </a:rPr>
                        <a:t>Negative</a:t>
                      </a:r>
                      <a:endParaRPr kumimoji="0" lang="en-US" sz="16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tc>
                <a:tc>
                  <a:txBody>
                    <a:bodyPr/>
                    <a:lstStyle/>
                    <a:p>
                      <a:r>
                        <a:rPr lang="en-US" sz="1600" b="1" dirty="0"/>
                        <a:t>0.16</a:t>
                      </a:r>
                    </a:p>
                  </a:txBody>
                  <a:tcPr/>
                </a:tc>
                <a:extLst>
                  <a:ext uri="{0D108BD9-81ED-4DB2-BD59-A6C34878D82A}">
                    <a16:rowId xmlns:a16="http://schemas.microsoft.com/office/drawing/2014/main" val="2655625912"/>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YearsWithCurrManager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Aptos" panose="02110004020202020204"/>
                          <a:ea typeface="+mn-ea"/>
                          <a:cs typeface="+mn-cs"/>
                        </a:rPr>
                        <a:t>Negative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0.15</a:t>
                      </a:r>
                    </a:p>
                  </a:txBody>
                  <a:tcPr/>
                </a:tc>
                <a:extLst>
                  <a:ext uri="{0D108BD9-81ED-4DB2-BD59-A6C34878D82A}">
                    <a16:rowId xmlns:a16="http://schemas.microsoft.com/office/drawing/2014/main" val="3857936919"/>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a:t>StockOptionLevel</a:t>
                      </a:r>
                      <a:endParaRPr lang="en-US" sz="1600" b="1" dirty="0"/>
                    </a:p>
                  </a:txBody>
                  <a:tcPr/>
                </a:tc>
                <a:tc>
                  <a:txBody>
                    <a:bodyPr/>
                    <a:lstStyle/>
                    <a:p>
                      <a:r>
                        <a:rPr lang="en-US" sz="1600" b="1" dirty="0"/>
                        <a:t>Negative</a:t>
                      </a:r>
                    </a:p>
                  </a:txBody>
                  <a:tcPr/>
                </a:tc>
                <a:tc>
                  <a:txBody>
                    <a:bodyPr/>
                    <a:lstStyle/>
                    <a:p>
                      <a:r>
                        <a:rPr lang="en-US" sz="1600" b="1" dirty="0"/>
                        <a:t>0.15</a:t>
                      </a:r>
                    </a:p>
                  </a:txBody>
                  <a:tcPr/>
                </a:tc>
                <a:extLst>
                  <a:ext uri="{0D108BD9-81ED-4DB2-BD59-A6C34878D82A}">
                    <a16:rowId xmlns:a16="http://schemas.microsoft.com/office/drawing/2014/main" val="2573995062"/>
                  </a:ext>
                </a:extLst>
              </a:tr>
              <a:tr h="274320">
                <a:tc>
                  <a:txBody>
                    <a:bodyPr/>
                    <a:lstStyle/>
                    <a:p>
                      <a:r>
                        <a:rPr lang="en-US" sz="1600" b="1" dirty="0"/>
                        <a:t>MonthlyIncome</a:t>
                      </a:r>
                      <a:endParaRPr lang="en-US" sz="1600" dirty="0"/>
                    </a:p>
                  </a:txBody>
                  <a:tcPr/>
                </a:tc>
                <a:tc>
                  <a:txBody>
                    <a:bodyPr/>
                    <a:lstStyle/>
                    <a:p>
                      <a:r>
                        <a:rPr lang="en-US" sz="1600" b="1" dirty="0"/>
                        <a:t>Negative</a:t>
                      </a:r>
                    </a:p>
                  </a:txBody>
                  <a:tcPr/>
                </a:tc>
                <a:tc>
                  <a:txBody>
                    <a:bodyPr/>
                    <a:lstStyle/>
                    <a:p>
                      <a:r>
                        <a:rPr lang="en-US" sz="1600" b="1" dirty="0"/>
                        <a:t>0.15</a:t>
                      </a:r>
                    </a:p>
                  </a:txBody>
                  <a:tcPr/>
                </a:tc>
                <a:extLst>
                  <a:ext uri="{0D108BD9-81ED-4DB2-BD59-A6C34878D82A}">
                    <a16:rowId xmlns:a16="http://schemas.microsoft.com/office/drawing/2014/main" val="4293912539"/>
                  </a:ext>
                </a:extLst>
              </a:tr>
              <a:tr h="274320">
                <a:tc>
                  <a:txBody>
                    <a:bodyPr/>
                    <a:lstStyle/>
                    <a:p>
                      <a:r>
                        <a:rPr lang="en-US" sz="1600" b="1" dirty="0"/>
                        <a:t>Age</a:t>
                      </a:r>
                    </a:p>
                  </a:txBody>
                  <a:tcPr/>
                </a:tc>
                <a:tc>
                  <a:txBody>
                    <a:bodyPr/>
                    <a:lstStyle/>
                    <a:p>
                      <a:r>
                        <a:rPr lang="en-US" sz="1600" b="1" dirty="0"/>
                        <a:t>Negative</a:t>
                      </a:r>
                    </a:p>
                  </a:txBody>
                  <a:tcPr/>
                </a:tc>
                <a:tc>
                  <a:txBody>
                    <a:bodyPr/>
                    <a:lstStyle/>
                    <a:p>
                      <a:r>
                        <a:rPr lang="en-US" sz="1600" b="1" dirty="0"/>
                        <a:t>0.15</a:t>
                      </a:r>
                    </a:p>
                  </a:txBody>
                  <a:tcPr/>
                </a:tc>
                <a:extLst>
                  <a:ext uri="{0D108BD9-81ED-4DB2-BD59-A6C34878D82A}">
                    <a16:rowId xmlns:a16="http://schemas.microsoft.com/office/drawing/2014/main" val="2910064126"/>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a:t>MaritalStatus_Divorced</a:t>
                      </a:r>
                      <a:endParaRPr lang="en-US" sz="1600"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Negative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0.14</a:t>
                      </a:r>
                    </a:p>
                  </a:txBody>
                  <a:tcPr/>
                </a:tc>
                <a:extLst>
                  <a:ext uri="{0D108BD9-81ED-4DB2-BD59-A6C34878D82A}">
                    <a16:rowId xmlns:a16="http://schemas.microsoft.com/office/drawing/2014/main" val="2980931704"/>
                  </a:ext>
                </a:extLst>
              </a:tr>
              <a:tr h="274320">
                <a:tc>
                  <a:txBody>
                    <a:bodyPr/>
                    <a:lstStyle/>
                    <a:p>
                      <a:r>
                        <a:rPr lang="en-US" sz="1600" b="1" dirty="0"/>
                        <a:t>Years at Company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Aptos" panose="02110004020202020204"/>
                          <a:ea typeface="+mn-ea"/>
                          <a:cs typeface="+mn-cs"/>
                        </a:rPr>
                        <a:t>Negative</a:t>
                      </a:r>
                      <a:endParaRPr kumimoji="0" lang="en-US" sz="16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tc>
                <a:tc>
                  <a:txBody>
                    <a:bodyPr/>
                    <a:lstStyle/>
                    <a:p>
                      <a:r>
                        <a:rPr lang="en-US" sz="1600" b="1" dirty="0"/>
                        <a:t>0.13</a:t>
                      </a:r>
                    </a:p>
                  </a:txBody>
                  <a:tcPr/>
                </a:tc>
                <a:extLst>
                  <a:ext uri="{0D108BD9-81ED-4DB2-BD59-A6C34878D82A}">
                    <a16:rowId xmlns:a16="http://schemas.microsoft.com/office/drawing/2014/main" val="3739886591"/>
                  </a:ext>
                </a:extLst>
              </a:tr>
              <a:tr h="2743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err="1"/>
                        <a:t>JobRole_Manufacturing</a:t>
                      </a:r>
                      <a:r>
                        <a:rPr lang="en-US" sz="1600" b="1" dirty="0"/>
                        <a:t> Director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Negative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t>0.13</a:t>
                      </a:r>
                    </a:p>
                  </a:txBody>
                  <a:tcPr/>
                </a:tc>
                <a:extLst>
                  <a:ext uri="{0D108BD9-81ED-4DB2-BD59-A6C34878D82A}">
                    <a16:rowId xmlns:a16="http://schemas.microsoft.com/office/drawing/2014/main" val="127814409"/>
                  </a:ext>
                </a:extLst>
              </a:tr>
            </a:tbl>
          </a:graphicData>
        </a:graphic>
      </p:graphicFrame>
      <p:sp>
        <p:nvSpPr>
          <p:cNvPr id="3" name="Rectangle 2">
            <a:extLst>
              <a:ext uri="{FF2B5EF4-FFF2-40B4-BE49-F238E27FC236}">
                <a16:creationId xmlns:a16="http://schemas.microsoft.com/office/drawing/2014/main" id="{ADF0F3B3-0515-4B3E-0869-760F6F767FD1}"/>
              </a:ext>
            </a:extLst>
          </p:cNvPr>
          <p:cNvSpPr/>
          <p:nvPr/>
        </p:nvSpPr>
        <p:spPr>
          <a:xfrm>
            <a:off x="2570205" y="2854411"/>
            <a:ext cx="7043352" cy="13468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BDFFF21-6712-159C-FDFC-D60F24CB0502}"/>
              </a:ext>
            </a:extLst>
          </p:cNvPr>
          <p:cNvSpPr txBox="1"/>
          <p:nvPr/>
        </p:nvSpPr>
        <p:spPr>
          <a:xfrm>
            <a:off x="9786551" y="3001655"/>
            <a:ext cx="2174790" cy="1200329"/>
          </a:xfrm>
          <a:prstGeom prst="rect">
            <a:avLst/>
          </a:prstGeom>
          <a:noFill/>
        </p:spPr>
        <p:txBody>
          <a:bodyPr wrap="square" rtlCol="0">
            <a:spAutoFit/>
          </a:bodyPr>
          <a:lstStyle/>
          <a:p>
            <a:r>
              <a:rPr lang="en-US" dirty="0"/>
              <a:t>These variables have relatively high correlation with each other.</a:t>
            </a:r>
          </a:p>
        </p:txBody>
      </p:sp>
    </p:spTree>
    <p:extLst>
      <p:ext uri="{BB962C8B-B14F-4D97-AF65-F5344CB8AC3E}">
        <p14:creationId xmlns:p14="http://schemas.microsoft.com/office/powerpoint/2010/main" val="33484908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2D24A18-2006-BCBB-066A-7534576009F4}"/>
              </a:ext>
            </a:extLst>
          </p:cNvPr>
          <p:cNvPicPr>
            <a:picLocks noChangeAspect="1"/>
          </p:cNvPicPr>
          <p:nvPr/>
        </p:nvPicPr>
        <p:blipFill>
          <a:blip r:embed="rId3"/>
          <a:stretch>
            <a:fillRect/>
          </a:stretch>
        </p:blipFill>
        <p:spPr>
          <a:xfrm>
            <a:off x="43203" y="258679"/>
            <a:ext cx="10477318" cy="6340642"/>
          </a:xfrm>
          <a:prstGeom prst="rect">
            <a:avLst/>
          </a:prstGeom>
        </p:spPr>
      </p:pic>
      <p:graphicFrame>
        <p:nvGraphicFramePr>
          <p:cNvPr id="7" name="Chart 6">
            <a:extLst>
              <a:ext uri="{FF2B5EF4-FFF2-40B4-BE49-F238E27FC236}">
                <a16:creationId xmlns:a16="http://schemas.microsoft.com/office/drawing/2014/main" id="{3A412BFB-845D-F444-F7CE-C722E45DC4EA}"/>
              </a:ext>
            </a:extLst>
          </p:cNvPr>
          <p:cNvGraphicFramePr>
            <a:graphicFrameLocks/>
          </p:cNvGraphicFramePr>
          <p:nvPr>
            <p:extLst>
              <p:ext uri="{D42A27DB-BD31-4B8C-83A1-F6EECF244321}">
                <p14:modId xmlns:p14="http://schemas.microsoft.com/office/powerpoint/2010/main" val="1819287207"/>
              </p:ext>
            </p:extLst>
          </p:nvPr>
        </p:nvGraphicFramePr>
        <p:xfrm>
          <a:off x="5923745" y="1241804"/>
          <a:ext cx="6629400" cy="4657725"/>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a:extLst>
              <a:ext uri="{FF2B5EF4-FFF2-40B4-BE49-F238E27FC236}">
                <a16:creationId xmlns:a16="http://schemas.microsoft.com/office/drawing/2014/main" id="{3A412BFB-845D-F444-F7CE-C722E45DC4EA}"/>
              </a:ext>
            </a:extLst>
          </p:cNvPr>
          <p:cNvGraphicFramePr>
            <a:graphicFrameLocks/>
          </p:cNvGraphicFramePr>
          <p:nvPr>
            <p:extLst>
              <p:ext uri="{D42A27DB-BD31-4B8C-83A1-F6EECF244321}">
                <p14:modId xmlns:p14="http://schemas.microsoft.com/office/powerpoint/2010/main" val="129386258"/>
              </p:ext>
            </p:extLst>
          </p:nvPr>
        </p:nvGraphicFramePr>
        <p:xfrm>
          <a:off x="5743270" y="1696453"/>
          <a:ext cx="6348467" cy="452404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4154690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Content Placeholder 18">
            <a:extLst>
              <a:ext uri="{FF2B5EF4-FFF2-40B4-BE49-F238E27FC236}">
                <a16:creationId xmlns:a16="http://schemas.microsoft.com/office/drawing/2014/main" id="{65DC5D37-265C-4C32-CD6D-E16962FCB94F}"/>
              </a:ext>
            </a:extLst>
          </p:cNvPr>
          <p:cNvPicPr>
            <a:picLocks noGrp="1" noChangeAspect="1"/>
          </p:cNvPicPr>
          <p:nvPr>
            <p:ph idx="1"/>
          </p:nvPr>
        </p:nvPicPr>
        <p:blipFill>
          <a:blip r:embed="rId2"/>
          <a:stretch>
            <a:fillRect/>
          </a:stretch>
        </p:blipFill>
        <p:spPr>
          <a:xfrm>
            <a:off x="797563" y="288758"/>
            <a:ext cx="9174476" cy="6092742"/>
          </a:xfrm>
          <a:prstGeom prst="rect">
            <a:avLst/>
          </a:prstGeom>
        </p:spPr>
      </p:pic>
      <p:graphicFrame>
        <p:nvGraphicFramePr>
          <p:cNvPr id="8" name="Chart 7">
            <a:extLst>
              <a:ext uri="{FF2B5EF4-FFF2-40B4-BE49-F238E27FC236}">
                <a16:creationId xmlns:a16="http://schemas.microsoft.com/office/drawing/2014/main" id="{5ECD99F6-615C-52D7-E14E-9A3A0B2ECED7}"/>
              </a:ext>
            </a:extLst>
          </p:cNvPr>
          <p:cNvGraphicFramePr>
            <a:graphicFrameLocks/>
          </p:cNvGraphicFramePr>
          <p:nvPr>
            <p:extLst>
              <p:ext uri="{D42A27DB-BD31-4B8C-83A1-F6EECF244321}">
                <p14:modId xmlns:p14="http://schemas.microsoft.com/office/powerpoint/2010/main" val="836252068"/>
              </p:ext>
            </p:extLst>
          </p:nvPr>
        </p:nvGraphicFramePr>
        <p:xfrm>
          <a:off x="6807200" y="2628900"/>
          <a:ext cx="5283200" cy="34671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780745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9F41E24-6E4A-084D-6382-AF5A4762EBF4}"/>
              </a:ext>
            </a:extLst>
          </p:cNvPr>
          <p:cNvPicPr>
            <a:picLocks noChangeAspect="1"/>
          </p:cNvPicPr>
          <p:nvPr/>
        </p:nvPicPr>
        <p:blipFill>
          <a:blip r:embed="rId2"/>
          <a:stretch>
            <a:fillRect/>
          </a:stretch>
        </p:blipFill>
        <p:spPr>
          <a:xfrm>
            <a:off x="305009" y="328495"/>
            <a:ext cx="9337508" cy="6201010"/>
          </a:xfrm>
          <a:prstGeom prst="rect">
            <a:avLst/>
          </a:prstGeom>
        </p:spPr>
      </p:pic>
      <p:graphicFrame>
        <p:nvGraphicFramePr>
          <p:cNvPr id="6" name="Content Placeholder 5">
            <a:extLst>
              <a:ext uri="{FF2B5EF4-FFF2-40B4-BE49-F238E27FC236}">
                <a16:creationId xmlns:a16="http://schemas.microsoft.com/office/drawing/2014/main" id="{ABCDB734-B007-4EA8-D208-F0CAC86376B5}"/>
              </a:ext>
            </a:extLst>
          </p:cNvPr>
          <p:cNvGraphicFramePr>
            <a:graphicFrameLocks noGrp="1"/>
          </p:cNvGraphicFramePr>
          <p:nvPr>
            <p:ph idx="1"/>
            <p:extLst>
              <p:ext uri="{D42A27DB-BD31-4B8C-83A1-F6EECF244321}">
                <p14:modId xmlns:p14="http://schemas.microsoft.com/office/powerpoint/2010/main" val="3971589701"/>
              </p:ext>
            </p:extLst>
          </p:nvPr>
        </p:nvGraphicFramePr>
        <p:xfrm>
          <a:off x="6444838" y="2457989"/>
          <a:ext cx="6972868" cy="393873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37513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B5A21D2-3531-C399-2EEE-FE6D82C5CA04}"/>
              </a:ext>
            </a:extLst>
          </p:cNvPr>
          <p:cNvPicPr>
            <a:picLocks noChangeAspect="1"/>
          </p:cNvPicPr>
          <p:nvPr/>
        </p:nvPicPr>
        <p:blipFill>
          <a:blip r:embed="rId3"/>
          <a:stretch>
            <a:fillRect/>
          </a:stretch>
        </p:blipFill>
        <p:spPr>
          <a:xfrm>
            <a:off x="228600" y="788259"/>
            <a:ext cx="8349916" cy="5545154"/>
          </a:xfrm>
          <a:prstGeom prst="rect">
            <a:avLst/>
          </a:prstGeom>
        </p:spPr>
      </p:pic>
      <p:graphicFrame>
        <p:nvGraphicFramePr>
          <p:cNvPr id="13" name="Chart 12">
            <a:extLst>
              <a:ext uri="{FF2B5EF4-FFF2-40B4-BE49-F238E27FC236}">
                <a16:creationId xmlns:a16="http://schemas.microsoft.com/office/drawing/2014/main" id="{2032B1BE-0EA8-5CB4-BF2A-2FA3127E3B1A}"/>
              </a:ext>
            </a:extLst>
          </p:cNvPr>
          <p:cNvGraphicFramePr>
            <a:graphicFrameLocks/>
          </p:cNvGraphicFramePr>
          <p:nvPr>
            <p:extLst>
              <p:ext uri="{D42A27DB-BD31-4B8C-83A1-F6EECF244321}">
                <p14:modId xmlns:p14="http://schemas.microsoft.com/office/powerpoint/2010/main" val="4003815514"/>
              </p:ext>
            </p:extLst>
          </p:nvPr>
        </p:nvGraphicFramePr>
        <p:xfrm>
          <a:off x="7158789" y="1251284"/>
          <a:ext cx="5253789" cy="317633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302226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4CE4E53-7662-F39E-8BB0-A97ED168E376}"/>
              </a:ext>
            </a:extLst>
          </p:cNvPr>
          <p:cNvPicPr>
            <a:picLocks noChangeAspect="1"/>
          </p:cNvPicPr>
          <p:nvPr/>
        </p:nvPicPr>
        <p:blipFill>
          <a:blip r:embed="rId2"/>
          <a:stretch>
            <a:fillRect/>
          </a:stretch>
        </p:blipFill>
        <p:spPr>
          <a:xfrm>
            <a:off x="680035" y="713622"/>
            <a:ext cx="8810625" cy="5743575"/>
          </a:xfrm>
          <a:prstGeom prst="rect">
            <a:avLst/>
          </a:prstGeom>
        </p:spPr>
      </p:pic>
      <p:graphicFrame>
        <p:nvGraphicFramePr>
          <p:cNvPr id="10" name="Chart 9">
            <a:extLst>
              <a:ext uri="{FF2B5EF4-FFF2-40B4-BE49-F238E27FC236}">
                <a16:creationId xmlns:a16="http://schemas.microsoft.com/office/drawing/2014/main" id="{48C6A1CD-7350-B858-0616-C738A8869188}"/>
              </a:ext>
            </a:extLst>
          </p:cNvPr>
          <p:cNvGraphicFramePr>
            <a:graphicFrameLocks/>
          </p:cNvGraphicFramePr>
          <p:nvPr>
            <p:extLst>
              <p:ext uri="{D42A27DB-BD31-4B8C-83A1-F6EECF244321}">
                <p14:modId xmlns:p14="http://schemas.microsoft.com/office/powerpoint/2010/main" val="597734176"/>
              </p:ext>
            </p:extLst>
          </p:nvPr>
        </p:nvGraphicFramePr>
        <p:xfrm>
          <a:off x="6954253" y="613611"/>
          <a:ext cx="4822407" cy="305602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254734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Content Placeholder 20">
            <a:extLst>
              <a:ext uri="{FF2B5EF4-FFF2-40B4-BE49-F238E27FC236}">
                <a16:creationId xmlns:a16="http://schemas.microsoft.com/office/drawing/2014/main" id="{7D30DE98-5EED-8369-7491-7A9AF2F22E6E}"/>
              </a:ext>
            </a:extLst>
          </p:cNvPr>
          <p:cNvPicPr>
            <a:picLocks noGrp="1" noChangeAspect="1"/>
          </p:cNvPicPr>
          <p:nvPr>
            <p:ph idx="1"/>
          </p:nvPr>
        </p:nvPicPr>
        <p:blipFill>
          <a:blip r:embed="rId2"/>
          <a:stretch>
            <a:fillRect/>
          </a:stretch>
        </p:blipFill>
        <p:spPr>
          <a:xfrm>
            <a:off x="376277" y="321676"/>
            <a:ext cx="9343811" cy="6091155"/>
          </a:xfrm>
          <a:prstGeom prst="rect">
            <a:avLst/>
          </a:prstGeom>
        </p:spPr>
      </p:pic>
      <p:graphicFrame>
        <p:nvGraphicFramePr>
          <p:cNvPr id="8" name="Chart 7">
            <a:extLst>
              <a:ext uri="{FF2B5EF4-FFF2-40B4-BE49-F238E27FC236}">
                <a16:creationId xmlns:a16="http://schemas.microsoft.com/office/drawing/2014/main" id="{A301D0B9-85BA-E5C8-C385-C2A005844195}"/>
              </a:ext>
            </a:extLst>
          </p:cNvPr>
          <p:cNvGraphicFramePr>
            <a:graphicFrameLocks/>
          </p:cNvGraphicFramePr>
          <p:nvPr>
            <p:extLst>
              <p:ext uri="{D42A27DB-BD31-4B8C-83A1-F6EECF244321}">
                <p14:modId xmlns:p14="http://schemas.microsoft.com/office/powerpoint/2010/main" val="4080423908"/>
              </p:ext>
            </p:extLst>
          </p:nvPr>
        </p:nvGraphicFramePr>
        <p:xfrm>
          <a:off x="7483642" y="1656980"/>
          <a:ext cx="5478379" cy="329665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164213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4C56639D-8BA6-A431-CDCD-ADE3B86D9172}"/>
              </a:ext>
            </a:extLst>
          </p:cNvPr>
          <p:cNvPicPr>
            <a:picLocks noGrp="1" noChangeAspect="1"/>
          </p:cNvPicPr>
          <p:nvPr>
            <p:ph idx="1"/>
          </p:nvPr>
        </p:nvPicPr>
        <p:blipFill>
          <a:blip r:embed="rId2"/>
          <a:srcRect t="5916" b="4470"/>
          <a:stretch>
            <a:fillRect/>
          </a:stretch>
        </p:blipFill>
        <p:spPr>
          <a:xfrm>
            <a:off x="1299112" y="895801"/>
            <a:ext cx="9593776" cy="5709536"/>
          </a:xfrm>
          <a:prstGeom prst="rect">
            <a:avLst/>
          </a:prstGeom>
        </p:spPr>
      </p:pic>
      <p:sp>
        <p:nvSpPr>
          <p:cNvPr id="12" name="TextBox 11">
            <a:extLst>
              <a:ext uri="{FF2B5EF4-FFF2-40B4-BE49-F238E27FC236}">
                <a16:creationId xmlns:a16="http://schemas.microsoft.com/office/drawing/2014/main" id="{9A66D9A1-4957-5D4F-BABD-1455C5B26298}"/>
              </a:ext>
            </a:extLst>
          </p:cNvPr>
          <p:cNvSpPr txBox="1"/>
          <p:nvPr/>
        </p:nvSpPr>
        <p:spPr>
          <a:xfrm>
            <a:off x="1467853" y="96253"/>
            <a:ext cx="9425035" cy="584775"/>
          </a:xfrm>
          <a:prstGeom prst="rect">
            <a:avLst/>
          </a:prstGeom>
          <a:noFill/>
        </p:spPr>
        <p:txBody>
          <a:bodyPr wrap="square" rtlCol="0">
            <a:spAutoFit/>
          </a:bodyPr>
          <a:lstStyle/>
          <a:p>
            <a:r>
              <a:rPr lang="en-US" sz="3200" dirty="0"/>
              <a:t>Attrition by Monthly Income</a:t>
            </a:r>
            <a:endParaRPr lang="en-US" dirty="0"/>
          </a:p>
        </p:txBody>
      </p:sp>
    </p:spTree>
    <p:extLst>
      <p:ext uri="{BB962C8B-B14F-4D97-AF65-F5344CB8AC3E}">
        <p14:creationId xmlns:p14="http://schemas.microsoft.com/office/powerpoint/2010/main" val="3166642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447C4BB-7CED-C919-7CC1-DF94CC6BDCEE}"/>
              </a:ext>
            </a:extLst>
          </p:cNvPr>
          <p:cNvPicPr>
            <a:picLocks noChangeAspect="1"/>
          </p:cNvPicPr>
          <p:nvPr/>
        </p:nvPicPr>
        <p:blipFill>
          <a:blip r:embed="rId2"/>
          <a:srcRect t="7686" b="5171"/>
          <a:stretch>
            <a:fillRect/>
          </a:stretch>
        </p:blipFill>
        <p:spPr>
          <a:xfrm>
            <a:off x="1771650" y="1419726"/>
            <a:ext cx="8648700" cy="5005137"/>
          </a:xfrm>
          <a:prstGeom prst="rect">
            <a:avLst/>
          </a:prstGeom>
        </p:spPr>
      </p:pic>
      <p:sp>
        <p:nvSpPr>
          <p:cNvPr id="18" name="TextBox 17">
            <a:extLst>
              <a:ext uri="{FF2B5EF4-FFF2-40B4-BE49-F238E27FC236}">
                <a16:creationId xmlns:a16="http://schemas.microsoft.com/office/drawing/2014/main" id="{E9815605-7DD5-E148-B375-BA4984D37702}"/>
              </a:ext>
            </a:extLst>
          </p:cNvPr>
          <p:cNvSpPr txBox="1"/>
          <p:nvPr/>
        </p:nvSpPr>
        <p:spPr>
          <a:xfrm>
            <a:off x="1467853" y="96253"/>
            <a:ext cx="9425035" cy="584775"/>
          </a:xfrm>
          <a:prstGeom prst="rect">
            <a:avLst/>
          </a:prstGeom>
          <a:noFill/>
        </p:spPr>
        <p:txBody>
          <a:bodyPr wrap="square" rtlCol="0">
            <a:spAutoFit/>
          </a:bodyPr>
          <a:lstStyle/>
          <a:p>
            <a:r>
              <a:rPr lang="en-US" sz="3200" dirty="0"/>
              <a:t>Attrition by Total Working Years</a:t>
            </a:r>
            <a:endParaRPr lang="en-US" dirty="0"/>
          </a:p>
        </p:txBody>
      </p:sp>
    </p:spTree>
    <p:extLst>
      <p:ext uri="{BB962C8B-B14F-4D97-AF65-F5344CB8AC3E}">
        <p14:creationId xmlns:p14="http://schemas.microsoft.com/office/powerpoint/2010/main" val="33934558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E74D0-621E-FF34-4C7D-877C2BEB79DB}"/>
              </a:ext>
            </a:extLst>
          </p:cNvPr>
          <p:cNvSpPr>
            <a:spLocks noGrp="1"/>
          </p:cNvSpPr>
          <p:nvPr>
            <p:ph type="title"/>
          </p:nvPr>
        </p:nvSpPr>
        <p:spPr/>
        <p:txBody>
          <a:bodyPr/>
          <a:lstStyle/>
          <a:p>
            <a:r>
              <a:rPr lang="en-US" dirty="0"/>
              <a:t>Initial Selected Features for Classification</a:t>
            </a:r>
          </a:p>
        </p:txBody>
      </p:sp>
      <p:sp>
        <p:nvSpPr>
          <p:cNvPr id="3" name="Content Placeholder 2">
            <a:extLst>
              <a:ext uri="{FF2B5EF4-FFF2-40B4-BE49-F238E27FC236}">
                <a16:creationId xmlns:a16="http://schemas.microsoft.com/office/drawing/2014/main" id="{C3F136BC-93D4-24F9-08F6-CDF1BDCEB64D}"/>
              </a:ext>
            </a:extLst>
          </p:cNvPr>
          <p:cNvSpPr>
            <a:spLocks noGrp="1"/>
          </p:cNvSpPr>
          <p:nvPr>
            <p:ph idx="1"/>
          </p:nvPr>
        </p:nvSpPr>
        <p:spPr/>
        <p:txBody>
          <a:bodyPr/>
          <a:lstStyle/>
          <a:p>
            <a:r>
              <a:rPr lang="en-US" dirty="0" err="1"/>
              <a:t>OverTime</a:t>
            </a:r>
            <a:endParaRPr lang="en-US" dirty="0"/>
          </a:p>
          <a:p>
            <a:r>
              <a:rPr lang="en-US" dirty="0" err="1"/>
              <a:t>MonthlyIncome</a:t>
            </a:r>
            <a:endParaRPr lang="en-US" dirty="0"/>
          </a:p>
          <a:p>
            <a:r>
              <a:rPr lang="en-US" dirty="0" err="1"/>
              <a:t>MonthlyIncome_quartile</a:t>
            </a:r>
            <a:endParaRPr lang="en-US" dirty="0"/>
          </a:p>
          <a:p>
            <a:r>
              <a:rPr lang="en-US" dirty="0" err="1"/>
              <a:t>MaritalStatus</a:t>
            </a:r>
            <a:r>
              <a:rPr lang="en-US" dirty="0"/>
              <a:t> = Single</a:t>
            </a:r>
          </a:p>
          <a:p>
            <a:r>
              <a:rPr lang="en-US" dirty="0" err="1"/>
              <a:t>StockOptionLevel</a:t>
            </a:r>
            <a:endParaRPr lang="en-US" dirty="0"/>
          </a:p>
          <a:p>
            <a:endParaRPr lang="en-US" dirty="0"/>
          </a:p>
          <a:p>
            <a:endParaRPr lang="en-US" dirty="0"/>
          </a:p>
        </p:txBody>
      </p:sp>
    </p:spTree>
    <p:extLst>
      <p:ext uri="{BB962C8B-B14F-4D97-AF65-F5344CB8AC3E}">
        <p14:creationId xmlns:p14="http://schemas.microsoft.com/office/powerpoint/2010/main" val="10905446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E1F1C-448A-F1AA-9AC2-7CBAFF3BCB1E}"/>
              </a:ext>
            </a:extLst>
          </p:cNvPr>
          <p:cNvSpPr>
            <a:spLocks noGrp="1"/>
          </p:cNvSpPr>
          <p:nvPr>
            <p:ph type="title"/>
          </p:nvPr>
        </p:nvSpPr>
        <p:spPr/>
        <p:txBody>
          <a:bodyPr/>
          <a:lstStyle/>
          <a:p>
            <a:r>
              <a:rPr lang="en-US" dirty="0"/>
              <a:t>Comparison of Initial Models</a:t>
            </a:r>
          </a:p>
        </p:txBody>
      </p:sp>
      <p:graphicFrame>
        <p:nvGraphicFramePr>
          <p:cNvPr id="4" name="Content Placeholder 3">
            <a:extLst>
              <a:ext uri="{FF2B5EF4-FFF2-40B4-BE49-F238E27FC236}">
                <a16:creationId xmlns:a16="http://schemas.microsoft.com/office/drawing/2014/main" id="{839F1E1F-F2E6-E790-B2D7-1D0B910321C1}"/>
              </a:ext>
            </a:extLst>
          </p:cNvPr>
          <p:cNvGraphicFramePr>
            <a:graphicFrameLocks noGrp="1"/>
          </p:cNvGraphicFramePr>
          <p:nvPr>
            <p:ph idx="1"/>
            <p:extLst>
              <p:ext uri="{D42A27DB-BD31-4B8C-83A1-F6EECF244321}">
                <p14:modId xmlns:p14="http://schemas.microsoft.com/office/powerpoint/2010/main" val="1471853076"/>
              </p:ext>
            </p:extLst>
          </p:nvPr>
        </p:nvGraphicFramePr>
        <p:xfrm>
          <a:off x="838200" y="1825625"/>
          <a:ext cx="10515600" cy="3205480"/>
        </p:xfrm>
        <a:graphic>
          <a:graphicData uri="http://schemas.openxmlformats.org/drawingml/2006/table">
            <a:tbl>
              <a:tblPr firstRow="1" bandRow="1">
                <a:tableStyleId>{5C22544A-7EE6-4342-B048-85BDC9FD1C3A}</a:tableStyleId>
              </a:tblPr>
              <a:tblGrid>
                <a:gridCol w="1770888">
                  <a:extLst>
                    <a:ext uri="{9D8B030D-6E8A-4147-A177-3AD203B41FA5}">
                      <a16:colId xmlns:a16="http://schemas.microsoft.com/office/drawing/2014/main" val="3600060807"/>
                    </a:ext>
                  </a:extLst>
                </a:gridCol>
                <a:gridCol w="3182112">
                  <a:extLst>
                    <a:ext uri="{9D8B030D-6E8A-4147-A177-3AD203B41FA5}">
                      <a16:colId xmlns:a16="http://schemas.microsoft.com/office/drawing/2014/main" val="2365492644"/>
                    </a:ext>
                  </a:extLst>
                </a:gridCol>
                <a:gridCol w="1854200">
                  <a:extLst>
                    <a:ext uri="{9D8B030D-6E8A-4147-A177-3AD203B41FA5}">
                      <a16:colId xmlns:a16="http://schemas.microsoft.com/office/drawing/2014/main" val="895748035"/>
                    </a:ext>
                  </a:extLst>
                </a:gridCol>
                <a:gridCol w="1854200">
                  <a:extLst>
                    <a:ext uri="{9D8B030D-6E8A-4147-A177-3AD203B41FA5}">
                      <a16:colId xmlns:a16="http://schemas.microsoft.com/office/drawing/2014/main" val="1385513736"/>
                    </a:ext>
                  </a:extLst>
                </a:gridCol>
                <a:gridCol w="1854200">
                  <a:extLst>
                    <a:ext uri="{9D8B030D-6E8A-4147-A177-3AD203B41FA5}">
                      <a16:colId xmlns:a16="http://schemas.microsoft.com/office/drawing/2014/main" val="260009882"/>
                    </a:ext>
                  </a:extLst>
                </a:gridCol>
              </a:tblGrid>
              <a:tr h="370840">
                <a:tc>
                  <a:txBody>
                    <a:bodyPr/>
                    <a:lstStyle/>
                    <a:p>
                      <a:r>
                        <a:rPr lang="en-US" dirty="0"/>
                        <a:t>Model</a:t>
                      </a:r>
                    </a:p>
                  </a:txBody>
                  <a:tcPr/>
                </a:tc>
                <a:tc>
                  <a:txBody>
                    <a:bodyPr/>
                    <a:lstStyle/>
                    <a:p>
                      <a:r>
                        <a:rPr lang="en-US" dirty="0"/>
                        <a:t>Predictors</a:t>
                      </a:r>
                    </a:p>
                  </a:txBody>
                  <a:tcPr/>
                </a:tc>
                <a:tc>
                  <a:txBody>
                    <a:bodyPr/>
                    <a:lstStyle/>
                    <a:p>
                      <a:r>
                        <a:rPr lang="en-US" dirty="0"/>
                        <a:t>Accuracy</a:t>
                      </a:r>
                    </a:p>
                  </a:txBody>
                  <a:tcPr/>
                </a:tc>
                <a:tc>
                  <a:txBody>
                    <a:bodyPr/>
                    <a:lstStyle/>
                    <a:p>
                      <a:r>
                        <a:rPr lang="en-US" dirty="0"/>
                        <a:t>Sensitivity</a:t>
                      </a:r>
                    </a:p>
                  </a:txBody>
                  <a:tcPr/>
                </a:tc>
                <a:tc>
                  <a:txBody>
                    <a:bodyPr/>
                    <a:lstStyle/>
                    <a:p>
                      <a:r>
                        <a:rPr lang="en-US" dirty="0"/>
                        <a:t>Specificity</a:t>
                      </a:r>
                    </a:p>
                  </a:txBody>
                  <a:tcPr/>
                </a:tc>
                <a:extLst>
                  <a:ext uri="{0D108BD9-81ED-4DB2-BD59-A6C34878D82A}">
                    <a16:rowId xmlns:a16="http://schemas.microsoft.com/office/drawing/2014/main" val="1206302424"/>
                  </a:ext>
                </a:extLst>
              </a:tr>
              <a:tr h="370840">
                <a:tc>
                  <a:txBody>
                    <a:bodyPr/>
                    <a:lstStyle/>
                    <a:p>
                      <a:r>
                        <a:rPr lang="en-US" dirty="0"/>
                        <a:t>KNN</a:t>
                      </a:r>
                    </a:p>
                  </a:txBody>
                  <a:tcPr/>
                </a:tc>
                <a:tc>
                  <a:txBody>
                    <a:bodyPr/>
                    <a:lstStyle/>
                    <a:p>
                      <a:r>
                        <a:rPr lang="en-US" dirty="0" err="1"/>
                        <a:t>MaritalStatus_Single</a:t>
                      </a:r>
                      <a:r>
                        <a:rPr lang="en-US" dirty="0"/>
                        <a:t>, </a:t>
                      </a:r>
                      <a:r>
                        <a:rPr lang="en-US" dirty="0" err="1"/>
                        <a:t>OverTime_Num</a:t>
                      </a:r>
                      <a:endParaRPr lang="en-US" dirty="0"/>
                    </a:p>
                  </a:txBody>
                  <a:tcPr/>
                </a:tc>
                <a:tc>
                  <a:txBody>
                    <a:bodyPr/>
                    <a:lstStyle/>
                    <a:p>
                      <a:r>
                        <a:rPr lang="en-US" dirty="0"/>
                        <a:t>88.51%</a:t>
                      </a:r>
                    </a:p>
                  </a:txBody>
                  <a:tcPr/>
                </a:tc>
                <a:tc>
                  <a:txBody>
                    <a:bodyPr/>
                    <a:lstStyle/>
                    <a:p>
                      <a:r>
                        <a:rPr lang="en-US" dirty="0"/>
                        <a:t>96.51%</a:t>
                      </a:r>
                    </a:p>
                  </a:txBody>
                  <a:tcPr/>
                </a:tc>
                <a:tc>
                  <a:txBody>
                    <a:bodyPr/>
                    <a:lstStyle/>
                    <a:p>
                      <a:r>
                        <a:rPr lang="en-US" dirty="0"/>
                        <a:t>31.25%</a:t>
                      </a:r>
                    </a:p>
                  </a:txBody>
                  <a:tcPr/>
                </a:tc>
                <a:extLst>
                  <a:ext uri="{0D108BD9-81ED-4DB2-BD59-A6C34878D82A}">
                    <a16:rowId xmlns:a16="http://schemas.microsoft.com/office/drawing/2014/main" val="2510476872"/>
                  </a:ext>
                </a:extLst>
              </a:tr>
              <a:tr h="370840">
                <a:tc>
                  <a:txBody>
                    <a:bodyPr/>
                    <a:lstStyle/>
                    <a:p>
                      <a:r>
                        <a:rPr lang="en-US" dirty="0"/>
                        <a:t>Naïve Bayes 1</a:t>
                      </a:r>
                    </a:p>
                  </a:txBody>
                  <a:tcPr/>
                </a:tc>
                <a:tc>
                  <a:txBody>
                    <a:bodyPr/>
                    <a:lstStyle/>
                    <a:p>
                      <a:r>
                        <a:rPr lang="en-US" dirty="0" err="1"/>
                        <a:t>MaritalStatus_Single</a:t>
                      </a:r>
                      <a:r>
                        <a:rPr lang="en-US" dirty="0"/>
                        <a:t>, </a:t>
                      </a:r>
                      <a:r>
                        <a:rPr lang="en-US" dirty="0" err="1"/>
                        <a:t>OverTime_Num</a:t>
                      </a:r>
                      <a:endParaRPr lang="en-US" dirty="0"/>
                    </a:p>
                  </a:txBody>
                  <a:tcPr/>
                </a:tc>
                <a:tc>
                  <a:txBody>
                    <a:bodyPr/>
                    <a:lstStyle/>
                    <a:p>
                      <a:r>
                        <a:rPr lang="en-US" dirty="0"/>
                        <a:t>88.51%</a:t>
                      </a:r>
                    </a:p>
                  </a:txBody>
                  <a:tcPr/>
                </a:tc>
                <a:tc>
                  <a:txBody>
                    <a:bodyPr/>
                    <a:lstStyle/>
                    <a:p>
                      <a:r>
                        <a:rPr lang="en-US" dirty="0"/>
                        <a:t>96.51%</a:t>
                      </a:r>
                    </a:p>
                  </a:txBody>
                  <a:tcPr/>
                </a:tc>
                <a:tc>
                  <a:txBody>
                    <a:bodyPr/>
                    <a:lstStyle/>
                    <a:p>
                      <a:r>
                        <a:rPr lang="en-US" dirty="0"/>
                        <a:t>31.25%</a:t>
                      </a:r>
                    </a:p>
                  </a:txBody>
                  <a:tcPr/>
                </a:tc>
                <a:extLst>
                  <a:ext uri="{0D108BD9-81ED-4DB2-BD59-A6C34878D82A}">
                    <a16:rowId xmlns:a16="http://schemas.microsoft.com/office/drawing/2014/main" val="3052091388"/>
                  </a:ext>
                </a:extLst>
              </a:tr>
              <a:tr h="370840">
                <a:tc>
                  <a:txBody>
                    <a:bodyPr/>
                    <a:lstStyle/>
                    <a:p>
                      <a:r>
                        <a:rPr lang="en-US" dirty="0"/>
                        <a:t>Naïve Bayes 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MonthlyIncome_quartile</a:t>
                      </a:r>
                      <a:r>
                        <a:rPr lang="en-US" dirty="0"/>
                        <a:t>, </a:t>
                      </a:r>
                      <a:r>
                        <a:rPr lang="en-US" dirty="0" err="1"/>
                        <a:t>OverTime_Num</a:t>
                      </a:r>
                      <a:endParaRPr lang="en-US" dirty="0"/>
                    </a:p>
                  </a:txBody>
                  <a:tcPr/>
                </a:tc>
                <a:tc>
                  <a:txBody>
                    <a:bodyPr/>
                    <a:lstStyle/>
                    <a:p>
                      <a:r>
                        <a:rPr lang="en-US" dirty="0"/>
                        <a:t>85.44%</a:t>
                      </a:r>
                    </a:p>
                  </a:txBody>
                  <a:tcPr/>
                </a:tc>
                <a:tc>
                  <a:txBody>
                    <a:bodyPr/>
                    <a:lstStyle/>
                    <a:p>
                      <a:r>
                        <a:rPr lang="en-US" dirty="0"/>
                        <a:t>95.41%</a:t>
                      </a:r>
                    </a:p>
                  </a:txBody>
                  <a:tcPr/>
                </a:tc>
                <a:tc>
                  <a:txBody>
                    <a:bodyPr/>
                    <a:lstStyle/>
                    <a:p>
                      <a:r>
                        <a:rPr lang="en-US" dirty="0"/>
                        <a:t>34.88%</a:t>
                      </a:r>
                    </a:p>
                  </a:txBody>
                  <a:tcPr/>
                </a:tc>
                <a:extLst>
                  <a:ext uri="{0D108BD9-81ED-4DB2-BD59-A6C34878D82A}">
                    <a16:rowId xmlns:a16="http://schemas.microsoft.com/office/drawing/2014/main" val="2550023269"/>
                  </a:ext>
                </a:extLst>
              </a:tr>
              <a:tr h="370840">
                <a:tc>
                  <a:txBody>
                    <a:bodyPr/>
                    <a:lstStyle/>
                    <a:p>
                      <a:r>
                        <a:rPr lang="en-US" dirty="0"/>
                        <a:t>Naïve Bayes 3</a:t>
                      </a:r>
                      <a:br>
                        <a:rPr lang="en-US" dirty="0"/>
                      </a:br>
                      <a:r>
                        <a:rPr lang="en-US" b="1" dirty="0"/>
                        <a:t>Threshold for a Yes = 0.2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MonthlyIncome_quartile</a:t>
                      </a:r>
                      <a:r>
                        <a:rPr lang="en-US" dirty="0"/>
                        <a:t>, </a:t>
                      </a:r>
                      <a:r>
                        <a:rPr lang="en-US" dirty="0" err="1"/>
                        <a:t>OverTime_Num</a:t>
                      </a:r>
                      <a:endParaRPr lang="en-US" dirty="0"/>
                    </a:p>
                  </a:txBody>
                  <a:tcPr/>
                </a:tc>
                <a:tc>
                  <a:txBody>
                    <a:bodyPr/>
                    <a:lstStyle/>
                    <a:p>
                      <a:r>
                        <a:rPr lang="en-US" dirty="0"/>
                        <a:t>78.16%</a:t>
                      </a:r>
                    </a:p>
                  </a:txBody>
                  <a:tcPr/>
                </a:tc>
                <a:tc>
                  <a:txBody>
                    <a:bodyPr/>
                    <a:lstStyle/>
                    <a:p>
                      <a:r>
                        <a:rPr lang="en-US" dirty="0"/>
                        <a:t>81.65%</a:t>
                      </a:r>
                    </a:p>
                  </a:txBody>
                  <a:tcPr/>
                </a:tc>
                <a:tc>
                  <a:txBody>
                    <a:bodyPr/>
                    <a:lstStyle/>
                    <a:p>
                      <a:r>
                        <a:rPr lang="en-US" b="1" dirty="0"/>
                        <a:t>60.47%</a:t>
                      </a:r>
                    </a:p>
                  </a:txBody>
                  <a:tcPr/>
                </a:tc>
                <a:extLst>
                  <a:ext uri="{0D108BD9-81ED-4DB2-BD59-A6C34878D82A}">
                    <a16:rowId xmlns:a16="http://schemas.microsoft.com/office/drawing/2014/main" val="3917594743"/>
                  </a:ext>
                </a:extLst>
              </a:tr>
            </a:tbl>
          </a:graphicData>
        </a:graphic>
      </p:graphicFrame>
      <p:sp>
        <p:nvSpPr>
          <p:cNvPr id="5" name="TextBox 4">
            <a:extLst>
              <a:ext uri="{FF2B5EF4-FFF2-40B4-BE49-F238E27FC236}">
                <a16:creationId xmlns:a16="http://schemas.microsoft.com/office/drawing/2014/main" id="{81568641-1477-8D62-1244-AD74A5444BD6}"/>
              </a:ext>
            </a:extLst>
          </p:cNvPr>
          <p:cNvSpPr txBox="1"/>
          <p:nvPr/>
        </p:nvSpPr>
        <p:spPr>
          <a:xfrm>
            <a:off x="838200" y="5279136"/>
            <a:ext cx="7488936" cy="646331"/>
          </a:xfrm>
          <a:prstGeom prst="rect">
            <a:avLst/>
          </a:prstGeom>
          <a:noFill/>
        </p:spPr>
        <p:txBody>
          <a:bodyPr wrap="square" rtlCol="0">
            <a:spAutoFit/>
          </a:bodyPr>
          <a:lstStyle/>
          <a:p>
            <a:r>
              <a:rPr lang="en-US" i="1" dirty="0"/>
              <a:t>A model with higher specificity is better at classifying Attrition = yes</a:t>
            </a:r>
          </a:p>
          <a:p>
            <a:endParaRPr lang="en-US" dirty="0"/>
          </a:p>
        </p:txBody>
      </p:sp>
    </p:spTree>
    <p:extLst>
      <p:ext uri="{BB962C8B-B14F-4D97-AF65-F5344CB8AC3E}">
        <p14:creationId xmlns:p14="http://schemas.microsoft.com/office/powerpoint/2010/main" val="28638287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E0F995C-D38F-03D5-F66A-75BC281E2B1C}"/>
              </a:ext>
            </a:extLst>
          </p:cNvPr>
          <p:cNvSpPr>
            <a:spLocks noGrp="1"/>
          </p:cNvSpPr>
          <p:nvPr>
            <p:ph type="title"/>
          </p:nvPr>
        </p:nvSpPr>
        <p:spPr/>
        <p:txBody>
          <a:bodyPr/>
          <a:lstStyle/>
          <a:p>
            <a:r>
              <a:rPr lang="en-US" dirty="0"/>
              <a:t>Reference Notes</a:t>
            </a:r>
          </a:p>
        </p:txBody>
      </p:sp>
      <p:sp>
        <p:nvSpPr>
          <p:cNvPr id="7" name="Content Placeholder 6">
            <a:extLst>
              <a:ext uri="{FF2B5EF4-FFF2-40B4-BE49-F238E27FC236}">
                <a16:creationId xmlns:a16="http://schemas.microsoft.com/office/drawing/2014/main" id="{63A1DB8A-6479-96F4-F5A8-754B454E8920}"/>
              </a:ext>
            </a:extLst>
          </p:cNvPr>
          <p:cNvSpPr>
            <a:spLocks noGrp="1"/>
          </p:cNvSpPr>
          <p:nvPr>
            <p:ph idx="4294967295"/>
          </p:nvPr>
        </p:nvSpPr>
        <p:spPr>
          <a:xfrm>
            <a:off x="807519" y="1825625"/>
            <a:ext cx="10515600" cy="4351338"/>
          </a:xfrm>
        </p:spPr>
        <p:txBody>
          <a:bodyPr>
            <a:normAutofit fontScale="77500" lnSpcReduction="20000"/>
          </a:bodyPr>
          <a:lstStyle/>
          <a:p>
            <a:r>
              <a:rPr lang="en-US" dirty="0"/>
              <a:t>Studies also show that the cost of losing an employee depends upon their position.</a:t>
            </a:r>
          </a:p>
          <a:p>
            <a:pPr lvl="1" fontAlgn="base"/>
            <a:r>
              <a:rPr lang="en-US" dirty="0"/>
              <a:t>An entry-level employee turnover cost is between 30% and 50% of their annual salary to replace.</a:t>
            </a:r>
          </a:p>
          <a:p>
            <a:pPr lvl="1" fontAlgn="base"/>
            <a:r>
              <a:rPr lang="en-US" dirty="0"/>
              <a:t>A mid-level employee turnover costs between 125% and 150% of their annual salary to replace.</a:t>
            </a:r>
          </a:p>
          <a:p>
            <a:pPr lvl="1" fontAlgn="base"/>
            <a:r>
              <a:rPr lang="en-US" dirty="0"/>
              <a:t>A high-level or highly specialized employee costs approximately 400% of their annual salary to replace.</a:t>
            </a:r>
          </a:p>
          <a:p>
            <a:pPr fontAlgn="base"/>
            <a:r>
              <a:rPr lang="en-US" dirty="0"/>
              <a:t>Frito Lay says it costs between 50% and 400% of the employee’s salary to replace.</a:t>
            </a:r>
          </a:p>
          <a:p>
            <a:r>
              <a:rPr lang="en-US" dirty="0"/>
              <a:t>Key strategy # 1: Don’t wait until turnover costs become unacceptably high before you implement an ongoing retention program. Put a retention program in place before you have crisis situation. You not only must find out why employees leave your organization, you must also find out why others stay.</a:t>
            </a:r>
          </a:p>
          <a:p>
            <a:pPr lvl="1"/>
            <a:r>
              <a:rPr lang="en-US" dirty="0"/>
              <a:t>What causes attrition = yes, and what causes attrition = no?</a:t>
            </a:r>
          </a:p>
          <a:p>
            <a:r>
              <a:rPr lang="en-US" dirty="0">
                <a:hlinkClick r:id="rId2"/>
              </a:rPr>
              <a:t>https://www.merriam-webster.com/dictionary/attrition</a:t>
            </a:r>
            <a:endParaRPr lang="en-US" dirty="0"/>
          </a:p>
          <a:p>
            <a:endParaRPr lang="en-US" dirty="0"/>
          </a:p>
          <a:p>
            <a:pPr marL="457200" lvl="1" indent="0">
              <a:buNone/>
            </a:pPr>
            <a:endParaRPr lang="en-US" dirty="0"/>
          </a:p>
        </p:txBody>
      </p:sp>
    </p:spTree>
    <p:extLst>
      <p:ext uri="{BB962C8B-B14F-4D97-AF65-F5344CB8AC3E}">
        <p14:creationId xmlns:p14="http://schemas.microsoft.com/office/powerpoint/2010/main" val="31396426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14043</TotalTime>
  <Words>1537</Words>
  <Application>Microsoft Office PowerPoint</Application>
  <PresentationFormat>Widescreen</PresentationFormat>
  <Paragraphs>500</Paragraphs>
  <Slides>24</Slides>
  <Notes>10</Notes>
  <HiddenSlides>7</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Segoe UI</vt:lpstr>
      <vt:lpstr>Office Theme</vt:lpstr>
      <vt:lpstr>Case Study 1 EDA and Initial Modeling</vt:lpstr>
      <vt:lpstr>Goal: Compare Cost of Employee Incentive vs. Replacement by Analyzing Attrition Factors</vt:lpstr>
      <vt:lpstr>What is attrition?</vt:lpstr>
      <vt:lpstr>Summary of Categorical Features</vt:lpstr>
      <vt:lpstr>Summary of Numerical Features</vt:lpstr>
      <vt:lpstr>Summary of Numerical Features</vt:lpstr>
      <vt:lpstr>PowerPoint Presentation</vt:lpstr>
      <vt:lpstr>Correlation Heatmaps</vt:lpstr>
      <vt:lpstr>Correlation Heatmaps</vt:lpstr>
      <vt:lpstr>Correlation Heatmaps</vt:lpstr>
      <vt:lpstr>Correlation Heatmaps</vt:lpstr>
      <vt:lpstr>Correlation Heatmaps</vt:lpstr>
      <vt:lpstr>Variables of Interest Based on Correlation Heatmaps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Initial Selected Features for Classification</vt:lpstr>
      <vt:lpstr>Comparison of Initial Models</vt:lpstr>
      <vt:lpstr>Reference Notes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Westlauer, Isabella</dc:creator>
  <cp:lastModifiedBy>Westlauer, Isabella</cp:lastModifiedBy>
  <cp:revision>72</cp:revision>
  <dcterms:created xsi:type="dcterms:W3CDTF">2026-02-21T17:12:49Z</dcterms:created>
  <dcterms:modified xsi:type="dcterms:W3CDTF">2026-03-04T02:13:55Z</dcterms:modified>
</cp:coreProperties>
</file>