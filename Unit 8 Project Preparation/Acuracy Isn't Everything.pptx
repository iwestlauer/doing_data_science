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6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EDE5-9FD6-EFED-FFA3-586CF388B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D8D3D-3306-CB8F-D4EA-F1214F09D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7F93E-AD19-7503-2A08-6D462476E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7620B-26BC-CB43-B87A-6A1FEF3248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9D4A8-6DE0-1BCB-24E7-8CBC10D4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D4FCD-DAA6-4B32-E98C-1C4E8788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600-3BF0-CA4B-BCDB-DCFE294E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8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139E-9E2F-4564-D72C-FFC787E37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255B0-AD0A-7B6E-327A-D92D9E831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07A94-5874-DC95-3A1E-0071625E0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7620B-26BC-CB43-B87A-6A1FEF3248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E34CF-0358-1CC9-AD9E-0EB9025C2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1E0EF-891E-4E8A-46A3-45F9DC1B5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600-3BF0-CA4B-BCDB-DCFE294E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420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1BBFF-E05A-7C2D-DC36-5EBC7681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9615E-6352-E0C9-E4FC-F8BEDB680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0ADD6-C466-F4C2-C17D-6136E386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7620B-26BC-CB43-B87A-6A1FEF3248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F02B8-F4CD-8F80-4A68-A5D86DB2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CEF1F-16BD-E204-3B99-B6D49847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600-3BF0-CA4B-BCDB-DCFE294E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27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82D07-18EC-4AD5-6A44-3FBDE5D2F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A08A7-0FEA-09DD-D37C-EBA26C554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AE9ED-C2F3-355F-9D8D-714E9F4BF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734D1-23AA-DBD2-62AD-90863DE9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7620B-26BC-CB43-B87A-6A1FEF3248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5A4A3-35B9-B775-AEFA-ADC4B343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480BB-027F-0AB9-125E-C507D058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600-3BF0-CA4B-BCDB-DCFE294E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79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BEA0-633E-ACDA-950D-9E2396644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A03BE-B8C6-9B45-3597-9B5584BFE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4109B-8DC5-7DA1-D5B0-ED3343191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4D54EE-7F21-D07D-08AD-233C12927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80F096-82D7-DE90-0D72-58E15CE28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A696BD-13C2-5B9B-4A3D-64DF17B2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7620B-26BC-CB43-B87A-6A1FEF3248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4FBE56-46F3-3914-94D1-D6C93E3D6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4E2DD-61F7-30AD-79F4-399674810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600-3BF0-CA4B-BCDB-DCFE294E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04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9F24-D1D6-CE7C-FA8A-1B782DC6A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79860-3C98-4314-12B7-F6E30EAF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7620B-26BC-CB43-B87A-6A1FEF3248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396140-BF16-D2B8-C3B3-40C4A23B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E47AA-AA13-6878-49A5-0727E07CD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600-3BF0-CA4B-BCDB-DCFE294E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4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AA618-7000-D676-2B44-3BC574AB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7620B-26BC-CB43-B87A-6A1FEF3248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A76EE3-5138-674F-0308-C4D9EABE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2E698-BAD3-7377-4D4D-FC3B67A1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600-3BF0-CA4B-BCDB-DCFE294E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19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A1DB-662E-B893-8AAB-CEF17F37E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B6644-F588-3B09-FD4D-2FD43A2F6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924CE-AF5C-C427-9C9D-A21D416E9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15F6F-3927-6799-B192-B16244C3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7620B-26BC-CB43-B87A-6A1FEF3248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3DA36-78FA-D9A1-BC6F-9AD754B0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0DF11-AFD4-1A3B-C623-B7EB2AFE9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600-3BF0-CA4B-BCDB-DCFE294E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8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AA661-BE00-8F7A-4DE5-FC9F6782A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F68E97-9D68-E2FD-7138-947B2D0C5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30CE3-C2BB-1B49-1049-14232205D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C9386-6F48-16F6-E634-BF0503AD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7620B-26BC-CB43-B87A-6A1FEF3248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09941-5FA1-0306-5C51-94FB9820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F6C01-8734-20A7-7D27-D5BCAB78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600-3BF0-CA4B-BCDB-DCFE294E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84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DD59-41DC-FF38-3A59-01DE29C62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153A2-465C-578F-A63F-BAC21545F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28516-CD2B-4202-3DFE-5ABA9AC0D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7620B-26BC-CB43-B87A-6A1FEF3248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35C30-1788-C802-6F11-9D4D68B3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F9D6F-E8A2-9839-9755-31DAEAD8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600-3BF0-CA4B-BCDB-DCFE294E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7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494095-09C8-D55D-23C3-CD2E0530C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EAB40-10AC-B537-3930-300075CC1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8E017-AD0C-20CD-F0D2-7F53BA6A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7620B-26BC-CB43-B87A-6A1FEF3248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0A926-24EE-5F1E-3410-8B8F20F45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5DBAD-078B-0E64-9508-27FE9D2A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600-3BF0-CA4B-BCDB-DCFE294E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97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76136-EE9F-F7CA-F40A-E918084AD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3B51D-CC61-09D7-D933-D4F681E3A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32396-BE7D-BC84-30B0-866D05CA0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7620B-26BC-CB43-B87A-6A1FEF3248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4C2B4-E1AC-7BA3-4601-130E3E9BB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6F4D6-30F6-E4AA-43F2-8A8ED4C8A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CB600-3BF0-CA4B-BCDB-DCFE294E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6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14E0-B693-2D71-F9E9-6C90B843E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Accuracy Isn’t Everything!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1B770-4E51-A734-0BE2-67D95888D9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6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A235F-9D23-47B1-7158-470AD06AF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Breakout 1!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CAAED-AD62-A9DB-B684-5D3E6FB76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7600"/>
          </a:xfrm>
        </p:spPr>
        <p:txBody>
          <a:bodyPr/>
          <a:lstStyle/>
          <a:p>
            <a:r>
              <a:rPr lang="en-US" dirty="0"/>
              <a:t>Question 1: Find the Accuracy, sensitivity and specificity of the confusion matrix below: (*Fraud is the positive class)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2CC5CF-EEAB-E62B-7D45-601BD0BAC649}"/>
              </a:ext>
            </a:extLst>
          </p:cNvPr>
          <p:cNvCxnSpPr/>
          <p:nvPr/>
        </p:nvCxnSpPr>
        <p:spPr>
          <a:xfrm>
            <a:off x="5001985" y="3512684"/>
            <a:ext cx="0" cy="25574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913D68-7927-FB38-7F33-CD9D5831E12E}"/>
              </a:ext>
            </a:extLst>
          </p:cNvPr>
          <p:cNvCxnSpPr/>
          <p:nvPr/>
        </p:nvCxnSpPr>
        <p:spPr>
          <a:xfrm>
            <a:off x="6972299" y="3512684"/>
            <a:ext cx="0" cy="25574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7E282-0835-C632-D6C6-D7D62F19554F}"/>
              </a:ext>
            </a:extLst>
          </p:cNvPr>
          <p:cNvCxnSpPr>
            <a:cxnSpLocks/>
          </p:cNvCxnSpPr>
          <p:nvPr/>
        </p:nvCxnSpPr>
        <p:spPr>
          <a:xfrm>
            <a:off x="4054927" y="4002541"/>
            <a:ext cx="37065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C0BE1B9-8D5D-B3E0-2F9A-889483C1A6A2}"/>
              </a:ext>
            </a:extLst>
          </p:cNvPr>
          <p:cNvSpPr txBox="1"/>
          <p:nvPr/>
        </p:nvSpPr>
        <p:spPr>
          <a:xfrm>
            <a:off x="5279571" y="3512684"/>
            <a:ext cx="41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D28FB5-AA22-4DEA-3CCF-8FAE604F9AE7}"/>
              </a:ext>
            </a:extLst>
          </p:cNvPr>
          <p:cNvSpPr txBox="1"/>
          <p:nvPr/>
        </p:nvSpPr>
        <p:spPr>
          <a:xfrm>
            <a:off x="6204857" y="3512684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DC840A-5AC4-355B-A801-94DF12DDB438}"/>
              </a:ext>
            </a:extLst>
          </p:cNvPr>
          <p:cNvSpPr txBox="1"/>
          <p:nvPr/>
        </p:nvSpPr>
        <p:spPr>
          <a:xfrm>
            <a:off x="4299856" y="547211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88B30B-9251-983F-EA0D-7D638854CE37}"/>
              </a:ext>
            </a:extLst>
          </p:cNvPr>
          <p:cNvSpPr txBox="1"/>
          <p:nvPr/>
        </p:nvSpPr>
        <p:spPr>
          <a:xfrm>
            <a:off x="4299856" y="430773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FDF4C5-B11E-6DE3-FF67-AFEC6F60A1F4}"/>
              </a:ext>
            </a:extLst>
          </p:cNvPr>
          <p:cNvSpPr txBox="1"/>
          <p:nvPr/>
        </p:nvSpPr>
        <p:spPr>
          <a:xfrm>
            <a:off x="5301342" y="430773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7CC997-5913-FDE3-0AB5-A3EAB23BA484}"/>
              </a:ext>
            </a:extLst>
          </p:cNvPr>
          <p:cNvSpPr txBox="1"/>
          <p:nvPr/>
        </p:nvSpPr>
        <p:spPr>
          <a:xfrm>
            <a:off x="5301342" y="547211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BC1419-6C39-2C99-9359-A5018D668A81}"/>
              </a:ext>
            </a:extLst>
          </p:cNvPr>
          <p:cNvSpPr txBox="1"/>
          <p:nvPr/>
        </p:nvSpPr>
        <p:spPr>
          <a:xfrm>
            <a:off x="6270169" y="430773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93AA3A-55D0-1A38-56AD-B915E44598B7}"/>
              </a:ext>
            </a:extLst>
          </p:cNvPr>
          <p:cNvSpPr txBox="1"/>
          <p:nvPr/>
        </p:nvSpPr>
        <p:spPr>
          <a:xfrm>
            <a:off x="6264725" y="547211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DDA740-8C08-77AD-C5EE-F2D89CBEE406}"/>
              </a:ext>
            </a:extLst>
          </p:cNvPr>
          <p:cNvSpPr txBox="1"/>
          <p:nvPr/>
        </p:nvSpPr>
        <p:spPr>
          <a:xfrm>
            <a:off x="5486399" y="2950029"/>
            <a:ext cx="1779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C43557-5D63-CB49-4350-4FC984687B6F}"/>
              </a:ext>
            </a:extLst>
          </p:cNvPr>
          <p:cNvSpPr txBox="1"/>
          <p:nvPr/>
        </p:nvSpPr>
        <p:spPr>
          <a:xfrm rot="16200000">
            <a:off x="2817073" y="4492398"/>
            <a:ext cx="1779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92E3-C4D3-BA2D-78B3-0E82A99087CE}"/>
              </a:ext>
            </a:extLst>
          </p:cNvPr>
          <p:cNvSpPr txBox="1"/>
          <p:nvPr/>
        </p:nvSpPr>
        <p:spPr>
          <a:xfrm>
            <a:off x="8452338" y="2950029"/>
            <a:ext cx="28135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Accuracy = 63/100 = 0.63</a:t>
            </a:r>
          </a:p>
          <a:p>
            <a:r>
              <a:rPr lang="en-US" dirty="0"/>
              <a:t>Sensitivity = 3/10 = 0.3</a:t>
            </a:r>
          </a:p>
          <a:p>
            <a:r>
              <a:rPr lang="en-US" dirty="0"/>
              <a:t>Specificity = 60/90 =0.6667</a:t>
            </a:r>
          </a:p>
          <a:p>
            <a:endParaRPr lang="en-US" dirty="0"/>
          </a:p>
          <a:p>
            <a:r>
              <a:rPr lang="en-US" dirty="0"/>
              <a:t>Notice accuracy is between sensitivity and specificity</a:t>
            </a:r>
          </a:p>
        </p:txBody>
      </p:sp>
    </p:spTree>
    <p:extLst>
      <p:ext uri="{BB962C8B-B14F-4D97-AF65-F5344CB8AC3E}">
        <p14:creationId xmlns:p14="http://schemas.microsoft.com/office/powerpoint/2010/main" val="76186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31C5-F345-0B8D-C3A8-65A9A283F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9BFB-02F0-4D1E-4997-A66B5A82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Breakout 1!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5FDFE-2C9E-F31B-CCF4-752B18D89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Question 2: Find the cost associated with this model if each missed Fraud costs the company $10,000 and each intervention when a Fraud is detected costs $1000.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C0AE70-5F65-E494-CA44-2F3A6266FEC1}"/>
              </a:ext>
            </a:extLst>
          </p:cNvPr>
          <p:cNvCxnSpPr/>
          <p:nvPr/>
        </p:nvCxnSpPr>
        <p:spPr>
          <a:xfrm>
            <a:off x="5001985" y="3512684"/>
            <a:ext cx="0" cy="25574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CA9F07-D09C-0375-1E74-EF00018FF434}"/>
              </a:ext>
            </a:extLst>
          </p:cNvPr>
          <p:cNvCxnSpPr/>
          <p:nvPr/>
        </p:nvCxnSpPr>
        <p:spPr>
          <a:xfrm>
            <a:off x="6972299" y="3512684"/>
            <a:ext cx="0" cy="25574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AA85A1-FB8A-BE46-39C6-23084C95BFA8}"/>
              </a:ext>
            </a:extLst>
          </p:cNvPr>
          <p:cNvCxnSpPr>
            <a:cxnSpLocks/>
          </p:cNvCxnSpPr>
          <p:nvPr/>
        </p:nvCxnSpPr>
        <p:spPr>
          <a:xfrm>
            <a:off x="4054927" y="4002541"/>
            <a:ext cx="37065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6D2227-7BF8-2E70-321B-975F191C879A}"/>
              </a:ext>
            </a:extLst>
          </p:cNvPr>
          <p:cNvSpPr txBox="1"/>
          <p:nvPr/>
        </p:nvSpPr>
        <p:spPr>
          <a:xfrm>
            <a:off x="5279571" y="3512684"/>
            <a:ext cx="41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F28A6-8263-DD1A-E392-DAD4A745B932}"/>
              </a:ext>
            </a:extLst>
          </p:cNvPr>
          <p:cNvSpPr txBox="1"/>
          <p:nvPr/>
        </p:nvSpPr>
        <p:spPr>
          <a:xfrm>
            <a:off x="6204857" y="3512684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EB784-D903-F458-6E94-C01288D8EA90}"/>
              </a:ext>
            </a:extLst>
          </p:cNvPr>
          <p:cNvSpPr txBox="1"/>
          <p:nvPr/>
        </p:nvSpPr>
        <p:spPr>
          <a:xfrm>
            <a:off x="4299856" y="547211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0A18CC-0BDE-9B09-A749-D9BC8436F24E}"/>
              </a:ext>
            </a:extLst>
          </p:cNvPr>
          <p:cNvSpPr txBox="1"/>
          <p:nvPr/>
        </p:nvSpPr>
        <p:spPr>
          <a:xfrm>
            <a:off x="4299856" y="430773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C600A-46CD-EBE3-159F-FE291309FCCF}"/>
              </a:ext>
            </a:extLst>
          </p:cNvPr>
          <p:cNvSpPr txBox="1"/>
          <p:nvPr/>
        </p:nvSpPr>
        <p:spPr>
          <a:xfrm>
            <a:off x="5301342" y="430773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4ED9A0-E7A3-F6BD-E129-9F8245DA5431}"/>
              </a:ext>
            </a:extLst>
          </p:cNvPr>
          <p:cNvSpPr txBox="1"/>
          <p:nvPr/>
        </p:nvSpPr>
        <p:spPr>
          <a:xfrm>
            <a:off x="5301342" y="547211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77326F-DCF4-04DC-8F70-9C272C4B9D6B}"/>
              </a:ext>
            </a:extLst>
          </p:cNvPr>
          <p:cNvSpPr txBox="1"/>
          <p:nvPr/>
        </p:nvSpPr>
        <p:spPr>
          <a:xfrm>
            <a:off x="6270169" y="430773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11B3FC-4330-5E3A-9AC9-33405467833D}"/>
              </a:ext>
            </a:extLst>
          </p:cNvPr>
          <p:cNvSpPr txBox="1"/>
          <p:nvPr/>
        </p:nvSpPr>
        <p:spPr>
          <a:xfrm>
            <a:off x="6264725" y="547211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80C9BB-0505-19D2-6BEE-F9739CF25F70}"/>
              </a:ext>
            </a:extLst>
          </p:cNvPr>
          <p:cNvSpPr txBox="1"/>
          <p:nvPr/>
        </p:nvSpPr>
        <p:spPr>
          <a:xfrm>
            <a:off x="5486399" y="2950029"/>
            <a:ext cx="1779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C98EFC-D9E9-6B3E-FF10-E8292C5EED5F}"/>
              </a:ext>
            </a:extLst>
          </p:cNvPr>
          <p:cNvSpPr txBox="1"/>
          <p:nvPr/>
        </p:nvSpPr>
        <p:spPr>
          <a:xfrm rot="16200000">
            <a:off x="2817073" y="4492398"/>
            <a:ext cx="1779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688EC-2F3B-4B6A-D957-3E3BFEEF557A}"/>
              </a:ext>
            </a:extLst>
          </p:cNvPr>
          <p:cNvSpPr txBox="1"/>
          <p:nvPr/>
        </p:nvSpPr>
        <p:spPr>
          <a:xfrm>
            <a:off x="8077200" y="2943225"/>
            <a:ext cx="29190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 negatives: 7</a:t>
            </a:r>
          </a:p>
          <a:p>
            <a:r>
              <a:rPr lang="en-US" dirty="0"/>
              <a:t>False positives: 30</a:t>
            </a:r>
          </a:p>
          <a:p>
            <a:r>
              <a:rPr lang="en-US" dirty="0"/>
              <a:t>True negatives: 60</a:t>
            </a:r>
          </a:p>
          <a:p>
            <a:r>
              <a:rPr lang="en-US" dirty="0"/>
              <a:t>True positives: 3</a:t>
            </a:r>
          </a:p>
          <a:p>
            <a:endParaRPr lang="en-US" dirty="0"/>
          </a:p>
          <a:p>
            <a:r>
              <a:rPr lang="en-US" dirty="0"/>
              <a:t>Total positive =33 times $1000</a:t>
            </a:r>
          </a:p>
          <a:p>
            <a:endParaRPr lang="en-US" dirty="0"/>
          </a:p>
          <a:p>
            <a:r>
              <a:rPr lang="en-US" dirty="0"/>
              <a:t>Total missed fraud = 7 times $10,000</a:t>
            </a:r>
          </a:p>
          <a:p>
            <a:endParaRPr lang="en-US" dirty="0"/>
          </a:p>
          <a:p>
            <a:r>
              <a:rPr lang="en-US" b="1" u="sng" dirty="0"/>
              <a:t>$103,000</a:t>
            </a:r>
          </a:p>
        </p:txBody>
      </p:sp>
    </p:spTree>
    <p:extLst>
      <p:ext uri="{BB962C8B-B14F-4D97-AF65-F5344CB8AC3E}">
        <p14:creationId xmlns:p14="http://schemas.microsoft.com/office/powerpoint/2010/main" val="295040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0534D-16D7-EBEC-0F8A-F0B865658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F2BF-6037-03B9-091D-7E19F577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Breakout 1!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C81D6-0057-63D2-20E0-9FD34C3B3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7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Question 3: What is the breakeven point?  That is, assuming we have a model that has sensitivity 60%, how many false positives can we tolerate before our model is not saving us any money with respect to the model </a:t>
            </a:r>
            <a:r>
              <a:rPr lang="en-US" b="1" dirty="0"/>
              <a:t>that never guesses a Fraud</a:t>
            </a:r>
            <a:r>
              <a:rPr lang="en-US" dirty="0"/>
              <a:t>?  (Missed Fraud costs $10000 and a fraud intervention costs $1000).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A9D5F0-B68D-729F-8189-10DE70E78B84}"/>
              </a:ext>
            </a:extLst>
          </p:cNvPr>
          <p:cNvCxnSpPr/>
          <p:nvPr/>
        </p:nvCxnSpPr>
        <p:spPr>
          <a:xfrm>
            <a:off x="3020792" y="3512684"/>
            <a:ext cx="0" cy="25574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11F897-DD8D-BFAF-BE3F-948589B22A41}"/>
              </a:ext>
            </a:extLst>
          </p:cNvPr>
          <p:cNvCxnSpPr/>
          <p:nvPr/>
        </p:nvCxnSpPr>
        <p:spPr>
          <a:xfrm>
            <a:off x="4991106" y="3512684"/>
            <a:ext cx="0" cy="25574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9E3450-A057-2EB6-E0E4-17D1A5B3056F}"/>
              </a:ext>
            </a:extLst>
          </p:cNvPr>
          <p:cNvCxnSpPr>
            <a:cxnSpLocks/>
          </p:cNvCxnSpPr>
          <p:nvPr/>
        </p:nvCxnSpPr>
        <p:spPr>
          <a:xfrm>
            <a:off x="2097180" y="4002541"/>
            <a:ext cx="37065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A57EBE-9A5F-B947-EB28-43F6BB7D868B}"/>
              </a:ext>
            </a:extLst>
          </p:cNvPr>
          <p:cNvSpPr txBox="1"/>
          <p:nvPr/>
        </p:nvSpPr>
        <p:spPr>
          <a:xfrm>
            <a:off x="3298378" y="3512684"/>
            <a:ext cx="41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A153E-CBB7-7D5A-40F3-3EDE331B2F44}"/>
              </a:ext>
            </a:extLst>
          </p:cNvPr>
          <p:cNvSpPr txBox="1"/>
          <p:nvPr/>
        </p:nvSpPr>
        <p:spPr>
          <a:xfrm>
            <a:off x="4223664" y="3512684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E2F41D-1AA6-C36B-C020-C10084026F5F}"/>
              </a:ext>
            </a:extLst>
          </p:cNvPr>
          <p:cNvSpPr txBox="1"/>
          <p:nvPr/>
        </p:nvSpPr>
        <p:spPr>
          <a:xfrm>
            <a:off x="2318663" y="547211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87953A-3C48-11A8-7282-5E3BC0282E77}"/>
              </a:ext>
            </a:extLst>
          </p:cNvPr>
          <p:cNvSpPr txBox="1"/>
          <p:nvPr/>
        </p:nvSpPr>
        <p:spPr>
          <a:xfrm>
            <a:off x="2318663" y="430773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9E4605-0830-ECB6-849C-27E09434A5EA}"/>
              </a:ext>
            </a:extLst>
          </p:cNvPr>
          <p:cNvSpPr txBox="1"/>
          <p:nvPr/>
        </p:nvSpPr>
        <p:spPr>
          <a:xfrm>
            <a:off x="3320149" y="430773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7AD974-CCC5-1D61-846D-CCACA6E6485E}"/>
              </a:ext>
            </a:extLst>
          </p:cNvPr>
          <p:cNvSpPr txBox="1"/>
          <p:nvPr/>
        </p:nvSpPr>
        <p:spPr>
          <a:xfrm>
            <a:off x="3320149" y="547211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55F512-889C-3228-BBB3-37A96E6C4CA8}"/>
              </a:ext>
            </a:extLst>
          </p:cNvPr>
          <p:cNvSpPr txBox="1"/>
          <p:nvPr/>
        </p:nvSpPr>
        <p:spPr>
          <a:xfrm>
            <a:off x="4288976" y="430773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22E8DD-F24E-805F-FA8C-E532ED9ABBE6}"/>
              </a:ext>
            </a:extLst>
          </p:cNvPr>
          <p:cNvSpPr txBox="1"/>
          <p:nvPr/>
        </p:nvSpPr>
        <p:spPr>
          <a:xfrm>
            <a:off x="4283532" y="5472113"/>
            <a:ext cx="56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748FDD-87B1-D0FA-BE58-A2468AA6E90B}"/>
              </a:ext>
            </a:extLst>
          </p:cNvPr>
          <p:cNvSpPr txBox="1"/>
          <p:nvPr/>
        </p:nvSpPr>
        <p:spPr>
          <a:xfrm>
            <a:off x="3528652" y="2950029"/>
            <a:ext cx="1779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4FD53D-6CA7-CCBB-CBA0-BDE60ED8AF18}"/>
              </a:ext>
            </a:extLst>
          </p:cNvPr>
          <p:cNvSpPr txBox="1"/>
          <p:nvPr/>
        </p:nvSpPr>
        <p:spPr>
          <a:xfrm rot="16200000">
            <a:off x="835880" y="4492398"/>
            <a:ext cx="1779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4844F-B03F-757A-95E6-49EC070E8041}"/>
              </a:ext>
            </a:extLst>
          </p:cNvPr>
          <p:cNvSpPr txBox="1"/>
          <p:nvPr/>
        </p:nvSpPr>
        <p:spPr>
          <a:xfrm>
            <a:off x="6388235" y="2949087"/>
            <a:ext cx="57472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 F: 10</a:t>
            </a:r>
          </a:p>
          <a:p>
            <a:r>
              <a:rPr lang="en-US" dirty="0"/>
              <a:t>Actual NF: 90</a:t>
            </a:r>
          </a:p>
          <a:p>
            <a:r>
              <a:rPr lang="en-US" dirty="0"/>
              <a:t>False positives cost 1000</a:t>
            </a:r>
          </a:p>
          <a:p>
            <a:r>
              <a:rPr lang="en-US" dirty="0"/>
              <a:t>True positives cost 1000</a:t>
            </a:r>
          </a:p>
          <a:p>
            <a:r>
              <a:rPr lang="en-US" dirty="0"/>
              <a:t>False negatives cost 10,000</a:t>
            </a:r>
          </a:p>
          <a:p>
            <a:r>
              <a:rPr lang="en-US" dirty="0"/>
              <a:t>True negatives cost 0</a:t>
            </a:r>
          </a:p>
          <a:p>
            <a:endParaRPr lang="en-US" dirty="0"/>
          </a:p>
          <a:p>
            <a:r>
              <a:rPr lang="en-US" dirty="0"/>
              <a:t>If a model never guesses fraud, it will miss 10 frauds and no intervention = (</a:t>
            </a:r>
            <a:r>
              <a:rPr lang="en-US" b="1" u="sng" dirty="0"/>
              <a:t>$100,000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(3+x)*1000  + (7+90-x)*10,000 = 100,000</a:t>
            </a:r>
          </a:p>
          <a:p>
            <a:r>
              <a:rPr lang="en-US" dirty="0"/>
              <a:t>X = </a:t>
            </a:r>
            <a:r>
              <a:rPr lang="en-US" b="1" u="sng" dirty="0"/>
              <a:t>97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379702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C082F-5916-A1D4-E8EF-FD7F08E8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Breakout 2!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322D6-1910-2E70-CE5C-AB6A54177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Play around with the threshold and ’k’ value for the KNN model. Can you find a model that beats our best model so far in terms of cost? </a:t>
            </a:r>
          </a:p>
        </p:txBody>
      </p:sp>
    </p:spTree>
    <p:extLst>
      <p:ext uri="{BB962C8B-B14F-4D97-AF65-F5344CB8AC3E}">
        <p14:creationId xmlns:p14="http://schemas.microsoft.com/office/powerpoint/2010/main" val="128631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44C15-094F-4C8A-A1DD-26A6785CB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86EB-394B-02E3-0931-C210FE2B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Breakout 3!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8DC29-4CA9-44C1-EADF-D57784D89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7600"/>
          </a:xfrm>
        </p:spPr>
        <p:txBody>
          <a:bodyPr>
            <a:normAutofit/>
          </a:bodyPr>
          <a:lstStyle/>
          <a:p>
            <a:r>
              <a:rPr lang="en-US" dirty="0"/>
              <a:t>Try to code a change of threshold for the Naïve Bayes model.  Can you find a model that beats our best KNN model in terms of Cost? </a:t>
            </a:r>
          </a:p>
        </p:txBody>
      </p:sp>
    </p:spTree>
    <p:extLst>
      <p:ext uri="{BB962C8B-B14F-4D97-AF65-F5344CB8AC3E}">
        <p14:creationId xmlns:p14="http://schemas.microsoft.com/office/powerpoint/2010/main" val="1121213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CD79-24B7-7426-0FAF-D2A18267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GREAT WORK!</a:t>
            </a:r>
          </a:p>
        </p:txBody>
      </p:sp>
    </p:spTree>
    <p:extLst>
      <p:ext uri="{BB962C8B-B14F-4D97-AF65-F5344CB8AC3E}">
        <p14:creationId xmlns:p14="http://schemas.microsoft.com/office/powerpoint/2010/main" val="516113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345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Accuracy Isn’t Everything!</vt:lpstr>
      <vt:lpstr>Breakout 1! </vt:lpstr>
      <vt:lpstr>Breakout 1! </vt:lpstr>
      <vt:lpstr>Breakout 1! </vt:lpstr>
      <vt:lpstr>Breakout 2!</vt:lpstr>
      <vt:lpstr>Breakout 3! </vt:lpstr>
      <vt:lpstr>GREAT WORK!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Sadler, Bivin Philip</dc:creator>
  <cp:lastModifiedBy>Westlauer, Isabella</cp:lastModifiedBy>
  <cp:revision>6</cp:revision>
  <dcterms:created xsi:type="dcterms:W3CDTF">2024-10-14T22:30:51Z</dcterms:created>
  <dcterms:modified xsi:type="dcterms:W3CDTF">2026-02-25T23:32:13Z</dcterms:modified>
</cp:coreProperties>
</file>