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595" r:id="rId4"/>
    <p:sldId id="603" r:id="rId5"/>
    <p:sldId id="596" r:id="rId6"/>
    <p:sldId id="597" r:id="rId7"/>
    <p:sldId id="605" r:id="rId8"/>
    <p:sldId id="607" r:id="rId9"/>
    <p:sldId id="598" r:id="rId10"/>
    <p:sldId id="599" r:id="rId11"/>
    <p:sldId id="608" r:id="rId12"/>
    <p:sldId id="600" r:id="rId13"/>
    <p:sldId id="593" r:id="rId14"/>
    <p:sldId id="601" r:id="rId15"/>
    <p:sldId id="594" r:id="rId16"/>
    <p:sldId id="602" r:id="rId17"/>
    <p:sldId id="60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164C65-F91C-4883-A894-30A7DD52B25B}">
          <p14:sldIdLst>
            <p14:sldId id="256"/>
          </p14:sldIdLst>
        </p14:section>
        <p14:section name="part 1" id="{D1E2292D-5733-4523-B6A7-9BF119F47C6B}">
          <p14:sldIdLst>
            <p14:sldId id="257"/>
            <p14:sldId id="595"/>
            <p14:sldId id="603"/>
          </p14:sldIdLst>
        </p14:section>
        <p14:section name="part 2" id="{0DADD182-A9EF-4147-B97C-F565F85D8B3D}">
          <p14:sldIdLst>
            <p14:sldId id="596"/>
            <p14:sldId id="597"/>
            <p14:sldId id="605"/>
            <p14:sldId id="607"/>
          </p14:sldIdLst>
        </p14:section>
        <p14:section name="part 3" id="{2FF961DE-27FF-4D76-B601-98D200036844}">
          <p14:sldIdLst>
            <p14:sldId id="598"/>
            <p14:sldId id="599"/>
            <p14:sldId id="608"/>
          </p14:sldIdLst>
        </p14:section>
        <p14:section name="part 4" id="{E2ED711C-5138-4321-8691-8D530290D83F}">
          <p14:sldIdLst>
            <p14:sldId id="600"/>
            <p14:sldId id="593"/>
            <p14:sldId id="601"/>
            <p14:sldId id="594"/>
            <p14:sldId id="602"/>
            <p14:sldId id="6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8D0B9-CF71-4E9A-88B3-01AAADAAF7C7}" v="69" dt="2026-03-16T03:48:00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805" autoAdjust="0"/>
  </p:normalViewPr>
  <p:slideViewPr>
    <p:cSldViewPr snapToGrid="0">
      <p:cViewPr>
        <p:scale>
          <a:sx n="60" d="100"/>
          <a:sy n="60" d="100"/>
        </p:scale>
        <p:origin x="4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tlauer, Isabella" userId="bb18fa9b-6a8b-4378-9cf7-3d16afb4bbc0" providerId="ADAL" clId="{2BC41745-1DD1-4AE5-A59A-00E0B0A0A5CA}"/>
    <pc:docChg chg="custSel addSld modSld modSection">
      <pc:chgData name="Westlauer, Isabella" userId="bb18fa9b-6a8b-4378-9cf7-3d16afb4bbc0" providerId="ADAL" clId="{2BC41745-1DD1-4AE5-A59A-00E0B0A0A5CA}" dt="2026-03-17T02:40:07.572" v="1111" actId="20577"/>
      <pc:docMkLst>
        <pc:docMk/>
      </pc:docMkLst>
      <pc:sldChg chg="modSp new mod">
        <pc:chgData name="Westlauer, Isabella" userId="bb18fa9b-6a8b-4378-9cf7-3d16afb4bbc0" providerId="ADAL" clId="{2BC41745-1DD1-4AE5-A59A-00E0B0A0A5CA}" dt="2026-03-17T02:40:07.572" v="1111" actId="20577"/>
        <pc:sldMkLst>
          <pc:docMk/>
          <pc:sldMk cId="1243786094" sldId="609"/>
        </pc:sldMkLst>
        <pc:spChg chg="mod">
          <ac:chgData name="Westlauer, Isabella" userId="bb18fa9b-6a8b-4378-9cf7-3d16afb4bbc0" providerId="ADAL" clId="{2BC41745-1DD1-4AE5-A59A-00E0B0A0A5CA}" dt="2026-03-17T02:12:02.521" v="14" actId="20577"/>
          <ac:spMkLst>
            <pc:docMk/>
            <pc:sldMk cId="1243786094" sldId="609"/>
            <ac:spMk id="2" creationId="{8053C878-1306-7C54-2E1D-AD17813AF625}"/>
          </ac:spMkLst>
        </pc:spChg>
        <pc:spChg chg="mod">
          <ac:chgData name="Westlauer, Isabella" userId="bb18fa9b-6a8b-4378-9cf7-3d16afb4bbc0" providerId="ADAL" clId="{2BC41745-1DD1-4AE5-A59A-00E0B0A0A5CA}" dt="2026-03-17T02:40:07.572" v="1111" actId="20577"/>
          <ac:spMkLst>
            <pc:docMk/>
            <pc:sldMk cId="1243786094" sldId="609"/>
            <ac:spMk id="3" creationId="{F11F321B-16D1-9820-25B4-792976B071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5BA85-ABF6-44D9-9BCE-83A76030246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25305-18BD-4770-927F-E60B6549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0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725305-18BD-4770-927F-E60B65490F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1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8E1-4487-CBD3-8273-AA9240795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9E384-471D-81DB-3CAC-585C068B4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7AF21-579D-05C6-696E-DF196E25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01432-4C35-4B32-DE7F-50844EB5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77180-6C71-8EBF-1746-E7C25C5B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3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3186-2B31-777D-2A51-C827E095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BA81-D157-DD1C-4027-6B5FB3AC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F64A7-D23D-D2DF-E424-73A1D2C0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19B2-98CA-F9C7-796C-0FE573B4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1EB07-8F2E-69CC-980B-0AB76B93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1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ADA4-C327-CEF9-CED3-D308EE5D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DA563-2788-11E5-0455-BD523A478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8FC07-7B29-BCF2-58F0-61BF2720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6A549-E42A-C3B5-B30F-133D483F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0B446-ED95-FB7E-B183-8FFEDBB5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E3CE-7F4B-6C85-7B7C-900C8414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6F095-E1EA-7DAA-1E4D-0FAE1150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710F1-834F-C4E4-5D8E-EF0F71EBF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F9F2F-75DD-759C-B002-695EC992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D5E17-E843-6522-94EF-25EBF682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38B0B-4B88-D60D-CD96-14D70EDE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7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6FA0-A6AD-047B-1F15-1717E6B2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FA40C-3AE5-39FC-5308-381D77840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42D25-99D3-E218-530A-1F48DB05E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C40B0-8675-DF1C-6E63-8E6A2DCAA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5A5EB-F73F-43D8-A169-4367541CF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81735-6BDF-9FAF-CA63-3BB68D81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72F2E-7795-E7B4-B761-DFBC8163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CDA64-D9E2-74B7-D6A0-C6802029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8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995E-55CA-B927-1FF1-5BE55013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C5299-4998-A183-44F8-76E4DE39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A15D3-33F7-CF6F-F2CF-6C55DAB5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BC562-E8A2-36B0-7FCA-710B49AD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6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E3E9D-394F-138E-3034-50978BE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DF2E2-5EBA-FBE3-4EC2-362AD1FF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80CB4-8FAB-23F4-CD87-4847D621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1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0F4B-D679-4806-E5B9-C87407D7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7B31-9883-397A-5CC6-4688044DC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C128C-516F-A2BA-4A75-8C11F0A4D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7966B-2A53-BA3F-2FA8-9852555D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A9909-6A54-AA30-06A2-9F060B2D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B308E-F54D-6910-F906-1280170E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7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E04F-B783-28B2-D43C-50122619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80EC0-86ED-D2CB-7C8E-9424373F2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90542-E046-D6A5-EC55-09663DD8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56EB7-A784-558B-B63C-B1626C89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197DC-60BC-865E-B2A4-F9D051F2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A1B62-8D8D-6F5D-5203-3AB51770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2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963A-1AC8-540F-A4F8-84983BD9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C2F5B-2AE0-8C9D-1884-B27B07E2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6CAB-F7FC-1D04-90E2-8C936FC8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F53C-93EB-03F8-680F-5923D6C1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8CA3C-B0B1-8680-C180-DBD9FF19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7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34398-6BAE-A05C-3C0F-133E3D710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6DF5D-53A3-2411-FA1E-ABC16C270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B064-1F56-3165-08CC-E2D4086C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E57F-B3C9-3F4E-765F-CEA04B84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CBD3-DD10-22B1-99C8-86C02B6C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7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96CD0-2B46-8B9D-F2A1-D843A6D0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9E834-A0CE-4A1D-D2BA-B8D3A1EFE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539A5-42B7-50EA-D013-1914F482E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5E84C-799E-434B-B555-A2CE91254D07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D56E-5957-AD9F-7F83-D432AB4A4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61CFA-3AD2-14EE-2F5D-06968474C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2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74E2-B062-D8FA-236A-6245A0DE1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 11 For Live Session Assignment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C751-F9E3-A2B9-AF7E-8CE9B5298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Isabella Westlauer</a:t>
            </a:r>
          </a:p>
          <a:p>
            <a:r>
              <a:rPr lang="en-US" dirty="0"/>
              <a:t>3/14/2026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04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AADD-C4BA-28ED-6849-76223402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 Model for AUS Air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5F47E-E920-D330-26FF-8182BAC09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9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4D7-A0B5-4D4F-9C37-008F675E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One: SES</a:t>
            </a:r>
            <a:r>
              <a:rPr lang="en-US" dirty="0">
                <a:sym typeface="Wingdings" pitchFamily="2" charset="2"/>
              </a:rPr>
              <a:t> (1 hour)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0C599-7CAD-DF48-AD10-16582420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174" y="1551562"/>
            <a:ext cx="3156626" cy="88035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dirty="0"/>
              <a:t>Run this code and get a feel for what it is doing.  Feel free to change it up and just learn by playing. Create a slide that allows you to discuss the output / analysis / result.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715C8-F2E4-6442-BABF-B37482156D6B}"/>
              </a:ext>
            </a:extLst>
          </p:cNvPr>
          <p:cNvSpPr/>
          <p:nvPr/>
        </p:nvSpPr>
        <p:spPr>
          <a:xfrm>
            <a:off x="1767193" y="1371600"/>
            <a:ext cx="10087583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700" dirty="0"/>
          </a:p>
          <a:p>
            <a:r>
              <a:rPr lang="en-US" sz="700" dirty="0" err="1"/>
              <a:t>install.packages</a:t>
            </a:r>
            <a:r>
              <a:rPr lang="en-US" sz="700" dirty="0"/>
              <a:t>("</a:t>
            </a:r>
            <a:r>
              <a:rPr lang="en-US" sz="700" dirty="0" err="1"/>
              <a:t>fpp</a:t>
            </a:r>
            <a:r>
              <a:rPr lang="en-US" sz="700" dirty="0"/>
              <a:t>")</a:t>
            </a:r>
          </a:p>
          <a:p>
            <a:r>
              <a:rPr lang="en-US" sz="700" dirty="0"/>
              <a:t>library(</a:t>
            </a:r>
            <a:r>
              <a:rPr lang="en-US" sz="700" dirty="0" err="1"/>
              <a:t>fpp</a:t>
            </a:r>
            <a:r>
              <a:rPr lang="en-US" sz="700" dirty="0"/>
              <a:t>)</a:t>
            </a:r>
          </a:p>
          <a:p>
            <a:endParaRPr lang="en-US" sz="700" dirty="0"/>
          </a:p>
          <a:p>
            <a:r>
              <a:rPr lang="en-US" sz="700" dirty="0"/>
              <a:t># 1. SES MODEL FOR AUS AIR </a:t>
            </a:r>
          </a:p>
          <a:p>
            <a:r>
              <a:rPr lang="en-US" sz="700" dirty="0"/>
              <a:t>data(</a:t>
            </a:r>
            <a:r>
              <a:rPr lang="en-US" sz="700" dirty="0" err="1"/>
              <a:t>ausair</a:t>
            </a:r>
            <a:r>
              <a:rPr lang="en-US" sz="700" dirty="0"/>
              <a:t>)</a:t>
            </a:r>
          </a:p>
          <a:p>
            <a:endParaRPr lang="en-US" sz="700" dirty="0"/>
          </a:p>
          <a:p>
            <a:r>
              <a:rPr lang="en-US" sz="700" dirty="0"/>
              <a:t>#returns a </a:t>
            </a:r>
            <a:r>
              <a:rPr lang="en-US" sz="700" dirty="0" err="1"/>
              <a:t>ts</a:t>
            </a:r>
            <a:r>
              <a:rPr lang="en-US" sz="700" dirty="0"/>
              <a:t> object</a:t>
            </a:r>
          </a:p>
          <a:p>
            <a:r>
              <a:rPr lang="en-US" sz="700" dirty="0"/>
              <a:t>air = window(</a:t>
            </a:r>
            <a:r>
              <a:rPr lang="en-US" sz="700" dirty="0" err="1"/>
              <a:t>ausair</a:t>
            </a:r>
            <a:r>
              <a:rPr lang="en-US" sz="700" dirty="0"/>
              <a:t>, start = 1990, end = 2004)</a:t>
            </a:r>
          </a:p>
          <a:p>
            <a:endParaRPr lang="en-US" sz="700" dirty="0"/>
          </a:p>
          <a:p>
            <a:r>
              <a:rPr lang="en-US" sz="700" dirty="0"/>
              <a:t># Always plot the data first! </a:t>
            </a:r>
          </a:p>
          <a:p>
            <a:r>
              <a:rPr lang="en-US" sz="700" dirty="0"/>
              <a:t>plot(</a:t>
            </a:r>
            <a:r>
              <a:rPr lang="en-US" sz="700" dirty="0" err="1"/>
              <a:t>air,ylab</a:t>
            </a:r>
            <a:r>
              <a:rPr lang="en-US" sz="700" dirty="0"/>
              <a:t> = "Airline </a:t>
            </a:r>
            <a:r>
              <a:rPr lang="en-US" sz="700" dirty="0" err="1"/>
              <a:t>Passegners</a:t>
            </a:r>
            <a:r>
              <a:rPr lang="en-US" sz="700" dirty="0"/>
              <a:t>", </a:t>
            </a:r>
            <a:r>
              <a:rPr lang="en-US" sz="700" dirty="0" err="1"/>
              <a:t>xlab</a:t>
            </a:r>
            <a:r>
              <a:rPr lang="en-US" sz="700" dirty="0"/>
              <a:t> = "Year", main = "Airline Passengers")</a:t>
            </a:r>
          </a:p>
          <a:p>
            <a:endParaRPr lang="en-US" sz="700" dirty="0"/>
          </a:p>
          <a:p>
            <a:r>
              <a:rPr lang="en-US" sz="700" dirty="0"/>
              <a:t>#fit 3 different simple exponential smoothing models ... how are they different?</a:t>
            </a:r>
          </a:p>
          <a:p>
            <a:r>
              <a:rPr lang="en-US" sz="700" dirty="0"/>
              <a:t># what does the h </a:t>
            </a:r>
            <a:r>
              <a:rPr lang="en-US" sz="700" dirty="0" err="1"/>
              <a:t>paramter</a:t>
            </a:r>
            <a:r>
              <a:rPr lang="en-US" sz="700" dirty="0"/>
              <a:t> do? </a:t>
            </a:r>
          </a:p>
          <a:p>
            <a:r>
              <a:rPr lang="en-US" sz="700" dirty="0"/>
              <a:t>fit1 = </a:t>
            </a:r>
            <a:r>
              <a:rPr lang="en-US" sz="700" dirty="0" err="1"/>
              <a:t>ses</a:t>
            </a:r>
            <a:r>
              <a:rPr lang="en-US" sz="700" dirty="0"/>
              <a:t>(air, initial = "</a:t>
            </a:r>
            <a:r>
              <a:rPr lang="en-US" sz="700" dirty="0" err="1"/>
              <a:t>simple",alpha</a:t>
            </a:r>
            <a:r>
              <a:rPr lang="en-US" sz="700" dirty="0"/>
              <a:t> = .2,h = 3)</a:t>
            </a:r>
          </a:p>
          <a:p>
            <a:r>
              <a:rPr lang="en-US" sz="700" dirty="0"/>
              <a:t>fit2 = </a:t>
            </a:r>
            <a:r>
              <a:rPr lang="en-US" sz="700" dirty="0" err="1"/>
              <a:t>ses</a:t>
            </a:r>
            <a:r>
              <a:rPr lang="en-US" sz="700" dirty="0"/>
              <a:t>(</a:t>
            </a:r>
            <a:r>
              <a:rPr lang="en-US" sz="700" dirty="0" err="1"/>
              <a:t>air,initial</a:t>
            </a:r>
            <a:r>
              <a:rPr lang="en-US" sz="700" dirty="0"/>
              <a:t> = "</a:t>
            </a:r>
            <a:r>
              <a:rPr lang="en-US" sz="700" dirty="0" err="1"/>
              <a:t>simple",alpha</a:t>
            </a:r>
            <a:r>
              <a:rPr lang="en-US" sz="700" dirty="0"/>
              <a:t> = .6, h = 3)</a:t>
            </a:r>
          </a:p>
          <a:p>
            <a:r>
              <a:rPr lang="en-US" sz="700" dirty="0"/>
              <a:t>fit3 = </a:t>
            </a:r>
            <a:r>
              <a:rPr lang="en-US" sz="700" dirty="0" err="1"/>
              <a:t>ses</a:t>
            </a:r>
            <a:r>
              <a:rPr lang="en-US" sz="700" dirty="0"/>
              <a:t>(air, h = 3) #defaults</a:t>
            </a:r>
          </a:p>
          <a:p>
            <a:endParaRPr lang="en-US" sz="700" dirty="0"/>
          </a:p>
          <a:p>
            <a:r>
              <a:rPr lang="en-US" sz="700" dirty="0"/>
              <a:t># the forecast package has a nice accuracy </a:t>
            </a:r>
            <a:r>
              <a:rPr lang="en-US" sz="700" dirty="0" err="1"/>
              <a:t>funciton</a:t>
            </a:r>
            <a:r>
              <a:rPr lang="en-US" sz="700" dirty="0"/>
              <a:t> with various metrics just pass it the </a:t>
            </a:r>
          </a:p>
          <a:p>
            <a:r>
              <a:rPr lang="en-US" sz="700" dirty="0"/>
              <a:t># the model and the data!  (This is the "training" data)</a:t>
            </a:r>
          </a:p>
          <a:p>
            <a:r>
              <a:rPr lang="en-US" sz="700" dirty="0"/>
              <a:t>accuracy(fit1, </a:t>
            </a:r>
            <a:r>
              <a:rPr lang="en-US" sz="700" dirty="0" err="1"/>
              <a:t>ausair</a:t>
            </a:r>
            <a:r>
              <a:rPr lang="en-US" sz="700" dirty="0"/>
              <a:t>)</a:t>
            </a:r>
          </a:p>
          <a:p>
            <a:r>
              <a:rPr lang="en-US" sz="700" dirty="0"/>
              <a:t>accuracy(fit2, </a:t>
            </a:r>
            <a:r>
              <a:rPr lang="en-US" sz="700" dirty="0" err="1"/>
              <a:t>ausair</a:t>
            </a:r>
            <a:r>
              <a:rPr lang="en-US" sz="700" dirty="0"/>
              <a:t>)</a:t>
            </a:r>
          </a:p>
          <a:p>
            <a:r>
              <a:rPr lang="en-US" sz="700" dirty="0"/>
              <a:t>accuracy(fit3, </a:t>
            </a:r>
            <a:r>
              <a:rPr lang="en-US" sz="700" dirty="0" err="1"/>
              <a:t>ausair</a:t>
            </a:r>
            <a:r>
              <a:rPr lang="en-US" sz="700" dirty="0"/>
              <a:t>)</a:t>
            </a:r>
          </a:p>
          <a:p>
            <a:endParaRPr lang="en-US" sz="700" dirty="0"/>
          </a:p>
          <a:p>
            <a:r>
              <a:rPr lang="en-US" sz="700" dirty="0"/>
              <a:t>#Reset the plot</a:t>
            </a:r>
          </a:p>
          <a:p>
            <a:r>
              <a:rPr lang="en-US" sz="700" dirty="0"/>
              <a:t>plot(</a:t>
            </a:r>
            <a:r>
              <a:rPr lang="en-US" sz="700" dirty="0" err="1"/>
              <a:t>air,ylab</a:t>
            </a:r>
            <a:r>
              <a:rPr lang="en-US" sz="700" dirty="0"/>
              <a:t> = "Airline </a:t>
            </a:r>
            <a:r>
              <a:rPr lang="en-US" sz="700" dirty="0" err="1"/>
              <a:t>Passegners</a:t>
            </a:r>
            <a:r>
              <a:rPr lang="en-US" sz="700" dirty="0"/>
              <a:t>", </a:t>
            </a:r>
            <a:r>
              <a:rPr lang="en-US" sz="700" dirty="0" err="1"/>
              <a:t>xlab</a:t>
            </a:r>
            <a:r>
              <a:rPr lang="en-US" sz="700" dirty="0"/>
              <a:t> = "Year", type = "o", </a:t>
            </a:r>
            <a:r>
              <a:rPr lang="en-US" sz="700" dirty="0" err="1"/>
              <a:t>xlim</a:t>
            </a:r>
            <a:r>
              <a:rPr lang="en-US" sz="700" dirty="0"/>
              <a:t> = c(1990, 2008),</a:t>
            </a:r>
            <a:r>
              <a:rPr lang="en-US" sz="700" dirty="0" err="1"/>
              <a:t>ylim</a:t>
            </a:r>
            <a:r>
              <a:rPr lang="en-US" sz="700" dirty="0"/>
              <a:t> = c(15,50), main = "Airline Passengers")</a:t>
            </a:r>
          </a:p>
          <a:p>
            <a:endParaRPr lang="en-US" sz="700" dirty="0"/>
          </a:p>
          <a:p>
            <a:r>
              <a:rPr lang="en-US" sz="700" dirty="0"/>
              <a:t>#Plot the estimated values from the models .. the "fitted" values are the training values.</a:t>
            </a:r>
          </a:p>
          <a:p>
            <a:r>
              <a:rPr lang="en-US" sz="700" dirty="0"/>
              <a:t>lines(fitted(fit1), col = "blue", type = "o")</a:t>
            </a:r>
          </a:p>
          <a:p>
            <a:r>
              <a:rPr lang="en-US" sz="700" dirty="0"/>
              <a:t>lines(fitted(fit2), col = "red", type = "o")</a:t>
            </a:r>
          </a:p>
          <a:p>
            <a:r>
              <a:rPr lang="en-US" sz="700" dirty="0"/>
              <a:t>lines(fitted(fit3), col = "green", type = "o")</a:t>
            </a:r>
          </a:p>
          <a:p>
            <a:endParaRPr lang="en-US" sz="700" dirty="0"/>
          </a:p>
          <a:p>
            <a:r>
              <a:rPr lang="en-US" sz="700" dirty="0"/>
              <a:t># the  $mean values are the forecasts.</a:t>
            </a:r>
          </a:p>
          <a:p>
            <a:r>
              <a:rPr lang="en-US" sz="700" dirty="0"/>
              <a:t>lines(fit1$mean, col = "blue", type = "o")</a:t>
            </a:r>
          </a:p>
          <a:p>
            <a:r>
              <a:rPr lang="en-US" sz="700" dirty="0"/>
              <a:t>lines(fit2$mean, col = "red", type = "o")</a:t>
            </a:r>
          </a:p>
          <a:p>
            <a:r>
              <a:rPr lang="en-US" sz="700" dirty="0"/>
              <a:t>lines(fit3$mean, col = "green", type = "o")</a:t>
            </a:r>
          </a:p>
          <a:p>
            <a:endParaRPr lang="en-US" sz="700" dirty="0"/>
          </a:p>
          <a:p>
            <a:r>
              <a:rPr lang="en-US" sz="700" dirty="0"/>
              <a:t># These are the actual values!  Compare visually with the forecasts!</a:t>
            </a:r>
          </a:p>
          <a:p>
            <a:r>
              <a:rPr lang="en-US" sz="700" dirty="0"/>
              <a:t>air2008 = window(</a:t>
            </a:r>
            <a:r>
              <a:rPr lang="en-US" sz="700" dirty="0" err="1"/>
              <a:t>ausair</a:t>
            </a:r>
            <a:r>
              <a:rPr lang="en-US" sz="700" dirty="0"/>
              <a:t>, start = 1990, end = 2007)</a:t>
            </a:r>
          </a:p>
          <a:p>
            <a:r>
              <a:rPr lang="en-US" sz="700" dirty="0"/>
              <a:t>points(air2008, type = "o")</a:t>
            </a:r>
          </a:p>
          <a:p>
            <a:endParaRPr lang="en-US" sz="700" dirty="0"/>
          </a:p>
          <a:p>
            <a:r>
              <a:rPr lang="en-US" sz="700" dirty="0"/>
              <a:t># Compare the forecasts with the actual values with various fit metrics.  </a:t>
            </a:r>
          </a:p>
          <a:p>
            <a:r>
              <a:rPr lang="en-US" sz="700" dirty="0"/>
              <a:t>accuracy(fit1, air2008)</a:t>
            </a:r>
          </a:p>
          <a:p>
            <a:r>
              <a:rPr lang="en-US" sz="700" dirty="0"/>
              <a:t>accuracy(fit2, air2008)</a:t>
            </a:r>
          </a:p>
          <a:p>
            <a:r>
              <a:rPr lang="en-US" sz="700" dirty="0"/>
              <a:t>accuracy(fit3, air2008)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AFE10-482A-063A-92A5-E1CC5AF78169}"/>
              </a:ext>
            </a:extLst>
          </p:cNvPr>
          <p:cNvSpPr txBox="1"/>
          <p:nvPr/>
        </p:nvSpPr>
        <p:spPr>
          <a:xfrm>
            <a:off x="803155" y="2755162"/>
            <a:ext cx="10087583" cy="564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ME      RMSE       MAE      MPE     MAPE     MASE         ACF1 Theil's U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Training set  5.864549  6.301705  5.864549 18.74164 18.74164 3.199632  0.405609699        NA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Test set     11.632265 11.751057 11.632265 24.77018 24.77018 6.346433 -0.003569265  6.140567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E9528-DFA2-E08F-2917-2CEE30742D97}"/>
              </a:ext>
            </a:extLst>
          </p:cNvPr>
          <p:cNvSpPr txBox="1"/>
          <p:nvPr/>
        </p:nvSpPr>
        <p:spPr>
          <a:xfrm>
            <a:off x="803155" y="3642732"/>
            <a:ext cx="849923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en-US" sz="1400" dirty="0"/>
              <a:t>ME     RMSE      MAE       MPE      MAPE     MASE         ACF1 Theil's U</a:t>
            </a:r>
          </a:p>
          <a:p>
            <a:pPr latinLnBrk="1"/>
            <a:r>
              <a:rPr lang="en-US" sz="1400" dirty="0"/>
              <a:t>Training set 2.576335 3.101549 2.582686  8.507273  8.528313 1.409084  0.206215181        NA</a:t>
            </a:r>
          </a:p>
          <a:p>
            <a:pPr latinLnBrk="1"/>
            <a:r>
              <a:rPr lang="en-US" sz="1400" dirty="0"/>
              <a:t>Test set     6.038897 6.264665 6.038897 12.797965 12.797965 3.294755 -0.003569265  3.443693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2463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C73B0-63C0-2712-6CD2-DAB44B1F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9718"/>
            <a:ext cx="10515600" cy="8120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Simple Exponential Smoothing (SES): The data from all of the previous times is not weighted equally- it’s weighted more and more heavily the more recent the time is.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642D92-371F-A695-EAAB-BD71ADF45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02774"/>
              </p:ext>
            </p:extLst>
          </p:nvPr>
        </p:nvGraphicFramePr>
        <p:xfrm>
          <a:off x="838200" y="1616370"/>
          <a:ext cx="4261338" cy="1796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042">
                  <a:extLst>
                    <a:ext uri="{9D8B030D-6E8A-4147-A177-3AD203B41FA5}">
                      <a16:colId xmlns:a16="http://schemas.microsoft.com/office/drawing/2014/main" val="2842929541"/>
                    </a:ext>
                  </a:extLst>
                </a:gridCol>
                <a:gridCol w="551604">
                  <a:extLst>
                    <a:ext uri="{9D8B030D-6E8A-4147-A177-3AD203B41FA5}">
                      <a16:colId xmlns:a16="http://schemas.microsoft.com/office/drawing/2014/main" val="1333497125"/>
                    </a:ext>
                  </a:extLst>
                </a:gridCol>
                <a:gridCol w="539262">
                  <a:extLst>
                    <a:ext uri="{9D8B030D-6E8A-4147-A177-3AD203B41FA5}">
                      <a16:colId xmlns:a16="http://schemas.microsoft.com/office/drawing/2014/main" val="2859910169"/>
                    </a:ext>
                  </a:extLst>
                </a:gridCol>
                <a:gridCol w="246184">
                  <a:extLst>
                    <a:ext uri="{9D8B030D-6E8A-4147-A177-3AD203B41FA5}">
                      <a16:colId xmlns:a16="http://schemas.microsoft.com/office/drawing/2014/main" val="2426283326"/>
                    </a:ext>
                  </a:extLst>
                </a:gridCol>
                <a:gridCol w="539262">
                  <a:extLst>
                    <a:ext uri="{9D8B030D-6E8A-4147-A177-3AD203B41FA5}">
                      <a16:colId xmlns:a16="http://schemas.microsoft.com/office/drawing/2014/main" val="1343710600"/>
                    </a:ext>
                  </a:extLst>
                </a:gridCol>
                <a:gridCol w="679938">
                  <a:extLst>
                    <a:ext uri="{9D8B030D-6E8A-4147-A177-3AD203B41FA5}">
                      <a16:colId xmlns:a16="http://schemas.microsoft.com/office/drawing/2014/main" val="3539670029"/>
                    </a:ext>
                  </a:extLst>
                </a:gridCol>
                <a:gridCol w="691662">
                  <a:extLst>
                    <a:ext uri="{9D8B030D-6E8A-4147-A177-3AD203B41FA5}">
                      <a16:colId xmlns:a16="http://schemas.microsoft.com/office/drawing/2014/main" val="3225065227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37553884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Initial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Alpha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RMSE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68495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1 - blue</a:t>
                      </a:r>
                      <a:endParaRPr lang="en-US" sz="1100" b="0" i="0" u="none" strike="noStrik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simple</a:t>
                      </a:r>
                      <a:endParaRPr lang="en-US" sz="1100" b="0" i="0" u="none" strike="noStrik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Training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5.864549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6.301705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5.864549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91234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11.632265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11.751057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11.632265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06765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2-red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simple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Training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2.576335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3.101549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2.582686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0525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6.038897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6.264665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6.038897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36253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3-grn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defaults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defaults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Training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1.602998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2.290962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1.710834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27160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5.182781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5.444168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5.182781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52463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F5CF97-9A37-EBCD-B63C-B9D348B6814B}"/>
              </a:ext>
            </a:extLst>
          </p:cNvPr>
          <p:cNvSpPr txBox="1"/>
          <p:nvPr/>
        </p:nvSpPr>
        <p:spPr>
          <a:xfrm>
            <a:off x="838200" y="1277816"/>
            <a:ext cx="10188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Comparing the accuracy of the three SES fits, the one with default parameters has the lowest error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D1D1AD-CDCE-F4F4-66E5-CBCC257183A5}"/>
              </a:ext>
            </a:extLst>
          </p:cNvPr>
          <p:cNvSpPr txBox="1"/>
          <p:nvPr/>
        </p:nvSpPr>
        <p:spPr>
          <a:xfrm>
            <a:off x="838200" y="3837683"/>
            <a:ext cx="41675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 tried setting alpha = 0 but the errors went up!</a:t>
            </a:r>
            <a:br>
              <a:rPr lang="en-US" sz="1600" dirty="0"/>
            </a:br>
            <a:r>
              <a:rPr lang="fr-FR" sz="1600" dirty="0"/>
              <a:t>ses(air, initial = "</a:t>
            </a:r>
            <a:r>
              <a:rPr lang="fr-FR" sz="1600" dirty="0" err="1"/>
              <a:t>simple",alpha</a:t>
            </a:r>
            <a:r>
              <a:rPr lang="fr-FR" sz="1600" dirty="0"/>
              <a:t> = 0,h = 3)</a:t>
            </a:r>
            <a:br>
              <a:rPr lang="fr-FR" sz="1600" dirty="0"/>
            </a:br>
            <a:br>
              <a:rPr lang="fr-FR" sz="1600" dirty="0"/>
            </a:br>
            <a:r>
              <a:rPr lang="fr-FR" sz="1600" dirty="0"/>
              <a:t>ses(air) and ses(air, initial = "optimal"), have the </a:t>
            </a:r>
            <a:r>
              <a:rPr lang="fr-FR" sz="1600" dirty="0" err="1"/>
              <a:t>same</a:t>
            </a:r>
            <a:r>
              <a:rPr lang="fr-FR" sz="1600" dirty="0"/>
              <a:t> </a:t>
            </a:r>
            <a:r>
              <a:rPr lang="fr-FR" sz="1600" dirty="0" err="1"/>
              <a:t>results</a:t>
            </a:r>
            <a:r>
              <a:rPr lang="fr-FR" sz="1600" dirty="0"/>
              <a:t> in </a:t>
            </a:r>
            <a:r>
              <a:rPr lang="fr-FR" sz="1600" dirty="0" err="1"/>
              <a:t>accuracy</a:t>
            </a:r>
            <a:r>
              <a:rPr lang="fr-FR" sz="1600" dirty="0"/>
              <a:t>.</a:t>
            </a:r>
          </a:p>
          <a:p>
            <a:r>
              <a:rPr lang="fr-FR" sz="1600" dirty="0"/>
              <a:t> </a:t>
            </a:r>
          </a:p>
          <a:p>
            <a:r>
              <a:rPr lang="fr-FR" sz="1600" dirty="0"/>
              <a:t>Initial </a:t>
            </a:r>
            <a:r>
              <a:rPr lang="fr-FR" sz="1600" dirty="0" err="1"/>
              <a:t>parameter</a:t>
            </a:r>
            <a:r>
              <a:rPr lang="fr-FR" sz="1600" dirty="0"/>
              <a:t> </a:t>
            </a:r>
            <a:r>
              <a:rPr lang="fr-FR" sz="1600" dirty="0" err="1"/>
              <a:t>doesn’t</a:t>
            </a:r>
            <a:r>
              <a:rPr lang="fr-FR" sz="1600" dirty="0"/>
              <a:t> </a:t>
            </a:r>
            <a:r>
              <a:rPr lang="fr-FR" sz="1600" dirty="0" err="1"/>
              <a:t>seem</a:t>
            </a:r>
            <a:r>
              <a:rPr lang="fr-FR" sz="1600" dirty="0"/>
              <a:t> to have </a:t>
            </a:r>
            <a:r>
              <a:rPr lang="fr-FR" sz="1600" dirty="0" err="1"/>
              <a:t>any</a:t>
            </a:r>
            <a:r>
              <a:rPr lang="fr-FR" sz="1600" dirty="0"/>
              <a:t> impact on the </a:t>
            </a:r>
            <a:r>
              <a:rPr lang="fr-FR" sz="1600" dirty="0" err="1"/>
              <a:t>accuracy</a:t>
            </a:r>
            <a:r>
              <a:rPr lang="fr-FR" sz="1600" dirty="0"/>
              <a:t> output.</a:t>
            </a:r>
          </a:p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0D873-3F16-07F6-3F05-112E983F46A2}"/>
              </a:ext>
            </a:extLst>
          </p:cNvPr>
          <p:cNvSpPr txBox="1"/>
          <p:nvPr/>
        </p:nvSpPr>
        <p:spPr>
          <a:xfrm>
            <a:off x="5099538" y="1616370"/>
            <a:ext cx="263281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ses</a:t>
            </a:r>
            <a:r>
              <a:rPr lang="en-US" sz="1400" dirty="0"/>
              <a:t>(</a:t>
            </a:r>
          </a:p>
          <a:p>
            <a:r>
              <a:rPr lang="en-US" sz="1400" dirty="0"/>
              <a:t>  y,</a:t>
            </a:r>
          </a:p>
          <a:p>
            <a:r>
              <a:rPr lang="en-US" sz="1400" dirty="0"/>
              <a:t>  h = 10,</a:t>
            </a:r>
          </a:p>
          <a:p>
            <a:r>
              <a:rPr lang="en-US" sz="1400" dirty="0"/>
              <a:t>  level = c(80, 95),</a:t>
            </a:r>
          </a:p>
          <a:p>
            <a:r>
              <a:rPr lang="en-US" sz="1400" dirty="0"/>
              <a:t>  fan = FALSE,</a:t>
            </a:r>
          </a:p>
          <a:p>
            <a:r>
              <a:rPr lang="en-US" sz="1400" dirty="0"/>
              <a:t>  initial = c("optimal", "simple"),</a:t>
            </a:r>
          </a:p>
          <a:p>
            <a:r>
              <a:rPr lang="en-US" sz="1400" dirty="0"/>
              <a:t>  alpha = NULL,</a:t>
            </a:r>
          </a:p>
          <a:p>
            <a:r>
              <a:rPr lang="en-US" sz="1400" dirty="0"/>
              <a:t>  lambda = NULL,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biasadj</a:t>
            </a:r>
            <a:r>
              <a:rPr lang="en-US" sz="1400" dirty="0"/>
              <a:t> = FALSE,</a:t>
            </a:r>
          </a:p>
          <a:p>
            <a:r>
              <a:rPr lang="en-US" sz="1400" dirty="0"/>
              <a:t>  x = y,</a:t>
            </a:r>
          </a:p>
          <a:p>
            <a:r>
              <a:rPr lang="en-US" sz="1400" dirty="0"/>
              <a:t>  ...</a:t>
            </a:r>
          </a:p>
          <a:p>
            <a:r>
              <a:rPr lang="en-US" sz="1400" dirty="0"/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454455-8C51-DA68-2DFC-4744FA89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025" y="2084405"/>
            <a:ext cx="4253218" cy="41631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511241-9B97-CCF7-6DB7-6979BE3FDA65}"/>
              </a:ext>
            </a:extLst>
          </p:cNvPr>
          <p:cNvSpPr txBox="1"/>
          <p:nvPr/>
        </p:nvSpPr>
        <p:spPr>
          <a:xfrm>
            <a:off x="5099538" y="4419600"/>
            <a:ext cx="2632810" cy="20621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Even though fit 3 had the lowest error metrics, it still seems far off from the actual values, (because it fit a linear trend)?</a:t>
            </a:r>
          </a:p>
          <a:p>
            <a:r>
              <a:rPr lang="en-US" sz="1600" dirty="0"/>
              <a:t>Alpha 0.6 is closer fit than alpha 0.2 but not as good as the default.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E040A5-B236-F1BE-64E2-2AD7FBF9E761}"/>
              </a:ext>
            </a:extLst>
          </p:cNvPr>
          <p:cNvCxnSpPr>
            <a:cxnSpLocks/>
          </p:cNvCxnSpPr>
          <p:nvPr/>
        </p:nvCxnSpPr>
        <p:spPr>
          <a:xfrm flipH="1">
            <a:off x="5884985" y="1805354"/>
            <a:ext cx="1946030" cy="398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A02E26-1FCF-EBC3-234F-5818C773DBBF}"/>
              </a:ext>
            </a:extLst>
          </p:cNvPr>
          <p:cNvSpPr txBox="1"/>
          <p:nvPr/>
        </p:nvSpPr>
        <p:spPr>
          <a:xfrm>
            <a:off x="7732348" y="1526485"/>
            <a:ext cx="1224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Time periods to forecast</a:t>
            </a:r>
          </a:p>
        </p:txBody>
      </p:sp>
    </p:spTree>
    <p:extLst>
      <p:ext uri="{BB962C8B-B14F-4D97-AF65-F5344CB8AC3E}">
        <p14:creationId xmlns:p14="http://schemas.microsoft.com/office/powerpoint/2010/main" val="233150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8F471B-CFCD-0B83-E2CF-6C5957E7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Holt’s Linear Trend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62FF8-1D41-5E35-2654-823AAB925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Holt’s linear trend method allows for forecasting data with a trend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0E8E16-CFCD-85E0-5604-059499458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160" y="921849"/>
            <a:ext cx="3460979" cy="157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0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4D7-A0B5-4D4F-9C37-008F675E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92" y="228600"/>
            <a:ext cx="8443608" cy="1143000"/>
          </a:xfrm>
        </p:spPr>
        <p:txBody>
          <a:bodyPr/>
          <a:lstStyle/>
          <a:p>
            <a:r>
              <a:rPr lang="en-US" dirty="0"/>
              <a:t>Holt Linear: What does alpha do?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338B8ED-BE19-A532-7D4C-408828963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3549" y="1825625"/>
            <a:ext cx="397025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Alpha is the level smoothing parameter, controlling how quickly the level adjusts to new data</a:t>
            </a:r>
          </a:p>
          <a:p>
            <a:r>
              <a:rPr lang="en-US" dirty="0"/>
              <a:t>Keeping beta = 0.2, alpha must stay between 0-1</a:t>
            </a:r>
          </a:p>
          <a:p>
            <a:endParaRPr lang="en-US" dirty="0"/>
          </a:p>
          <a:p>
            <a:r>
              <a:rPr lang="en-US" dirty="0"/>
              <a:t>Alpha at 0.2 is not as well fit, but 0.6,0.8,and 1 are not very different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A57184-058A-3FD1-A1FB-66ECA1F0E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1" y="1571625"/>
            <a:ext cx="72051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8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C6C8-7B17-2887-1268-9579B7FE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063C-1F16-10DE-8EEA-29957231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92" y="228600"/>
            <a:ext cx="8443608" cy="1143000"/>
          </a:xfrm>
        </p:spPr>
        <p:txBody>
          <a:bodyPr/>
          <a:lstStyle/>
          <a:p>
            <a:r>
              <a:rPr lang="en-US" dirty="0"/>
              <a:t>Holt Linear: What does beta do?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7003CBB-7051-BA83-7C1F-1E2179F70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0" y="1825625"/>
            <a:ext cx="379729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Beta is the trend smoothing parameter, controls how quickly the trend estimate adjusts over time</a:t>
            </a:r>
          </a:p>
          <a:p>
            <a:r>
              <a:rPr lang="en-US" dirty="0"/>
              <a:t>Keeping alpha =0.8, beta must be between 0-1</a:t>
            </a:r>
          </a:p>
          <a:p>
            <a:r>
              <a:rPr lang="en-US" dirty="0"/>
              <a:t>Beta=0 has the worst predictions, but 0.2, 0.4,0.8 look similar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27EC6-119D-B423-E260-EF86880C4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46" y="1203325"/>
            <a:ext cx="6526854" cy="521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5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FEE7-6CD1-CB5A-156F-29C3B0AE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BAB4-459D-8AAE-5024-FE27A144C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92" y="228600"/>
            <a:ext cx="893890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Holt Linear: What does the other </a:t>
            </a:r>
            <a:r>
              <a:rPr lang="en-US" dirty="0" err="1"/>
              <a:t>args</a:t>
            </a:r>
            <a:r>
              <a:rPr lang="en-US" dirty="0"/>
              <a:t> do?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94EF0A-66D0-FF1B-16D0-F6C4C9171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0" y="1825625"/>
            <a:ext cx="3797299" cy="4351338"/>
          </a:xfrm>
        </p:spPr>
        <p:txBody>
          <a:bodyPr/>
          <a:lstStyle/>
          <a:p>
            <a:r>
              <a:rPr lang="en-US" dirty="0"/>
              <a:t>Keeping alpha =0.8, beta =0.2, changing </a:t>
            </a:r>
            <a:r>
              <a:rPr lang="en-US" dirty="0" err="1"/>
              <a:t>args</a:t>
            </a:r>
            <a:r>
              <a:rPr lang="en-US" dirty="0"/>
              <a:t> initial and exponential</a:t>
            </a:r>
          </a:p>
          <a:p>
            <a:r>
              <a:rPr lang="en-US" dirty="0"/>
              <a:t>Simple-linear and optimal-linear have overlapping forecast</a:t>
            </a:r>
          </a:p>
          <a:p>
            <a:r>
              <a:rPr lang="en-US" dirty="0"/>
              <a:t>Optimal-exponential is not possible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0FC33-04EE-C4D0-B64E-9BEAC521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46" y="1371599"/>
            <a:ext cx="6031554" cy="482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3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789452-1B08-C743-A70C-36DCB51E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Holt Seasonal Trend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E25BB-94D3-B99A-385F-D2576FE7F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2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4D7-A0B5-4D4F-9C37-008F675E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09" y="228600"/>
            <a:ext cx="9465012" cy="1143000"/>
          </a:xfrm>
        </p:spPr>
        <p:txBody>
          <a:bodyPr/>
          <a:lstStyle/>
          <a:p>
            <a:r>
              <a:rPr lang="en-US" sz="4000" dirty="0"/>
              <a:t>Activity Three: Holt Seasonal</a:t>
            </a:r>
            <a:r>
              <a:rPr lang="en-US" sz="4000" dirty="0">
                <a:sym typeface="Wingdings" pitchFamily="2" charset="2"/>
              </a:rPr>
              <a:t> (1 hour)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0C599-7CAD-DF48-AD10-16582420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041" y="1865970"/>
            <a:ext cx="3380361" cy="88035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000" dirty="0"/>
              <a:t>We are changing the data this time.  Still just learn by playing with the code and looking closely at the input arguments and the output. Create a slide that allows you to discuss the output / analysis / result. Also, record any questions that pop up while you are playing.  We can discuss them in live session.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51D0FF-7E6B-494D-8D68-6A7E10156916}"/>
              </a:ext>
            </a:extLst>
          </p:cNvPr>
          <p:cNvSpPr/>
          <p:nvPr/>
        </p:nvSpPr>
        <p:spPr>
          <a:xfrm>
            <a:off x="1845018" y="1517515"/>
            <a:ext cx="7470843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#3. Seasonal Trend</a:t>
            </a:r>
          </a:p>
          <a:p>
            <a:endParaRPr lang="en-US" sz="900" dirty="0"/>
          </a:p>
          <a:p>
            <a:r>
              <a:rPr lang="en-US" sz="900" dirty="0"/>
              <a:t>#Load the data</a:t>
            </a:r>
          </a:p>
          <a:p>
            <a:r>
              <a:rPr lang="en-US" sz="900" dirty="0"/>
              <a:t>data("</a:t>
            </a:r>
            <a:r>
              <a:rPr lang="en-US" sz="900" dirty="0" err="1"/>
              <a:t>austourists</a:t>
            </a:r>
            <a:r>
              <a:rPr lang="en-US" sz="900" dirty="0"/>
              <a:t>")</a:t>
            </a:r>
          </a:p>
          <a:p>
            <a:r>
              <a:rPr lang="en-US" sz="900" dirty="0"/>
              <a:t># Read about the dataset!</a:t>
            </a:r>
          </a:p>
          <a:p>
            <a:r>
              <a:rPr lang="en-US" sz="900" dirty="0"/>
              <a:t>?</a:t>
            </a:r>
            <a:r>
              <a:rPr lang="en-US" sz="900" dirty="0" err="1"/>
              <a:t>austourists</a:t>
            </a:r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# Always plot the data first!</a:t>
            </a:r>
          </a:p>
          <a:p>
            <a:r>
              <a:rPr lang="en-US" sz="900" dirty="0"/>
              <a:t>plot(</a:t>
            </a:r>
            <a:r>
              <a:rPr lang="en-US" sz="900" dirty="0" err="1"/>
              <a:t>austourists</a:t>
            </a:r>
            <a:r>
              <a:rPr lang="en-US" sz="900" dirty="0"/>
              <a:t>)</a:t>
            </a:r>
          </a:p>
          <a:p>
            <a:endParaRPr lang="en-US" sz="900" dirty="0"/>
          </a:p>
          <a:p>
            <a:r>
              <a:rPr lang="en-US" sz="900" dirty="0"/>
              <a:t># returns a </a:t>
            </a:r>
            <a:r>
              <a:rPr lang="en-US" sz="900" dirty="0" err="1"/>
              <a:t>ts</a:t>
            </a:r>
            <a:r>
              <a:rPr lang="en-US" sz="900" dirty="0"/>
              <a:t> object.  </a:t>
            </a:r>
          </a:p>
          <a:p>
            <a:r>
              <a:rPr lang="en-US" sz="900" dirty="0" err="1"/>
              <a:t>aust</a:t>
            </a:r>
            <a:r>
              <a:rPr lang="en-US" sz="900" dirty="0"/>
              <a:t> = window(</a:t>
            </a:r>
            <a:r>
              <a:rPr lang="en-US" sz="900" dirty="0" err="1"/>
              <a:t>austourists,start</a:t>
            </a:r>
            <a:r>
              <a:rPr lang="en-US" sz="900" dirty="0"/>
              <a:t> = 1999, end = 2004)</a:t>
            </a:r>
          </a:p>
          <a:p>
            <a:endParaRPr lang="en-US" sz="900" dirty="0"/>
          </a:p>
          <a:p>
            <a:r>
              <a:rPr lang="en-US" sz="900" dirty="0"/>
              <a:t>#fit an additive and multiplicative model</a:t>
            </a:r>
          </a:p>
          <a:p>
            <a:r>
              <a:rPr lang="en-US" sz="900" dirty="0"/>
              <a:t>fit1s = </a:t>
            </a:r>
            <a:r>
              <a:rPr lang="en-US" sz="900" dirty="0" err="1"/>
              <a:t>hw</a:t>
            </a:r>
            <a:r>
              <a:rPr lang="en-US" sz="900" dirty="0"/>
              <a:t>(</a:t>
            </a:r>
            <a:r>
              <a:rPr lang="en-US" sz="900" dirty="0" err="1"/>
              <a:t>aust,seasonal</a:t>
            </a:r>
            <a:r>
              <a:rPr lang="en-US" sz="900" dirty="0"/>
              <a:t> = "</a:t>
            </a:r>
            <a:r>
              <a:rPr lang="en-US" sz="900" dirty="0" err="1"/>
              <a:t>additive",h</a:t>
            </a:r>
            <a:r>
              <a:rPr lang="en-US" sz="900" dirty="0"/>
              <a:t> = 40)</a:t>
            </a:r>
          </a:p>
          <a:p>
            <a:r>
              <a:rPr lang="en-US" sz="900" dirty="0"/>
              <a:t>fit2s = </a:t>
            </a:r>
            <a:r>
              <a:rPr lang="en-US" sz="900" dirty="0" err="1"/>
              <a:t>hw</a:t>
            </a:r>
            <a:r>
              <a:rPr lang="en-US" sz="900" dirty="0"/>
              <a:t>(</a:t>
            </a:r>
            <a:r>
              <a:rPr lang="en-US" sz="900" dirty="0" err="1"/>
              <a:t>aust,seasonal</a:t>
            </a:r>
            <a:r>
              <a:rPr lang="en-US" sz="900" dirty="0"/>
              <a:t> = "</a:t>
            </a:r>
            <a:r>
              <a:rPr lang="en-US" sz="900" dirty="0" err="1"/>
              <a:t>multiplicative",h</a:t>
            </a:r>
            <a:r>
              <a:rPr lang="en-US" sz="900" dirty="0"/>
              <a:t> = 40)</a:t>
            </a:r>
          </a:p>
          <a:p>
            <a:endParaRPr lang="en-US" sz="900" dirty="0"/>
          </a:p>
          <a:p>
            <a:r>
              <a:rPr lang="en-US" sz="900" dirty="0"/>
              <a:t>#Plot the original data</a:t>
            </a:r>
          </a:p>
          <a:p>
            <a:r>
              <a:rPr lang="en-US" sz="900" dirty="0"/>
              <a:t>plot(</a:t>
            </a:r>
            <a:r>
              <a:rPr lang="en-US" sz="900" dirty="0" err="1"/>
              <a:t>aust,ylab</a:t>
            </a:r>
            <a:r>
              <a:rPr lang="en-US" sz="900" dirty="0"/>
              <a:t> = "Australian Tourists", </a:t>
            </a:r>
            <a:r>
              <a:rPr lang="en-US" sz="900" dirty="0" err="1"/>
              <a:t>xlab</a:t>
            </a:r>
            <a:r>
              <a:rPr lang="en-US" sz="900" dirty="0"/>
              <a:t> = "Year", type = "o", </a:t>
            </a:r>
            <a:r>
              <a:rPr lang="en-US" sz="900" dirty="0" err="1"/>
              <a:t>xlim</a:t>
            </a:r>
            <a:r>
              <a:rPr lang="en-US" sz="900" dirty="0"/>
              <a:t> = c(1999, 2014),</a:t>
            </a:r>
            <a:r>
              <a:rPr lang="en-US" sz="900" dirty="0" err="1"/>
              <a:t>ylim</a:t>
            </a:r>
            <a:r>
              <a:rPr lang="en-US" sz="900" dirty="0"/>
              <a:t> = c(15,60))</a:t>
            </a:r>
          </a:p>
          <a:p>
            <a:r>
              <a:rPr lang="en-US" sz="900" dirty="0"/>
              <a:t>#add the fitted values from the model (of the training data)</a:t>
            </a:r>
          </a:p>
          <a:p>
            <a:r>
              <a:rPr lang="en-US" sz="900" dirty="0"/>
              <a:t>lines(fitted(fit1s),col = "blue", type= "o")</a:t>
            </a:r>
          </a:p>
          <a:p>
            <a:r>
              <a:rPr lang="en-US" sz="900" dirty="0"/>
              <a:t>lines(fitted(fit2s), col = "red", type= "o")</a:t>
            </a:r>
          </a:p>
          <a:p>
            <a:endParaRPr lang="en-US" sz="900" dirty="0"/>
          </a:p>
          <a:p>
            <a:r>
              <a:rPr lang="en-US" sz="900" dirty="0"/>
              <a:t>#Now add the forecasts (add these one at a time)</a:t>
            </a:r>
          </a:p>
          <a:p>
            <a:r>
              <a:rPr lang="en-US" sz="900" dirty="0"/>
              <a:t>lines(fit1s$mean, col = "blue", type= "o")</a:t>
            </a:r>
          </a:p>
          <a:p>
            <a:r>
              <a:rPr lang="en-US" sz="900" dirty="0"/>
              <a:t>lines(fit2s$mean,col = "red", type= "o")</a:t>
            </a:r>
          </a:p>
          <a:p>
            <a:endParaRPr lang="en-US" sz="900" dirty="0"/>
          </a:p>
          <a:p>
            <a:r>
              <a:rPr lang="en-US" sz="900" dirty="0"/>
              <a:t>#Compare the accuracy</a:t>
            </a:r>
          </a:p>
          <a:p>
            <a:r>
              <a:rPr lang="en-US" sz="900" dirty="0"/>
              <a:t>accuracy(fit1s,austourists)</a:t>
            </a:r>
          </a:p>
          <a:p>
            <a:r>
              <a:rPr lang="en-US" sz="900" dirty="0"/>
              <a:t>accuracy(fit2s,austourists)</a:t>
            </a:r>
          </a:p>
          <a:p>
            <a:endParaRPr lang="en-US" sz="900" dirty="0"/>
          </a:p>
          <a:p>
            <a:r>
              <a:rPr lang="en-US" sz="900" dirty="0"/>
              <a:t>#add the actual values to visually compare the forecasts to the actual values. </a:t>
            </a:r>
          </a:p>
          <a:p>
            <a:r>
              <a:rPr lang="en-US" sz="900" dirty="0"/>
              <a:t>points(</a:t>
            </a:r>
            <a:r>
              <a:rPr lang="en-US" sz="900" dirty="0" err="1"/>
              <a:t>austourists</a:t>
            </a:r>
            <a:r>
              <a:rPr lang="en-US" sz="900" dirty="0"/>
              <a:t>, type = "o")</a:t>
            </a:r>
          </a:p>
        </p:txBody>
      </p:sp>
    </p:spTree>
    <p:extLst>
      <p:ext uri="{BB962C8B-B14F-4D97-AF65-F5344CB8AC3E}">
        <p14:creationId xmlns:p14="http://schemas.microsoft.com/office/powerpoint/2010/main" val="307222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2FC3-943A-78AC-E392-6E0FD6DD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>
            <a:normAutofit/>
          </a:bodyPr>
          <a:lstStyle/>
          <a:p>
            <a:r>
              <a:rPr lang="en-US" sz="4000" dirty="0"/>
              <a:t>Holt Seasonal: additive method vs multiplicative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12900B-27AC-2870-B82E-1CB54ACAD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980" y="1127125"/>
            <a:ext cx="9296040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55545B-B5EB-8588-3FCE-F755A71FCF0E}"/>
              </a:ext>
            </a:extLst>
          </p:cNvPr>
          <p:cNvSpPr txBox="1"/>
          <p:nvPr/>
        </p:nvSpPr>
        <p:spPr>
          <a:xfrm>
            <a:off x="1447980" y="5478463"/>
            <a:ext cx="9296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additive forecast looks better fit at the peaks, and the multiplicative method looks better fit at the troughs. Is there a compromise or a tradeoff?</a:t>
            </a:r>
          </a:p>
        </p:txBody>
      </p:sp>
    </p:spTree>
    <p:extLst>
      <p:ext uri="{BB962C8B-B14F-4D97-AF65-F5344CB8AC3E}">
        <p14:creationId xmlns:p14="http://schemas.microsoft.com/office/powerpoint/2010/main" val="88504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824F80-1E7F-909C-C7D5-8E202FCE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CAF5AC-B13C-F8AB-CB30-31949BC84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18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1770-76C9-F749-9B7D-08A4A1F1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1143000"/>
          </a:xfrm>
        </p:spPr>
        <p:txBody>
          <a:bodyPr/>
          <a:lstStyle/>
          <a:p>
            <a:r>
              <a:rPr lang="en-US" sz="4000" dirty="0"/>
              <a:t>Activity Four: Full Analysis(3-5 hours)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B5F0E-06C5-71C1-B170-F2BF8A467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74" y="1274164"/>
            <a:ext cx="4056030" cy="3017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580E87-117F-2AD1-18FA-6CD98CAD0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086" y="1274164"/>
            <a:ext cx="4056030" cy="301752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AE2A2FA-5294-F836-ED25-4C46E6BAF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322325"/>
              </p:ext>
            </p:extLst>
          </p:nvPr>
        </p:nvGraphicFramePr>
        <p:xfrm>
          <a:off x="805123" y="4479802"/>
          <a:ext cx="47640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028">
                  <a:extLst>
                    <a:ext uri="{9D8B030D-6E8A-4147-A177-3AD203B41FA5}">
                      <a16:colId xmlns:a16="http://schemas.microsoft.com/office/drawing/2014/main" val="2571325363"/>
                    </a:ext>
                  </a:extLst>
                </a:gridCol>
                <a:gridCol w="1588028">
                  <a:extLst>
                    <a:ext uri="{9D8B030D-6E8A-4147-A177-3AD203B41FA5}">
                      <a16:colId xmlns:a16="http://schemas.microsoft.com/office/drawing/2014/main" val="1064237542"/>
                    </a:ext>
                  </a:extLst>
                </a:gridCol>
                <a:gridCol w="1588028">
                  <a:extLst>
                    <a:ext uri="{9D8B030D-6E8A-4147-A177-3AD203B41FA5}">
                      <a16:colId xmlns:a16="http://schemas.microsoft.com/office/drawing/2014/main" val="4224595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97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173.2707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189.7198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6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176.1148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193.0849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16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4.18022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5.384864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83496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1390109-3509-B7BE-E232-B2F80AE774DC}"/>
              </a:ext>
            </a:extLst>
          </p:cNvPr>
          <p:cNvSpPr txBox="1"/>
          <p:nvPr/>
        </p:nvSpPr>
        <p:spPr>
          <a:xfrm>
            <a:off x="6438018" y="4460085"/>
            <a:ext cx="47721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Aikaike</a:t>
            </a:r>
            <a:r>
              <a:rPr lang="en-US" dirty="0"/>
              <a:t> Information Criterion – corrected: SES is lower, fits better</a:t>
            </a:r>
            <a:br>
              <a:rPr lang="en-US" dirty="0"/>
            </a:br>
            <a:r>
              <a:rPr lang="en-US" dirty="0"/>
              <a:t>Bayesian Information Criterion: SES is lower, fits better </a:t>
            </a:r>
            <a:br>
              <a:rPr lang="en-US" dirty="0"/>
            </a:br>
            <a:r>
              <a:rPr lang="en-US" dirty="0"/>
              <a:t>Since the SES fit has a lower RMSE, it provides a better fit to the data.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1574D1-8967-9290-E279-6ABA1EA47679}"/>
              </a:ext>
            </a:extLst>
          </p:cNvPr>
          <p:cNvCxnSpPr/>
          <p:nvPr/>
        </p:nvCxnSpPr>
        <p:spPr>
          <a:xfrm flipH="1">
            <a:off x="3575713" y="4626591"/>
            <a:ext cx="2862305" cy="354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61BA0C-1B58-9CD5-0E53-011A3FAF5FC5}"/>
              </a:ext>
            </a:extLst>
          </p:cNvPr>
          <p:cNvCxnSpPr>
            <a:cxnSpLocks/>
          </p:cNvCxnSpPr>
          <p:nvPr/>
        </p:nvCxnSpPr>
        <p:spPr>
          <a:xfrm flipH="1">
            <a:off x="3575713" y="5147939"/>
            <a:ext cx="2862305" cy="189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C45FAF-2139-23EC-35EB-905F6A9D0EBD}"/>
              </a:ext>
            </a:extLst>
          </p:cNvPr>
          <p:cNvCxnSpPr>
            <a:cxnSpLocks/>
          </p:cNvCxnSpPr>
          <p:nvPr/>
        </p:nvCxnSpPr>
        <p:spPr>
          <a:xfrm flipH="1">
            <a:off x="3575713" y="5732123"/>
            <a:ext cx="2953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394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491B6-A57D-28B2-4562-DA53FFB5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Problem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8381C4-D748-ED15-3BC4-9B0E3207F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72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CAD4-E2E6-6A4B-A7AB-1B032955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1143000"/>
          </a:xfrm>
        </p:spPr>
        <p:txBody>
          <a:bodyPr/>
          <a:lstStyle/>
          <a:p>
            <a:r>
              <a:rPr lang="en-US" dirty="0"/>
              <a:t>Bonus: </a:t>
            </a:r>
            <a:r>
              <a:rPr lang="en-US" sz="4000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 Wands Chooses the Wizard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B04E0-6130-0C40-B089-24B37E6B953F}"/>
              </a:ext>
            </a:extLst>
          </p:cNvPr>
          <p:cNvSpPr/>
          <p:nvPr/>
        </p:nvSpPr>
        <p:spPr>
          <a:xfrm>
            <a:off x="1524000" y="1688656"/>
            <a:ext cx="9144000" cy="4390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955"/>
              </a:spcBef>
              <a:buSzPts val="1200"/>
              <a:tabLst>
                <a:tab pos="43561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Fun with a great plotting function / package… </a:t>
            </a:r>
            <a:r>
              <a:rPr lang="en-US" sz="1600" b="1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Dygraphs</a:t>
            </a:r>
            <a:r>
              <a:rPr lang="en-US" sz="1600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!  </a:t>
            </a:r>
          </a:p>
          <a:p>
            <a:pPr marL="742950" lvl="1" indent="-285750">
              <a:spcBef>
                <a:spcPts val="955"/>
              </a:spcBef>
              <a:buSzPts val="1200"/>
              <a:buFont typeface="Palatino Linotype" panose="02040502050505030304" pitchFamily="18" charset="0"/>
              <a:buAutoNum type="alphaLcPeriod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Utilize the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dygraphs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library.  Read in both Unit12TimeSeries_Ollivander and _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Gregorovitch.csv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as two different data frames.  They do not have headers, so make sure you account for that.  This is a time series of Wands sold over years.</a:t>
            </a:r>
            <a:endParaRPr lang="en-US" sz="1100" dirty="0">
              <a:latin typeface="Garamond" panose="02020404030301010803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>
              <a:spcBef>
                <a:spcPts val="955"/>
              </a:spcBef>
              <a:buSzPts val="1200"/>
              <a:buFont typeface="Palatino Linotype" panose="02040502050505030304" pitchFamily="18" charset="0"/>
              <a:buAutoNum type="alphaLcPeriod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You don’t have your information in the proper format!  In both data sets, you’ll need to first convert the date-like variable to an actual Date class.</a:t>
            </a:r>
            <a:endParaRPr lang="en-US" sz="1100" dirty="0">
              <a:latin typeface="Garamond" panose="02020404030301010803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>
              <a:spcBef>
                <a:spcPts val="955"/>
              </a:spcBef>
              <a:buSzPts val="1200"/>
              <a:buFont typeface="Palatino Linotype" panose="02040502050505030304" pitchFamily="18" charset="0"/>
              <a:buAutoNum type="alphaLcPeriod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Use the library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xts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(and the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xts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() function in it) to make each data frame an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xts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object (effectively, a time series).  You’ll want to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order.by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the Date variable.</a:t>
            </a:r>
            <a:endParaRPr lang="en-US" sz="1100" dirty="0">
              <a:latin typeface="Garamond" panose="02020404030301010803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>
              <a:spcBef>
                <a:spcPts val="955"/>
              </a:spcBef>
              <a:buSzPts val="1200"/>
              <a:buFont typeface="Palatino Linotype" panose="02040502050505030304" pitchFamily="18" charset="0"/>
              <a:buAutoNum type="alphaLcPeriod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Bind the two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xts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objects together and create a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dygraph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from it.  Utilize the help() index if you’re stuck.</a:t>
            </a:r>
            <a:endParaRPr lang="en-US" sz="1100" dirty="0">
              <a:latin typeface="Garamond" panose="02020404030301010803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Give an effective title and x/y axes.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Label each Series (via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dySeries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) to be the appropriate wand-maker.  So, one line should create a label for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Ollivander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 and the other for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Gregorovitch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Stack this graph and modify the two lines to be different colors (and not the default ones!)  Any colors are fine, but make sure they’re visible and that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Ollivander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 is a different color than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Gregorovitch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Activate a range selector and make it big enough to view.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Use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dyShading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 to illuminate approximately when Voldemort was revived and at-large: between 1995 to 1999.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Enable Highlighting on the graph, so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mousing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 over a line bolds it.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665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460D-9461-4BC8-0532-4856AECB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and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ADB38-B8B8-8A73-B512-248CEA9F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other models that could potentially produce more accurate forecasts?</a:t>
            </a:r>
          </a:p>
          <a:p>
            <a:r>
              <a:rPr lang="en-US" dirty="0"/>
              <a:t>How sensitive are the results to the smoothing parameters? Is there an automated way to perform parameter tuning?</a:t>
            </a:r>
          </a:p>
          <a:p>
            <a:r>
              <a:rPr lang="en-US" dirty="0"/>
              <a:t>How do I know how far into the future I can do my forecasting?</a:t>
            </a:r>
          </a:p>
        </p:txBody>
      </p:sp>
    </p:spTree>
    <p:extLst>
      <p:ext uri="{BB962C8B-B14F-4D97-AF65-F5344CB8AC3E}">
        <p14:creationId xmlns:p14="http://schemas.microsoft.com/office/powerpoint/2010/main" val="773067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C878-1306-7C54-2E1D-AD17813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FLS notes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F321B-16D1-9820-25B4-792976B07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8706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200" dirty="0"/>
              <a:t>What is random forest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What is the idea of a residual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Why is the </a:t>
            </a:r>
            <a:r>
              <a:rPr lang="en-US" sz="1200" dirty="0" err="1"/>
              <a:t>aic</a:t>
            </a:r>
            <a:r>
              <a:rPr lang="en-US" sz="1200" dirty="0"/>
              <a:t> and </a:t>
            </a:r>
            <a:r>
              <a:rPr lang="en-US" sz="1200" dirty="0" err="1"/>
              <a:t>bic</a:t>
            </a:r>
            <a:r>
              <a:rPr lang="en-US" sz="1200" dirty="0"/>
              <a:t> such a large number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Why do we have MAE, MSPE, </a:t>
            </a:r>
            <a:r>
              <a:rPr lang="en-US" sz="1200" dirty="0" err="1"/>
              <a:t>etc</a:t>
            </a:r>
            <a:r>
              <a:rPr lang="en-US" sz="1200" dirty="0"/>
              <a:t> ways of measuring accuracy and errors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ME tells the bias, if it’s positive or negative your residuals are mostly too high or mostly too low (that’s why you want ME instead of just MAE or RMSE)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Squared residuals gives a bigger penalty for larger errors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Different measures of error can give you a holistic view of the accuracy of your model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Comparing error metrics gives you a good comparison of the characteristics or major problems with your models, ME, RMSE, MAE, MPE, MAPE,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ACF is autocorrelation function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Increase alpha to .95, so yesterday’s weight is 95% important! (then… basically whatever yesterday was is my prediction for today)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If residuals are positive, it’s on average underestimating</a:t>
            </a:r>
          </a:p>
          <a:p>
            <a:pPr>
              <a:lnSpc>
                <a:spcPct val="100000"/>
              </a:lnSpc>
            </a:pPr>
            <a:r>
              <a:rPr lang="en-US" sz="1200"/>
              <a:t>Overfitting is?</a:t>
            </a:r>
          </a:p>
          <a:p>
            <a:pPr>
              <a:lnSpc>
                <a:spcPct val="100000"/>
              </a:lnSpc>
            </a:pPr>
            <a:endParaRPr lang="en-US" sz="1200" dirty="0"/>
          </a:p>
          <a:p>
            <a:pPr>
              <a:lnSpc>
                <a:spcPct val="100000"/>
              </a:lnSpc>
            </a:pPr>
            <a:endParaRPr lang="en-US" sz="1200" dirty="0"/>
          </a:p>
          <a:p>
            <a:pPr>
              <a:lnSpc>
                <a:spcPct val="100000"/>
              </a:lnSpc>
            </a:pPr>
            <a:endParaRPr lang="en-US" sz="1200" dirty="0"/>
          </a:p>
          <a:p>
            <a:pPr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43786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1899</Words>
  <Application>Microsoft Office PowerPoint</Application>
  <PresentationFormat>Widescreen</PresentationFormat>
  <Paragraphs>222</Paragraphs>
  <Slides>17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Garamond</vt:lpstr>
      <vt:lpstr>Lucida Console</vt:lpstr>
      <vt:lpstr>Palatino Linotype</vt:lpstr>
      <vt:lpstr>Times New Roman</vt:lpstr>
      <vt:lpstr>Wingdings</vt:lpstr>
      <vt:lpstr>Office Theme</vt:lpstr>
      <vt:lpstr>Unit  11 For Live Session Assignment </vt:lpstr>
      <vt:lpstr>SES Model for AUS Air</vt:lpstr>
      <vt:lpstr>Activity One: SES (1 hour)</vt:lpstr>
      <vt:lpstr>PowerPoint Presentation</vt:lpstr>
      <vt:lpstr>Holt’s Linear Trend Model</vt:lpstr>
      <vt:lpstr>Holt Linear: What does alpha do?</vt:lpstr>
      <vt:lpstr>Holt Linear: What does beta do?</vt:lpstr>
      <vt:lpstr>Holt Linear: What does the other args do?</vt:lpstr>
      <vt:lpstr>Holt Seasonal Trend</vt:lpstr>
      <vt:lpstr>Activity Three: Holt Seasonal (1 hour)</vt:lpstr>
      <vt:lpstr>Holt Seasonal: additive method vs multiplicative</vt:lpstr>
      <vt:lpstr>Full Analysis</vt:lpstr>
      <vt:lpstr>Activity Four: Full Analysis(3-5 hours)</vt:lpstr>
      <vt:lpstr>Bonus Problem</vt:lpstr>
      <vt:lpstr>Bonus: The Wands Chooses the Wizard </vt:lpstr>
      <vt:lpstr>Takeaways and Questions</vt:lpstr>
      <vt:lpstr>FLS notes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Westlauer, Isabella</dc:creator>
  <cp:lastModifiedBy>Westlauer, Isabella</cp:lastModifiedBy>
  <cp:revision>3</cp:revision>
  <dcterms:created xsi:type="dcterms:W3CDTF">2026-01-23T01:05:28Z</dcterms:created>
  <dcterms:modified xsi:type="dcterms:W3CDTF">2026-03-17T02:40:11Z</dcterms:modified>
</cp:coreProperties>
</file>