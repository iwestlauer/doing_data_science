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2"/>
  </p:normalViewPr>
  <p:slideViewPr>
    <p:cSldViewPr snapToGrid="0">
      <p:cViewPr varScale="1">
        <p:scale>
          <a:sx n="105" d="100"/>
          <a:sy n="105" d="100"/>
        </p:scale>
        <p:origin x="103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8FD0-AEE3-2921-5F7F-E6B36DD02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A7F540-3E07-B815-F5E9-62B84F2AA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8CAA2-E366-D78D-2997-71E54629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5B5FA-7783-F592-B8FF-BE89D7ABE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42333-1166-9F4C-863C-DFEC7CC7A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38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FAE4C-8FF2-FBD7-53D7-3B4F9242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41A5E-60A3-44C7-AE7E-1F78C8830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150F5-2A47-16CC-9AD6-8DA93EC1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B28DF-5C48-2829-2497-EE138FCB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6F68B-1D8A-A8F7-12A1-A37D8B6F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52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CAABD-04E6-C513-2039-D8E84C2D9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DBDEC-1F1B-E276-ED19-1E99BDBA5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FEBE-7EB2-C0B9-29CC-718379421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46217-97F7-F5E0-CA30-97313DA30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E93E5-59D9-7747-8255-38CF16EC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70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E111-3262-00CB-FC89-C6BC78A29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64F7B-CAAE-F395-0DD0-4C9B18AA5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387BD-1796-ECE5-CA9F-877978987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28AB7-227C-5196-5B05-A2EECDDD0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F113E-6961-F8A2-8FEB-0BAAA671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CC763-D166-23A7-98EC-DF19BCEE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3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F88D0-4775-6BDD-B3DF-DE6FC6C35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A72D6-7446-B6A1-1F99-79F628A2C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270F8-0423-1C1C-E461-15F38A83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5EC53-ACBE-5273-60DF-DE8E6FF3E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D89B2-52B4-70C0-0A8E-C4FC67EDFA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F47C8F-6F85-A346-4ACC-B56B7FFF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F1C182-198B-01E8-F74D-689C048C0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EB0285-CCA5-C29F-D771-08CB7BCA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3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3E995-CCC3-9CEC-3EFD-141993DE2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F5C936-F158-47A9-FA29-C71D22761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235826-0717-0925-B1F4-DED244E67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057A0-C6BF-22E2-C2B1-B52369370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26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30E4D-C842-9A6D-33AD-90132F0B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F95506-429A-CB05-CA13-790926785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1F6EE-7275-99D4-C8EF-2607FBC68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48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5AE2-E2F4-8413-103C-C60D2F9FB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51789-033B-7594-AFDD-0438B57B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58153-592E-4685-634A-EBDE7F3EE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DCDF5-7C9F-2106-80E5-04874062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2C767-2F26-F83D-EB2A-8664CF742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559C2-B516-9313-CE51-517EB1F9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9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FD845-3DB8-D7BF-367E-A2072BA1F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9D1ADB-75D2-2D87-38FE-3544E1553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A5CDF-D0EB-01FC-6131-3123E9F10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FD49E-962C-1DFE-A3EE-01A067185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CB323-B955-0840-7088-E3387D0D4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C757C-72D3-10EB-1B3E-DFD1BEF90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50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5A4C-479D-E53E-F397-A29DF52A8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47BEB-3561-D520-705E-6A36915DC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6DCB2-BEAC-0CCF-326C-137907F7E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77A52-4464-D963-08A5-590CE47E3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80B4C-5342-1323-86BE-01D4F71F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26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E719EC-6A84-02CD-BA96-A0D1263DD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452AD-FD52-5262-E0D3-CFFF2B809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F7229-77DB-41DB-7A51-8E5CB7C56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2AC7C-74B6-3200-C083-D6D8A2E7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A517E-6421-3FB5-39E3-78442A9CC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69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0E82C2-BD55-024C-4D37-24EA97CE2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7EDCC-8326-A51B-72C7-D3204AA62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05ABC-9F32-BA5A-B026-4C5AA7EAE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C2FFA-FDCC-2FE9-4178-510F846C0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655DF-A015-2DEA-DD10-BA2F4D2BA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07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C7142-F90A-DFEF-4401-A7434B6AF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A7CD79-F07B-EA30-9C34-25EABDFF93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4103696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85DD7-7694-BDD6-51DD-7368D76E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Building Blocks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3F3DB-6E83-DA62-063D-B30E0A090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08" y="2104358"/>
            <a:ext cx="10054983" cy="371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1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6927-DE3E-D18F-6240-2C242FAA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It! </a:t>
            </a:r>
            <a:r>
              <a:rPr lang="en-US" dirty="0">
                <a:sym typeface="Wingdings" pitchFamily="2" charset="2"/>
              </a:rPr>
              <a:t>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D4668F-ABE8-B229-E90D-800705176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75" y="2608428"/>
            <a:ext cx="10636649" cy="201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64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E07CE-F56A-FB6C-8E0E-D23C5DDEF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B82A8-9F0D-7C34-3D5F-3B88C915C27B}"/>
              </a:ext>
            </a:extLst>
          </p:cNvPr>
          <p:cNvSpPr txBox="1"/>
          <p:nvPr/>
        </p:nvSpPr>
        <p:spPr>
          <a:xfrm>
            <a:off x="838200" y="3815844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effectLst/>
                <a:latin typeface="Menlo" panose="020B0609030804020204" pitchFamily="49" charset="0"/>
              </a:rPr>
              <a:t>bi(</a:t>
            </a:r>
            <a:r>
              <a:rPr lang="en-US" sz="3200" b="0" i="0" dirty="0" err="1">
                <a:effectLst/>
                <a:latin typeface="Menlo" panose="020B0609030804020204" pitchFamily="49" charset="0"/>
              </a:rPr>
              <a:t>ll</a:t>
            </a:r>
            <a:r>
              <a:rPr lang="en-US" sz="3200" b="0" i="0" dirty="0">
                <a:effectLst/>
                <a:latin typeface="Menlo" panose="020B0609030804020204" pitchFamily="49" charset="0"/>
              </a:rPr>
              <a:t>)*y</a:t>
            </a:r>
            <a:r>
              <a:rPr lang="en-US" sz="3200" b="0" i="0" dirty="0">
                <a:effectLst/>
                <a:latin typeface="system-ui"/>
              </a:rPr>
              <a:t> will match any even number of </a:t>
            </a:r>
            <a:r>
              <a:rPr lang="en-US" sz="3200" b="0" i="0" dirty="0">
                <a:effectLst/>
                <a:latin typeface="Menlo" panose="020B0609030804020204" pitchFamily="49" charset="0"/>
              </a:rPr>
              <a:t>'l'</a:t>
            </a:r>
            <a:r>
              <a:rPr lang="en-US" sz="3200" b="0" i="0" dirty="0">
                <a:effectLst/>
                <a:latin typeface="system-ui"/>
              </a:rPr>
              <a:t>s, including 0.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41DA5-70C5-AF6A-EAFD-295C8FCE9EA5}"/>
              </a:ext>
            </a:extLst>
          </p:cNvPr>
          <p:cNvSpPr txBox="1"/>
          <p:nvPr/>
        </p:nvSpPr>
        <p:spPr>
          <a:xfrm>
            <a:off x="838200" y="5846544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effectLst/>
                <a:latin typeface="system-ui"/>
              </a:rPr>
              <a:t>This specifies the regular expression </a:t>
            </a:r>
            <a:r>
              <a:rPr lang="en-US" sz="3600" b="0" i="0" dirty="0">
                <a:effectLst/>
                <a:latin typeface="Menlo" panose="020B0609030804020204" pitchFamily="49" charset="0"/>
              </a:rPr>
              <a:t>bill(</a:t>
            </a:r>
            <a:r>
              <a:rPr lang="en-US" sz="3600" b="0" i="0" dirty="0" err="1">
                <a:effectLst/>
                <a:latin typeface="Menlo" panose="020B0609030804020204" pitchFamily="49" charset="0"/>
              </a:rPr>
              <a:t>ll</a:t>
            </a:r>
            <a:r>
              <a:rPr lang="en-US" sz="3600" b="0" i="0" dirty="0">
                <a:effectLst/>
                <a:latin typeface="Menlo" panose="020B0609030804020204" pitchFamily="49" charset="0"/>
              </a:rPr>
              <a:t>)*y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4E7B21-6580-114E-82F5-E932FEAFCEB3}"/>
              </a:ext>
            </a:extLst>
          </p:cNvPr>
          <p:cNvSpPr txBox="1"/>
          <p:nvPr/>
        </p:nvSpPr>
        <p:spPr>
          <a:xfrm>
            <a:off x="838200" y="5003214"/>
            <a:ext cx="10024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effectLst/>
                <a:latin typeface="system-ui"/>
              </a:rPr>
              <a:t>To match only a positive even number of </a:t>
            </a:r>
            <a:r>
              <a:rPr lang="en-US" sz="3600" b="0" i="0" dirty="0">
                <a:effectLst/>
                <a:latin typeface="Menlo" panose="020B0609030804020204" pitchFamily="49" charset="0"/>
              </a:rPr>
              <a:t>'l’</a:t>
            </a:r>
            <a:r>
              <a:rPr lang="en-US" sz="3600" b="0" i="0" dirty="0">
                <a:effectLst/>
                <a:latin typeface="system-ui"/>
              </a:rPr>
              <a:t>s:</a:t>
            </a:r>
            <a:endParaRPr lang="en-US" sz="3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A03164-1F14-C7C3-E573-71B62EDF4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6661"/>
            <a:ext cx="10636649" cy="201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7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5D1CE-25D4-7A38-E05C-B56A908F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It! </a:t>
            </a:r>
            <a:r>
              <a:rPr lang="en-US" dirty="0">
                <a:sym typeface="Wingdings" pitchFamily="2" charset="2"/>
              </a:rPr>
              <a:t>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9EFE77-01E0-42DF-424E-20F5D1C63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41" y="2370997"/>
            <a:ext cx="11092117" cy="211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10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26FD-D493-2421-F036-B13E74BA3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BD3F7-D8CC-7D3E-8500-EBB6F3208563}"/>
              </a:ext>
            </a:extLst>
          </p:cNvPr>
          <p:cNvSpPr txBox="1"/>
          <p:nvPr/>
        </p:nvSpPr>
        <p:spPr>
          <a:xfrm>
            <a:off x="838200" y="4384655"/>
            <a:ext cx="1051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effectLst/>
                <a:latin typeface="system-ui"/>
              </a:rPr>
              <a:t>Possible answers: </a:t>
            </a:r>
          </a:p>
          <a:p>
            <a:r>
              <a:rPr lang="en-US" sz="3600" dirty="0">
                <a:latin typeface="system-ui"/>
              </a:rPr>
              <a:t>	</a:t>
            </a:r>
            <a:r>
              <a:rPr lang="en-US" sz="3600" b="0" i="0" dirty="0">
                <a:effectLst/>
                <a:latin typeface="Menlo" panose="020B0609030804020204" pitchFamily="49" charset="0"/>
              </a:rPr>
              <a:t>bi(</a:t>
            </a:r>
            <a:r>
              <a:rPr lang="en-US" sz="3600" b="0" i="0" dirty="0" err="1">
                <a:effectLst/>
                <a:latin typeface="Menlo" panose="020B0609030804020204" pitchFamily="49" charset="0"/>
              </a:rPr>
              <a:t>ll</a:t>
            </a:r>
            <a:r>
              <a:rPr lang="en-US" sz="3600" b="0" i="0" dirty="0">
                <a:effectLst/>
                <a:latin typeface="Menlo" panose="020B0609030804020204" pitchFamily="49" charset="0"/>
              </a:rPr>
              <a:t>(</a:t>
            </a:r>
            <a:r>
              <a:rPr lang="en-US" sz="3600" b="0" i="0" dirty="0" err="1">
                <a:effectLst/>
                <a:latin typeface="Menlo" panose="020B0609030804020204" pitchFamily="49" charset="0"/>
              </a:rPr>
              <a:t>ll</a:t>
            </a:r>
            <a:r>
              <a:rPr lang="en-US" sz="3600" b="0" i="0" dirty="0">
                <a:effectLst/>
                <a:latin typeface="Menlo" panose="020B0609030804020204" pitchFamily="49" charset="0"/>
              </a:rPr>
              <a:t>)*|gg(gg)*)y</a:t>
            </a:r>
            <a:r>
              <a:rPr lang="en-US" sz="3600" b="0" i="0" dirty="0">
                <a:effectLst/>
                <a:latin typeface="system-ui"/>
              </a:rPr>
              <a:t> or </a:t>
            </a:r>
          </a:p>
          <a:p>
            <a:r>
              <a:rPr lang="en-US" sz="3600" dirty="0">
                <a:latin typeface="system-ui"/>
              </a:rPr>
              <a:t>	</a:t>
            </a:r>
            <a:r>
              <a:rPr lang="en-US" sz="3600" b="0" i="0" dirty="0">
                <a:effectLst/>
                <a:latin typeface="Menlo" panose="020B0609030804020204" pitchFamily="49" charset="0"/>
              </a:rPr>
              <a:t>bill(</a:t>
            </a:r>
            <a:r>
              <a:rPr lang="en-US" sz="3600" b="0" i="0" dirty="0" err="1">
                <a:effectLst/>
                <a:latin typeface="Menlo" panose="020B0609030804020204" pitchFamily="49" charset="0"/>
              </a:rPr>
              <a:t>ll</a:t>
            </a:r>
            <a:r>
              <a:rPr lang="en-US" sz="3600" b="0" i="0" dirty="0">
                <a:effectLst/>
                <a:latin typeface="Menlo" panose="020B0609030804020204" pitchFamily="49" charset="0"/>
              </a:rPr>
              <a:t>)*</a:t>
            </a:r>
            <a:r>
              <a:rPr lang="en-US" sz="3600" b="0" i="0" dirty="0" err="1">
                <a:effectLst/>
                <a:latin typeface="Menlo" panose="020B0609030804020204" pitchFamily="49" charset="0"/>
              </a:rPr>
              <a:t>y|bigg</a:t>
            </a:r>
            <a:r>
              <a:rPr lang="en-US" sz="3600" b="0" i="0" dirty="0">
                <a:effectLst/>
                <a:latin typeface="Menlo" panose="020B0609030804020204" pitchFamily="49" charset="0"/>
              </a:rPr>
              <a:t>(gg)*y</a:t>
            </a:r>
            <a:r>
              <a:rPr lang="en-US" sz="3600" b="0" i="0" dirty="0">
                <a:effectLst/>
                <a:latin typeface="system-ui"/>
              </a:rPr>
              <a:t>.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970DE6-C3E5-E88C-AA18-459C2CD6C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41" y="1982717"/>
            <a:ext cx="11092117" cy="211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82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DD647-4DF2-0238-8819-E8C7AA6A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</a:t>
            </a:r>
            <a:r>
              <a:rPr lang="en-US" dirty="0" err="1"/>
              <a:t>RegEx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932AD-82B2-4944-D0C1-21A5E6D94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45" y="1873568"/>
            <a:ext cx="9679910" cy="38244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52F37A-689B-B342-641F-611E25FF2079}"/>
              </a:ext>
            </a:extLst>
          </p:cNvPr>
          <p:cNvSpPr txBox="1"/>
          <p:nvPr/>
        </p:nvSpPr>
        <p:spPr>
          <a:xfrm>
            <a:off x="0" y="5941863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effectLst/>
                <a:latin typeface="system-ui"/>
              </a:rPr>
              <a:t>Example (character classes, at least one)</a:t>
            </a:r>
            <a:r>
              <a:rPr lang="en-US" sz="2000" b="0" i="0" dirty="0">
                <a:effectLst/>
                <a:latin typeface="system-ui"/>
              </a:rPr>
              <a:t>: </a:t>
            </a:r>
            <a:r>
              <a:rPr lang="en-US" sz="2000" b="0" i="0" dirty="0">
                <a:effectLst/>
                <a:latin typeface="Menlo" panose="020B0609030804020204" pitchFamily="49" charset="0"/>
              </a:rPr>
              <a:t>[A-E]+</a:t>
            </a:r>
            <a:r>
              <a:rPr lang="en-US" sz="2000" b="0" i="0" dirty="0">
                <a:effectLst/>
                <a:latin typeface="system-ui"/>
              </a:rPr>
              <a:t> is just shortform for </a:t>
            </a:r>
            <a:r>
              <a:rPr lang="en-US" sz="2000" b="0" i="0" dirty="0">
                <a:effectLst/>
                <a:latin typeface="Menlo" panose="020B0609030804020204" pitchFamily="49" charset="0"/>
              </a:rPr>
              <a:t>(A|B|C|D|E)(A|B|C|D|E)*</a:t>
            </a:r>
            <a:r>
              <a:rPr lang="en-US" sz="2000" b="0" i="0" dirty="0">
                <a:effectLst/>
                <a:latin typeface="system-ui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6237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B0DD0-42C6-19CD-CC5B-98C67B03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It! :)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8F8BC4-4686-7D98-C843-CB5D888E0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91" y="2617268"/>
            <a:ext cx="10915417" cy="162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51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88254-17BF-E4AC-0E07-226918B7E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96A5E-30D5-F652-2693-D4F7BB27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3EB8CB-7DBF-136F-D622-68C65E261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91" y="2617268"/>
            <a:ext cx="10915417" cy="1623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B414BD-C23A-32C7-713C-E0DB2855190B}"/>
              </a:ext>
            </a:extLst>
          </p:cNvPr>
          <p:cNvSpPr txBox="1"/>
          <p:nvPr/>
        </p:nvSpPr>
        <p:spPr>
          <a:xfrm>
            <a:off x="1700783" y="4810172"/>
            <a:ext cx="87904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effectLst/>
                <a:latin typeface="system-ui"/>
              </a:rPr>
              <a:t>One answer: </a:t>
            </a:r>
          </a:p>
          <a:p>
            <a:r>
              <a:rPr lang="en-US" sz="2800" b="0" i="0" dirty="0">
                <a:effectLst/>
                <a:latin typeface="Menlo" panose="020B0609030804020204" pitchFamily="49" charset="0"/>
              </a:rPr>
              <a:t>[a-z]*(</a:t>
            </a:r>
            <a:r>
              <a:rPr lang="en-US" sz="2800" b="0" i="0" dirty="0" err="1">
                <a:effectLst/>
                <a:latin typeface="Menlo" panose="020B0609030804020204" pitchFamily="49" charset="0"/>
              </a:rPr>
              <a:t>aa|ee|ii|oo|uu</a:t>
            </a:r>
            <a:r>
              <a:rPr lang="en-US" sz="2800" b="0" i="0" dirty="0">
                <a:effectLst/>
                <a:latin typeface="Menlo" panose="020B0609030804020204" pitchFamily="49" charset="0"/>
              </a:rPr>
              <a:t>)[a-z]*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05131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608D-8ADF-CBFC-F72C-C579538C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It!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8E4A3-55CF-7B3F-BCCA-A9EDF0027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99" y="2609383"/>
            <a:ext cx="11199802" cy="163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89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851A-EB3F-3482-9F99-AE6E1019D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5DFFC-90CA-E158-EC65-CDE656776164}"/>
              </a:ext>
            </a:extLst>
          </p:cNvPr>
          <p:cNvSpPr txBox="1"/>
          <p:nvPr/>
        </p:nvSpPr>
        <p:spPr>
          <a:xfrm>
            <a:off x="353568" y="4888915"/>
            <a:ext cx="114848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effectLst/>
                <a:latin typeface="system-ui"/>
              </a:rPr>
              <a:t>One answer: </a:t>
            </a:r>
            <a:r>
              <a:rPr lang="en-US" sz="3200" b="0" i="0" dirty="0">
                <a:effectLst/>
                <a:latin typeface="Menlo" panose="020B0609030804020204" pitchFamily="49" charset="0"/>
              </a:rPr>
              <a:t>(.*[a-z].*[0-9].*)|(.*[0-9].*[a-z].*)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ABED55-7DCB-9D92-AD02-0C1AFF3CC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99" y="2609383"/>
            <a:ext cx="11199802" cy="163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24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B28E-6016-9BBB-1A75-AC4B9D7D9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</a:t>
            </a:r>
            <a:r>
              <a:rPr lang="en-US" dirty="0" err="1"/>
              <a:t>RegEx</a:t>
            </a:r>
            <a:r>
              <a:rPr lang="en-US" dirty="0"/>
              <a:t>!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AE5AE8-9BF5-2493-1292-244A0A674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976" y="1474319"/>
            <a:ext cx="8368783" cy="39093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1AF68C-3BCB-B40A-224C-97BD18510324}"/>
              </a:ext>
            </a:extLst>
          </p:cNvPr>
          <p:cNvSpPr txBox="1"/>
          <p:nvPr/>
        </p:nvSpPr>
        <p:spPr>
          <a:xfrm>
            <a:off x="2828544" y="5510784"/>
            <a:ext cx="63276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Menlo" panose="020B0609030804020204" pitchFamily="49" charset="0"/>
              </a:rPr>
              <a:t>\d</a:t>
            </a:r>
            <a:r>
              <a:rPr lang="en-US" b="0" i="0" dirty="0">
                <a:effectLst/>
                <a:latin typeface="system-ui"/>
              </a:rPr>
              <a:t> refers to digits.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Menlo" panose="020B0609030804020204" pitchFamily="49" charset="0"/>
              </a:rPr>
              <a:t>\w</a:t>
            </a:r>
            <a:r>
              <a:rPr lang="en-US" b="0" i="0" dirty="0">
                <a:effectLst/>
                <a:latin typeface="system-ui"/>
              </a:rPr>
              <a:t> refers to alphanumeric characters (</a:t>
            </a:r>
            <a:r>
              <a:rPr lang="en-US" b="0" i="0" dirty="0">
                <a:effectLst/>
                <a:latin typeface="Menlo" panose="020B0609030804020204" pitchFamily="49" charset="0"/>
              </a:rPr>
              <a:t>[A-Z][a-z][0-9]_</a:t>
            </a:r>
            <a:r>
              <a:rPr lang="en-US" b="0" i="0" dirty="0">
                <a:effectLst/>
                <a:latin typeface="system-ui"/>
              </a:rPr>
              <a:t>).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Menlo" panose="020B0609030804020204" pitchFamily="49" charset="0"/>
              </a:rPr>
              <a:t>\s</a:t>
            </a:r>
            <a:r>
              <a:rPr lang="en-US" b="0" i="0" dirty="0">
                <a:effectLst/>
                <a:latin typeface="system-ui"/>
              </a:rPr>
              <a:t> refers to whitespace.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Menlo" panose="020B0609030804020204" pitchFamily="49" charset="0"/>
              </a:rPr>
              <a:t>\b</a:t>
            </a:r>
            <a:r>
              <a:rPr lang="en-US" b="0" i="0" dirty="0">
                <a:effectLst/>
                <a:latin typeface="system-ui"/>
              </a:rPr>
              <a:t> is a word boundary.</a:t>
            </a:r>
          </a:p>
        </p:txBody>
      </p:sp>
    </p:spTree>
    <p:extLst>
      <p:ext uri="{BB962C8B-B14F-4D97-AF65-F5344CB8AC3E}">
        <p14:creationId xmlns:p14="http://schemas.microsoft.com/office/powerpoint/2010/main" val="2328207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6A9E5-9F66-071D-9E42-958C0DA6E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It! </a:t>
            </a:r>
            <a:r>
              <a:rPr lang="en-US" dirty="0">
                <a:sym typeface="Wingdings" pitchFamily="2" charset="2"/>
              </a:rPr>
              <a:t>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082F24-717D-58CB-8C18-D3C23D599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38" y="2236054"/>
            <a:ext cx="10497924" cy="238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04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454CF-6DBA-BE52-38F5-DC70A220D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BDD38-5785-3447-1ACA-ADF82E392590}"/>
              </a:ext>
            </a:extLst>
          </p:cNvPr>
          <p:cNvSpPr txBox="1"/>
          <p:nvPr/>
        </p:nvSpPr>
        <p:spPr>
          <a:xfrm>
            <a:off x="1950720" y="5473005"/>
            <a:ext cx="82905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0" i="0" dirty="0">
                <a:effectLst/>
                <a:latin typeface="system-ui"/>
              </a:rPr>
              <a:t>One answer: </a:t>
            </a:r>
            <a:r>
              <a:rPr lang="en-US" sz="2800" b="0" i="0" dirty="0">
                <a:effectLst/>
                <a:latin typeface="Menlo" panose="020B0609030804020204" pitchFamily="49" charset="0"/>
              </a:rPr>
              <a:t>^[</a:t>
            </a:r>
            <a:r>
              <a:rPr lang="en-US" sz="2800" b="0" i="0" dirty="0" err="1">
                <a:effectLst/>
                <a:latin typeface="Menlo" panose="020B0609030804020204" pitchFamily="49" charset="0"/>
              </a:rPr>
              <a:t>aeiouyAEIOUY</a:t>
            </a:r>
            <a:r>
              <a:rPr lang="en-US" sz="2800" b="0" i="0" dirty="0">
                <a:effectLst/>
                <a:latin typeface="Menlo" panose="020B0609030804020204" pitchFamily="49" charset="0"/>
              </a:rPr>
              <a:t>. ]{5,10}$</a:t>
            </a:r>
            <a:endParaRPr lang="en-US" sz="2800" b="0" i="0" dirty="0">
              <a:effectLst/>
              <a:latin typeface="system-ui"/>
            </a:endParaRPr>
          </a:p>
          <a:p>
            <a:pPr>
              <a:buNone/>
            </a:pPr>
            <a:br>
              <a:rPr lang="en-US" sz="2800" dirty="0"/>
            </a:b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9AA6C-1FF5-87E5-BB52-913BAC8C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38" y="2236054"/>
            <a:ext cx="10497924" cy="238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95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211</Words>
  <Application>Microsoft Macintosh PowerPoint</Application>
  <PresentationFormat>Widescreen</PresentationFormat>
  <Paragraphs>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Menlo</vt:lpstr>
      <vt:lpstr>system-ui</vt:lpstr>
      <vt:lpstr>Wingdings</vt:lpstr>
      <vt:lpstr>Office Theme</vt:lpstr>
      <vt:lpstr>Regular Expressions</vt:lpstr>
      <vt:lpstr>Fundamental Building Blocks</vt:lpstr>
      <vt:lpstr>Try It!  </vt:lpstr>
      <vt:lpstr>Solutions</vt:lpstr>
      <vt:lpstr>Try It!  </vt:lpstr>
      <vt:lpstr>Solutions</vt:lpstr>
      <vt:lpstr>Intermediate RegEx</vt:lpstr>
      <vt:lpstr>Try It! :) </vt:lpstr>
      <vt:lpstr>Solution</vt:lpstr>
      <vt:lpstr>Try It! </vt:lpstr>
      <vt:lpstr>Solution</vt:lpstr>
      <vt:lpstr>More RegEx! </vt:lpstr>
      <vt:lpstr>Try It!  </vt:lpstr>
      <vt:lpstr>A 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Bivin Sadler</dc:creator>
  <cp:lastModifiedBy>Bivin Sadler</cp:lastModifiedBy>
  <cp:revision>1</cp:revision>
  <dcterms:created xsi:type="dcterms:W3CDTF">2025-09-22T19:47:12Z</dcterms:created>
  <dcterms:modified xsi:type="dcterms:W3CDTF">2025-09-22T22:27:26Z</dcterms:modified>
</cp:coreProperties>
</file>