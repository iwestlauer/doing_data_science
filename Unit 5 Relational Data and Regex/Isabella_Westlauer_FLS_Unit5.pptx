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66" r:id="rId4"/>
    <p:sldId id="271" r:id="rId5"/>
    <p:sldId id="258" r:id="rId6"/>
    <p:sldId id="275" r:id="rId7"/>
    <p:sldId id="272" r:id="rId8"/>
    <p:sldId id="267" r:id="rId9"/>
    <p:sldId id="260" r:id="rId10"/>
    <p:sldId id="268" r:id="rId11"/>
    <p:sldId id="261" r:id="rId12"/>
    <p:sldId id="269" r:id="rId13"/>
    <p:sldId id="262" r:id="rId14"/>
    <p:sldId id="273" r:id="rId15"/>
    <p:sldId id="274" r:id="rId16"/>
    <p:sldId id="270" r:id="rId17"/>
    <p:sldId id="263" r:id="rId18"/>
    <p:sldId id="26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164C65-F91C-4883-A894-30A7DD52B25B}">
          <p14:sldIdLst>
            <p14:sldId id="256"/>
          </p14:sldIdLst>
        </p14:section>
        <p14:section name="Part 1. NBA Players" id="{AFB62C3A-A00A-4ED3-A1F4-60C44877237F}">
          <p14:sldIdLst>
            <p14:sldId id="257"/>
            <p14:sldId id="266"/>
          </p14:sldIdLst>
        </p14:section>
        <p14:section name="Part 2. FIFA Players" id="{A9CCDBBD-17CB-4B2A-A70F-3376DDE28BCC}">
          <p14:sldIdLst>
            <p14:sldId id="271"/>
            <p14:sldId id="258"/>
            <p14:sldId id="275"/>
            <p14:sldId id="272"/>
            <p14:sldId id="267"/>
          </p14:sldIdLst>
        </p14:section>
        <p14:section name="Part 3. Baby Names" id="{9B47474C-1543-43EB-97A9-98AFEA228419}">
          <p14:sldIdLst>
            <p14:sldId id="260"/>
            <p14:sldId id="268"/>
            <p14:sldId id="261"/>
            <p14:sldId id="269"/>
            <p14:sldId id="262"/>
            <p14:sldId id="273"/>
            <p14:sldId id="274"/>
            <p14:sldId id="270"/>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35" autoAdjust="0"/>
  </p:normalViewPr>
  <p:slideViewPr>
    <p:cSldViewPr snapToGrid="0">
      <p:cViewPr varScale="1">
        <p:scale>
          <a:sx n="66" d="100"/>
          <a:sy n="66" d="100"/>
        </p:scale>
        <p:origin x="14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A68BAF-1D27-4ECB-A604-CFAEC5C19513}"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111480-FBF9-4C25-AC9F-6E2B35C60A95}" type="slidenum">
              <a:rPr lang="en-US" smtClean="0"/>
              <a:t>‹#›</a:t>
            </a:fld>
            <a:endParaRPr lang="en-US"/>
          </a:p>
        </p:txBody>
      </p:sp>
    </p:spTree>
    <p:extLst>
      <p:ext uri="{BB962C8B-B14F-4D97-AF65-F5344CB8AC3E}">
        <p14:creationId xmlns:p14="http://schemas.microsoft.com/office/powerpoint/2010/main" val="4187630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We previously used a dataset called PlayerBBall.csv which contained information about NBA basketball players.  To finish that assignment, you had to manipulate the height column. </a:t>
            </a:r>
          </a:p>
          <a:p>
            <a:pPr marL="0" indent="0">
              <a:buNone/>
            </a:pPr>
            <a:endParaRPr lang="en-US" sz="1200" dirty="0"/>
          </a:p>
          <a:p>
            <a:pPr marL="0" indent="0">
              <a:buNone/>
            </a:pPr>
            <a:r>
              <a:rPr lang="en-US" sz="1200" dirty="0"/>
              <a:t>Review the code you used to do that and see if you can’t make more efficient code using regular expressions and / or the string functions from this Unit. </a:t>
            </a:r>
          </a:p>
          <a:p>
            <a:endParaRPr lang="en-US" sz="1200" dirty="0"/>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2</a:t>
            </a:fld>
            <a:endParaRPr lang="en-US"/>
          </a:p>
        </p:txBody>
      </p:sp>
    </p:spTree>
    <p:extLst>
      <p:ext uri="{BB962C8B-B14F-4D97-AF65-F5344CB8AC3E}">
        <p14:creationId xmlns:p14="http://schemas.microsoft.com/office/powerpoint/2010/main" val="1271380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Use this variable to make a chart that contains histograms of heights for every position (color coded).  </a:t>
            </a:r>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3</a:t>
            </a:fld>
            <a:endParaRPr lang="en-US"/>
          </a:p>
        </p:txBody>
      </p:sp>
    </p:spTree>
    <p:extLst>
      <p:ext uri="{BB962C8B-B14F-4D97-AF65-F5344CB8AC3E}">
        <p14:creationId xmlns:p14="http://schemas.microsoft.com/office/powerpoint/2010/main" val="3051984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1785-8A6E-1433-25B0-FFFD912DA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C3184-8AA0-45FD-B235-32E69B227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45ECE-AC3B-EB52-5EB3-907049BF48E9}"/>
              </a:ext>
            </a:extLst>
          </p:cNvPr>
          <p:cNvSpPr>
            <a:spLocks noGrp="1"/>
          </p:cNvSpPr>
          <p:nvPr>
            <p:ph type="body" idx="1"/>
          </p:nvPr>
        </p:nvSpPr>
        <p:spPr/>
        <p:txBody>
          <a:bodyPr/>
          <a:lstStyle/>
          <a:p>
            <a:pPr marL="0" indent="0">
              <a:buNone/>
            </a:pPr>
            <a:r>
              <a:rPr lang="en-US" sz="1200" dirty="0"/>
              <a:t>We previously used a dataset called FIFA Players.csv which contained information about Soccer players.  </a:t>
            </a:r>
          </a:p>
          <a:p>
            <a:pPr marL="0" indent="0">
              <a:buNone/>
            </a:pPr>
            <a:endParaRPr lang="en-US" sz="1200" dirty="0"/>
          </a:p>
          <a:p>
            <a:pPr marL="457200" indent="-457200">
              <a:buAutoNum type="alphaLcPeriod"/>
            </a:pPr>
            <a:r>
              <a:rPr lang="en-US" sz="1200" dirty="0"/>
              <a:t>Use the string functions and regular expressions to assess a relationship between height and weight among soccer players.  To do this you will need to manipulate the height and weight columns into columns that have numeric values of the height and weight.  Tell your story using 2 – 4 PPT Slides. </a:t>
            </a:r>
          </a:p>
          <a:p>
            <a:pPr marL="457200" indent="-457200">
              <a:buAutoNum type="alphaLcPeriod"/>
            </a:pPr>
            <a:endParaRPr lang="en-US" sz="1200" dirty="0"/>
          </a:p>
          <a:p>
            <a:endParaRPr lang="en-US" dirty="0"/>
          </a:p>
        </p:txBody>
      </p:sp>
      <p:sp>
        <p:nvSpPr>
          <p:cNvPr id="4" name="Slide Number Placeholder 3">
            <a:extLst>
              <a:ext uri="{FF2B5EF4-FFF2-40B4-BE49-F238E27FC236}">
                <a16:creationId xmlns:a16="http://schemas.microsoft.com/office/drawing/2014/main" id="{14678F49-A865-3CB3-65D8-1E099FB277B2}"/>
              </a:ext>
            </a:extLst>
          </p:cNvPr>
          <p:cNvSpPr>
            <a:spLocks noGrp="1"/>
          </p:cNvSpPr>
          <p:nvPr>
            <p:ph type="sldNum" sz="quarter" idx="5"/>
          </p:nvPr>
        </p:nvSpPr>
        <p:spPr/>
        <p:txBody>
          <a:bodyPr/>
          <a:lstStyle/>
          <a:p>
            <a:fld id="{6A111480-FBF9-4C25-AC9F-6E2B35C60A95}" type="slidenum">
              <a:rPr lang="en-US" smtClean="0"/>
              <a:t>4</a:t>
            </a:fld>
            <a:endParaRPr lang="en-US"/>
          </a:p>
        </p:txBody>
      </p:sp>
    </p:spTree>
    <p:extLst>
      <p:ext uri="{BB962C8B-B14F-4D97-AF65-F5344CB8AC3E}">
        <p14:creationId xmlns:p14="http://schemas.microsoft.com/office/powerpoint/2010/main" val="3530284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We previously used a dataset called FIFA Players.csv which contained information about Soccer players.  </a:t>
            </a:r>
          </a:p>
          <a:p>
            <a:pPr marL="0" indent="0">
              <a:buNone/>
            </a:pPr>
            <a:endParaRPr lang="en-US" sz="1200" dirty="0"/>
          </a:p>
          <a:p>
            <a:pPr marL="457200" indent="-457200">
              <a:buAutoNum type="alphaLcPeriod"/>
            </a:pPr>
            <a:r>
              <a:rPr lang="en-US" sz="1200" dirty="0"/>
              <a:t>Use the string functions and regular expressions to assess a relationship between height and weight among soccer players.  To do this you will need to manipulate the height and weight columns into columns that have numeric values of the height and weight.  Tell your story using 2 – 4 PPT Slides. </a:t>
            </a:r>
          </a:p>
          <a:p>
            <a:pPr marL="457200" indent="-457200">
              <a:buAutoNum type="alphaLcPeriod"/>
            </a:pPr>
            <a:endParaRPr lang="en-US" sz="1200" dirty="0"/>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5</a:t>
            </a:fld>
            <a:endParaRPr lang="en-US"/>
          </a:p>
        </p:txBody>
      </p:sp>
    </p:spTree>
    <p:extLst>
      <p:ext uri="{BB962C8B-B14F-4D97-AF65-F5344CB8AC3E}">
        <p14:creationId xmlns:p14="http://schemas.microsoft.com/office/powerpoint/2010/main" val="2403196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8723D-EED1-6B80-0F7D-57F19D02D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E88BB-F9CA-C1E3-AC90-41AC35EEB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1BC2FE-5263-13DF-77E1-80AFFC07E049}"/>
              </a:ext>
            </a:extLst>
          </p:cNvPr>
          <p:cNvSpPr>
            <a:spLocks noGrp="1"/>
          </p:cNvSpPr>
          <p:nvPr>
            <p:ph type="body" idx="1"/>
          </p:nvPr>
        </p:nvSpPr>
        <p:spPr/>
        <p:txBody>
          <a:bodyPr/>
          <a:lstStyle/>
          <a:p>
            <a:pPr marL="0" indent="0">
              <a:buNone/>
            </a:pPr>
            <a:r>
              <a:rPr lang="en-US" sz="1200" dirty="0"/>
              <a:t>We previously used a dataset called FIFA Players.csv which contained information about Soccer players.  </a:t>
            </a:r>
          </a:p>
          <a:p>
            <a:pPr marL="0" indent="0">
              <a:buNone/>
            </a:pPr>
            <a:endParaRPr lang="en-US" sz="1200" dirty="0"/>
          </a:p>
          <a:p>
            <a:pPr marL="457200" indent="-457200">
              <a:buAutoNum type="alphaLcPeriod"/>
            </a:pPr>
            <a:r>
              <a:rPr lang="en-US" sz="1200" dirty="0"/>
              <a:t>Use the string functions and regular expressions to assess a relationship between height and weight among soccer players.  To do this you will need to manipulate the height and weight columns into columns that have numeric values of the height and weight.  Tell your story using 2 – 4 PPT Slides. </a:t>
            </a:r>
          </a:p>
          <a:p>
            <a:pPr marL="457200" indent="-457200">
              <a:buAutoNum type="alphaLcPeriod"/>
            </a:pPr>
            <a:endParaRPr lang="en-US" sz="1200" dirty="0"/>
          </a:p>
          <a:p>
            <a:endParaRPr lang="en-US" dirty="0"/>
          </a:p>
        </p:txBody>
      </p:sp>
      <p:sp>
        <p:nvSpPr>
          <p:cNvPr id="4" name="Slide Number Placeholder 3">
            <a:extLst>
              <a:ext uri="{FF2B5EF4-FFF2-40B4-BE49-F238E27FC236}">
                <a16:creationId xmlns:a16="http://schemas.microsoft.com/office/drawing/2014/main" id="{9C93666D-198E-D7DB-561C-8F1271FE4182}"/>
              </a:ext>
            </a:extLst>
          </p:cNvPr>
          <p:cNvSpPr>
            <a:spLocks noGrp="1"/>
          </p:cNvSpPr>
          <p:nvPr>
            <p:ph type="sldNum" sz="quarter" idx="5"/>
          </p:nvPr>
        </p:nvSpPr>
        <p:spPr/>
        <p:txBody>
          <a:bodyPr/>
          <a:lstStyle/>
          <a:p>
            <a:fld id="{6A111480-FBF9-4C25-AC9F-6E2B35C60A95}" type="slidenum">
              <a:rPr lang="en-US" smtClean="0"/>
              <a:t>6</a:t>
            </a:fld>
            <a:endParaRPr lang="en-US"/>
          </a:p>
        </p:txBody>
      </p:sp>
    </p:spTree>
    <p:extLst>
      <p:ext uri="{BB962C8B-B14F-4D97-AF65-F5344CB8AC3E}">
        <p14:creationId xmlns:p14="http://schemas.microsoft.com/office/powerpoint/2010/main" val="1404343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85702-D251-D8F1-C502-8537006AA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01CD8-701A-2160-7759-7C2C8DD1DC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905BA2-E814-262A-2A92-FE440EB012C0}"/>
              </a:ext>
            </a:extLst>
          </p:cNvPr>
          <p:cNvSpPr>
            <a:spLocks noGrp="1"/>
          </p:cNvSpPr>
          <p:nvPr>
            <p:ph type="body" idx="1"/>
          </p:nvPr>
        </p:nvSpPr>
        <p:spPr/>
        <p:txBody>
          <a:bodyPr/>
          <a:lstStyle/>
          <a:p>
            <a:pPr marL="0" indent="0">
              <a:buNone/>
            </a:pPr>
            <a:r>
              <a:rPr lang="en-US" sz="1200" dirty="0"/>
              <a:t>We previously used a dataset called FIFA Players.csv which contained information about Soccer players.  </a:t>
            </a:r>
          </a:p>
          <a:p>
            <a:pPr marL="0" indent="0">
              <a:buNone/>
            </a:pPr>
            <a:endParaRPr lang="en-US" sz="1200" dirty="0"/>
          </a:p>
          <a:p>
            <a:pPr marL="457200" indent="-457200">
              <a:buAutoNum type="alphaLcPeriod"/>
            </a:pPr>
            <a:r>
              <a:rPr lang="en-US" sz="1200" dirty="0"/>
              <a:t>Use the string functions and regular expressions to assess a relationship between height and weight among soccer players.  To do this you will need to manipulate the height and weight columns into columns that have numeric values of the height and weight.  Tell your story using 2 – 4 PPT Slides. </a:t>
            </a:r>
          </a:p>
          <a:p>
            <a:pPr marL="457200" indent="-457200">
              <a:buAutoNum type="alphaLcPeriod"/>
            </a:pPr>
            <a:endParaRPr lang="en-US" sz="1200" dirty="0"/>
          </a:p>
          <a:p>
            <a:endParaRPr lang="en-US" dirty="0"/>
          </a:p>
        </p:txBody>
      </p:sp>
      <p:sp>
        <p:nvSpPr>
          <p:cNvPr id="4" name="Slide Number Placeholder 3">
            <a:extLst>
              <a:ext uri="{FF2B5EF4-FFF2-40B4-BE49-F238E27FC236}">
                <a16:creationId xmlns:a16="http://schemas.microsoft.com/office/drawing/2014/main" id="{79FB07FB-BE2E-F7B8-D93A-4B6A53EACB40}"/>
              </a:ext>
            </a:extLst>
          </p:cNvPr>
          <p:cNvSpPr>
            <a:spLocks noGrp="1"/>
          </p:cNvSpPr>
          <p:nvPr>
            <p:ph type="sldNum" sz="quarter" idx="5"/>
          </p:nvPr>
        </p:nvSpPr>
        <p:spPr/>
        <p:txBody>
          <a:bodyPr/>
          <a:lstStyle/>
          <a:p>
            <a:fld id="{6A111480-FBF9-4C25-AC9F-6E2B35C60A95}" type="slidenum">
              <a:rPr lang="en-US" smtClean="0"/>
              <a:t>7</a:t>
            </a:fld>
            <a:endParaRPr lang="en-US"/>
          </a:p>
        </p:txBody>
      </p:sp>
    </p:spTree>
    <p:extLst>
      <p:ext uri="{BB962C8B-B14F-4D97-AF65-F5344CB8AC3E}">
        <p14:creationId xmlns:p14="http://schemas.microsoft.com/office/powerpoint/2010/main" val="3989308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Next, assess this relationship between just the LB and LM positions.  (1 slide should do it.)</a:t>
            </a:r>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8</a:t>
            </a:fld>
            <a:endParaRPr lang="en-US"/>
          </a:p>
        </p:txBody>
      </p:sp>
    </p:spTree>
    <p:extLst>
      <p:ext uri="{BB962C8B-B14F-4D97-AF65-F5344CB8AC3E}">
        <p14:creationId xmlns:p14="http://schemas.microsoft.com/office/powerpoint/2010/main" val="4147336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gn="r">
              <a:spcBef>
                <a:spcPts val="955"/>
              </a:spcBef>
              <a:buSzPts val="1200"/>
              <a:buFont typeface="Palatino Linotype" panose="02040502050505030304" pitchFamily="18" charset="0"/>
              <a:buAutoNum type="arabicPeriod"/>
              <a:tabLst>
                <a:tab pos="435610" algn="l"/>
              </a:tabLst>
            </a:pPr>
            <a:r>
              <a:rPr lang="en-US" sz="1400" b="1" dirty="0">
                <a:latin typeface="Times New Roman" panose="02020603050405020304" pitchFamily="18" charset="0"/>
                <a:ea typeface="Palatino Linotype" panose="02040502050505030304" pitchFamily="18" charset="0"/>
                <a:cs typeface="Palatino Linotype" panose="02040502050505030304" pitchFamily="18" charset="0"/>
              </a:rPr>
              <a:t>Data Munging (30 points): </a:t>
            </a: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Utilize </a:t>
            </a:r>
            <a:r>
              <a:rPr lang="en-US" sz="1400" b="1" dirty="0">
                <a:latin typeface="Times New Roman" panose="02020603050405020304" pitchFamily="18" charset="0"/>
                <a:ea typeface="Palatino Linotype" panose="02040502050505030304" pitchFamily="18" charset="0"/>
                <a:cs typeface="Palatino Linotype" panose="02040502050505030304" pitchFamily="18" charset="0"/>
              </a:rPr>
              <a:t>yob2016.txt</a:t>
            </a: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 for this question. This file is a series of </a:t>
            </a:r>
            <a:r>
              <a:rPr lang="en-US" sz="1400" u="sng" dirty="0">
                <a:latin typeface="Times New Roman" panose="02020603050405020304" pitchFamily="18" charset="0"/>
                <a:ea typeface="Palatino Linotype" panose="02040502050505030304" pitchFamily="18" charset="0"/>
                <a:cs typeface="Palatino Linotype" panose="02040502050505030304" pitchFamily="18" charset="0"/>
              </a:rPr>
              <a:t>popular children’s names</a:t>
            </a: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 born in the year 2016 in the United States.  It consists of three columns with a </a:t>
            </a:r>
            <a:r>
              <a:rPr lang="en-US" sz="1400" i="1" dirty="0">
                <a:latin typeface="Times New Roman" panose="02020603050405020304" pitchFamily="18" charset="0"/>
                <a:ea typeface="Palatino Linotype" panose="02040502050505030304" pitchFamily="18" charset="0"/>
                <a:cs typeface="Palatino Linotype" panose="02040502050505030304" pitchFamily="18" charset="0"/>
              </a:rPr>
              <a:t>first name</a:t>
            </a: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 a </a:t>
            </a:r>
            <a:r>
              <a:rPr lang="en-US" sz="1400" i="1" dirty="0">
                <a:latin typeface="Times New Roman" panose="02020603050405020304" pitchFamily="18" charset="0"/>
                <a:ea typeface="Palatino Linotype" panose="02040502050505030304" pitchFamily="18" charset="0"/>
                <a:cs typeface="Palatino Linotype" panose="02040502050505030304" pitchFamily="18" charset="0"/>
              </a:rPr>
              <a:t>gender</a:t>
            </a: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 and the </a:t>
            </a:r>
            <a:r>
              <a:rPr lang="en-US" sz="1400" i="1" dirty="0">
                <a:latin typeface="Times New Roman" panose="02020603050405020304" pitchFamily="18" charset="0"/>
                <a:ea typeface="Palatino Linotype" panose="02040502050505030304" pitchFamily="18" charset="0"/>
                <a:cs typeface="Palatino Linotype" panose="02040502050505030304" pitchFamily="18" charset="0"/>
              </a:rPr>
              <a:t>amount of children</a:t>
            </a: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 given that name.  However, the data is raw and will need cleaning to make it tidy and usable.</a:t>
            </a:r>
            <a:endParaRPr lang="en-US" sz="1200" dirty="0">
              <a:latin typeface="Garamond" panose="02020404030301010803" pitchFamily="18" charset="0"/>
              <a:ea typeface="Palatino Linotype" panose="02040502050505030304" pitchFamily="18" charset="0"/>
              <a:cs typeface="Palatino Linotype" panose="02040502050505030304" pitchFamily="18" charset="0"/>
            </a:endParaRPr>
          </a:p>
          <a:p>
            <a:pPr lvl="1">
              <a:spcBef>
                <a:spcPts val="955"/>
              </a:spcBef>
              <a:buSzPts val="1200"/>
              <a:buFont typeface="Palatino Linotype" panose="02040502050505030304" pitchFamily="18" charset="0"/>
              <a:buAutoNum type="alphaLcPeriod"/>
              <a:tabLst>
                <a:tab pos="435610" algn="l"/>
              </a:tabLst>
            </a:pP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First, import the .txt file into R so you can process it.  Keep in mind this is not a CSV file.  You might have to open the file to see what you’re dealing with.  Assign the resulting data frame to an object, </a:t>
            </a:r>
            <a:r>
              <a:rPr lang="en-US" sz="1400" b="1" dirty="0" err="1">
                <a:latin typeface="Times New Roman" panose="02020603050405020304" pitchFamily="18" charset="0"/>
                <a:ea typeface="Palatino Linotype" panose="02040502050505030304" pitchFamily="18" charset="0"/>
                <a:cs typeface="Palatino Linotype" panose="02040502050505030304" pitchFamily="18" charset="0"/>
              </a:rPr>
              <a:t>df</a:t>
            </a: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 that consists of three columns with human-readable column names for each.</a:t>
            </a:r>
          </a:p>
          <a:p>
            <a:pPr lvl="1">
              <a:spcBef>
                <a:spcPts val="955"/>
              </a:spcBef>
              <a:buSzPts val="1200"/>
              <a:buFont typeface="Palatino Linotype" panose="02040502050505030304" pitchFamily="18" charset="0"/>
              <a:buNone/>
              <a:tabLst>
                <a:tab pos="435610" algn="l"/>
              </a:tabLst>
            </a:pPr>
            <a:endParaRPr lang="en-US" sz="1200" dirty="0">
              <a:latin typeface="Garamond" panose="02020404030301010803" pitchFamily="18" charset="0"/>
              <a:ea typeface="Palatino Linotype" panose="02040502050505030304" pitchFamily="18" charset="0"/>
              <a:cs typeface="Palatino Linotype" panose="02040502050505030304" pitchFamily="18" charset="0"/>
            </a:endParaRPr>
          </a:p>
          <a:p>
            <a:pPr lvl="1">
              <a:spcBef>
                <a:spcPts val="955"/>
              </a:spcBef>
              <a:buSzPts val="1200"/>
              <a:buFont typeface="Palatino Linotype" panose="02040502050505030304" pitchFamily="18" charset="0"/>
              <a:buAutoNum type="alphaLcPeriod"/>
              <a:tabLst>
                <a:tab pos="435610" algn="l"/>
              </a:tabLst>
            </a:pP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Display the summary and structure of </a:t>
            </a:r>
            <a:r>
              <a:rPr lang="en-US" sz="1400" b="1" dirty="0" err="1">
                <a:latin typeface="Times New Roman" panose="02020603050405020304" pitchFamily="18" charset="0"/>
                <a:ea typeface="Palatino Linotype" panose="02040502050505030304" pitchFamily="18" charset="0"/>
                <a:cs typeface="Palatino Linotype" panose="02040502050505030304" pitchFamily="18" charset="0"/>
              </a:rPr>
              <a:t>df</a:t>
            </a:r>
            <a:endParaRPr lang="en-US" sz="1400" b="1" dirty="0">
              <a:latin typeface="Times New Roman" panose="02020603050405020304" pitchFamily="18" charset="0"/>
              <a:ea typeface="Palatino Linotype" panose="02040502050505030304" pitchFamily="18" charset="0"/>
              <a:cs typeface="Palatino Linotype" panose="02040502050505030304" pitchFamily="18" charset="0"/>
            </a:endParaRPr>
          </a:p>
          <a:p>
            <a:endParaRPr lang="en-US" sz="3600" dirty="0"/>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9</a:t>
            </a:fld>
            <a:endParaRPr lang="en-US"/>
          </a:p>
        </p:txBody>
      </p:sp>
    </p:spTree>
    <p:extLst>
      <p:ext uri="{BB962C8B-B14F-4D97-AF65-F5344CB8AC3E}">
        <p14:creationId xmlns:p14="http://schemas.microsoft.com/office/powerpoint/2010/main" val="2631023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spcBef>
                <a:spcPts val="955"/>
              </a:spcBef>
              <a:buSzPts val="1200"/>
              <a:buFont typeface="Palatino Linotype" panose="02040502050505030304" pitchFamily="18" charset="0"/>
              <a:buNone/>
              <a:tabLst>
                <a:tab pos="435610" algn="l"/>
              </a:tabLst>
            </a:pPr>
            <a:endParaRPr lang="en-US" sz="1200" dirty="0">
              <a:latin typeface="Garamond" panose="02020404030301010803" pitchFamily="18" charset="0"/>
              <a:ea typeface="Palatino Linotype" panose="02040502050505030304" pitchFamily="18" charset="0"/>
              <a:cs typeface="Palatino Linotype" panose="02040502050505030304" pitchFamily="18" charset="0"/>
            </a:endParaRPr>
          </a:p>
          <a:p>
            <a:pPr lvl="1">
              <a:spcBef>
                <a:spcPts val="955"/>
              </a:spcBef>
              <a:buSzPts val="1200"/>
              <a:buFont typeface="Palatino Linotype" panose="02040502050505030304" pitchFamily="18" charset="0"/>
              <a:buAutoNum type="alphaLcPeriod"/>
              <a:tabLst>
                <a:tab pos="435610" algn="l"/>
              </a:tabLst>
            </a:pP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Your client tells you that there is a problem with the raw file.  One name was entered twice and misspelled.  The client cannot remember which name it is; there are thousands he saw! But he did mention he accidentally put three y’s at the end of the name.  Write an R command to figure out which name it is and display it.</a:t>
            </a:r>
          </a:p>
          <a:p>
            <a:pPr lvl="1">
              <a:spcBef>
                <a:spcPts val="955"/>
              </a:spcBef>
              <a:buSzPts val="1200"/>
              <a:buFont typeface="Palatino Linotype" panose="02040502050505030304" pitchFamily="18" charset="0"/>
              <a:buNone/>
              <a:tabLst>
                <a:tab pos="435610" algn="l"/>
              </a:tabLst>
            </a:pPr>
            <a:endParaRPr lang="en-US" sz="1200" dirty="0">
              <a:latin typeface="Garamond" panose="02020404030301010803" pitchFamily="18" charset="0"/>
              <a:ea typeface="Palatino Linotype" panose="02040502050505030304" pitchFamily="18" charset="0"/>
              <a:cs typeface="Palatino Linotype" panose="02040502050505030304" pitchFamily="18" charset="0"/>
            </a:endParaRPr>
          </a:p>
          <a:p>
            <a:pPr lvl="1">
              <a:spcBef>
                <a:spcPts val="955"/>
              </a:spcBef>
              <a:buSzPts val="1200"/>
              <a:buFont typeface="Palatino Linotype" panose="02040502050505030304" pitchFamily="18" charset="0"/>
              <a:buAutoNum type="alphaLcPeriod"/>
              <a:tabLst>
                <a:tab pos="435610" algn="l"/>
              </a:tabLst>
            </a:pPr>
            <a:r>
              <a:rPr lang="en-US" sz="1400" dirty="0">
                <a:latin typeface="Times New Roman" panose="02020603050405020304" pitchFamily="18" charset="0"/>
                <a:ea typeface="Palatino Linotype" panose="02040502050505030304" pitchFamily="18" charset="0"/>
                <a:cs typeface="Palatino Linotype" panose="02040502050505030304" pitchFamily="18" charset="0"/>
              </a:rPr>
              <a:t>Upon finding the misspelled name, please remove this particular observation, as the client says it’s redundant.  Save the remaining dataset as an object: </a:t>
            </a:r>
            <a:r>
              <a:rPr lang="en-US" sz="1400" b="1" dirty="0">
                <a:latin typeface="Times New Roman" panose="02020603050405020304" pitchFamily="18" charset="0"/>
                <a:ea typeface="Palatino Linotype" panose="02040502050505030304" pitchFamily="18" charset="0"/>
                <a:cs typeface="Palatino Linotype" panose="02040502050505030304" pitchFamily="18" charset="0"/>
              </a:rPr>
              <a:t>y2016 </a:t>
            </a:r>
            <a:endParaRPr lang="en-US" sz="1200" dirty="0">
              <a:latin typeface="Garamond" panose="02020404030301010803" pitchFamily="18" charset="0"/>
              <a:ea typeface="Palatino Linotype" panose="02040502050505030304" pitchFamily="18" charset="0"/>
              <a:cs typeface="Palatino Linotype" panose="02040502050505030304" pitchFamily="18" charset="0"/>
            </a:endParaRPr>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10</a:t>
            </a:fld>
            <a:endParaRPr lang="en-US"/>
          </a:p>
        </p:txBody>
      </p:sp>
    </p:spTree>
    <p:extLst>
      <p:ext uri="{BB962C8B-B14F-4D97-AF65-F5344CB8AC3E}">
        <p14:creationId xmlns:p14="http://schemas.microsoft.com/office/powerpoint/2010/main" val="252295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lvl="0">
              <a:spcBef>
                <a:spcPts val="955"/>
              </a:spcBef>
              <a:spcAft>
                <a:spcPts val="0"/>
              </a:spcAft>
              <a:buSzPts val="1200"/>
              <a:tabLst>
                <a:tab pos="435610" algn="l"/>
              </a:tabLst>
            </a:pPr>
            <a:r>
              <a:rPr lang="en-US" sz="1200" b="1" spc="-20" dirty="0">
                <a:latin typeface="Times New Roman" panose="02020603050405020304" pitchFamily="18" charset="0"/>
                <a:ea typeface="Palatino Linotype" panose="02040502050505030304" pitchFamily="18" charset="0"/>
                <a:cs typeface="Palatino Linotype" panose="02040502050505030304" pitchFamily="18" charset="0"/>
              </a:rPr>
              <a:t>2. Data Merging (30 points):</a:t>
            </a:r>
            <a:r>
              <a:rPr lang="en-US" sz="1200" spc="-20" dirty="0">
                <a:latin typeface="Times New Roman" panose="02020603050405020304" pitchFamily="18" charset="0"/>
                <a:ea typeface="Palatino Linotype" panose="02040502050505030304" pitchFamily="18" charset="0"/>
                <a:cs typeface="Palatino Linotype" panose="02040502050505030304" pitchFamily="18" charset="0"/>
              </a:rPr>
              <a:t> Utilize </a:t>
            </a:r>
            <a:r>
              <a:rPr lang="en-US" sz="1200" b="1" spc="-20" dirty="0">
                <a:latin typeface="Times New Roman" panose="02020603050405020304" pitchFamily="18" charset="0"/>
                <a:ea typeface="Palatino Linotype" panose="02040502050505030304" pitchFamily="18" charset="0"/>
                <a:cs typeface="Palatino Linotype" panose="02040502050505030304" pitchFamily="18" charset="0"/>
              </a:rPr>
              <a:t>yob2015.txt</a:t>
            </a:r>
            <a:r>
              <a:rPr lang="en-US" sz="1200" spc="-20" dirty="0">
                <a:latin typeface="Times New Roman" panose="02020603050405020304" pitchFamily="18" charset="0"/>
                <a:ea typeface="Palatino Linotype" panose="02040502050505030304" pitchFamily="18" charset="0"/>
                <a:cs typeface="Palatino Linotype" panose="02040502050505030304" pitchFamily="18" charset="0"/>
              </a:rPr>
              <a:t> for this question.  This file is similar to yob2016, but contains names, gender, and total children given that name for the year 2015.</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marL="742950" marR="0" lvl="1" indent="-285750">
              <a:spcBef>
                <a:spcPts val="955"/>
              </a:spcBef>
              <a:spcAft>
                <a:spcPts val="0"/>
              </a:spcAft>
              <a:buSzPts val="1200"/>
              <a:buFont typeface="Palatino Linotype" panose="02040502050505030304" pitchFamily="18" charset="0"/>
              <a:buAutoNum type="alphaLcPeriod"/>
              <a:tabLst>
                <a:tab pos="435610" algn="l"/>
              </a:tabLst>
            </a:pP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Like 1a, please import the .txt file into R.  Look at the file before you do.  You might have to change some options to import it properly.  Again, please give the </a:t>
            </a:r>
            <a:r>
              <a:rPr lang="en-US" sz="1200" dirty="0" err="1">
                <a:latin typeface="Times New Roman" panose="02020603050405020304" pitchFamily="18" charset="0"/>
                <a:ea typeface="Palatino Linotype" panose="02040502050505030304" pitchFamily="18" charset="0"/>
                <a:cs typeface="Palatino Linotype" panose="02040502050505030304" pitchFamily="18" charset="0"/>
              </a:rPr>
              <a:t>dataframe</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human-readable column names.  Assign the </a:t>
            </a:r>
            <a:r>
              <a:rPr lang="en-US" sz="1200" dirty="0" err="1">
                <a:latin typeface="Times New Roman" panose="02020603050405020304" pitchFamily="18" charset="0"/>
                <a:ea typeface="Palatino Linotype" panose="02040502050505030304" pitchFamily="18" charset="0"/>
                <a:cs typeface="Palatino Linotype" panose="02040502050505030304" pitchFamily="18" charset="0"/>
              </a:rPr>
              <a:t>dataframe</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to </a:t>
            </a: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y2015</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a:t>
            </a:r>
          </a:p>
          <a:p>
            <a:pPr marL="742950" marR="0" lvl="1" indent="-285750">
              <a:spcBef>
                <a:spcPts val="955"/>
              </a:spcBef>
              <a:spcAft>
                <a:spcPts val="0"/>
              </a:spcAft>
              <a:buSzPts val="1200"/>
              <a:buFont typeface="Palatino Linotype" panose="02040502050505030304" pitchFamily="18" charset="0"/>
              <a:buAutoNum type="alphaLcPeriod"/>
              <a:tabLst>
                <a:tab pos="435610" algn="l"/>
              </a:tabLst>
            </a:pP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marL="742950" marR="0" lvl="1" indent="-285750">
              <a:spcBef>
                <a:spcPts val="955"/>
              </a:spcBef>
              <a:spcAft>
                <a:spcPts val="0"/>
              </a:spcAft>
              <a:buSzPts val="1200"/>
              <a:buFont typeface="Palatino Linotype" panose="02040502050505030304" pitchFamily="18" charset="0"/>
              <a:buAutoNum type="alphaLcPeriod"/>
              <a:tabLst>
                <a:tab pos="435610" algn="l"/>
              </a:tabLst>
            </a:pP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Display the last ten rows in the </a:t>
            </a:r>
            <a:r>
              <a:rPr lang="en-US" sz="1200" dirty="0" err="1">
                <a:latin typeface="Times New Roman" panose="02020603050405020304" pitchFamily="18" charset="0"/>
                <a:ea typeface="Palatino Linotype" panose="02040502050505030304" pitchFamily="18" charset="0"/>
                <a:cs typeface="Palatino Linotype" panose="02040502050505030304" pitchFamily="18" charset="0"/>
              </a:rPr>
              <a:t>dataframe</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Describe something you find interesting about these 10 rows.</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a:spcBef>
                <a:spcPts val="955"/>
              </a:spcBef>
              <a:tabLst>
                <a:tab pos="435610" algn="l"/>
              </a:tabLst>
            </a:pPr>
            <a:endParaRPr lang="en-US" sz="1100" dirty="0">
              <a:latin typeface="Garamond" panose="02020404030301010803" pitchFamily="18" charset="0"/>
              <a:ea typeface="Garamond" panose="02020404030301010803" pitchFamily="18" charset="0"/>
              <a:cs typeface="Garamond" panose="02020404030301010803" pitchFamily="18" charset="0"/>
            </a:endParaRPr>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11</a:t>
            </a:fld>
            <a:endParaRPr lang="en-US"/>
          </a:p>
        </p:txBody>
      </p:sp>
    </p:spTree>
    <p:extLst>
      <p:ext uri="{BB962C8B-B14F-4D97-AF65-F5344CB8AC3E}">
        <p14:creationId xmlns:p14="http://schemas.microsoft.com/office/powerpoint/2010/main" val="1100581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Merge </a:t>
            </a: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y2016 </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and </a:t>
            </a: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y2015</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by your Name column; assign it to </a:t>
            </a: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final</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The client only cares about names that have data for </a:t>
            </a:r>
            <a:r>
              <a:rPr lang="en-US" sz="1200" u="sng" dirty="0">
                <a:latin typeface="Times New Roman" panose="02020603050405020304" pitchFamily="18" charset="0"/>
                <a:ea typeface="Palatino Linotype" panose="02040502050505030304" pitchFamily="18" charset="0"/>
                <a:cs typeface="Palatino Linotype" panose="02040502050505030304" pitchFamily="18" charset="0"/>
              </a:rPr>
              <a:t>both</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2016 and 2015; there should be no NA values in either of your </a:t>
            </a:r>
            <a:r>
              <a:rPr lang="en-US" sz="1200" i="1" dirty="0">
                <a:latin typeface="Times New Roman" panose="02020603050405020304" pitchFamily="18" charset="0"/>
                <a:ea typeface="Palatino Linotype" panose="02040502050505030304" pitchFamily="18" charset="0"/>
                <a:cs typeface="Palatino Linotype" panose="02040502050505030304" pitchFamily="18" charset="0"/>
              </a:rPr>
              <a:t>amount of children </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rows after merging.</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endParaRPr lang="en-US" dirty="0"/>
          </a:p>
          <a:p>
            <a:r>
              <a:rPr lang="en-US" dirty="0"/>
              <a:t>We should not merge the data sets by Name only because some names are both Male and Female. We can merge on both Name and Gender, or we can group by Name, regardless of gender to get the name and count before (or after) merging 2015 and 2016.</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12</a:t>
            </a:fld>
            <a:endParaRPr lang="en-US"/>
          </a:p>
        </p:txBody>
      </p:sp>
    </p:spTree>
    <p:extLst>
      <p:ext uri="{BB962C8B-B14F-4D97-AF65-F5344CB8AC3E}">
        <p14:creationId xmlns:p14="http://schemas.microsoft.com/office/powerpoint/2010/main" val="4106364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ts val="955"/>
              </a:spcBef>
              <a:buSzPts val="1200"/>
              <a:buNone/>
              <a:tabLst>
                <a:tab pos="435610" algn="l"/>
              </a:tabLst>
            </a:pP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3.  Data Summary (30 points)</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Utilize your data frame object </a:t>
            </a: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final </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for this part.</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lvl="1">
              <a:spcBef>
                <a:spcPts val="955"/>
              </a:spcBef>
              <a:buSzPts val="1200"/>
              <a:buFont typeface="Palatino Linotype" panose="02040502050505030304" pitchFamily="18" charset="0"/>
              <a:buAutoNum type="alphaLcPeriod"/>
              <a:tabLst>
                <a:tab pos="435610" algn="l"/>
              </a:tabLst>
            </a:pP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Create a new column called “Total” in </a:t>
            </a: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final</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that adds the </a:t>
            </a:r>
            <a:r>
              <a:rPr lang="en-US" sz="1200" i="1" dirty="0">
                <a:latin typeface="Times New Roman" panose="02020603050405020304" pitchFamily="18" charset="0"/>
                <a:ea typeface="Palatino Linotype" panose="02040502050505030304" pitchFamily="18" charset="0"/>
                <a:cs typeface="Palatino Linotype" panose="02040502050505030304" pitchFamily="18" charset="0"/>
              </a:rPr>
              <a:t>amount of children </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in 2015 and 2016 together.  In those two years combined, how many people were given popular names?</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lvl="1">
              <a:spcBef>
                <a:spcPts val="955"/>
              </a:spcBef>
              <a:buSzPts val="1200"/>
              <a:buFont typeface="Palatino Linotype" panose="02040502050505030304" pitchFamily="18" charset="0"/>
              <a:buAutoNum type="alphaLcPeriod"/>
              <a:tabLst>
                <a:tab pos="435610" algn="l"/>
              </a:tabLst>
            </a:pP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Sort the data by Total.  What are the top 10 most popular names?</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marL="762000" marR="0" indent="0" algn="ctr">
              <a:spcBef>
                <a:spcPts val="955"/>
              </a:spcBef>
              <a:spcAft>
                <a:spcPts val="0"/>
              </a:spcAft>
              <a:tabLst>
                <a:tab pos="435610" algn="l"/>
              </a:tabLst>
            </a:pPr>
            <a:r>
              <a:rPr lang="en-US" sz="1200" dirty="0">
                <a:latin typeface="Times New Roman" panose="02020603050405020304" pitchFamily="18" charset="0"/>
                <a:ea typeface="Garamond" panose="02020404030301010803" pitchFamily="18" charset="0"/>
                <a:cs typeface="Garamond" panose="02020404030301010803" pitchFamily="18" charset="0"/>
              </a:rPr>
              <a:t> </a:t>
            </a:r>
            <a:endParaRPr lang="en-US" sz="1100" dirty="0">
              <a:latin typeface="Garamond" panose="02020404030301010803" pitchFamily="18" charset="0"/>
              <a:ea typeface="Garamond" panose="02020404030301010803" pitchFamily="18" charset="0"/>
              <a:cs typeface="Garamond" panose="02020404030301010803" pitchFamily="18"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13</a:t>
            </a:fld>
            <a:endParaRPr lang="en-US"/>
          </a:p>
        </p:txBody>
      </p:sp>
    </p:spTree>
    <p:extLst>
      <p:ext uri="{BB962C8B-B14F-4D97-AF65-F5344CB8AC3E}">
        <p14:creationId xmlns:p14="http://schemas.microsoft.com/office/powerpoint/2010/main" val="4174356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H G A C</a:t>
            </a:r>
          </a:p>
          <a:p>
            <a:r>
              <a:rPr lang="en-US" dirty="0"/>
              <a:t>Alt H G A M</a:t>
            </a:r>
          </a:p>
        </p:txBody>
      </p:sp>
      <p:sp>
        <p:nvSpPr>
          <p:cNvPr id="4" name="Slide Number Placeholder 3"/>
          <p:cNvSpPr>
            <a:spLocks noGrp="1"/>
          </p:cNvSpPr>
          <p:nvPr>
            <p:ph type="sldNum" sz="quarter" idx="5"/>
          </p:nvPr>
        </p:nvSpPr>
        <p:spPr/>
        <p:txBody>
          <a:bodyPr/>
          <a:lstStyle/>
          <a:p>
            <a:fld id="{6A111480-FBF9-4C25-AC9F-6E2B35C60A95}" type="slidenum">
              <a:rPr lang="en-US" smtClean="0"/>
              <a:t>15</a:t>
            </a:fld>
            <a:endParaRPr lang="en-US"/>
          </a:p>
        </p:txBody>
      </p:sp>
    </p:spTree>
    <p:extLst>
      <p:ext uri="{BB962C8B-B14F-4D97-AF65-F5344CB8AC3E}">
        <p14:creationId xmlns:p14="http://schemas.microsoft.com/office/powerpoint/2010/main" val="3958769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9A4B0-07DA-835A-965A-EA0CB70CE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5618E-1539-B395-9EE0-0EA3D6CA4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5D444-7AD7-7D19-FA2D-A34A00A8EE83}"/>
              </a:ext>
            </a:extLst>
          </p:cNvPr>
          <p:cNvSpPr>
            <a:spLocks noGrp="1"/>
          </p:cNvSpPr>
          <p:nvPr>
            <p:ph type="body" idx="1"/>
          </p:nvPr>
        </p:nvSpPr>
        <p:spPr/>
        <p:txBody>
          <a:bodyPr/>
          <a:lstStyle/>
          <a:p>
            <a:pPr marL="0" lvl="0" indent="0">
              <a:spcBef>
                <a:spcPts val="955"/>
              </a:spcBef>
              <a:buSzPts val="1200"/>
              <a:buNone/>
              <a:tabLst>
                <a:tab pos="435610" algn="l"/>
              </a:tabLst>
            </a:pP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3.  Data Summary (30 points)</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 Utilize your data frame object </a:t>
            </a:r>
            <a:r>
              <a:rPr lang="en-US" sz="1200" b="1" dirty="0">
                <a:latin typeface="Times New Roman" panose="02020603050405020304" pitchFamily="18" charset="0"/>
                <a:ea typeface="Palatino Linotype" panose="02040502050505030304" pitchFamily="18" charset="0"/>
                <a:cs typeface="Palatino Linotype" panose="02040502050505030304" pitchFamily="18" charset="0"/>
              </a:rPr>
              <a:t>final </a:t>
            </a: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for this part.</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lvl="1">
              <a:spcBef>
                <a:spcPts val="955"/>
              </a:spcBef>
              <a:buSzPts val="1200"/>
              <a:buFont typeface="Palatino Linotype" panose="02040502050505030304" pitchFamily="18" charset="0"/>
              <a:buAutoNum type="alphaLcPeriod"/>
              <a:tabLst>
                <a:tab pos="435610" algn="l"/>
              </a:tabLst>
            </a:pP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The client is expecting a girl!  Omit boys and give the top 10 most popular girl’s names.</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lvl="1">
              <a:spcBef>
                <a:spcPts val="955"/>
              </a:spcBef>
              <a:buSzPts val="1200"/>
              <a:buFont typeface="Palatino Linotype" panose="02040502050505030304" pitchFamily="18" charset="0"/>
              <a:buAutoNum type="alphaLcPeriod"/>
              <a:tabLst>
                <a:tab pos="435610" algn="l"/>
              </a:tabLst>
            </a:pPr>
            <a:r>
              <a:rPr lang="en-US" sz="1200" dirty="0">
                <a:latin typeface="Times New Roman" panose="02020603050405020304" pitchFamily="18" charset="0"/>
                <a:ea typeface="Palatino Linotype" panose="02040502050505030304" pitchFamily="18" charset="0"/>
                <a:cs typeface="Palatino Linotype" panose="02040502050505030304" pitchFamily="18" charset="0"/>
              </a:rPr>
              <a:t>Write these top 10 girl names and their Totals to a CSV file.  Leave out the other columns entirely.</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a:p>
            <a:pPr marL="762000" marR="0" indent="0" algn="ctr">
              <a:spcBef>
                <a:spcPts val="955"/>
              </a:spcBef>
              <a:spcAft>
                <a:spcPts val="0"/>
              </a:spcAft>
              <a:tabLst>
                <a:tab pos="435610" algn="l"/>
              </a:tabLst>
            </a:pPr>
            <a:r>
              <a:rPr lang="en-US" sz="1200" dirty="0">
                <a:latin typeface="Times New Roman" panose="02020603050405020304" pitchFamily="18" charset="0"/>
                <a:ea typeface="Garamond" panose="02020404030301010803" pitchFamily="18" charset="0"/>
                <a:cs typeface="Garamond" panose="02020404030301010803" pitchFamily="18" charset="0"/>
              </a:rPr>
              <a:t> </a:t>
            </a:r>
            <a:endParaRPr lang="en-US" sz="1100" dirty="0">
              <a:latin typeface="Garamond" panose="02020404030301010803" pitchFamily="18" charset="0"/>
              <a:ea typeface="Garamond" panose="02020404030301010803" pitchFamily="18" charset="0"/>
              <a:cs typeface="Garamond" panose="02020404030301010803" pitchFamily="18" charset="0"/>
            </a:endParaRPr>
          </a:p>
          <a:p>
            <a:endParaRPr lang="en-US" dirty="0"/>
          </a:p>
          <a:p>
            <a:endParaRPr lang="en-US" dirty="0"/>
          </a:p>
        </p:txBody>
      </p:sp>
      <p:sp>
        <p:nvSpPr>
          <p:cNvPr id="4" name="Slide Number Placeholder 3">
            <a:extLst>
              <a:ext uri="{FF2B5EF4-FFF2-40B4-BE49-F238E27FC236}">
                <a16:creationId xmlns:a16="http://schemas.microsoft.com/office/drawing/2014/main" id="{77237F7D-3209-826F-8169-6BAAE882C205}"/>
              </a:ext>
            </a:extLst>
          </p:cNvPr>
          <p:cNvSpPr>
            <a:spLocks noGrp="1"/>
          </p:cNvSpPr>
          <p:nvPr>
            <p:ph type="sldNum" sz="quarter" idx="5"/>
          </p:nvPr>
        </p:nvSpPr>
        <p:spPr/>
        <p:txBody>
          <a:bodyPr/>
          <a:lstStyle/>
          <a:p>
            <a:fld id="{6A111480-FBF9-4C25-AC9F-6E2B35C60A95}" type="slidenum">
              <a:rPr lang="en-US" smtClean="0"/>
              <a:t>16</a:t>
            </a:fld>
            <a:endParaRPr lang="en-US"/>
          </a:p>
        </p:txBody>
      </p:sp>
    </p:spTree>
    <p:extLst>
      <p:ext uri="{BB962C8B-B14F-4D97-AF65-F5344CB8AC3E}">
        <p14:creationId xmlns:p14="http://schemas.microsoft.com/office/powerpoint/2010/main" val="3039120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lvl="0">
              <a:spcBef>
                <a:spcPts val="955"/>
              </a:spcBef>
              <a:spcAft>
                <a:spcPts val="0"/>
              </a:spcAft>
              <a:buSzPts val="1200"/>
              <a:tabLst>
                <a:tab pos="435610" algn="l"/>
              </a:tabLst>
            </a:pPr>
            <a:r>
              <a:rPr lang="en-US" b="1" dirty="0">
                <a:latin typeface="Times New Roman" panose="02020603050405020304" pitchFamily="18" charset="0"/>
                <a:ea typeface="Palatino Linotype" panose="02040502050505030304" pitchFamily="18" charset="0"/>
                <a:cs typeface="Palatino Linotype" panose="02040502050505030304" pitchFamily="18" charset="0"/>
              </a:rPr>
              <a:t>4. Data Visualization:</a:t>
            </a:r>
            <a:r>
              <a:rPr lang="en-US" dirty="0">
                <a:latin typeface="Times New Roman" panose="02020603050405020304" pitchFamily="18" charset="0"/>
                <a:ea typeface="Palatino Linotype" panose="02040502050505030304" pitchFamily="18" charset="0"/>
                <a:cs typeface="Palatino Linotype" panose="02040502050505030304" pitchFamily="18" charset="0"/>
              </a:rPr>
              <a:t> Create a well labeled, visually appealing and informative visualization summarizing some of the results of this study. </a:t>
            </a:r>
            <a:endParaRPr lang="en-US" sz="1100" dirty="0">
              <a:latin typeface="Garamond" panose="02020404030301010803" pitchFamily="18" charset="0"/>
              <a:ea typeface="Palatino Linotype" panose="02040502050505030304" pitchFamily="18" charset="0"/>
              <a:cs typeface="Palatino Linotype" panose="02040502050505030304" pitchFamily="18" charset="0"/>
            </a:endParaRPr>
          </a:p>
        </p:txBody>
      </p:sp>
      <p:sp>
        <p:nvSpPr>
          <p:cNvPr id="4" name="Slide Number Placeholder 3"/>
          <p:cNvSpPr>
            <a:spLocks noGrp="1"/>
          </p:cNvSpPr>
          <p:nvPr>
            <p:ph type="sldNum" sz="quarter" idx="5"/>
          </p:nvPr>
        </p:nvSpPr>
        <p:spPr/>
        <p:txBody>
          <a:bodyPr/>
          <a:lstStyle/>
          <a:p>
            <a:fld id="{6A111480-FBF9-4C25-AC9F-6E2B35C60A95}" type="slidenum">
              <a:rPr lang="en-US" smtClean="0"/>
              <a:t>17</a:t>
            </a:fld>
            <a:endParaRPr lang="en-US"/>
          </a:p>
        </p:txBody>
      </p:sp>
    </p:spTree>
    <p:extLst>
      <p:ext uri="{BB962C8B-B14F-4D97-AF65-F5344CB8AC3E}">
        <p14:creationId xmlns:p14="http://schemas.microsoft.com/office/powerpoint/2010/main" val="2818116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sz="1200" dirty="0"/>
              <a:t>Takeaways</a:t>
            </a:r>
          </a:p>
          <a:p>
            <a:pPr algn="ctr"/>
            <a:r>
              <a:rPr lang="en-US" sz="1200" dirty="0"/>
              <a:t>and </a:t>
            </a:r>
          </a:p>
          <a:p>
            <a:pPr algn="ctr"/>
            <a:r>
              <a:rPr lang="en-US" sz="1200" dirty="0"/>
              <a:t>questions!</a:t>
            </a:r>
          </a:p>
          <a:p>
            <a:endParaRPr lang="en-US" dirty="0"/>
          </a:p>
        </p:txBody>
      </p:sp>
      <p:sp>
        <p:nvSpPr>
          <p:cNvPr id="4" name="Slide Number Placeholder 3"/>
          <p:cNvSpPr>
            <a:spLocks noGrp="1"/>
          </p:cNvSpPr>
          <p:nvPr>
            <p:ph type="sldNum" sz="quarter" idx="5"/>
          </p:nvPr>
        </p:nvSpPr>
        <p:spPr/>
        <p:txBody>
          <a:bodyPr/>
          <a:lstStyle/>
          <a:p>
            <a:fld id="{6A111480-FBF9-4C25-AC9F-6E2B35C60A95}" type="slidenum">
              <a:rPr lang="en-US" smtClean="0"/>
              <a:t>18</a:t>
            </a:fld>
            <a:endParaRPr lang="en-US"/>
          </a:p>
        </p:txBody>
      </p:sp>
    </p:spTree>
    <p:extLst>
      <p:ext uri="{BB962C8B-B14F-4D97-AF65-F5344CB8AC3E}">
        <p14:creationId xmlns:p14="http://schemas.microsoft.com/office/powerpoint/2010/main" val="48000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308E1-4487-CBD3-8273-AA92407952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39E384-471D-81DB-3CAC-585C068B4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7AF21-579D-05C6-696E-DF196E253FD3}"/>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5" name="Footer Placeholder 4">
            <a:extLst>
              <a:ext uri="{FF2B5EF4-FFF2-40B4-BE49-F238E27FC236}">
                <a16:creationId xmlns:a16="http://schemas.microsoft.com/office/drawing/2014/main" id="{ECE01432-4C35-4B32-DE7F-50844EB56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77180-6C71-8EBF-1746-E7C25C5BB19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2605335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3186-2B31-777D-2A51-C827E095E5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42BA81-D157-DD1C-4027-6B5FB3AC6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F64A7-D23D-D2DF-E424-73A1D2C02F2B}"/>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5" name="Footer Placeholder 4">
            <a:extLst>
              <a:ext uri="{FF2B5EF4-FFF2-40B4-BE49-F238E27FC236}">
                <a16:creationId xmlns:a16="http://schemas.microsoft.com/office/drawing/2014/main" id="{A15919B2-98CA-F9C7-796C-0FE573B4E5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1EB07-8F2E-69CC-980B-0AB76B935B0B}"/>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038915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ADA4-C327-CEF9-CED3-D308EE5D4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8DA563-2788-11E5-0455-BD523A4780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8FC07-7B29-BCF2-58F0-61BF2720D938}"/>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5" name="Footer Placeholder 4">
            <a:extLst>
              <a:ext uri="{FF2B5EF4-FFF2-40B4-BE49-F238E27FC236}">
                <a16:creationId xmlns:a16="http://schemas.microsoft.com/office/drawing/2014/main" id="{9236A549-E42A-C3B5-B30F-133D483F86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0B446-ED95-FB7E-B183-8FFEDBB5A7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40884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E3CE-7F4B-6C85-7B7C-900C84146D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6F095-E1EA-7DAA-1E4D-0FAE1150B6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710F1-834F-C4E4-5D8E-EF0F71EBF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2F9F2F-75DD-759C-B002-695EC992957E}"/>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6" name="Footer Placeholder 5">
            <a:extLst>
              <a:ext uri="{FF2B5EF4-FFF2-40B4-BE49-F238E27FC236}">
                <a16:creationId xmlns:a16="http://schemas.microsoft.com/office/drawing/2014/main" id="{CC0D5E17-E843-6522-94EF-25EBF682E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38B0B-4B88-D60D-CD96-14D70EDE005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720775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6FA0-A6AD-047B-1F15-1717E6B231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BFA40C-3AE5-39FC-5308-381D77840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942D25-99D3-E218-530A-1F48DB05E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CC40B0-8675-DF1C-6E63-8E6A2DCAA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65A5EB-F73F-43D8-A169-4367541CF2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81735-6BDF-9FAF-CA63-3BB68D81414D}"/>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8" name="Footer Placeholder 7">
            <a:extLst>
              <a:ext uri="{FF2B5EF4-FFF2-40B4-BE49-F238E27FC236}">
                <a16:creationId xmlns:a16="http://schemas.microsoft.com/office/drawing/2014/main" id="{AC872F2E-7795-E7B4-B761-DFBC81634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4CDA64-D9E2-74B7-D6A0-C68020296B0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119085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995E-55CA-B927-1FF1-5BE5501341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DC5299-4998-A183-44F8-76E4DE39CA96}"/>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4" name="Footer Placeholder 3">
            <a:extLst>
              <a:ext uri="{FF2B5EF4-FFF2-40B4-BE49-F238E27FC236}">
                <a16:creationId xmlns:a16="http://schemas.microsoft.com/office/drawing/2014/main" id="{23EA15D3-33F7-CF6F-F2CF-6C55DAB575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0BC562-E8A2-36B0-7FCA-710B49ADB420}"/>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25896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E3E9D-394F-138E-3034-50978BEF8EE4}"/>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3" name="Footer Placeholder 2">
            <a:extLst>
              <a:ext uri="{FF2B5EF4-FFF2-40B4-BE49-F238E27FC236}">
                <a16:creationId xmlns:a16="http://schemas.microsoft.com/office/drawing/2014/main" id="{738DF2E2-5EBA-FBE3-4EC2-362AD1FF8A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380CB4-8FAB-23F4-CD87-4847D621A63C}"/>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344319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50F4B-D679-4806-E5B9-C87407D77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87B31-9883-397A-5CC6-4688044DC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7C128C-516F-A2BA-4A75-8C11F0A4D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7966B-2A53-BA3F-2FA8-9852555D800C}"/>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6" name="Footer Placeholder 5">
            <a:extLst>
              <a:ext uri="{FF2B5EF4-FFF2-40B4-BE49-F238E27FC236}">
                <a16:creationId xmlns:a16="http://schemas.microsoft.com/office/drawing/2014/main" id="{998A9909-6A54-AA30-06A2-9F060B2DD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B308E-F54D-6910-F906-1280170EB5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927077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E04F-B783-28B2-D43C-501226190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F80EC0-86ED-D2CB-7C8E-9424373F2A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B90542-E046-D6A5-EC55-09663DD84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D56EB7-A784-558B-B63C-B1626C893D86}"/>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6" name="Footer Placeholder 5">
            <a:extLst>
              <a:ext uri="{FF2B5EF4-FFF2-40B4-BE49-F238E27FC236}">
                <a16:creationId xmlns:a16="http://schemas.microsoft.com/office/drawing/2014/main" id="{9B7197DC-60BC-865E-B2A4-F9D051F2C8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A1B62-8D8D-6F5D-5203-3AB5177036CE}"/>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24792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1963A-1AC8-540F-A4F8-84983BD9F6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7C2F5B-2AE0-8C9D-1884-B27B07E2AD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76CAB-F7FC-1D04-90E2-8C936FC8C72E}"/>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5" name="Footer Placeholder 4">
            <a:extLst>
              <a:ext uri="{FF2B5EF4-FFF2-40B4-BE49-F238E27FC236}">
                <a16:creationId xmlns:a16="http://schemas.microsoft.com/office/drawing/2014/main" id="{AE3CF53C-93EB-03F8-680F-5923D6C16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8CA3C-B0B1-8680-C180-DBD9FF19D3D3}"/>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77437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834398-6BAE-A05C-3C0F-133E3D710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06DF5D-53A3-2411-FA1E-ABC16C270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4B064-1F56-3165-08CC-E2D4086C80EB}"/>
              </a:ext>
            </a:extLst>
          </p:cNvPr>
          <p:cNvSpPr>
            <a:spLocks noGrp="1"/>
          </p:cNvSpPr>
          <p:nvPr>
            <p:ph type="dt" sz="half" idx="10"/>
          </p:nvPr>
        </p:nvSpPr>
        <p:spPr/>
        <p:txBody>
          <a:bodyPr/>
          <a:lstStyle/>
          <a:p>
            <a:fld id="{A095E84C-799E-434B-B555-A2CE91254D07}" type="datetimeFigureOut">
              <a:rPr lang="en-US" smtClean="0"/>
              <a:t>2/1/2026</a:t>
            </a:fld>
            <a:endParaRPr lang="en-US"/>
          </a:p>
        </p:txBody>
      </p:sp>
      <p:sp>
        <p:nvSpPr>
          <p:cNvPr id="5" name="Footer Placeholder 4">
            <a:extLst>
              <a:ext uri="{FF2B5EF4-FFF2-40B4-BE49-F238E27FC236}">
                <a16:creationId xmlns:a16="http://schemas.microsoft.com/office/drawing/2014/main" id="{9DA3E57F-B3C9-3F4E-765F-CEA04B84A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CBD3-DD10-22B1-99C8-86C02B6C80D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6427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596CD0-2B46-8B9D-F2A1-D843A6D083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C9E834-A0CE-4A1D-D2BA-B8D3A1EFE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539A5-42B7-50EA-D013-1914F482E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95E84C-799E-434B-B555-A2CE91254D07}" type="datetimeFigureOut">
              <a:rPr lang="en-US" smtClean="0"/>
              <a:t>2/1/2026</a:t>
            </a:fld>
            <a:endParaRPr lang="en-US"/>
          </a:p>
        </p:txBody>
      </p:sp>
      <p:sp>
        <p:nvSpPr>
          <p:cNvPr id="5" name="Footer Placeholder 4">
            <a:extLst>
              <a:ext uri="{FF2B5EF4-FFF2-40B4-BE49-F238E27FC236}">
                <a16:creationId xmlns:a16="http://schemas.microsoft.com/office/drawing/2014/main" id="{36CCD56E-5957-AD9F-7F83-D432AB4A4A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761CFA-3AD2-14EE-2F5D-06968474C8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AB500F-868A-4BEF-936A-CD95339AAD41}" type="slidenum">
              <a:rPr lang="en-US" smtClean="0"/>
              <a:t>‹#›</a:t>
            </a:fld>
            <a:endParaRPr lang="en-US"/>
          </a:p>
        </p:txBody>
      </p:sp>
    </p:spTree>
    <p:extLst>
      <p:ext uri="{BB962C8B-B14F-4D97-AF65-F5344CB8AC3E}">
        <p14:creationId xmlns:p14="http://schemas.microsoft.com/office/powerpoint/2010/main" val="81042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Iwestlauer/doing_data_science/tree/main/Unit%205%20Relational%20Data%20and%20Regex"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74E2-B062-D8FA-236A-6245A0DE1EE7}"/>
              </a:ext>
            </a:extLst>
          </p:cNvPr>
          <p:cNvSpPr>
            <a:spLocks noGrp="1"/>
          </p:cNvSpPr>
          <p:nvPr>
            <p:ph type="ctrTitle"/>
          </p:nvPr>
        </p:nvSpPr>
        <p:spPr/>
        <p:txBody>
          <a:bodyPr/>
          <a:lstStyle/>
          <a:p>
            <a:r>
              <a:rPr lang="en-US" dirty="0"/>
              <a:t>Unit  5 For Live Session Assignment	</a:t>
            </a:r>
          </a:p>
        </p:txBody>
      </p:sp>
      <p:sp>
        <p:nvSpPr>
          <p:cNvPr id="3" name="Subtitle 2">
            <a:extLst>
              <a:ext uri="{FF2B5EF4-FFF2-40B4-BE49-F238E27FC236}">
                <a16:creationId xmlns:a16="http://schemas.microsoft.com/office/drawing/2014/main" id="{0849C751-F9E3-A2B9-AF7E-8CE9B5298F13}"/>
              </a:ext>
            </a:extLst>
          </p:cNvPr>
          <p:cNvSpPr>
            <a:spLocks noGrp="1"/>
          </p:cNvSpPr>
          <p:nvPr>
            <p:ph type="subTitle" idx="1"/>
          </p:nvPr>
        </p:nvSpPr>
        <p:spPr/>
        <p:txBody>
          <a:bodyPr/>
          <a:lstStyle/>
          <a:p>
            <a:r>
              <a:rPr lang="en-US" dirty="0"/>
              <a:t>Isabella Westlauer</a:t>
            </a:r>
          </a:p>
          <a:p>
            <a:r>
              <a:rPr lang="en-US" dirty="0"/>
              <a:t>2/1/2026</a:t>
            </a:r>
          </a:p>
          <a:p>
            <a:endParaRPr lang="en-US" dirty="0"/>
          </a:p>
        </p:txBody>
      </p:sp>
    </p:spTree>
    <p:extLst>
      <p:ext uri="{BB962C8B-B14F-4D97-AF65-F5344CB8AC3E}">
        <p14:creationId xmlns:p14="http://schemas.microsoft.com/office/powerpoint/2010/main" val="303204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8FA81F-232F-843D-1B15-05F8C0C3641F}"/>
              </a:ext>
            </a:extLst>
          </p:cNvPr>
          <p:cNvSpPr>
            <a:spLocks noGrp="1"/>
          </p:cNvSpPr>
          <p:nvPr>
            <p:ph type="title"/>
          </p:nvPr>
        </p:nvSpPr>
        <p:spPr/>
        <p:txBody>
          <a:bodyPr/>
          <a:lstStyle/>
          <a:p>
            <a:r>
              <a:rPr lang="en-US" dirty="0"/>
              <a:t>NBA Players Height Format Using Regex</a:t>
            </a:r>
          </a:p>
        </p:txBody>
      </p:sp>
      <p:pic>
        <p:nvPicPr>
          <p:cNvPr id="4" name="Picture 3">
            <a:extLst>
              <a:ext uri="{FF2B5EF4-FFF2-40B4-BE49-F238E27FC236}">
                <a16:creationId xmlns:a16="http://schemas.microsoft.com/office/drawing/2014/main" id="{9523EAB0-04FE-3BF3-ED20-9499D7E8004A}"/>
              </a:ext>
            </a:extLst>
          </p:cNvPr>
          <p:cNvPicPr>
            <a:picLocks noChangeAspect="1"/>
          </p:cNvPicPr>
          <p:nvPr/>
        </p:nvPicPr>
        <p:blipFill>
          <a:blip r:embed="rId3"/>
          <a:stretch>
            <a:fillRect/>
          </a:stretch>
        </p:blipFill>
        <p:spPr>
          <a:xfrm>
            <a:off x="838200" y="1369950"/>
            <a:ext cx="7217229" cy="5299364"/>
          </a:xfrm>
          <a:prstGeom prst="rect">
            <a:avLst/>
          </a:prstGeom>
        </p:spPr>
      </p:pic>
      <p:sp>
        <p:nvSpPr>
          <p:cNvPr id="2" name="TextBox 1">
            <a:extLst>
              <a:ext uri="{FF2B5EF4-FFF2-40B4-BE49-F238E27FC236}">
                <a16:creationId xmlns:a16="http://schemas.microsoft.com/office/drawing/2014/main" id="{6AB1E571-2325-D07F-FB21-DA1C6611A4B9}"/>
              </a:ext>
            </a:extLst>
          </p:cNvPr>
          <p:cNvSpPr txBox="1"/>
          <p:nvPr/>
        </p:nvSpPr>
        <p:spPr>
          <a:xfrm>
            <a:off x="8403771" y="1886857"/>
            <a:ext cx="3294743" cy="1477328"/>
          </a:xfrm>
          <a:prstGeom prst="rect">
            <a:avLst/>
          </a:prstGeom>
          <a:noFill/>
        </p:spPr>
        <p:txBody>
          <a:bodyPr wrap="square" rtlCol="0">
            <a:spAutoFit/>
          </a:bodyPr>
          <a:lstStyle/>
          <a:p>
            <a:r>
              <a:rPr lang="en-US" dirty="0"/>
              <a:t>I could have also converted inches to a fraction of a foot and represented the height as the total feet. Why would one be preferable over another?</a:t>
            </a:r>
          </a:p>
        </p:txBody>
      </p:sp>
    </p:spTree>
    <p:extLst>
      <p:ext uri="{BB962C8B-B14F-4D97-AF65-F5344CB8AC3E}">
        <p14:creationId xmlns:p14="http://schemas.microsoft.com/office/powerpoint/2010/main" val="1613393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21C0F5-54CF-1EFE-B8ED-BF60A9B3B16A}"/>
              </a:ext>
            </a:extLst>
          </p:cNvPr>
          <p:cNvPicPr>
            <a:picLocks noChangeAspect="1"/>
          </p:cNvPicPr>
          <p:nvPr/>
        </p:nvPicPr>
        <p:blipFill>
          <a:blip r:embed="rId3"/>
          <a:stretch>
            <a:fillRect/>
          </a:stretch>
        </p:blipFill>
        <p:spPr>
          <a:xfrm>
            <a:off x="992221" y="234654"/>
            <a:ext cx="10272409" cy="6348613"/>
          </a:xfrm>
          <a:prstGeom prst="rect">
            <a:avLst/>
          </a:prstGeom>
        </p:spPr>
      </p:pic>
    </p:spTree>
    <p:extLst>
      <p:ext uri="{BB962C8B-B14F-4D97-AF65-F5344CB8AC3E}">
        <p14:creationId xmlns:p14="http://schemas.microsoft.com/office/powerpoint/2010/main" val="734539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E22C-9475-47AA-21FF-0F117F413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3BB1A-24E1-3278-1236-D088C270BAD6}"/>
              </a:ext>
            </a:extLst>
          </p:cNvPr>
          <p:cNvSpPr>
            <a:spLocks noGrp="1"/>
          </p:cNvSpPr>
          <p:nvPr>
            <p:ph type="title"/>
          </p:nvPr>
        </p:nvSpPr>
        <p:spPr/>
        <p:txBody>
          <a:bodyPr/>
          <a:lstStyle/>
          <a:p>
            <a:r>
              <a:rPr lang="en-US" dirty="0"/>
              <a:t>Height vs Weight of FIFA Players</a:t>
            </a:r>
          </a:p>
        </p:txBody>
      </p:sp>
      <p:pic>
        <p:nvPicPr>
          <p:cNvPr id="5" name="Content Placeholder 4">
            <a:extLst>
              <a:ext uri="{FF2B5EF4-FFF2-40B4-BE49-F238E27FC236}">
                <a16:creationId xmlns:a16="http://schemas.microsoft.com/office/drawing/2014/main" id="{7D7FF753-3239-9F4C-6E96-0FF67E47AA63}"/>
              </a:ext>
            </a:extLst>
          </p:cNvPr>
          <p:cNvPicPr>
            <a:picLocks noGrp="1" noChangeAspect="1"/>
          </p:cNvPicPr>
          <p:nvPr>
            <p:ph idx="1"/>
          </p:nvPr>
        </p:nvPicPr>
        <p:blipFill>
          <a:blip r:embed="rId3"/>
          <a:stretch>
            <a:fillRect/>
          </a:stretch>
        </p:blipFill>
        <p:spPr>
          <a:xfrm>
            <a:off x="4252686" y="1690688"/>
            <a:ext cx="3181296" cy="3193820"/>
          </a:xfrm>
          <a:prstGeom prst="rect">
            <a:avLst/>
          </a:prstGeom>
        </p:spPr>
      </p:pic>
      <p:sp>
        <p:nvSpPr>
          <p:cNvPr id="3" name="TextBox 2">
            <a:extLst>
              <a:ext uri="{FF2B5EF4-FFF2-40B4-BE49-F238E27FC236}">
                <a16:creationId xmlns:a16="http://schemas.microsoft.com/office/drawing/2014/main" id="{925CCBD2-E4DD-6AD1-1666-25C6CF239D4E}"/>
              </a:ext>
            </a:extLst>
          </p:cNvPr>
          <p:cNvSpPr txBox="1"/>
          <p:nvPr/>
        </p:nvSpPr>
        <p:spPr>
          <a:xfrm>
            <a:off x="3730172" y="5001022"/>
            <a:ext cx="5109882" cy="1200329"/>
          </a:xfrm>
          <a:prstGeom prst="rect">
            <a:avLst/>
          </a:prstGeom>
          <a:noFill/>
        </p:spPr>
        <p:txBody>
          <a:bodyPr wrap="square" rtlCol="0">
            <a:spAutoFit/>
          </a:bodyPr>
          <a:lstStyle/>
          <a:p>
            <a:r>
              <a:rPr lang="en-US" dirty="0"/>
              <a:t>First, I looked at the data to see that I need to separate the feet and inches of Height column by the single apostrophe, and replace the ‘</a:t>
            </a:r>
            <a:r>
              <a:rPr lang="en-US" dirty="0" err="1"/>
              <a:t>lbs</a:t>
            </a:r>
            <a:r>
              <a:rPr lang="en-US" dirty="0"/>
              <a:t>’ in the Weight column</a:t>
            </a:r>
          </a:p>
        </p:txBody>
      </p:sp>
    </p:spTree>
    <p:extLst>
      <p:ext uri="{BB962C8B-B14F-4D97-AF65-F5344CB8AC3E}">
        <p14:creationId xmlns:p14="http://schemas.microsoft.com/office/powerpoint/2010/main" val="3126199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553B1-EF7B-93C2-1012-C82BAAA49540}"/>
              </a:ext>
            </a:extLst>
          </p:cNvPr>
          <p:cNvSpPr>
            <a:spLocks noGrp="1"/>
          </p:cNvSpPr>
          <p:nvPr>
            <p:ph type="title"/>
          </p:nvPr>
        </p:nvSpPr>
        <p:spPr/>
        <p:txBody>
          <a:bodyPr/>
          <a:lstStyle/>
          <a:p>
            <a:r>
              <a:rPr lang="en-US" dirty="0"/>
              <a:t>Height vs Weight of FIFA Players</a:t>
            </a:r>
          </a:p>
        </p:txBody>
      </p:sp>
      <p:pic>
        <p:nvPicPr>
          <p:cNvPr id="7" name="Picture 6">
            <a:extLst>
              <a:ext uri="{FF2B5EF4-FFF2-40B4-BE49-F238E27FC236}">
                <a16:creationId xmlns:a16="http://schemas.microsoft.com/office/drawing/2014/main" id="{EFB968F9-B3F3-2DDF-0595-CC4C5F09BF82}"/>
              </a:ext>
            </a:extLst>
          </p:cNvPr>
          <p:cNvPicPr>
            <a:picLocks noChangeAspect="1"/>
          </p:cNvPicPr>
          <p:nvPr/>
        </p:nvPicPr>
        <p:blipFill>
          <a:blip r:embed="rId3"/>
          <a:srcRect b="30279"/>
          <a:stretch>
            <a:fillRect/>
          </a:stretch>
        </p:blipFill>
        <p:spPr>
          <a:xfrm>
            <a:off x="271019" y="1690688"/>
            <a:ext cx="6318466" cy="4267831"/>
          </a:xfrm>
          <a:prstGeom prst="rect">
            <a:avLst/>
          </a:prstGeom>
        </p:spPr>
      </p:pic>
      <p:sp>
        <p:nvSpPr>
          <p:cNvPr id="11" name="Content Placeholder 10">
            <a:extLst>
              <a:ext uri="{FF2B5EF4-FFF2-40B4-BE49-F238E27FC236}">
                <a16:creationId xmlns:a16="http://schemas.microsoft.com/office/drawing/2014/main" id="{7239F6F1-A546-50C3-3946-3FFC07081547}"/>
              </a:ext>
            </a:extLst>
          </p:cNvPr>
          <p:cNvSpPr>
            <a:spLocks noGrp="1"/>
          </p:cNvSpPr>
          <p:nvPr>
            <p:ph idx="1"/>
          </p:nvPr>
        </p:nvSpPr>
        <p:spPr>
          <a:xfrm>
            <a:off x="6974541" y="1524000"/>
            <a:ext cx="4379259" cy="4968875"/>
          </a:xfrm>
        </p:spPr>
        <p:txBody>
          <a:bodyPr>
            <a:normAutofit fontScale="92500" lnSpcReduction="10000"/>
          </a:bodyPr>
          <a:lstStyle/>
          <a:p>
            <a:r>
              <a:rPr lang="en-US" dirty="0"/>
              <a:t>I used the </a:t>
            </a:r>
            <a:r>
              <a:rPr lang="en-US" dirty="0" err="1"/>
              <a:t>stringr</a:t>
            </a:r>
            <a:r>
              <a:rPr lang="en-US" dirty="0"/>
              <a:t> library, and first replaced the substring “</a:t>
            </a:r>
            <a:r>
              <a:rPr lang="en-US" dirty="0" err="1"/>
              <a:t>lbs</a:t>
            </a:r>
            <a:r>
              <a:rPr lang="en-US" dirty="0"/>
              <a:t>” in the weight column with “” which removed it.</a:t>
            </a:r>
          </a:p>
          <a:p>
            <a:r>
              <a:rPr lang="en-US" dirty="0"/>
              <a:t>I separated the height into feet and inches columns, then used a formula to calculate total inches.</a:t>
            </a:r>
          </a:p>
          <a:p>
            <a:r>
              <a:rPr lang="en-US" dirty="0"/>
              <a:t>I then changed the data type of weight and height to numeric</a:t>
            </a:r>
          </a:p>
          <a:p>
            <a:r>
              <a:rPr lang="en-US" dirty="0"/>
              <a:t>Was I supposed to remove NA first?</a:t>
            </a:r>
          </a:p>
        </p:txBody>
      </p:sp>
    </p:spTree>
    <p:extLst>
      <p:ext uri="{BB962C8B-B14F-4D97-AF65-F5344CB8AC3E}">
        <p14:creationId xmlns:p14="http://schemas.microsoft.com/office/powerpoint/2010/main" val="3620911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5002C-82A1-178F-7919-0403AE04E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24CBA-979F-5DB1-9842-66AAA40C2A8E}"/>
              </a:ext>
            </a:extLst>
          </p:cNvPr>
          <p:cNvSpPr>
            <a:spLocks noGrp="1"/>
          </p:cNvSpPr>
          <p:nvPr>
            <p:ph type="title"/>
          </p:nvPr>
        </p:nvSpPr>
        <p:spPr/>
        <p:txBody>
          <a:bodyPr/>
          <a:lstStyle/>
          <a:p>
            <a:r>
              <a:rPr lang="en-US" dirty="0"/>
              <a:t>Height vs Weight of FIFA Players</a:t>
            </a:r>
          </a:p>
        </p:txBody>
      </p:sp>
      <p:pic>
        <p:nvPicPr>
          <p:cNvPr id="7" name="Picture 6">
            <a:extLst>
              <a:ext uri="{FF2B5EF4-FFF2-40B4-BE49-F238E27FC236}">
                <a16:creationId xmlns:a16="http://schemas.microsoft.com/office/drawing/2014/main" id="{69ECC4CE-94F7-6E06-AC78-A5ADD9C2364A}"/>
              </a:ext>
            </a:extLst>
          </p:cNvPr>
          <p:cNvPicPr>
            <a:picLocks noChangeAspect="1"/>
          </p:cNvPicPr>
          <p:nvPr/>
        </p:nvPicPr>
        <p:blipFill>
          <a:blip r:embed="rId3"/>
          <a:srcRect t="78064" r="38135"/>
          <a:stretch>
            <a:fillRect/>
          </a:stretch>
        </p:blipFill>
        <p:spPr>
          <a:xfrm>
            <a:off x="5785593" y="2802157"/>
            <a:ext cx="6000007" cy="2061028"/>
          </a:xfrm>
          <a:prstGeom prst="rect">
            <a:avLst/>
          </a:prstGeom>
        </p:spPr>
      </p:pic>
      <p:pic>
        <p:nvPicPr>
          <p:cNvPr id="5" name="Content Placeholder 4">
            <a:extLst>
              <a:ext uri="{FF2B5EF4-FFF2-40B4-BE49-F238E27FC236}">
                <a16:creationId xmlns:a16="http://schemas.microsoft.com/office/drawing/2014/main" id="{ED095598-816F-2D53-28B1-5E53E0AC17F4}"/>
              </a:ext>
            </a:extLst>
          </p:cNvPr>
          <p:cNvPicPr>
            <a:picLocks noGrp="1" noChangeAspect="1"/>
          </p:cNvPicPr>
          <p:nvPr>
            <p:ph idx="1"/>
          </p:nvPr>
        </p:nvPicPr>
        <p:blipFill>
          <a:blip r:embed="rId4"/>
          <a:srcRect t="35468" r="26546"/>
          <a:stretch>
            <a:fillRect/>
          </a:stretch>
        </p:blipFill>
        <p:spPr>
          <a:xfrm>
            <a:off x="1291771" y="2802157"/>
            <a:ext cx="2336799" cy="2061029"/>
          </a:xfrm>
          <a:prstGeom prst="rect">
            <a:avLst/>
          </a:prstGeom>
        </p:spPr>
      </p:pic>
      <p:sp>
        <p:nvSpPr>
          <p:cNvPr id="6" name="TextBox 5">
            <a:extLst>
              <a:ext uri="{FF2B5EF4-FFF2-40B4-BE49-F238E27FC236}">
                <a16:creationId xmlns:a16="http://schemas.microsoft.com/office/drawing/2014/main" id="{8113AE76-611A-39EC-7BF4-E41FD5066CBE}"/>
              </a:ext>
            </a:extLst>
          </p:cNvPr>
          <p:cNvSpPr txBox="1"/>
          <p:nvPr/>
        </p:nvSpPr>
        <p:spPr>
          <a:xfrm>
            <a:off x="1436914" y="5065486"/>
            <a:ext cx="2569029" cy="369332"/>
          </a:xfrm>
          <a:prstGeom prst="rect">
            <a:avLst/>
          </a:prstGeom>
          <a:noFill/>
        </p:spPr>
        <p:txBody>
          <a:bodyPr wrap="square" rtlCol="0">
            <a:spAutoFit/>
          </a:bodyPr>
          <a:lstStyle/>
          <a:p>
            <a:r>
              <a:rPr lang="en-US" dirty="0"/>
              <a:t>Before</a:t>
            </a:r>
          </a:p>
        </p:txBody>
      </p:sp>
      <p:sp>
        <p:nvSpPr>
          <p:cNvPr id="8" name="TextBox 7">
            <a:extLst>
              <a:ext uri="{FF2B5EF4-FFF2-40B4-BE49-F238E27FC236}">
                <a16:creationId xmlns:a16="http://schemas.microsoft.com/office/drawing/2014/main" id="{3A143C60-64C0-12C6-BD10-094319179596}"/>
              </a:ext>
            </a:extLst>
          </p:cNvPr>
          <p:cNvSpPr txBox="1"/>
          <p:nvPr/>
        </p:nvSpPr>
        <p:spPr>
          <a:xfrm>
            <a:off x="6096000" y="5065486"/>
            <a:ext cx="2569029" cy="369332"/>
          </a:xfrm>
          <a:prstGeom prst="rect">
            <a:avLst/>
          </a:prstGeom>
          <a:noFill/>
        </p:spPr>
        <p:txBody>
          <a:bodyPr wrap="square" rtlCol="0">
            <a:spAutoFit/>
          </a:bodyPr>
          <a:lstStyle/>
          <a:p>
            <a:r>
              <a:rPr lang="en-US" dirty="0"/>
              <a:t>After</a:t>
            </a:r>
          </a:p>
        </p:txBody>
      </p:sp>
      <p:sp>
        <p:nvSpPr>
          <p:cNvPr id="9" name="Arrow: Right 8">
            <a:extLst>
              <a:ext uri="{FF2B5EF4-FFF2-40B4-BE49-F238E27FC236}">
                <a16:creationId xmlns:a16="http://schemas.microsoft.com/office/drawing/2014/main" id="{0AF7FB89-E5F4-6825-A773-6010A1B1068F}"/>
              </a:ext>
            </a:extLst>
          </p:cNvPr>
          <p:cNvSpPr/>
          <p:nvPr/>
        </p:nvSpPr>
        <p:spPr>
          <a:xfrm>
            <a:off x="4005943" y="3715657"/>
            <a:ext cx="1910279" cy="4934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1985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3E63B-239F-A3C7-1B71-3A64181D3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CCFA8-EFBB-45EA-AE1E-3DBCC3D88105}"/>
              </a:ext>
            </a:extLst>
          </p:cNvPr>
          <p:cNvSpPr>
            <a:spLocks noGrp="1"/>
          </p:cNvSpPr>
          <p:nvPr>
            <p:ph type="title"/>
          </p:nvPr>
        </p:nvSpPr>
        <p:spPr/>
        <p:txBody>
          <a:bodyPr/>
          <a:lstStyle/>
          <a:p>
            <a:r>
              <a:rPr lang="en-US" dirty="0"/>
              <a:t>Height vs Weight of FIFA Players</a:t>
            </a:r>
          </a:p>
        </p:txBody>
      </p:sp>
      <p:pic>
        <p:nvPicPr>
          <p:cNvPr id="9" name="Picture 8">
            <a:extLst>
              <a:ext uri="{FF2B5EF4-FFF2-40B4-BE49-F238E27FC236}">
                <a16:creationId xmlns:a16="http://schemas.microsoft.com/office/drawing/2014/main" id="{8732A303-B5BB-43CC-FBC0-9799D4D4D6F3}"/>
              </a:ext>
            </a:extLst>
          </p:cNvPr>
          <p:cNvPicPr>
            <a:picLocks noChangeAspect="1"/>
          </p:cNvPicPr>
          <p:nvPr/>
        </p:nvPicPr>
        <p:blipFill>
          <a:blip r:embed="rId3"/>
          <a:stretch>
            <a:fillRect/>
          </a:stretch>
        </p:blipFill>
        <p:spPr>
          <a:xfrm>
            <a:off x="5000819" y="1623453"/>
            <a:ext cx="6639852" cy="4134427"/>
          </a:xfrm>
          <a:prstGeom prst="rect">
            <a:avLst/>
          </a:prstGeom>
        </p:spPr>
      </p:pic>
      <p:sp>
        <p:nvSpPr>
          <p:cNvPr id="4" name="Content Placeholder 3">
            <a:extLst>
              <a:ext uri="{FF2B5EF4-FFF2-40B4-BE49-F238E27FC236}">
                <a16:creationId xmlns:a16="http://schemas.microsoft.com/office/drawing/2014/main" id="{632BDB49-E18B-27B9-D505-8D7F6006DBFE}"/>
              </a:ext>
            </a:extLst>
          </p:cNvPr>
          <p:cNvSpPr>
            <a:spLocks noGrp="1"/>
          </p:cNvSpPr>
          <p:nvPr>
            <p:ph idx="1"/>
          </p:nvPr>
        </p:nvSpPr>
        <p:spPr>
          <a:xfrm>
            <a:off x="838200" y="1825625"/>
            <a:ext cx="4162619" cy="4351338"/>
          </a:xfrm>
        </p:spPr>
        <p:txBody>
          <a:bodyPr/>
          <a:lstStyle/>
          <a:p>
            <a:r>
              <a:rPr lang="en-US" dirty="0"/>
              <a:t>There is a clear correlation between the height and weight, with several outliers.</a:t>
            </a:r>
          </a:p>
        </p:txBody>
      </p:sp>
    </p:spTree>
    <p:extLst>
      <p:ext uri="{BB962C8B-B14F-4D97-AF65-F5344CB8AC3E}">
        <p14:creationId xmlns:p14="http://schemas.microsoft.com/office/powerpoint/2010/main" val="1322560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1952A-123D-CD31-7135-C583AA7C86B4}"/>
              </a:ext>
            </a:extLst>
          </p:cNvPr>
          <p:cNvSpPr>
            <a:spLocks noGrp="1"/>
          </p:cNvSpPr>
          <p:nvPr>
            <p:ph type="title"/>
          </p:nvPr>
        </p:nvSpPr>
        <p:spPr/>
        <p:txBody>
          <a:bodyPr/>
          <a:lstStyle/>
          <a:p>
            <a:r>
              <a:rPr lang="en-US" dirty="0"/>
              <a:t>Height vs Weight Relationship by Position</a:t>
            </a:r>
          </a:p>
        </p:txBody>
      </p:sp>
      <p:sp>
        <p:nvSpPr>
          <p:cNvPr id="6" name="TextBox 5">
            <a:extLst>
              <a:ext uri="{FF2B5EF4-FFF2-40B4-BE49-F238E27FC236}">
                <a16:creationId xmlns:a16="http://schemas.microsoft.com/office/drawing/2014/main" id="{89D3E541-EAFF-2E2F-FD4B-685201D6D852}"/>
              </a:ext>
            </a:extLst>
          </p:cNvPr>
          <p:cNvSpPr txBox="1"/>
          <p:nvPr/>
        </p:nvSpPr>
        <p:spPr>
          <a:xfrm>
            <a:off x="8666922" y="1690688"/>
            <a:ext cx="2266121" cy="3108543"/>
          </a:xfrm>
          <a:prstGeom prst="rect">
            <a:avLst/>
          </a:prstGeom>
          <a:noFill/>
        </p:spPr>
        <p:txBody>
          <a:bodyPr wrap="square" rtlCol="0">
            <a:spAutoFit/>
          </a:bodyPr>
          <a:lstStyle/>
          <a:p>
            <a:r>
              <a:rPr lang="en-US" sz="2800" dirty="0"/>
              <a:t>The height vs weight of LB and LM appear to have </a:t>
            </a:r>
            <a:r>
              <a:rPr lang="en-US" sz="2800" i="1" dirty="0"/>
              <a:t>almost </a:t>
            </a:r>
            <a:r>
              <a:rPr lang="en-US" sz="2800" dirty="0"/>
              <a:t>the same correlation.</a:t>
            </a:r>
          </a:p>
        </p:txBody>
      </p:sp>
      <p:pic>
        <p:nvPicPr>
          <p:cNvPr id="10" name="Content Placeholder 9">
            <a:extLst>
              <a:ext uri="{FF2B5EF4-FFF2-40B4-BE49-F238E27FC236}">
                <a16:creationId xmlns:a16="http://schemas.microsoft.com/office/drawing/2014/main" id="{D15FA3E1-4FBC-8D96-6603-0D1E363B17BE}"/>
              </a:ext>
            </a:extLst>
          </p:cNvPr>
          <p:cNvPicPr>
            <a:picLocks noGrp="1" noChangeAspect="1"/>
          </p:cNvPicPr>
          <p:nvPr>
            <p:ph idx="1"/>
          </p:nvPr>
        </p:nvPicPr>
        <p:blipFill>
          <a:blip r:embed="rId3"/>
          <a:stretch>
            <a:fillRect/>
          </a:stretch>
        </p:blipFill>
        <p:spPr>
          <a:xfrm>
            <a:off x="838200" y="1578061"/>
            <a:ext cx="6792273" cy="4220164"/>
          </a:xfrm>
          <a:prstGeom prst="rect">
            <a:avLst/>
          </a:prstGeom>
        </p:spPr>
      </p:pic>
    </p:spTree>
    <p:extLst>
      <p:ext uri="{BB962C8B-B14F-4D97-AF65-F5344CB8AC3E}">
        <p14:creationId xmlns:p14="http://schemas.microsoft.com/office/powerpoint/2010/main" val="966369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554B-ACF5-DF1B-B1AC-125426E40243}"/>
              </a:ext>
            </a:extLst>
          </p:cNvPr>
          <p:cNvSpPr>
            <a:spLocks noGrp="1"/>
          </p:cNvSpPr>
          <p:nvPr>
            <p:ph type="title"/>
          </p:nvPr>
        </p:nvSpPr>
        <p:spPr/>
        <p:txBody>
          <a:bodyPr/>
          <a:lstStyle/>
          <a:p>
            <a:r>
              <a:rPr lang="en-US" dirty="0"/>
              <a:t>Data Munging</a:t>
            </a:r>
          </a:p>
        </p:txBody>
      </p:sp>
      <p:sp>
        <p:nvSpPr>
          <p:cNvPr id="3" name="TextBox 2">
            <a:extLst>
              <a:ext uri="{FF2B5EF4-FFF2-40B4-BE49-F238E27FC236}">
                <a16:creationId xmlns:a16="http://schemas.microsoft.com/office/drawing/2014/main" id="{23AD04E9-AD48-2ADA-7E53-CB3BB30A0540}"/>
              </a:ext>
            </a:extLst>
          </p:cNvPr>
          <p:cNvSpPr txBox="1"/>
          <p:nvPr/>
        </p:nvSpPr>
        <p:spPr>
          <a:xfrm>
            <a:off x="1035289" y="5302021"/>
            <a:ext cx="10318511" cy="1477328"/>
          </a:xfrm>
          <a:prstGeom prst="rect">
            <a:avLst/>
          </a:prstGeom>
          <a:noFill/>
        </p:spPr>
        <p:txBody>
          <a:bodyPr wrap="square" rtlCol="0">
            <a:spAutoFit/>
          </a:bodyPr>
          <a:lstStyle/>
          <a:p>
            <a:r>
              <a:rPr lang="en-US" dirty="0"/>
              <a:t>I found the delimiter in the .txt file was a comma, used spec() to see the column specifications, then viewed a summary of the data. For characters, I see there are 32,869 names in the first column, and for the count, I see it ranges from 5 to 19,414. I renamed the columns because there were no headers in the .txt file. The head() seems to show the data is already in order of decreasing count, with the most popular names at the top.</a:t>
            </a:r>
          </a:p>
        </p:txBody>
      </p:sp>
      <p:pic>
        <p:nvPicPr>
          <p:cNvPr id="8" name="Content Placeholder 7">
            <a:extLst>
              <a:ext uri="{FF2B5EF4-FFF2-40B4-BE49-F238E27FC236}">
                <a16:creationId xmlns:a16="http://schemas.microsoft.com/office/drawing/2014/main" id="{B4917B64-772F-CD4B-498B-981BB2AD620F}"/>
              </a:ext>
            </a:extLst>
          </p:cNvPr>
          <p:cNvPicPr>
            <a:picLocks noGrp="1" noChangeAspect="1"/>
          </p:cNvPicPr>
          <p:nvPr>
            <p:ph idx="1"/>
          </p:nvPr>
        </p:nvPicPr>
        <p:blipFill>
          <a:blip r:embed="rId3"/>
          <a:stretch>
            <a:fillRect/>
          </a:stretch>
        </p:blipFill>
        <p:spPr>
          <a:xfrm>
            <a:off x="971139" y="1354502"/>
            <a:ext cx="4747491" cy="3842228"/>
          </a:xfrm>
          <a:prstGeom prst="rect">
            <a:avLst/>
          </a:prstGeom>
        </p:spPr>
      </p:pic>
      <p:pic>
        <p:nvPicPr>
          <p:cNvPr id="14" name="Picture 13">
            <a:extLst>
              <a:ext uri="{FF2B5EF4-FFF2-40B4-BE49-F238E27FC236}">
                <a16:creationId xmlns:a16="http://schemas.microsoft.com/office/drawing/2014/main" id="{53C85C0E-117E-45C8-5A09-847BC8FE9C39}"/>
              </a:ext>
            </a:extLst>
          </p:cNvPr>
          <p:cNvPicPr>
            <a:picLocks noChangeAspect="1"/>
          </p:cNvPicPr>
          <p:nvPr/>
        </p:nvPicPr>
        <p:blipFill>
          <a:blip r:embed="rId4"/>
          <a:stretch>
            <a:fillRect/>
          </a:stretch>
        </p:blipFill>
        <p:spPr>
          <a:xfrm>
            <a:off x="5851569" y="365125"/>
            <a:ext cx="5096586" cy="4944165"/>
          </a:xfrm>
          <a:prstGeom prst="rect">
            <a:avLst/>
          </a:prstGeom>
        </p:spPr>
      </p:pic>
    </p:spTree>
    <p:extLst>
      <p:ext uri="{BB962C8B-B14F-4D97-AF65-F5344CB8AC3E}">
        <p14:creationId xmlns:p14="http://schemas.microsoft.com/office/powerpoint/2010/main" val="3744542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A951E-5E6E-0447-FDA3-B391A3431389}"/>
              </a:ext>
            </a:extLst>
          </p:cNvPr>
          <p:cNvSpPr>
            <a:spLocks noGrp="1"/>
          </p:cNvSpPr>
          <p:nvPr>
            <p:ph type="title"/>
          </p:nvPr>
        </p:nvSpPr>
        <p:spPr/>
        <p:txBody>
          <a:bodyPr/>
          <a:lstStyle/>
          <a:p>
            <a:r>
              <a:rPr lang="en-US" dirty="0"/>
              <a:t>Data Munging</a:t>
            </a:r>
          </a:p>
        </p:txBody>
      </p:sp>
      <p:pic>
        <p:nvPicPr>
          <p:cNvPr id="5" name="Content Placeholder 4">
            <a:extLst>
              <a:ext uri="{FF2B5EF4-FFF2-40B4-BE49-F238E27FC236}">
                <a16:creationId xmlns:a16="http://schemas.microsoft.com/office/drawing/2014/main" id="{910B4707-C97D-5BF1-9D85-7393C3337386}"/>
              </a:ext>
            </a:extLst>
          </p:cNvPr>
          <p:cNvPicPr>
            <a:picLocks noGrp="1" noChangeAspect="1"/>
          </p:cNvPicPr>
          <p:nvPr>
            <p:ph idx="1"/>
          </p:nvPr>
        </p:nvPicPr>
        <p:blipFill>
          <a:blip r:embed="rId3"/>
          <a:srcRect r="52069"/>
          <a:stretch>
            <a:fillRect/>
          </a:stretch>
        </p:blipFill>
        <p:spPr>
          <a:xfrm>
            <a:off x="604185" y="1559067"/>
            <a:ext cx="4567027" cy="3739865"/>
          </a:xfrm>
          <a:prstGeom prst="rect">
            <a:avLst/>
          </a:prstGeom>
        </p:spPr>
      </p:pic>
      <p:pic>
        <p:nvPicPr>
          <p:cNvPr id="7" name="Picture 6">
            <a:extLst>
              <a:ext uri="{FF2B5EF4-FFF2-40B4-BE49-F238E27FC236}">
                <a16:creationId xmlns:a16="http://schemas.microsoft.com/office/drawing/2014/main" id="{5F06E275-D503-B366-304D-0B9344503484}"/>
              </a:ext>
            </a:extLst>
          </p:cNvPr>
          <p:cNvPicPr>
            <a:picLocks noChangeAspect="1"/>
          </p:cNvPicPr>
          <p:nvPr/>
        </p:nvPicPr>
        <p:blipFill>
          <a:blip r:embed="rId4"/>
          <a:stretch>
            <a:fillRect/>
          </a:stretch>
        </p:blipFill>
        <p:spPr>
          <a:xfrm>
            <a:off x="5295773" y="1559067"/>
            <a:ext cx="4567027" cy="3110364"/>
          </a:xfrm>
          <a:prstGeom prst="rect">
            <a:avLst/>
          </a:prstGeom>
        </p:spPr>
      </p:pic>
      <p:sp>
        <p:nvSpPr>
          <p:cNvPr id="3" name="TextBox 2">
            <a:extLst>
              <a:ext uri="{FF2B5EF4-FFF2-40B4-BE49-F238E27FC236}">
                <a16:creationId xmlns:a16="http://schemas.microsoft.com/office/drawing/2014/main" id="{A605516E-1FDD-C4F7-0C97-274938033D93}"/>
              </a:ext>
            </a:extLst>
          </p:cNvPr>
          <p:cNvSpPr txBox="1"/>
          <p:nvPr/>
        </p:nvSpPr>
        <p:spPr>
          <a:xfrm>
            <a:off x="604185" y="5298932"/>
            <a:ext cx="10515599" cy="1200329"/>
          </a:xfrm>
          <a:prstGeom prst="rect">
            <a:avLst/>
          </a:prstGeom>
          <a:noFill/>
        </p:spPr>
        <p:txBody>
          <a:bodyPr wrap="square" rtlCol="0">
            <a:spAutoFit/>
          </a:bodyPr>
          <a:lstStyle/>
          <a:p>
            <a:r>
              <a:rPr lang="en-US" dirty="0"/>
              <a:t>I used </a:t>
            </a:r>
            <a:r>
              <a:rPr lang="en-US" dirty="0" err="1"/>
              <a:t>str_view_all</a:t>
            </a:r>
            <a:r>
              <a:rPr lang="en-US" dirty="0"/>
              <a:t> with the regex “</a:t>
            </a:r>
            <a:r>
              <a:rPr lang="en-US" dirty="0" err="1"/>
              <a:t>yyy</a:t>
            </a:r>
            <a:r>
              <a:rPr lang="en-US" dirty="0"/>
              <a:t>$” to find three y’s at the end of a name. I couldn’t see all the results because the whole Name column was returned, so I used filter() and found the name. Then I wanted to check that the Gender and Count matched “Fiona” before deleting the row with </a:t>
            </a:r>
            <a:r>
              <a:rPr lang="en-US" dirty="0" err="1"/>
              <a:t>Fionayyy</a:t>
            </a:r>
            <a:r>
              <a:rPr lang="en-US" dirty="0"/>
              <a:t>. Finally, I removed the misspelled name.</a:t>
            </a:r>
          </a:p>
        </p:txBody>
      </p:sp>
    </p:spTree>
    <p:extLst>
      <p:ext uri="{BB962C8B-B14F-4D97-AF65-F5344CB8AC3E}">
        <p14:creationId xmlns:p14="http://schemas.microsoft.com/office/powerpoint/2010/main" val="3604035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98F3C-D845-90D8-57EC-17F96FA9ADC9}"/>
              </a:ext>
            </a:extLst>
          </p:cNvPr>
          <p:cNvSpPr>
            <a:spLocks noGrp="1"/>
          </p:cNvSpPr>
          <p:nvPr>
            <p:ph type="title"/>
          </p:nvPr>
        </p:nvSpPr>
        <p:spPr/>
        <p:txBody>
          <a:bodyPr/>
          <a:lstStyle/>
          <a:p>
            <a:r>
              <a:rPr lang="en-US" dirty="0"/>
              <a:t>Data Merging</a:t>
            </a:r>
          </a:p>
        </p:txBody>
      </p:sp>
      <p:pic>
        <p:nvPicPr>
          <p:cNvPr id="5" name="Content Placeholder 4">
            <a:extLst>
              <a:ext uri="{FF2B5EF4-FFF2-40B4-BE49-F238E27FC236}">
                <a16:creationId xmlns:a16="http://schemas.microsoft.com/office/drawing/2014/main" id="{23E0C787-BBD7-3A5D-C59C-6383BA44B5E6}"/>
              </a:ext>
            </a:extLst>
          </p:cNvPr>
          <p:cNvPicPr>
            <a:picLocks noGrp="1" noChangeAspect="1"/>
          </p:cNvPicPr>
          <p:nvPr>
            <p:ph idx="1"/>
          </p:nvPr>
        </p:nvPicPr>
        <p:blipFill>
          <a:blip r:embed="rId3"/>
          <a:stretch>
            <a:fillRect/>
          </a:stretch>
        </p:blipFill>
        <p:spPr>
          <a:xfrm>
            <a:off x="2085415" y="1690688"/>
            <a:ext cx="8021169" cy="2981741"/>
          </a:xfrm>
          <a:prstGeom prst="rect">
            <a:avLst/>
          </a:prstGeom>
        </p:spPr>
      </p:pic>
      <p:sp>
        <p:nvSpPr>
          <p:cNvPr id="6" name="TextBox 5">
            <a:extLst>
              <a:ext uri="{FF2B5EF4-FFF2-40B4-BE49-F238E27FC236}">
                <a16:creationId xmlns:a16="http://schemas.microsoft.com/office/drawing/2014/main" id="{23BE28AF-9647-EF40-DBE1-D30AD9E69308}"/>
              </a:ext>
            </a:extLst>
          </p:cNvPr>
          <p:cNvSpPr txBox="1"/>
          <p:nvPr/>
        </p:nvSpPr>
        <p:spPr>
          <a:xfrm>
            <a:off x="1500996" y="5164224"/>
            <a:ext cx="9471804" cy="646331"/>
          </a:xfrm>
          <a:prstGeom prst="rect">
            <a:avLst/>
          </a:prstGeom>
          <a:noFill/>
        </p:spPr>
        <p:txBody>
          <a:bodyPr wrap="square" rtlCol="0">
            <a:spAutoFit/>
          </a:bodyPr>
          <a:lstStyle/>
          <a:p>
            <a:r>
              <a:rPr lang="en-US" dirty="0"/>
              <a:t>These are very unusual names. They are all Male names starting with Z, and the count is 5 for each. Maybe that’s because the </a:t>
            </a:r>
            <a:r>
              <a:rPr lang="en-US" dirty="0" err="1"/>
              <a:t>dataframe</a:t>
            </a:r>
            <a:r>
              <a:rPr lang="en-US" dirty="0"/>
              <a:t> was already sorted by Count, or by Name?</a:t>
            </a:r>
          </a:p>
        </p:txBody>
      </p:sp>
    </p:spTree>
    <p:extLst>
      <p:ext uri="{BB962C8B-B14F-4D97-AF65-F5344CB8AC3E}">
        <p14:creationId xmlns:p14="http://schemas.microsoft.com/office/powerpoint/2010/main" val="2865789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31A45-BAE5-A997-F4A2-CDAE6D303BB1}"/>
              </a:ext>
            </a:extLst>
          </p:cNvPr>
          <p:cNvSpPr>
            <a:spLocks noGrp="1"/>
          </p:cNvSpPr>
          <p:nvPr>
            <p:ph type="title"/>
          </p:nvPr>
        </p:nvSpPr>
        <p:spPr/>
        <p:txBody>
          <a:bodyPr/>
          <a:lstStyle/>
          <a:p>
            <a:r>
              <a:rPr lang="en-US" dirty="0"/>
              <a:t>Male Emmas?</a:t>
            </a:r>
          </a:p>
        </p:txBody>
      </p:sp>
      <p:pic>
        <p:nvPicPr>
          <p:cNvPr id="5" name="Content Placeholder 4">
            <a:extLst>
              <a:ext uri="{FF2B5EF4-FFF2-40B4-BE49-F238E27FC236}">
                <a16:creationId xmlns:a16="http://schemas.microsoft.com/office/drawing/2014/main" id="{978D5BFF-10F1-056E-1524-31E84FD25046}"/>
              </a:ext>
            </a:extLst>
          </p:cNvPr>
          <p:cNvPicPr>
            <a:picLocks noGrp="1" noChangeAspect="1"/>
          </p:cNvPicPr>
          <p:nvPr>
            <p:ph idx="1"/>
          </p:nvPr>
        </p:nvPicPr>
        <p:blipFill>
          <a:blip r:embed="rId3"/>
          <a:stretch>
            <a:fillRect/>
          </a:stretch>
        </p:blipFill>
        <p:spPr>
          <a:xfrm>
            <a:off x="419100" y="1517882"/>
            <a:ext cx="11353800" cy="4296321"/>
          </a:xfrm>
          <a:prstGeom prst="rect">
            <a:avLst/>
          </a:prstGeom>
        </p:spPr>
      </p:pic>
      <p:sp>
        <p:nvSpPr>
          <p:cNvPr id="6" name="TextBox 5">
            <a:extLst>
              <a:ext uri="{FF2B5EF4-FFF2-40B4-BE49-F238E27FC236}">
                <a16:creationId xmlns:a16="http://schemas.microsoft.com/office/drawing/2014/main" id="{457F8B17-4882-DC82-8A7D-47BEF798CB71}"/>
              </a:ext>
            </a:extLst>
          </p:cNvPr>
          <p:cNvSpPr txBox="1"/>
          <p:nvPr/>
        </p:nvSpPr>
        <p:spPr>
          <a:xfrm>
            <a:off x="838200" y="5986732"/>
            <a:ext cx="9755038" cy="646331"/>
          </a:xfrm>
          <a:prstGeom prst="rect">
            <a:avLst/>
          </a:prstGeom>
          <a:noFill/>
        </p:spPr>
        <p:txBody>
          <a:bodyPr wrap="square" rtlCol="0">
            <a:spAutoFit/>
          </a:bodyPr>
          <a:lstStyle/>
          <a:p>
            <a:r>
              <a:rPr lang="en-US" i="1" dirty="0"/>
              <a:t>The data shows there were 18 male Emmas in 2016, 10 male Emmas in 2015. So, I have to merge the datasets from 2015 and 2016 on both Name and Gender.</a:t>
            </a:r>
          </a:p>
        </p:txBody>
      </p:sp>
    </p:spTree>
    <p:extLst>
      <p:ext uri="{BB962C8B-B14F-4D97-AF65-F5344CB8AC3E}">
        <p14:creationId xmlns:p14="http://schemas.microsoft.com/office/powerpoint/2010/main" val="3104835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7513A-66B3-94F9-7550-4082D042CFE4}"/>
              </a:ext>
            </a:extLst>
          </p:cNvPr>
          <p:cNvSpPr>
            <a:spLocks noGrp="1"/>
          </p:cNvSpPr>
          <p:nvPr>
            <p:ph type="title"/>
          </p:nvPr>
        </p:nvSpPr>
        <p:spPr/>
        <p:txBody>
          <a:bodyPr/>
          <a:lstStyle/>
          <a:p>
            <a:r>
              <a:rPr lang="en-US" dirty="0"/>
              <a:t>Data Summary – 10 Most Popular Names</a:t>
            </a:r>
          </a:p>
        </p:txBody>
      </p:sp>
      <p:pic>
        <p:nvPicPr>
          <p:cNvPr id="7" name="Picture 6">
            <a:extLst>
              <a:ext uri="{FF2B5EF4-FFF2-40B4-BE49-F238E27FC236}">
                <a16:creationId xmlns:a16="http://schemas.microsoft.com/office/drawing/2014/main" id="{22FF3A68-7475-A4F7-134A-E8CA99DD0F95}"/>
              </a:ext>
            </a:extLst>
          </p:cNvPr>
          <p:cNvPicPr>
            <a:picLocks noChangeAspect="1"/>
          </p:cNvPicPr>
          <p:nvPr/>
        </p:nvPicPr>
        <p:blipFill>
          <a:blip r:embed="rId3"/>
          <a:stretch>
            <a:fillRect/>
          </a:stretch>
        </p:blipFill>
        <p:spPr>
          <a:xfrm>
            <a:off x="838200" y="1458460"/>
            <a:ext cx="7811590" cy="4286848"/>
          </a:xfrm>
          <a:prstGeom prst="rect">
            <a:avLst/>
          </a:prstGeom>
        </p:spPr>
      </p:pic>
      <p:sp>
        <p:nvSpPr>
          <p:cNvPr id="3" name="TextBox 2">
            <a:extLst>
              <a:ext uri="{FF2B5EF4-FFF2-40B4-BE49-F238E27FC236}">
                <a16:creationId xmlns:a16="http://schemas.microsoft.com/office/drawing/2014/main" id="{2923B224-D8B4-96B0-CC51-81775AE04963}"/>
              </a:ext>
            </a:extLst>
          </p:cNvPr>
          <p:cNvSpPr txBox="1"/>
          <p:nvPr/>
        </p:nvSpPr>
        <p:spPr>
          <a:xfrm>
            <a:off x="8649790" y="1458460"/>
            <a:ext cx="2704010" cy="3416320"/>
          </a:xfrm>
          <a:prstGeom prst="rect">
            <a:avLst/>
          </a:prstGeom>
          <a:noFill/>
        </p:spPr>
        <p:txBody>
          <a:bodyPr wrap="square" rtlCol="0">
            <a:spAutoFit/>
          </a:bodyPr>
          <a:lstStyle/>
          <a:p>
            <a:r>
              <a:rPr lang="en-US" dirty="0"/>
              <a:t>These are the top 10 most popular names from 2015 to 2016.</a:t>
            </a:r>
          </a:p>
          <a:p>
            <a:endParaRPr lang="en-US" dirty="0"/>
          </a:p>
          <a:p>
            <a:r>
              <a:rPr lang="en-US" dirty="0"/>
              <a:t>How many people were given popular names? To answer this, maybe we should sum the totals of all the names in the first quartile.</a:t>
            </a:r>
          </a:p>
          <a:p>
            <a:endParaRPr lang="en-US" dirty="0"/>
          </a:p>
          <a:p>
            <a:endParaRPr lang="en-US" dirty="0"/>
          </a:p>
        </p:txBody>
      </p:sp>
    </p:spTree>
    <p:extLst>
      <p:ext uri="{BB962C8B-B14F-4D97-AF65-F5344CB8AC3E}">
        <p14:creationId xmlns:p14="http://schemas.microsoft.com/office/powerpoint/2010/main" val="2191024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BF78-C886-9B79-D622-D68D1816777F}"/>
              </a:ext>
            </a:extLst>
          </p:cNvPr>
          <p:cNvSpPr>
            <a:spLocks noGrp="1"/>
          </p:cNvSpPr>
          <p:nvPr>
            <p:ph type="title"/>
          </p:nvPr>
        </p:nvSpPr>
        <p:spPr/>
        <p:txBody>
          <a:bodyPr>
            <a:normAutofit/>
          </a:bodyPr>
          <a:lstStyle/>
          <a:p>
            <a:r>
              <a:rPr lang="en-US" sz="4000" dirty="0"/>
              <a:t>Get the Top 5% and Top 1% Most Popular Names</a:t>
            </a:r>
          </a:p>
        </p:txBody>
      </p:sp>
      <p:pic>
        <p:nvPicPr>
          <p:cNvPr id="9" name="Content Placeholder 8">
            <a:extLst>
              <a:ext uri="{FF2B5EF4-FFF2-40B4-BE49-F238E27FC236}">
                <a16:creationId xmlns:a16="http://schemas.microsoft.com/office/drawing/2014/main" id="{B0196953-03F3-F9E3-AA08-D5A242AA48E0}"/>
              </a:ext>
            </a:extLst>
          </p:cNvPr>
          <p:cNvPicPr>
            <a:picLocks noGrp="1" noChangeAspect="1"/>
          </p:cNvPicPr>
          <p:nvPr>
            <p:ph idx="1"/>
          </p:nvPr>
        </p:nvPicPr>
        <p:blipFill>
          <a:blip r:embed="rId2"/>
          <a:stretch>
            <a:fillRect/>
          </a:stretch>
        </p:blipFill>
        <p:spPr>
          <a:xfrm>
            <a:off x="838200" y="1522029"/>
            <a:ext cx="5519058" cy="1983171"/>
          </a:xfrm>
          <a:prstGeom prst="rect">
            <a:avLst/>
          </a:prstGeom>
        </p:spPr>
      </p:pic>
      <p:sp>
        <p:nvSpPr>
          <p:cNvPr id="10" name="TextBox 9">
            <a:extLst>
              <a:ext uri="{FF2B5EF4-FFF2-40B4-BE49-F238E27FC236}">
                <a16:creationId xmlns:a16="http://schemas.microsoft.com/office/drawing/2014/main" id="{296B8927-1862-7314-EBCA-8AFB3C83570C}"/>
              </a:ext>
            </a:extLst>
          </p:cNvPr>
          <p:cNvSpPr txBox="1"/>
          <p:nvPr/>
        </p:nvSpPr>
        <p:spPr>
          <a:xfrm>
            <a:off x="6814457" y="1690688"/>
            <a:ext cx="4082143" cy="646331"/>
          </a:xfrm>
          <a:prstGeom prst="rect">
            <a:avLst/>
          </a:prstGeom>
          <a:noFill/>
        </p:spPr>
        <p:txBody>
          <a:bodyPr wrap="square" rtlCol="0">
            <a:spAutoFit/>
          </a:bodyPr>
          <a:lstStyle/>
          <a:p>
            <a:r>
              <a:rPr lang="en-US" b="1" dirty="0"/>
              <a:t>Top 5%: </a:t>
            </a:r>
            <a:r>
              <a:rPr lang="en-US" dirty="0"/>
              <a:t>There are 1,330 names that have a total at least 823.</a:t>
            </a:r>
          </a:p>
        </p:txBody>
      </p:sp>
      <p:pic>
        <p:nvPicPr>
          <p:cNvPr id="12" name="Picture 11">
            <a:extLst>
              <a:ext uri="{FF2B5EF4-FFF2-40B4-BE49-F238E27FC236}">
                <a16:creationId xmlns:a16="http://schemas.microsoft.com/office/drawing/2014/main" id="{1092738E-D9C2-5702-61FC-841981D826AB}"/>
              </a:ext>
            </a:extLst>
          </p:cNvPr>
          <p:cNvPicPr>
            <a:picLocks noChangeAspect="1"/>
          </p:cNvPicPr>
          <p:nvPr/>
        </p:nvPicPr>
        <p:blipFill>
          <a:blip r:embed="rId3"/>
          <a:stretch>
            <a:fillRect/>
          </a:stretch>
        </p:blipFill>
        <p:spPr>
          <a:xfrm>
            <a:off x="838200" y="3982871"/>
            <a:ext cx="5519058" cy="1753205"/>
          </a:xfrm>
          <a:prstGeom prst="rect">
            <a:avLst/>
          </a:prstGeom>
        </p:spPr>
      </p:pic>
      <p:sp>
        <p:nvSpPr>
          <p:cNvPr id="13" name="TextBox 12">
            <a:extLst>
              <a:ext uri="{FF2B5EF4-FFF2-40B4-BE49-F238E27FC236}">
                <a16:creationId xmlns:a16="http://schemas.microsoft.com/office/drawing/2014/main" id="{2AC4C6F6-6373-0913-0B66-47BC4710A7F9}"/>
              </a:ext>
            </a:extLst>
          </p:cNvPr>
          <p:cNvSpPr txBox="1"/>
          <p:nvPr/>
        </p:nvSpPr>
        <p:spPr>
          <a:xfrm>
            <a:off x="6814457" y="3982871"/>
            <a:ext cx="4082143" cy="646331"/>
          </a:xfrm>
          <a:prstGeom prst="rect">
            <a:avLst/>
          </a:prstGeom>
          <a:noFill/>
        </p:spPr>
        <p:txBody>
          <a:bodyPr wrap="square" rtlCol="0">
            <a:spAutoFit/>
          </a:bodyPr>
          <a:lstStyle/>
          <a:p>
            <a:r>
              <a:rPr lang="en-US" b="1" dirty="0"/>
              <a:t>Top 1%: </a:t>
            </a:r>
            <a:r>
              <a:rPr lang="en-US" dirty="0"/>
              <a:t>There are 266 names that have a total at least 5416.</a:t>
            </a:r>
          </a:p>
        </p:txBody>
      </p:sp>
    </p:spTree>
    <p:extLst>
      <p:ext uri="{BB962C8B-B14F-4D97-AF65-F5344CB8AC3E}">
        <p14:creationId xmlns:p14="http://schemas.microsoft.com/office/powerpoint/2010/main" val="3716156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24ECF35-BFAB-39F0-997F-76DAC4B8D5DC}"/>
              </a:ext>
            </a:extLst>
          </p:cNvPr>
          <p:cNvSpPr txBox="1"/>
          <p:nvPr/>
        </p:nvSpPr>
        <p:spPr>
          <a:xfrm>
            <a:off x="1799771" y="5395582"/>
            <a:ext cx="8810172" cy="923330"/>
          </a:xfrm>
          <a:prstGeom prst="rect">
            <a:avLst/>
          </a:prstGeom>
          <a:noFill/>
        </p:spPr>
        <p:txBody>
          <a:bodyPr wrap="square" rtlCol="0">
            <a:spAutoFit/>
          </a:bodyPr>
          <a:lstStyle/>
          <a:p>
            <a:r>
              <a:rPr lang="en-US" dirty="0"/>
              <a:t>These are the top 20 baby names from slicing the top 1% of popular names. There are 266 names in the top 1%, so I used arrange(desc(Total)) and </a:t>
            </a:r>
            <a:r>
              <a:rPr lang="en-US" dirty="0" err="1"/>
              <a:t>slice_head</a:t>
            </a:r>
            <a:r>
              <a:rPr lang="en-US" dirty="0"/>
              <a:t>(n=20) to get the top 20 names.</a:t>
            </a:r>
          </a:p>
        </p:txBody>
      </p:sp>
      <p:pic>
        <p:nvPicPr>
          <p:cNvPr id="12" name="Content Placeholder 11">
            <a:extLst>
              <a:ext uri="{FF2B5EF4-FFF2-40B4-BE49-F238E27FC236}">
                <a16:creationId xmlns:a16="http://schemas.microsoft.com/office/drawing/2014/main" id="{CAB0C893-5AA8-4933-DC33-DA31E540B914}"/>
              </a:ext>
            </a:extLst>
          </p:cNvPr>
          <p:cNvPicPr>
            <a:picLocks noGrp="1" noChangeAspect="1"/>
          </p:cNvPicPr>
          <p:nvPr>
            <p:ph idx="1"/>
          </p:nvPr>
        </p:nvPicPr>
        <p:blipFill>
          <a:blip r:embed="rId3"/>
          <a:stretch>
            <a:fillRect/>
          </a:stretch>
        </p:blipFill>
        <p:spPr>
          <a:xfrm>
            <a:off x="1801843" y="184954"/>
            <a:ext cx="8588313" cy="5210628"/>
          </a:xfrm>
          <a:prstGeom prst="rect">
            <a:avLst/>
          </a:prstGeom>
        </p:spPr>
      </p:pic>
    </p:spTree>
    <p:extLst>
      <p:ext uri="{BB962C8B-B14F-4D97-AF65-F5344CB8AC3E}">
        <p14:creationId xmlns:p14="http://schemas.microsoft.com/office/powerpoint/2010/main" val="1927659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CF96D-58DC-2647-52D2-7A65E2A43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9B21F-A940-F9E7-CC93-A0B97F647D3D}"/>
              </a:ext>
            </a:extLst>
          </p:cNvPr>
          <p:cNvSpPr>
            <a:spLocks noGrp="1"/>
          </p:cNvSpPr>
          <p:nvPr>
            <p:ph type="title"/>
          </p:nvPr>
        </p:nvSpPr>
        <p:spPr/>
        <p:txBody>
          <a:bodyPr>
            <a:normAutofit/>
          </a:bodyPr>
          <a:lstStyle/>
          <a:p>
            <a:r>
              <a:rPr lang="en-US" sz="4000" dirty="0"/>
              <a:t>Data Summary – 10 Most Popular Girl’s Names</a:t>
            </a:r>
          </a:p>
        </p:txBody>
      </p:sp>
      <p:pic>
        <p:nvPicPr>
          <p:cNvPr id="4" name="Picture 3">
            <a:extLst>
              <a:ext uri="{FF2B5EF4-FFF2-40B4-BE49-F238E27FC236}">
                <a16:creationId xmlns:a16="http://schemas.microsoft.com/office/drawing/2014/main" id="{BBA98969-95C1-A681-7E25-2BBF29383C69}"/>
              </a:ext>
            </a:extLst>
          </p:cNvPr>
          <p:cNvPicPr>
            <a:picLocks noChangeAspect="1"/>
          </p:cNvPicPr>
          <p:nvPr/>
        </p:nvPicPr>
        <p:blipFill>
          <a:blip r:embed="rId3"/>
          <a:srcRect r="62067" b="77025"/>
          <a:stretch>
            <a:fillRect/>
          </a:stretch>
        </p:blipFill>
        <p:spPr>
          <a:xfrm>
            <a:off x="838200" y="1537306"/>
            <a:ext cx="4081439" cy="1325562"/>
          </a:xfrm>
          <a:prstGeom prst="rect">
            <a:avLst/>
          </a:prstGeom>
        </p:spPr>
      </p:pic>
      <p:pic>
        <p:nvPicPr>
          <p:cNvPr id="6" name="Picture 5">
            <a:extLst>
              <a:ext uri="{FF2B5EF4-FFF2-40B4-BE49-F238E27FC236}">
                <a16:creationId xmlns:a16="http://schemas.microsoft.com/office/drawing/2014/main" id="{D192F76A-0053-287C-11F5-5490A11B5606}"/>
              </a:ext>
            </a:extLst>
          </p:cNvPr>
          <p:cNvPicPr>
            <a:picLocks noChangeAspect="1"/>
          </p:cNvPicPr>
          <p:nvPr/>
        </p:nvPicPr>
        <p:blipFill>
          <a:blip r:embed="rId4"/>
          <a:stretch>
            <a:fillRect/>
          </a:stretch>
        </p:blipFill>
        <p:spPr>
          <a:xfrm>
            <a:off x="1392013" y="3153229"/>
            <a:ext cx="2593823" cy="2850188"/>
          </a:xfrm>
          <a:prstGeom prst="rect">
            <a:avLst/>
          </a:prstGeom>
        </p:spPr>
      </p:pic>
      <p:pic>
        <p:nvPicPr>
          <p:cNvPr id="7" name="Picture 6">
            <a:extLst>
              <a:ext uri="{FF2B5EF4-FFF2-40B4-BE49-F238E27FC236}">
                <a16:creationId xmlns:a16="http://schemas.microsoft.com/office/drawing/2014/main" id="{18B27249-CE21-8310-4245-12B3ACD2F330}"/>
              </a:ext>
            </a:extLst>
          </p:cNvPr>
          <p:cNvPicPr>
            <a:picLocks noChangeAspect="1"/>
          </p:cNvPicPr>
          <p:nvPr/>
        </p:nvPicPr>
        <p:blipFill>
          <a:blip r:embed="rId5"/>
          <a:stretch>
            <a:fillRect/>
          </a:stretch>
        </p:blipFill>
        <p:spPr>
          <a:xfrm>
            <a:off x="4595687" y="1537306"/>
            <a:ext cx="7220958" cy="4220164"/>
          </a:xfrm>
          <a:prstGeom prst="rect">
            <a:avLst/>
          </a:prstGeom>
        </p:spPr>
      </p:pic>
    </p:spTree>
    <p:extLst>
      <p:ext uri="{BB962C8B-B14F-4D97-AF65-F5344CB8AC3E}">
        <p14:creationId xmlns:p14="http://schemas.microsoft.com/office/powerpoint/2010/main" val="457216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C77F9-ACB4-CB1B-4BFD-AD938773C2C0}"/>
              </a:ext>
            </a:extLst>
          </p:cNvPr>
          <p:cNvSpPr>
            <a:spLocks noGrp="1"/>
          </p:cNvSpPr>
          <p:nvPr>
            <p:ph type="title"/>
          </p:nvPr>
        </p:nvSpPr>
        <p:spPr>
          <a:xfrm>
            <a:off x="838200" y="365125"/>
            <a:ext cx="10515600" cy="868589"/>
          </a:xfrm>
        </p:spPr>
        <p:txBody>
          <a:bodyPr/>
          <a:lstStyle/>
          <a:p>
            <a:r>
              <a:rPr lang="en-US" dirty="0"/>
              <a:t>Baby Names Study</a:t>
            </a:r>
          </a:p>
        </p:txBody>
      </p:sp>
      <p:pic>
        <p:nvPicPr>
          <p:cNvPr id="9" name="Content Placeholder 8">
            <a:extLst>
              <a:ext uri="{FF2B5EF4-FFF2-40B4-BE49-F238E27FC236}">
                <a16:creationId xmlns:a16="http://schemas.microsoft.com/office/drawing/2014/main" id="{F324FB07-D041-862C-2A4F-8410F019FDF0}"/>
              </a:ext>
            </a:extLst>
          </p:cNvPr>
          <p:cNvPicPr>
            <a:picLocks noGrp="1" noChangeAspect="1"/>
          </p:cNvPicPr>
          <p:nvPr>
            <p:ph idx="1"/>
          </p:nvPr>
        </p:nvPicPr>
        <p:blipFill>
          <a:blip r:embed="rId3"/>
          <a:stretch>
            <a:fillRect/>
          </a:stretch>
        </p:blipFill>
        <p:spPr>
          <a:xfrm>
            <a:off x="838200" y="1233714"/>
            <a:ext cx="8169975" cy="5138057"/>
          </a:xfrm>
          <a:prstGeom prst="rect">
            <a:avLst/>
          </a:prstGeom>
        </p:spPr>
      </p:pic>
      <p:sp>
        <p:nvSpPr>
          <p:cNvPr id="10" name="TextBox 9">
            <a:extLst>
              <a:ext uri="{FF2B5EF4-FFF2-40B4-BE49-F238E27FC236}">
                <a16:creationId xmlns:a16="http://schemas.microsoft.com/office/drawing/2014/main" id="{FCC94259-D80F-289D-0B0F-063C467036E5}"/>
              </a:ext>
            </a:extLst>
          </p:cNvPr>
          <p:cNvSpPr txBox="1"/>
          <p:nvPr/>
        </p:nvSpPr>
        <p:spPr>
          <a:xfrm>
            <a:off x="9173029" y="1756229"/>
            <a:ext cx="2627085" cy="3693319"/>
          </a:xfrm>
          <a:prstGeom prst="rect">
            <a:avLst/>
          </a:prstGeom>
          <a:noFill/>
        </p:spPr>
        <p:txBody>
          <a:bodyPr wrap="square" rtlCol="0">
            <a:spAutoFit/>
          </a:bodyPr>
          <a:lstStyle/>
          <a:p>
            <a:r>
              <a:rPr lang="en-US" dirty="0"/>
              <a:t>From 2015 to 2016, the most popular baby name was Emma. For boys, the most popular name was Noah. </a:t>
            </a:r>
          </a:p>
          <a:p>
            <a:endParaRPr lang="en-US" dirty="0"/>
          </a:p>
          <a:p>
            <a:r>
              <a:rPr lang="en-US" dirty="0"/>
              <a:t>Some of the least popular names, like Ziyu, Zohar and Zyking, were even more uncommon than Emma was among boys’ names.</a:t>
            </a:r>
          </a:p>
        </p:txBody>
      </p:sp>
    </p:spTree>
    <p:extLst>
      <p:ext uri="{BB962C8B-B14F-4D97-AF65-F5344CB8AC3E}">
        <p14:creationId xmlns:p14="http://schemas.microsoft.com/office/powerpoint/2010/main" val="1950214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4543F-7515-AD75-47B0-2894EA8294B2}"/>
              </a:ext>
            </a:extLst>
          </p:cNvPr>
          <p:cNvSpPr>
            <a:spLocks noGrp="1"/>
          </p:cNvSpPr>
          <p:nvPr>
            <p:ph type="title"/>
          </p:nvPr>
        </p:nvSpPr>
        <p:spPr/>
        <p:txBody>
          <a:bodyPr>
            <a:normAutofit/>
          </a:bodyPr>
          <a:lstStyle/>
          <a:p>
            <a:r>
              <a:rPr lang="en-US" dirty="0"/>
              <a:t>Takeaways and questions!</a:t>
            </a:r>
            <a:br>
              <a:rPr lang="en-US" dirty="0"/>
            </a:br>
            <a:endParaRPr lang="en-US" dirty="0"/>
          </a:p>
        </p:txBody>
      </p:sp>
      <p:sp>
        <p:nvSpPr>
          <p:cNvPr id="3" name="Content Placeholder 2">
            <a:extLst>
              <a:ext uri="{FF2B5EF4-FFF2-40B4-BE49-F238E27FC236}">
                <a16:creationId xmlns:a16="http://schemas.microsoft.com/office/drawing/2014/main" id="{EB981B9C-49E7-8D3F-D9EE-2DEE401A57FD}"/>
              </a:ext>
            </a:extLst>
          </p:cNvPr>
          <p:cNvSpPr>
            <a:spLocks noGrp="1"/>
          </p:cNvSpPr>
          <p:nvPr>
            <p:ph idx="1"/>
          </p:nvPr>
        </p:nvSpPr>
        <p:spPr/>
        <p:txBody>
          <a:bodyPr/>
          <a:lstStyle/>
          <a:p>
            <a:r>
              <a:rPr lang="en-US" dirty="0"/>
              <a:t>After I selected the Height and Weight of FIFA players, and added new columns to represent them as numbers, I wanted to plot by Position. But I had preemptively removed that column. Should I not have used a select() statement? Should I have thought ahead before selecting columns to keep?</a:t>
            </a:r>
          </a:p>
          <a:p>
            <a:endParaRPr lang="en-US" dirty="0"/>
          </a:p>
          <a:p>
            <a:r>
              <a:rPr lang="en-US" dirty="0"/>
              <a:t>Full markdown here: </a:t>
            </a:r>
            <a:r>
              <a:rPr lang="en-US" dirty="0">
                <a:hlinkClick r:id="rId3"/>
              </a:rPr>
              <a:t>https://github.com/Iwestlauer/doing_data_science/tree/main/Unit%205%20Relational%20Data%20and%20Regex</a:t>
            </a:r>
            <a:endParaRPr lang="en-US" dirty="0"/>
          </a:p>
        </p:txBody>
      </p:sp>
    </p:spTree>
    <p:extLst>
      <p:ext uri="{BB962C8B-B14F-4D97-AF65-F5344CB8AC3E}">
        <p14:creationId xmlns:p14="http://schemas.microsoft.com/office/powerpoint/2010/main" val="150480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2046</TotalTime>
  <Words>1769</Words>
  <Application>Microsoft Office PowerPoint</Application>
  <PresentationFormat>Widescreen</PresentationFormat>
  <Paragraphs>106</Paragraphs>
  <Slides>18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Garamond</vt:lpstr>
      <vt:lpstr>Palatino Linotype</vt:lpstr>
      <vt:lpstr>Times New Roman</vt:lpstr>
      <vt:lpstr>Office Theme</vt:lpstr>
      <vt:lpstr>Unit  5 For Live Session Assignment </vt:lpstr>
      <vt:lpstr>NBA Players Height Format Using Regex</vt:lpstr>
      <vt:lpstr>PowerPoint Presentation</vt:lpstr>
      <vt:lpstr>Height vs Weight of FIFA Players</vt:lpstr>
      <vt:lpstr>Height vs Weight of FIFA Players</vt:lpstr>
      <vt:lpstr>Height vs Weight of FIFA Players</vt:lpstr>
      <vt:lpstr>Height vs Weight of FIFA Players</vt:lpstr>
      <vt:lpstr>Height vs Weight Relationship by Position</vt:lpstr>
      <vt:lpstr>Data Munging</vt:lpstr>
      <vt:lpstr>Data Munging</vt:lpstr>
      <vt:lpstr>Data Merging</vt:lpstr>
      <vt:lpstr>Male Emmas?</vt:lpstr>
      <vt:lpstr>Data Summary – 10 Most Popular Names</vt:lpstr>
      <vt:lpstr>Get the Top 5% and Top 1% Most Popular Names</vt:lpstr>
      <vt:lpstr>PowerPoint Presentation</vt:lpstr>
      <vt:lpstr>Data Summary – 10 Most Popular Girl’s Names</vt:lpstr>
      <vt:lpstr>Baby Names Study</vt:lpstr>
      <vt:lpstr>Takeaways and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Westlauer, Isabella</dc:creator>
  <cp:lastModifiedBy>Westlauer, Isabella</cp:lastModifiedBy>
  <cp:revision>57</cp:revision>
  <dcterms:created xsi:type="dcterms:W3CDTF">2026-01-23T01:05:28Z</dcterms:created>
  <dcterms:modified xsi:type="dcterms:W3CDTF">2026-02-02T04:01:28Z</dcterms:modified>
</cp:coreProperties>
</file>