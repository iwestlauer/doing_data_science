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7" r:id="rId4"/>
    <p:sldId id="257" r:id="rId5"/>
    <p:sldId id="268" r:id="rId6"/>
    <p:sldId id="258" r:id="rId7"/>
    <p:sldId id="269" r:id="rId8"/>
    <p:sldId id="259" r:id="rId9"/>
    <p:sldId id="270" r:id="rId10"/>
    <p:sldId id="260" r:id="rId11"/>
    <p:sldId id="271" r:id="rId12"/>
    <p:sldId id="261" r:id="rId13"/>
    <p:sldId id="272" r:id="rId14"/>
    <p:sldId id="262" r:id="rId15"/>
    <p:sldId id="273" r:id="rId16"/>
    <p:sldId id="263" r:id="rId17"/>
    <p:sldId id="274" r:id="rId18"/>
    <p:sldId id="264" r:id="rId19"/>
    <p:sldId id="275" r:id="rId20"/>
    <p:sldId id="26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B164C65-F91C-4883-A894-30A7DD52B25B}">
          <p14:sldIdLst>
            <p14:sldId id="256"/>
            <p14:sldId id="266"/>
            <p14:sldId id="267"/>
            <p14:sldId id="257"/>
            <p14:sldId id="268"/>
            <p14:sldId id="258"/>
            <p14:sldId id="269"/>
            <p14:sldId id="259"/>
            <p14:sldId id="270"/>
            <p14:sldId id="260"/>
            <p14:sldId id="271"/>
            <p14:sldId id="261"/>
            <p14:sldId id="272"/>
            <p14:sldId id="262"/>
            <p14:sldId id="273"/>
            <p14:sldId id="263"/>
            <p14:sldId id="274"/>
            <p14:sldId id="264"/>
            <p14:sldId id="275"/>
            <p14:sldId id="26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0" d="100"/>
          <a:sy n="50" d="100"/>
        </p:scale>
        <p:origin x="101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08E1-4487-CBD3-8273-AA92407952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39E384-471D-81DB-3CAC-585C068B42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17AF21-579D-05C6-696E-DF196E253FD3}"/>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ECE01432-4C35-4B32-DE7F-50844EB56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77180-6C71-8EBF-1746-E7C25C5BB19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2605335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03186-2B31-777D-2A51-C827E095E5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2BA81-D157-DD1C-4027-6B5FB3AC65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F64A7-D23D-D2DF-E424-73A1D2C02F2B}"/>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A15919B2-98CA-F9C7-796C-0FE573B4E5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C1EB07-8F2E-69CC-980B-0AB76B935B0B}"/>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038915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DA4-C327-CEF9-CED3-D308EE5D4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8DA563-2788-11E5-0455-BD523A4780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8FC07-7B29-BCF2-58F0-61BF2720D938}"/>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9236A549-E42A-C3B5-B30F-133D483F8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A0B446-ED95-FB7E-B183-8FFEDBB5A7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4088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E3CE-7F4B-6C85-7B7C-900C84146D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6F095-E1EA-7DAA-1E4D-0FAE1150B6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710F1-834F-C4E4-5D8E-EF0F71EBF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2F9F2F-75DD-759C-B002-695EC992957E}"/>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6" name="Footer Placeholder 5">
            <a:extLst>
              <a:ext uri="{FF2B5EF4-FFF2-40B4-BE49-F238E27FC236}">
                <a16:creationId xmlns:a16="http://schemas.microsoft.com/office/drawing/2014/main" id="{CC0D5E17-E843-6522-94EF-25EBF682E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38B0B-4B88-D60D-CD96-14D70EDE005A}"/>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72077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6FA0-A6AD-047B-1F15-1717E6B231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BFA40C-3AE5-39FC-5308-381D77840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942D25-99D3-E218-530A-1F48DB05E6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CC40B0-8675-DF1C-6E63-8E6A2DCAA8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65A5EB-F73F-43D8-A169-4367541CF2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E81735-6BDF-9FAF-CA63-3BB68D81414D}"/>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8" name="Footer Placeholder 7">
            <a:extLst>
              <a:ext uri="{FF2B5EF4-FFF2-40B4-BE49-F238E27FC236}">
                <a16:creationId xmlns:a16="http://schemas.microsoft.com/office/drawing/2014/main" id="{AC872F2E-7795-E7B4-B761-DFBC81634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4CDA64-D9E2-74B7-D6A0-C68020296B0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119085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2995E-55CA-B927-1FF1-5BE5501341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DC5299-4998-A183-44F8-76E4DE39CA96}"/>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4" name="Footer Placeholder 3">
            <a:extLst>
              <a:ext uri="{FF2B5EF4-FFF2-40B4-BE49-F238E27FC236}">
                <a16:creationId xmlns:a16="http://schemas.microsoft.com/office/drawing/2014/main" id="{23EA15D3-33F7-CF6F-F2CF-6C55DAB575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C562-E8A2-36B0-7FCA-710B49ADB420}"/>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425896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6E3E9D-394F-138E-3034-50978BEF8EE4}"/>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3" name="Footer Placeholder 2">
            <a:extLst>
              <a:ext uri="{FF2B5EF4-FFF2-40B4-BE49-F238E27FC236}">
                <a16:creationId xmlns:a16="http://schemas.microsoft.com/office/drawing/2014/main" id="{738DF2E2-5EBA-FBE3-4EC2-362AD1FF8A2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380CB4-8FAB-23F4-CD87-4847D621A63C}"/>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344319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50F4B-D679-4806-E5B9-C87407D77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87B31-9883-397A-5CC6-4688044DC7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7C128C-516F-A2BA-4A75-8C11F0A4D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7966B-2A53-BA3F-2FA8-9852555D800C}"/>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6" name="Footer Placeholder 5">
            <a:extLst>
              <a:ext uri="{FF2B5EF4-FFF2-40B4-BE49-F238E27FC236}">
                <a16:creationId xmlns:a16="http://schemas.microsoft.com/office/drawing/2014/main" id="{998A9909-6A54-AA30-06A2-9F060B2DD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EB308E-F54D-6910-F906-1280170EB587}"/>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927077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EE04F-B783-28B2-D43C-501226190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F80EC0-86ED-D2CB-7C8E-9424373F2A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B90542-E046-D6A5-EC55-09663DD84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D56EB7-A784-558B-B63C-B1626C893D86}"/>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6" name="Footer Placeholder 5">
            <a:extLst>
              <a:ext uri="{FF2B5EF4-FFF2-40B4-BE49-F238E27FC236}">
                <a16:creationId xmlns:a16="http://schemas.microsoft.com/office/drawing/2014/main" id="{9B7197DC-60BC-865E-B2A4-F9D051F2C8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A1B62-8D8D-6F5D-5203-3AB5177036CE}"/>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324792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1963A-1AC8-540F-A4F8-84983BD9F6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7C2F5B-2AE0-8C9D-1884-B27B07E2AD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C76CAB-F7FC-1D04-90E2-8C936FC8C72E}"/>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AE3CF53C-93EB-03F8-680F-5923D6C16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28CA3C-B0B1-8680-C180-DBD9FF19D3D3}"/>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77437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834398-6BAE-A05C-3C0F-133E3D7104F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6DF5D-53A3-2411-FA1E-ABC16C270F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94B064-1F56-3165-08CC-E2D4086C80EB}"/>
              </a:ext>
            </a:extLst>
          </p:cNvPr>
          <p:cNvSpPr>
            <a:spLocks noGrp="1"/>
          </p:cNvSpPr>
          <p:nvPr>
            <p:ph type="dt" sz="half" idx="10"/>
          </p:nvPr>
        </p:nvSpPr>
        <p:spPr/>
        <p:txBody>
          <a:body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9DA3E57F-B3C9-3F4E-765F-CEA04B84A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BBCBD3-DD10-22B1-99C8-86C02B6C80D8}"/>
              </a:ext>
            </a:extLst>
          </p:cNvPr>
          <p:cNvSpPr>
            <a:spLocks noGrp="1"/>
          </p:cNvSpPr>
          <p:nvPr>
            <p:ph type="sldNum" sz="quarter" idx="12"/>
          </p:nvPr>
        </p:nvSpPr>
        <p:spPr/>
        <p:txBody>
          <a:bodyPr/>
          <a:lstStyle/>
          <a:p>
            <a:fld id="{ABAB500F-868A-4BEF-936A-CD95339AAD41}" type="slidenum">
              <a:rPr lang="en-US" smtClean="0"/>
              <a:t>‹#›</a:t>
            </a:fld>
            <a:endParaRPr lang="en-US"/>
          </a:p>
        </p:txBody>
      </p:sp>
    </p:spTree>
    <p:extLst>
      <p:ext uri="{BB962C8B-B14F-4D97-AF65-F5344CB8AC3E}">
        <p14:creationId xmlns:p14="http://schemas.microsoft.com/office/powerpoint/2010/main" val="1164278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596CD0-2B46-8B9D-F2A1-D843A6D083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C9E834-A0CE-4A1D-D2BA-B8D3A1EFE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539A5-42B7-50EA-D013-1914F482E2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95E84C-799E-434B-B555-A2CE91254D07}" type="datetimeFigureOut">
              <a:rPr lang="en-US" smtClean="0"/>
              <a:t>1/22/2026</a:t>
            </a:fld>
            <a:endParaRPr lang="en-US"/>
          </a:p>
        </p:txBody>
      </p:sp>
      <p:sp>
        <p:nvSpPr>
          <p:cNvPr id="5" name="Footer Placeholder 4">
            <a:extLst>
              <a:ext uri="{FF2B5EF4-FFF2-40B4-BE49-F238E27FC236}">
                <a16:creationId xmlns:a16="http://schemas.microsoft.com/office/drawing/2014/main" id="{36CCD56E-5957-AD9F-7F83-D432AB4A4A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761CFA-3AD2-14EE-2F5D-06968474C8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AB500F-868A-4BEF-936A-CD95339AAD41}" type="slidenum">
              <a:rPr lang="en-US" smtClean="0"/>
              <a:t>‹#›</a:t>
            </a:fld>
            <a:endParaRPr lang="en-US"/>
          </a:p>
        </p:txBody>
      </p:sp>
    </p:spTree>
    <p:extLst>
      <p:ext uri="{BB962C8B-B14F-4D97-AF65-F5344CB8AC3E}">
        <p14:creationId xmlns:p14="http://schemas.microsoft.com/office/powerpoint/2010/main" val="810422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hyperlink" Target="http://r-statistics.co/Top50-Ggplot2-Visualizations-MasterList-R-Code.htm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74E2-B062-D8FA-236A-6245A0DE1EE7}"/>
              </a:ext>
            </a:extLst>
          </p:cNvPr>
          <p:cNvSpPr>
            <a:spLocks noGrp="1"/>
          </p:cNvSpPr>
          <p:nvPr>
            <p:ph type="ctrTitle"/>
          </p:nvPr>
        </p:nvSpPr>
        <p:spPr/>
        <p:txBody>
          <a:bodyPr/>
          <a:lstStyle/>
          <a:p>
            <a:r>
              <a:rPr lang="en-US" dirty="0"/>
              <a:t>Unit  2 For Live Session Assignment	</a:t>
            </a:r>
          </a:p>
        </p:txBody>
      </p:sp>
      <p:sp>
        <p:nvSpPr>
          <p:cNvPr id="3" name="Subtitle 2">
            <a:extLst>
              <a:ext uri="{FF2B5EF4-FFF2-40B4-BE49-F238E27FC236}">
                <a16:creationId xmlns:a16="http://schemas.microsoft.com/office/drawing/2014/main" id="{0849C751-F9E3-A2B9-AF7E-8CE9B5298F13}"/>
              </a:ext>
            </a:extLst>
          </p:cNvPr>
          <p:cNvSpPr>
            <a:spLocks noGrp="1"/>
          </p:cNvSpPr>
          <p:nvPr>
            <p:ph type="subTitle" idx="1"/>
          </p:nvPr>
        </p:nvSpPr>
        <p:spPr/>
        <p:txBody>
          <a:bodyPr/>
          <a:lstStyle/>
          <a:p>
            <a:r>
              <a:rPr lang="en-US" dirty="0"/>
              <a:t>Isabella Westlauer</a:t>
            </a:r>
          </a:p>
          <a:p>
            <a:endParaRPr lang="en-US" dirty="0"/>
          </a:p>
        </p:txBody>
      </p:sp>
    </p:spTree>
    <p:extLst>
      <p:ext uri="{BB962C8B-B14F-4D97-AF65-F5344CB8AC3E}">
        <p14:creationId xmlns:p14="http://schemas.microsoft.com/office/powerpoint/2010/main" val="303204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D11A9-1399-3756-F85B-4265A176EF67}"/>
              </a:ext>
            </a:extLst>
          </p:cNvPr>
          <p:cNvSpPr>
            <a:spLocks noGrp="1"/>
          </p:cNvSpPr>
          <p:nvPr>
            <p:ph type="title"/>
          </p:nvPr>
        </p:nvSpPr>
        <p:spPr/>
        <p:txBody>
          <a:bodyPr>
            <a:noAutofit/>
          </a:bodyPr>
          <a:lstStyle/>
          <a:p>
            <a:r>
              <a:rPr lang="en-US" sz="2800" dirty="0"/>
              <a:t>Download into R Studio the PlayerBBall.csv dataset. This data set is every NBA basketball player from 1950 to present.  It contains their height, weight, position and the year they played (among other data.) (Position: F-Forward, C-Centers, F-C and C-F – Forward /Centers, G – Guards, F-G – Forward/Guards)  FYI: If you feel that these questions are open ended or at least a little vague, this is on purpose.  Answer the question as you understand it and make any assumptions you need to make to answer the question and record those assumptions. (3-5 hours)</a:t>
            </a:r>
          </a:p>
        </p:txBody>
      </p:sp>
      <p:sp>
        <p:nvSpPr>
          <p:cNvPr id="3" name="Text Placeholder 2">
            <a:extLst>
              <a:ext uri="{FF2B5EF4-FFF2-40B4-BE49-F238E27FC236}">
                <a16:creationId xmlns:a16="http://schemas.microsoft.com/office/drawing/2014/main" id="{272B192A-21D1-AA26-41DC-18E4C59F393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80927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CD0054-A4A4-9CA5-9454-038E62D3A9F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300891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D1C4CC-A40E-4C8C-A657-7BFC8652B0FD}"/>
              </a:ext>
            </a:extLst>
          </p:cNvPr>
          <p:cNvSpPr>
            <a:spLocks noGrp="1"/>
          </p:cNvSpPr>
          <p:nvPr>
            <p:ph type="title"/>
          </p:nvPr>
        </p:nvSpPr>
        <p:spPr/>
        <p:txBody>
          <a:bodyPr>
            <a:normAutofit fontScale="90000"/>
          </a:bodyPr>
          <a:lstStyle/>
          <a:p>
            <a:r>
              <a:rPr lang="en-US" dirty="0"/>
              <a:t>Use the PlayerBBall.csv dataset to visually represent (summarize) the number of players in each position.</a:t>
            </a:r>
          </a:p>
        </p:txBody>
      </p:sp>
      <p:sp>
        <p:nvSpPr>
          <p:cNvPr id="5" name="Text Placeholder 4">
            <a:extLst>
              <a:ext uri="{FF2B5EF4-FFF2-40B4-BE49-F238E27FC236}">
                <a16:creationId xmlns:a16="http://schemas.microsoft.com/office/drawing/2014/main" id="{5477899D-44B4-1AA0-D602-E7DE97EF87D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13393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C85794-0DC9-BBCB-66F8-05FEC5926F3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65440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D565-DB8F-CEFE-00FA-6119B24B2654}"/>
              </a:ext>
            </a:extLst>
          </p:cNvPr>
          <p:cNvSpPr>
            <a:spLocks noGrp="1"/>
          </p:cNvSpPr>
          <p:nvPr>
            <p:ph type="title"/>
          </p:nvPr>
        </p:nvSpPr>
        <p:spPr/>
        <p:txBody>
          <a:bodyPr>
            <a:normAutofit fontScale="90000"/>
          </a:bodyPr>
          <a:lstStyle/>
          <a:p>
            <a:r>
              <a:rPr lang="en-US" dirty="0"/>
              <a:t>Use the dataset to visually investigate the distribution of the weight of centers (C) is greater than the distribution of the weight of forwards (F).</a:t>
            </a:r>
          </a:p>
        </p:txBody>
      </p:sp>
      <p:sp>
        <p:nvSpPr>
          <p:cNvPr id="3" name="Text Placeholder 2">
            <a:extLst>
              <a:ext uri="{FF2B5EF4-FFF2-40B4-BE49-F238E27FC236}">
                <a16:creationId xmlns:a16="http://schemas.microsoft.com/office/drawing/2014/main" id="{0C267357-3029-FF93-B96C-D707D4ABD54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1142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4AC10-FC2A-88C1-28BE-2B739E11B5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72396F-334B-8E13-A2B5-D9B9190DE79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82571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AAEE6-DF89-149D-EB76-0281C10CE7B6}"/>
              </a:ext>
            </a:extLst>
          </p:cNvPr>
          <p:cNvSpPr>
            <a:spLocks noGrp="1"/>
          </p:cNvSpPr>
          <p:nvPr>
            <p:ph type="title"/>
          </p:nvPr>
        </p:nvSpPr>
        <p:spPr/>
        <p:txBody>
          <a:bodyPr>
            <a:normAutofit fontScale="90000"/>
          </a:bodyPr>
          <a:lstStyle/>
          <a:p>
            <a:r>
              <a:rPr lang="en-US" dirty="0"/>
              <a:t>Use the dataset to visually investigate if the distribution of the height of centers (C) is greater than the distribution of the height of forwards (F).</a:t>
            </a:r>
          </a:p>
        </p:txBody>
      </p:sp>
      <p:sp>
        <p:nvSpPr>
          <p:cNvPr id="3" name="Text Placeholder 2">
            <a:extLst>
              <a:ext uri="{FF2B5EF4-FFF2-40B4-BE49-F238E27FC236}">
                <a16:creationId xmlns:a16="http://schemas.microsoft.com/office/drawing/2014/main" id="{1D003369-28F6-83F1-A8A5-1A9A83DCB0D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99071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626B-4EB3-7039-FE06-836B706ADD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6044175-9554-A3C4-0498-CB61F62CD07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30434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23C56-3CF7-E665-CC81-B5794343CF51}"/>
              </a:ext>
            </a:extLst>
          </p:cNvPr>
          <p:cNvSpPr>
            <a:spLocks noGrp="1"/>
          </p:cNvSpPr>
          <p:nvPr>
            <p:ph type="title"/>
          </p:nvPr>
        </p:nvSpPr>
        <p:spPr/>
        <p:txBody>
          <a:bodyPr>
            <a:normAutofit fontScale="90000"/>
          </a:bodyPr>
          <a:lstStyle/>
          <a:p>
            <a:r>
              <a:rPr lang="en-US" dirty="0"/>
              <a:t>Use the dataset to visually investigate if the distribution of height is different between </a:t>
            </a:r>
            <a:r>
              <a:rPr lang="en-US" i="1" dirty="0"/>
              <a:t>any </a:t>
            </a:r>
            <a:r>
              <a:rPr lang="en-US" dirty="0"/>
              <a:t>of the positions.</a:t>
            </a:r>
          </a:p>
        </p:txBody>
      </p:sp>
      <p:sp>
        <p:nvSpPr>
          <p:cNvPr id="3" name="Text Placeholder 2">
            <a:extLst>
              <a:ext uri="{FF2B5EF4-FFF2-40B4-BE49-F238E27FC236}">
                <a16:creationId xmlns:a16="http://schemas.microsoft.com/office/drawing/2014/main" id="{5BBC405A-8591-BA6F-4666-2EE0CFACEE4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59221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2A3F-3E98-DF55-C6EA-09D584FEFF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0DAA5B-9C41-B29C-0CA0-D76246A3592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16946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9DDD-0071-EC55-D735-1835EE6237E2}"/>
              </a:ext>
            </a:extLst>
          </p:cNvPr>
          <p:cNvSpPr>
            <a:spLocks noGrp="1"/>
          </p:cNvSpPr>
          <p:nvPr>
            <p:ph type="title"/>
          </p:nvPr>
        </p:nvSpPr>
        <p:spPr/>
        <p:txBody>
          <a:bodyPr>
            <a:normAutofit fontScale="90000"/>
          </a:bodyPr>
          <a:lstStyle/>
          <a:p>
            <a:r>
              <a:rPr lang="en-US" dirty="0"/>
              <a:t>Use the dataset to investigate how the player’s height is related to the player’s weight. How does height change as the weight changes?</a:t>
            </a:r>
          </a:p>
        </p:txBody>
      </p:sp>
      <p:sp>
        <p:nvSpPr>
          <p:cNvPr id="3" name="Text Placeholder 2">
            <a:extLst>
              <a:ext uri="{FF2B5EF4-FFF2-40B4-BE49-F238E27FC236}">
                <a16:creationId xmlns:a16="http://schemas.microsoft.com/office/drawing/2014/main" id="{B03818DC-0495-CA51-F42A-D4E1EA6A1C1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80422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46971-32A9-5296-F995-462837C0626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89551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0F22-36F3-C0C6-0960-FE53686440DD}"/>
              </a:ext>
            </a:extLst>
          </p:cNvPr>
          <p:cNvSpPr>
            <a:spLocks noGrp="1"/>
          </p:cNvSpPr>
          <p:nvPr>
            <p:ph type="title"/>
          </p:nvPr>
        </p:nvSpPr>
        <p:spPr/>
        <p:txBody>
          <a:bodyPr>
            <a:normAutofit fontScale="90000"/>
          </a:bodyPr>
          <a:lstStyle/>
          <a:p>
            <a:r>
              <a:rPr lang="en-US" dirty="0"/>
              <a:t>Is their any difference in the relationship between height and weight between positions?  Are height and weight related differently for different positions.</a:t>
            </a:r>
          </a:p>
        </p:txBody>
      </p:sp>
      <p:sp>
        <p:nvSpPr>
          <p:cNvPr id="3" name="Text Placeholder 2">
            <a:extLst>
              <a:ext uri="{FF2B5EF4-FFF2-40B4-BE49-F238E27FC236}">
                <a16:creationId xmlns:a16="http://schemas.microsoft.com/office/drawing/2014/main" id="{28AF8037-5A81-F986-1B8A-7BB0003ECDC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04947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CD728-7598-5DAD-26DB-B368BB2539B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62116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46D8E-31E3-BCF6-1B70-0C34F68C8399}"/>
              </a:ext>
            </a:extLst>
          </p:cNvPr>
          <p:cNvSpPr>
            <a:spLocks noGrp="1"/>
          </p:cNvSpPr>
          <p:nvPr>
            <p:ph type="title"/>
          </p:nvPr>
        </p:nvSpPr>
        <p:spPr/>
        <p:txBody>
          <a:bodyPr>
            <a:normAutofit fontScale="90000"/>
          </a:bodyPr>
          <a:lstStyle/>
          <a:p>
            <a:r>
              <a:rPr lang="en-US" dirty="0"/>
              <a:t>A historian would like to investigate the claim that the heights of players have increased over the years.  Analyze this claim graphically / visually.</a:t>
            </a:r>
          </a:p>
        </p:txBody>
      </p:sp>
      <p:sp>
        <p:nvSpPr>
          <p:cNvPr id="3" name="Text Placeholder 2">
            <a:extLst>
              <a:ext uri="{FF2B5EF4-FFF2-40B4-BE49-F238E27FC236}">
                <a16:creationId xmlns:a16="http://schemas.microsoft.com/office/drawing/2014/main" id="{2743FCB1-1894-A2C4-C7CC-6C620E5C2A0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84548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0C72B-C56A-DE96-3B15-90BD228D973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344247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89843-7680-DC6B-7247-610B38EC2999}"/>
              </a:ext>
            </a:extLst>
          </p:cNvPr>
          <p:cNvSpPr>
            <a:spLocks noGrp="1"/>
          </p:cNvSpPr>
          <p:nvPr>
            <p:ph type="title"/>
          </p:nvPr>
        </p:nvSpPr>
        <p:spPr/>
        <p:txBody>
          <a:bodyPr>
            <a:normAutofit/>
          </a:bodyPr>
          <a:lstStyle/>
          <a:p>
            <a:r>
              <a:rPr lang="en-US" dirty="0"/>
              <a:t>Create a 3D plot of height vs. weight vs. year and color code the points by position.</a:t>
            </a:r>
          </a:p>
        </p:txBody>
      </p:sp>
      <p:sp>
        <p:nvSpPr>
          <p:cNvPr id="3" name="Text Placeholder 2">
            <a:extLst>
              <a:ext uri="{FF2B5EF4-FFF2-40B4-BE49-F238E27FC236}">
                <a16:creationId xmlns:a16="http://schemas.microsoft.com/office/drawing/2014/main" id="{8604AC3D-0EA9-226B-5B99-3ED4095DED0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32645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20BC-C8A6-4BA0-58D8-04E1348B9606}"/>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23924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CB0A4-8A98-4814-D6EF-7D08435168E4}"/>
              </a:ext>
            </a:extLst>
          </p:cNvPr>
          <p:cNvSpPr>
            <a:spLocks noGrp="1"/>
          </p:cNvSpPr>
          <p:nvPr>
            <p:ph type="title"/>
          </p:nvPr>
        </p:nvSpPr>
        <p:spPr/>
        <p:txBody>
          <a:bodyPr>
            <a:noAutofit/>
          </a:bodyPr>
          <a:lstStyle/>
          <a:p>
            <a:r>
              <a:rPr lang="en-US" sz="4800" dirty="0"/>
              <a:t>Go to this website and use one of the 50 best plots to visualize some aspect of the data and provide at least one insight.  You will present your work in breakout! </a:t>
            </a:r>
            <a:r>
              <a:rPr lang="en-US" sz="4800" dirty="0">
                <a:hlinkClick r:id="rId2"/>
              </a:rPr>
              <a:t>http://r-statistics.co/Top50-Ggplot2-Visualizations-MasterList-R-Code.html</a:t>
            </a:r>
            <a:endParaRPr lang="en-US" sz="4800" dirty="0"/>
          </a:p>
        </p:txBody>
      </p:sp>
      <p:sp>
        <p:nvSpPr>
          <p:cNvPr id="3" name="Text Placeholder 2">
            <a:extLst>
              <a:ext uri="{FF2B5EF4-FFF2-40B4-BE49-F238E27FC236}">
                <a16:creationId xmlns:a16="http://schemas.microsoft.com/office/drawing/2014/main" id="{82EA4A20-4B05-3581-C313-BBA2BBB66AC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84826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043A5-979B-3B03-C7F1-8F0603A6F5F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831087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FA1FA-C722-263F-B54D-B11CDEC64D53}"/>
              </a:ext>
            </a:extLst>
          </p:cNvPr>
          <p:cNvSpPr>
            <a:spLocks noGrp="1"/>
          </p:cNvSpPr>
          <p:nvPr>
            <p:ph type="title"/>
          </p:nvPr>
        </p:nvSpPr>
        <p:spPr/>
        <p:txBody>
          <a:bodyPr/>
          <a:lstStyle/>
          <a:p>
            <a:r>
              <a:rPr lang="en-US" dirty="0"/>
              <a:t>Takeaways and Questions</a:t>
            </a:r>
          </a:p>
        </p:txBody>
      </p:sp>
    </p:spTree>
    <p:extLst>
      <p:ext uri="{BB962C8B-B14F-4D97-AF65-F5344CB8AC3E}">
        <p14:creationId xmlns:p14="http://schemas.microsoft.com/office/powerpoint/2010/main" val="1824888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365</Words>
  <Application>Microsoft Office PowerPoint</Application>
  <PresentationFormat>Widescreen</PresentationFormat>
  <Paragraphs>13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Unit  2 For Live Session Assignment </vt:lpstr>
      <vt:lpstr>Download into R Studio the PlayerBBall.csv dataset. This data set is every NBA basketball player from 1950 to present.  It contains their height, weight, position and the year they played (among other data.) (Position: F-Forward, C-Centers, F-C and C-F – Forward /Centers, G – Guards, F-G – Forward/Guards)  FYI: If you feel that these questions are open ended or at least a little vague, this is on purpose.  Answer the question as you understand it and make any assumptions you need to make to answer the question and record those assumptions. (3-5 hours)</vt:lpstr>
      <vt:lpstr>PowerPoint Presentation</vt:lpstr>
      <vt:lpstr>Use the PlayerBBall.csv dataset to visually represent (summarize) the number of players in each position.</vt:lpstr>
      <vt:lpstr>PowerPoint Presentation</vt:lpstr>
      <vt:lpstr>Use the dataset to visually investigate the distribution of the weight of centers (C) is greater than the distribution of the weight of forwards (F).</vt:lpstr>
      <vt:lpstr>PowerPoint Presentation</vt:lpstr>
      <vt:lpstr>Use the dataset to visually investigate if the distribution of the height of centers (C) is greater than the distribution of the height of forwards (F).</vt:lpstr>
      <vt:lpstr>PowerPoint Presentation</vt:lpstr>
      <vt:lpstr>Use the dataset to visually investigate if the distribution of height is different between any of the positions.</vt:lpstr>
      <vt:lpstr>PowerPoint Presentation</vt:lpstr>
      <vt:lpstr>Use the dataset to investigate how the player’s height is related to the player’s weight. How does height change as the weight changes?</vt:lpstr>
      <vt:lpstr>PowerPoint Presentation</vt:lpstr>
      <vt:lpstr>Is their any difference in the relationship between height and weight between positions?  Are height and weight related differently for different positions.</vt:lpstr>
      <vt:lpstr>PowerPoint Presentation</vt:lpstr>
      <vt:lpstr>A historian would like to investigate the claim that the heights of players have increased over the years.  Analyze this claim graphically / visually.</vt:lpstr>
      <vt:lpstr>PowerPoint Presentation</vt:lpstr>
      <vt:lpstr>Create a 3D plot of height vs. weight vs. year and color code the points by position.</vt:lpstr>
      <vt:lpstr>PowerPoint Presentation</vt:lpstr>
      <vt:lpstr>Go to this website and use one of the 50 best plots to visualize some aspect of the data and provide at least one insight.  You will present your work in breakout! http://r-statistics.co/Top50-Ggplot2-Visualizations-MasterList-R-Code.html</vt:lpstr>
      <vt:lpstr>PowerPoint Presentation</vt:lpstr>
      <vt:lpstr>Takeaways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7</cp:revision>
  <dcterms:created xsi:type="dcterms:W3CDTF">2026-01-23T01:05:28Z</dcterms:created>
  <dcterms:modified xsi:type="dcterms:W3CDTF">2026-01-23T02:27:46Z</dcterms:modified>
</cp:coreProperties>
</file>