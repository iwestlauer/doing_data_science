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68" r:id="rId3"/>
    <p:sldId id="269" r:id="rId4"/>
    <p:sldId id="270" r:id="rId5"/>
    <p:sldId id="278" r:id="rId6"/>
    <p:sldId id="271" r:id="rId7"/>
    <p:sldId id="279" r:id="rId8"/>
    <p:sldId id="280" r:id="rId9"/>
    <p:sldId id="272" r:id="rId10"/>
    <p:sldId id="273" r:id="rId11"/>
    <p:sldId id="274" r:id="rId12"/>
    <p:sldId id="275" r:id="rId13"/>
    <p:sldId id="276" r:id="rId14"/>
    <p:sldId id="27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B164C65-F91C-4883-A894-30A7DD52B25B}">
          <p14:sldIdLst>
            <p14:sldId id="256"/>
            <p14:sldId id="268"/>
            <p14:sldId id="269"/>
            <p14:sldId id="270"/>
            <p14:sldId id="278"/>
            <p14:sldId id="271"/>
            <p14:sldId id="279"/>
            <p14:sldId id="280"/>
            <p14:sldId id="272"/>
            <p14:sldId id="273"/>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0" d="100"/>
          <a:sy n="80" d="100"/>
        </p:scale>
        <p:origin x="948"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695DFB-DA12-417A-ABB9-527E670CCF3D}" type="datetimeFigureOut">
              <a:rPr lang="en-US" smtClean="0"/>
              <a:t>1/26/2026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91C2DA-F1BD-4D59-B843-77A045F87FD8}" type="slidenum">
              <a:rPr lang="en-US" smtClean="0"/>
              <a:t>‹#›</a:t>
            </a:fld>
            <a:endParaRPr lang="en-US"/>
          </a:p>
        </p:txBody>
      </p:sp>
    </p:spTree>
    <p:extLst>
      <p:ext uri="{BB962C8B-B14F-4D97-AF65-F5344CB8AC3E}">
        <p14:creationId xmlns:p14="http://schemas.microsoft.com/office/powerpoint/2010/main" val="1092411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r-statistics.co/Top50-Ggplot2-Visualizations-MasterList-R-Code.html"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Download into R Studio the PlayerBBall.csv dataset. This data set is every NBA basketball player from 1950 to present.  It contains their height, weight, position and the year they played (among other data.) (Position: F-Forward, C-Centers, F-C and C-F – Forward /Centers, G – Guards, F-G – Forward/Guards)  FYI: If you feel that these questions are open ended or at least a little vague, this is on purpose.  Answer the question as you understand it and make any assumptions you need to make to answer the question and record those assumptions. (3-5 hours)</a:t>
            </a:r>
            <a:endParaRPr lang="en-US" dirty="0"/>
          </a:p>
        </p:txBody>
      </p:sp>
      <p:sp>
        <p:nvSpPr>
          <p:cNvPr id="4" name="Slide Number Placeholder 3"/>
          <p:cNvSpPr>
            <a:spLocks noGrp="1"/>
          </p:cNvSpPr>
          <p:nvPr>
            <p:ph type="sldNum" sz="quarter" idx="5"/>
          </p:nvPr>
        </p:nvSpPr>
        <p:spPr/>
        <p:txBody>
          <a:bodyPr/>
          <a:lstStyle/>
          <a:p>
            <a:fld id="{B591C2DA-F1BD-4D59-B843-77A045F87FD8}" type="slidenum">
              <a:rPr lang="en-US" smtClean="0"/>
              <a:t>1</a:t>
            </a:fld>
            <a:endParaRPr lang="en-US"/>
          </a:p>
        </p:txBody>
      </p:sp>
    </p:spTree>
    <p:extLst>
      <p:ext uri="{BB962C8B-B14F-4D97-AF65-F5344CB8AC3E}">
        <p14:creationId xmlns:p14="http://schemas.microsoft.com/office/powerpoint/2010/main" val="2772455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PlayerBBall.csv dataset to visually represent (summarize) the number of players in each position.</a:t>
            </a:r>
          </a:p>
        </p:txBody>
      </p:sp>
      <p:sp>
        <p:nvSpPr>
          <p:cNvPr id="4" name="Slide Number Placeholder 3"/>
          <p:cNvSpPr>
            <a:spLocks noGrp="1"/>
          </p:cNvSpPr>
          <p:nvPr>
            <p:ph type="sldNum" sz="quarter" idx="5"/>
          </p:nvPr>
        </p:nvSpPr>
        <p:spPr/>
        <p:txBody>
          <a:bodyPr/>
          <a:lstStyle/>
          <a:p>
            <a:fld id="{B591C2DA-F1BD-4D59-B843-77A045F87FD8}" type="slidenum">
              <a:rPr lang="en-US" smtClean="0"/>
              <a:t>2</a:t>
            </a:fld>
            <a:endParaRPr lang="en-US"/>
          </a:p>
        </p:txBody>
      </p:sp>
    </p:spTree>
    <p:extLst>
      <p:ext uri="{BB962C8B-B14F-4D97-AF65-F5344CB8AC3E}">
        <p14:creationId xmlns:p14="http://schemas.microsoft.com/office/powerpoint/2010/main" val="20402588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dataset to visually investigate the distribution of the weight of centers (C) is greater than the distribution of the weight of forwards (F).</a:t>
            </a:r>
          </a:p>
        </p:txBody>
      </p:sp>
      <p:sp>
        <p:nvSpPr>
          <p:cNvPr id="4" name="Slide Number Placeholder 3"/>
          <p:cNvSpPr>
            <a:spLocks noGrp="1"/>
          </p:cNvSpPr>
          <p:nvPr>
            <p:ph type="sldNum" sz="quarter" idx="5"/>
          </p:nvPr>
        </p:nvSpPr>
        <p:spPr/>
        <p:txBody>
          <a:bodyPr/>
          <a:lstStyle/>
          <a:p>
            <a:fld id="{B591C2DA-F1BD-4D59-B843-77A045F87FD8}" type="slidenum">
              <a:rPr lang="en-US" smtClean="0"/>
              <a:t>3</a:t>
            </a:fld>
            <a:endParaRPr lang="en-US"/>
          </a:p>
        </p:txBody>
      </p:sp>
    </p:spTree>
    <p:extLst>
      <p:ext uri="{BB962C8B-B14F-4D97-AF65-F5344CB8AC3E}">
        <p14:creationId xmlns:p14="http://schemas.microsoft.com/office/powerpoint/2010/main" val="15117922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dataset to visually investigate if the distribution of the height of centers (C) is greater than the distribution of the height of forwards (F).</a:t>
            </a:r>
          </a:p>
        </p:txBody>
      </p:sp>
      <p:sp>
        <p:nvSpPr>
          <p:cNvPr id="4" name="Slide Number Placeholder 3"/>
          <p:cNvSpPr>
            <a:spLocks noGrp="1"/>
          </p:cNvSpPr>
          <p:nvPr>
            <p:ph type="sldNum" sz="quarter" idx="5"/>
          </p:nvPr>
        </p:nvSpPr>
        <p:spPr/>
        <p:txBody>
          <a:bodyPr/>
          <a:lstStyle/>
          <a:p>
            <a:fld id="{B591C2DA-F1BD-4D59-B843-77A045F87FD8}" type="slidenum">
              <a:rPr lang="en-US" smtClean="0"/>
              <a:t>4</a:t>
            </a:fld>
            <a:endParaRPr lang="en-US"/>
          </a:p>
        </p:txBody>
      </p:sp>
    </p:spTree>
    <p:extLst>
      <p:ext uri="{BB962C8B-B14F-4D97-AF65-F5344CB8AC3E}">
        <p14:creationId xmlns:p14="http://schemas.microsoft.com/office/powerpoint/2010/main" val="11838413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dataset to visually investigate if the distribution of height is different between </a:t>
            </a:r>
            <a:r>
              <a:rPr lang="en-US" i="1" dirty="0"/>
              <a:t>any </a:t>
            </a:r>
            <a:r>
              <a:rPr lang="en-US" dirty="0"/>
              <a:t>of the positions.</a:t>
            </a:r>
          </a:p>
        </p:txBody>
      </p:sp>
      <p:sp>
        <p:nvSpPr>
          <p:cNvPr id="4" name="Slide Number Placeholder 3"/>
          <p:cNvSpPr>
            <a:spLocks noGrp="1"/>
          </p:cNvSpPr>
          <p:nvPr>
            <p:ph type="sldNum" sz="quarter" idx="5"/>
          </p:nvPr>
        </p:nvSpPr>
        <p:spPr/>
        <p:txBody>
          <a:bodyPr/>
          <a:lstStyle/>
          <a:p>
            <a:fld id="{B591C2DA-F1BD-4D59-B843-77A045F87FD8}" type="slidenum">
              <a:rPr lang="en-US" smtClean="0"/>
              <a:t>7</a:t>
            </a:fld>
            <a:endParaRPr lang="en-US"/>
          </a:p>
        </p:txBody>
      </p:sp>
    </p:spTree>
    <p:extLst>
      <p:ext uri="{BB962C8B-B14F-4D97-AF65-F5344CB8AC3E}">
        <p14:creationId xmlns:p14="http://schemas.microsoft.com/office/powerpoint/2010/main" val="37596189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dataset to investigate how the player’s height is related to the player’s weight. How does height change as the weight changes?</a:t>
            </a:r>
          </a:p>
        </p:txBody>
      </p:sp>
      <p:sp>
        <p:nvSpPr>
          <p:cNvPr id="4" name="Slide Number Placeholder 3"/>
          <p:cNvSpPr>
            <a:spLocks noGrp="1"/>
          </p:cNvSpPr>
          <p:nvPr>
            <p:ph type="sldNum" sz="quarter" idx="5"/>
          </p:nvPr>
        </p:nvSpPr>
        <p:spPr/>
        <p:txBody>
          <a:bodyPr/>
          <a:lstStyle/>
          <a:p>
            <a:fld id="{B591C2DA-F1BD-4D59-B843-77A045F87FD8}" type="slidenum">
              <a:rPr lang="en-US" smtClean="0"/>
              <a:t>9</a:t>
            </a:fld>
            <a:endParaRPr lang="en-US"/>
          </a:p>
        </p:txBody>
      </p:sp>
    </p:spTree>
    <p:extLst>
      <p:ext uri="{BB962C8B-B14F-4D97-AF65-F5344CB8AC3E}">
        <p14:creationId xmlns:p14="http://schemas.microsoft.com/office/powerpoint/2010/main" val="21891295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their any difference in the relationship between height and weight between positions?  Are height and weight related differently for different positions.</a:t>
            </a:r>
          </a:p>
        </p:txBody>
      </p:sp>
      <p:sp>
        <p:nvSpPr>
          <p:cNvPr id="4" name="Slide Number Placeholder 3"/>
          <p:cNvSpPr>
            <a:spLocks noGrp="1"/>
          </p:cNvSpPr>
          <p:nvPr>
            <p:ph type="sldNum" sz="quarter" idx="5"/>
          </p:nvPr>
        </p:nvSpPr>
        <p:spPr/>
        <p:txBody>
          <a:bodyPr/>
          <a:lstStyle/>
          <a:p>
            <a:fld id="{B591C2DA-F1BD-4D59-B843-77A045F87FD8}" type="slidenum">
              <a:rPr lang="en-US" smtClean="0"/>
              <a:t>10</a:t>
            </a:fld>
            <a:endParaRPr lang="en-US"/>
          </a:p>
        </p:txBody>
      </p:sp>
    </p:spTree>
    <p:extLst>
      <p:ext uri="{BB962C8B-B14F-4D97-AF65-F5344CB8AC3E}">
        <p14:creationId xmlns:p14="http://schemas.microsoft.com/office/powerpoint/2010/main" val="24712068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historian would like to investigate the claim that the heights of players have increased over the years.  Analyze this claim graphically / visually.</a:t>
            </a:r>
          </a:p>
        </p:txBody>
      </p:sp>
      <p:sp>
        <p:nvSpPr>
          <p:cNvPr id="4" name="Slide Number Placeholder 3"/>
          <p:cNvSpPr>
            <a:spLocks noGrp="1"/>
          </p:cNvSpPr>
          <p:nvPr>
            <p:ph type="sldNum" sz="quarter" idx="5"/>
          </p:nvPr>
        </p:nvSpPr>
        <p:spPr/>
        <p:txBody>
          <a:bodyPr/>
          <a:lstStyle/>
          <a:p>
            <a:fld id="{B591C2DA-F1BD-4D59-B843-77A045F87FD8}" type="slidenum">
              <a:rPr lang="en-US" smtClean="0"/>
              <a:t>11</a:t>
            </a:fld>
            <a:endParaRPr lang="en-US"/>
          </a:p>
        </p:txBody>
      </p:sp>
    </p:spTree>
    <p:extLst>
      <p:ext uri="{BB962C8B-B14F-4D97-AF65-F5344CB8AC3E}">
        <p14:creationId xmlns:p14="http://schemas.microsoft.com/office/powerpoint/2010/main" val="1445092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3D plot of height vs. weight vs. year and color code the points by position.</a:t>
            </a:r>
          </a:p>
        </p:txBody>
      </p:sp>
      <p:sp>
        <p:nvSpPr>
          <p:cNvPr id="4" name="Slide Number Placeholder 3"/>
          <p:cNvSpPr>
            <a:spLocks noGrp="1"/>
          </p:cNvSpPr>
          <p:nvPr>
            <p:ph type="sldNum" sz="quarter" idx="5"/>
          </p:nvPr>
        </p:nvSpPr>
        <p:spPr/>
        <p:txBody>
          <a:bodyPr/>
          <a:lstStyle/>
          <a:p>
            <a:fld id="{B591C2DA-F1BD-4D59-B843-77A045F87FD8}" type="slidenum">
              <a:rPr lang="en-US" smtClean="0"/>
              <a:t>12</a:t>
            </a:fld>
            <a:endParaRPr lang="en-US"/>
          </a:p>
        </p:txBody>
      </p:sp>
    </p:spTree>
    <p:extLst>
      <p:ext uri="{BB962C8B-B14F-4D97-AF65-F5344CB8AC3E}">
        <p14:creationId xmlns:p14="http://schemas.microsoft.com/office/powerpoint/2010/main" val="1820595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Go to this website and use one of the 50 best plots to visualize some aspect of the data and provide at least one insight.  You will present your work in breakout! </a:t>
            </a:r>
            <a:r>
              <a:rPr lang="en-US" sz="1200" dirty="0">
                <a:hlinkClick r:id="rId3"/>
              </a:rPr>
              <a:t>http://r-statistics.co/Top50-Ggplot2-Visualizations-MasterList-R-Code.html</a:t>
            </a:r>
            <a:endParaRPr lang="en-US" dirty="0"/>
          </a:p>
        </p:txBody>
      </p:sp>
      <p:sp>
        <p:nvSpPr>
          <p:cNvPr id="4" name="Slide Number Placeholder 3"/>
          <p:cNvSpPr>
            <a:spLocks noGrp="1"/>
          </p:cNvSpPr>
          <p:nvPr>
            <p:ph type="sldNum" sz="quarter" idx="5"/>
          </p:nvPr>
        </p:nvSpPr>
        <p:spPr/>
        <p:txBody>
          <a:bodyPr/>
          <a:lstStyle/>
          <a:p>
            <a:fld id="{B591C2DA-F1BD-4D59-B843-77A045F87FD8}" type="slidenum">
              <a:rPr lang="en-US" smtClean="0"/>
              <a:t>13</a:t>
            </a:fld>
            <a:endParaRPr lang="en-US"/>
          </a:p>
        </p:txBody>
      </p:sp>
    </p:spTree>
    <p:extLst>
      <p:ext uri="{BB962C8B-B14F-4D97-AF65-F5344CB8AC3E}">
        <p14:creationId xmlns:p14="http://schemas.microsoft.com/office/powerpoint/2010/main" val="1394687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308E1-4487-CBD3-8273-AA924079527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639E384-471D-81DB-3CAC-585C068B42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17AF21-579D-05C6-696E-DF196E253FD3}"/>
              </a:ext>
            </a:extLst>
          </p:cNvPr>
          <p:cNvSpPr>
            <a:spLocks noGrp="1"/>
          </p:cNvSpPr>
          <p:nvPr>
            <p:ph type="dt" sz="half" idx="10"/>
          </p:nvPr>
        </p:nvSpPr>
        <p:spPr/>
        <p:txBody>
          <a:bodyPr/>
          <a:lstStyle/>
          <a:p>
            <a:fld id="{A095E84C-799E-434B-B555-A2CE91254D07}" type="datetimeFigureOut">
              <a:rPr lang="en-US" smtClean="0"/>
              <a:t>1/26/2026</a:t>
            </a:fld>
            <a:endParaRPr lang="en-US"/>
          </a:p>
        </p:txBody>
      </p:sp>
      <p:sp>
        <p:nvSpPr>
          <p:cNvPr id="5" name="Footer Placeholder 4">
            <a:extLst>
              <a:ext uri="{FF2B5EF4-FFF2-40B4-BE49-F238E27FC236}">
                <a16:creationId xmlns:a16="http://schemas.microsoft.com/office/drawing/2014/main" id="{ECE01432-4C35-4B32-DE7F-50844EB56F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377180-6C71-8EBF-1746-E7C25C5BB19A}"/>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2605335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03186-2B31-777D-2A51-C827E095E5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42BA81-D157-DD1C-4027-6B5FB3AC65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8F64A7-D23D-D2DF-E424-73A1D2C02F2B}"/>
              </a:ext>
            </a:extLst>
          </p:cNvPr>
          <p:cNvSpPr>
            <a:spLocks noGrp="1"/>
          </p:cNvSpPr>
          <p:nvPr>
            <p:ph type="dt" sz="half" idx="10"/>
          </p:nvPr>
        </p:nvSpPr>
        <p:spPr/>
        <p:txBody>
          <a:bodyPr/>
          <a:lstStyle/>
          <a:p>
            <a:fld id="{A095E84C-799E-434B-B555-A2CE91254D07}" type="datetimeFigureOut">
              <a:rPr lang="en-US" smtClean="0"/>
              <a:t>1/26/2026</a:t>
            </a:fld>
            <a:endParaRPr lang="en-US"/>
          </a:p>
        </p:txBody>
      </p:sp>
      <p:sp>
        <p:nvSpPr>
          <p:cNvPr id="5" name="Footer Placeholder 4">
            <a:extLst>
              <a:ext uri="{FF2B5EF4-FFF2-40B4-BE49-F238E27FC236}">
                <a16:creationId xmlns:a16="http://schemas.microsoft.com/office/drawing/2014/main" id="{A15919B2-98CA-F9C7-796C-0FE573B4E5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C1EB07-8F2E-69CC-980B-0AB76B935B0B}"/>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4038915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6ADA4-C327-CEF9-CED3-D308EE5D40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8DA563-2788-11E5-0455-BD523A4780E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78FC07-7B29-BCF2-58F0-61BF2720D938}"/>
              </a:ext>
            </a:extLst>
          </p:cNvPr>
          <p:cNvSpPr>
            <a:spLocks noGrp="1"/>
          </p:cNvSpPr>
          <p:nvPr>
            <p:ph type="dt" sz="half" idx="10"/>
          </p:nvPr>
        </p:nvSpPr>
        <p:spPr/>
        <p:txBody>
          <a:bodyPr/>
          <a:lstStyle/>
          <a:p>
            <a:fld id="{A095E84C-799E-434B-B555-A2CE91254D07}" type="datetimeFigureOut">
              <a:rPr lang="en-US" smtClean="0"/>
              <a:t>1/26/2026</a:t>
            </a:fld>
            <a:endParaRPr lang="en-US"/>
          </a:p>
        </p:txBody>
      </p:sp>
      <p:sp>
        <p:nvSpPr>
          <p:cNvPr id="5" name="Footer Placeholder 4">
            <a:extLst>
              <a:ext uri="{FF2B5EF4-FFF2-40B4-BE49-F238E27FC236}">
                <a16:creationId xmlns:a16="http://schemas.microsoft.com/office/drawing/2014/main" id="{9236A549-E42A-C3B5-B30F-133D483F86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A0B446-ED95-FB7E-B183-8FFEDBB5A787}"/>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1140884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E3CE-7F4B-6C85-7B7C-900C84146D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96F095-E1EA-7DAA-1E4D-0FAE1150B6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8710F1-834F-C4E4-5D8E-EF0F71EBF7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02F9F2F-75DD-759C-B002-695EC992957E}"/>
              </a:ext>
            </a:extLst>
          </p:cNvPr>
          <p:cNvSpPr>
            <a:spLocks noGrp="1"/>
          </p:cNvSpPr>
          <p:nvPr>
            <p:ph type="dt" sz="half" idx="10"/>
          </p:nvPr>
        </p:nvSpPr>
        <p:spPr/>
        <p:txBody>
          <a:bodyPr/>
          <a:lstStyle/>
          <a:p>
            <a:fld id="{A095E84C-799E-434B-B555-A2CE91254D07}" type="datetimeFigureOut">
              <a:rPr lang="en-US" smtClean="0"/>
              <a:t>1/26/2026</a:t>
            </a:fld>
            <a:endParaRPr lang="en-US"/>
          </a:p>
        </p:txBody>
      </p:sp>
      <p:sp>
        <p:nvSpPr>
          <p:cNvPr id="6" name="Footer Placeholder 5">
            <a:extLst>
              <a:ext uri="{FF2B5EF4-FFF2-40B4-BE49-F238E27FC236}">
                <a16:creationId xmlns:a16="http://schemas.microsoft.com/office/drawing/2014/main" id="{CC0D5E17-E843-6522-94EF-25EBF682EB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038B0B-4B88-D60D-CD96-14D70EDE005A}"/>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3720775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D6FA0-A6AD-047B-1F15-1717E6B231F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3BFA40C-3AE5-39FC-5308-381D77840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942D25-99D3-E218-530A-1F48DB05E6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CC40B0-8675-DF1C-6E63-8E6A2DCAA8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65A5EB-F73F-43D8-A169-4367541CF2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E81735-6BDF-9FAF-CA63-3BB68D81414D}"/>
              </a:ext>
            </a:extLst>
          </p:cNvPr>
          <p:cNvSpPr>
            <a:spLocks noGrp="1"/>
          </p:cNvSpPr>
          <p:nvPr>
            <p:ph type="dt" sz="half" idx="10"/>
          </p:nvPr>
        </p:nvSpPr>
        <p:spPr/>
        <p:txBody>
          <a:bodyPr/>
          <a:lstStyle/>
          <a:p>
            <a:fld id="{A095E84C-799E-434B-B555-A2CE91254D07}" type="datetimeFigureOut">
              <a:rPr lang="en-US" smtClean="0"/>
              <a:t>1/26/2026</a:t>
            </a:fld>
            <a:endParaRPr lang="en-US"/>
          </a:p>
        </p:txBody>
      </p:sp>
      <p:sp>
        <p:nvSpPr>
          <p:cNvPr id="8" name="Footer Placeholder 7">
            <a:extLst>
              <a:ext uri="{FF2B5EF4-FFF2-40B4-BE49-F238E27FC236}">
                <a16:creationId xmlns:a16="http://schemas.microsoft.com/office/drawing/2014/main" id="{AC872F2E-7795-E7B4-B761-DFBC816340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14CDA64-D9E2-74B7-D6A0-C68020296B08}"/>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3119085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2995E-55CA-B927-1FF1-5BE5501341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DC5299-4998-A183-44F8-76E4DE39CA96}"/>
              </a:ext>
            </a:extLst>
          </p:cNvPr>
          <p:cNvSpPr>
            <a:spLocks noGrp="1"/>
          </p:cNvSpPr>
          <p:nvPr>
            <p:ph type="dt" sz="half" idx="10"/>
          </p:nvPr>
        </p:nvSpPr>
        <p:spPr/>
        <p:txBody>
          <a:bodyPr/>
          <a:lstStyle/>
          <a:p>
            <a:fld id="{A095E84C-799E-434B-B555-A2CE91254D07}" type="datetimeFigureOut">
              <a:rPr lang="en-US" smtClean="0"/>
              <a:t>1/26/2026</a:t>
            </a:fld>
            <a:endParaRPr lang="en-US"/>
          </a:p>
        </p:txBody>
      </p:sp>
      <p:sp>
        <p:nvSpPr>
          <p:cNvPr id="4" name="Footer Placeholder 3">
            <a:extLst>
              <a:ext uri="{FF2B5EF4-FFF2-40B4-BE49-F238E27FC236}">
                <a16:creationId xmlns:a16="http://schemas.microsoft.com/office/drawing/2014/main" id="{23EA15D3-33F7-CF6F-F2CF-6C55DAB575A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80BC562-E8A2-36B0-7FCA-710B49ADB420}"/>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4258964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6E3E9D-394F-138E-3034-50978BEF8EE4}"/>
              </a:ext>
            </a:extLst>
          </p:cNvPr>
          <p:cNvSpPr>
            <a:spLocks noGrp="1"/>
          </p:cNvSpPr>
          <p:nvPr>
            <p:ph type="dt" sz="half" idx="10"/>
          </p:nvPr>
        </p:nvSpPr>
        <p:spPr/>
        <p:txBody>
          <a:bodyPr/>
          <a:lstStyle/>
          <a:p>
            <a:fld id="{A095E84C-799E-434B-B555-A2CE91254D07}" type="datetimeFigureOut">
              <a:rPr lang="en-US" smtClean="0"/>
              <a:t>1/26/2026</a:t>
            </a:fld>
            <a:endParaRPr lang="en-US"/>
          </a:p>
        </p:txBody>
      </p:sp>
      <p:sp>
        <p:nvSpPr>
          <p:cNvPr id="3" name="Footer Placeholder 2">
            <a:extLst>
              <a:ext uri="{FF2B5EF4-FFF2-40B4-BE49-F238E27FC236}">
                <a16:creationId xmlns:a16="http://schemas.microsoft.com/office/drawing/2014/main" id="{738DF2E2-5EBA-FBE3-4EC2-362AD1FF8A2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380CB4-8FAB-23F4-CD87-4847D621A63C}"/>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1344319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50F4B-D679-4806-E5B9-C87407D77B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D087B31-9883-397A-5CC6-4688044DC7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7C128C-516F-A2BA-4A75-8C11F0A4D9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D7966B-2A53-BA3F-2FA8-9852555D800C}"/>
              </a:ext>
            </a:extLst>
          </p:cNvPr>
          <p:cNvSpPr>
            <a:spLocks noGrp="1"/>
          </p:cNvSpPr>
          <p:nvPr>
            <p:ph type="dt" sz="half" idx="10"/>
          </p:nvPr>
        </p:nvSpPr>
        <p:spPr/>
        <p:txBody>
          <a:bodyPr/>
          <a:lstStyle/>
          <a:p>
            <a:fld id="{A095E84C-799E-434B-B555-A2CE91254D07}" type="datetimeFigureOut">
              <a:rPr lang="en-US" smtClean="0"/>
              <a:t>1/26/2026</a:t>
            </a:fld>
            <a:endParaRPr lang="en-US"/>
          </a:p>
        </p:txBody>
      </p:sp>
      <p:sp>
        <p:nvSpPr>
          <p:cNvPr id="6" name="Footer Placeholder 5">
            <a:extLst>
              <a:ext uri="{FF2B5EF4-FFF2-40B4-BE49-F238E27FC236}">
                <a16:creationId xmlns:a16="http://schemas.microsoft.com/office/drawing/2014/main" id="{998A9909-6A54-AA30-06A2-9F060B2DDF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EB308E-F54D-6910-F906-1280170EB587}"/>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3927077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EE04F-B783-28B2-D43C-501226190C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F80EC0-86ED-D2CB-7C8E-9424373F2A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FB90542-E046-D6A5-EC55-09663DD846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D56EB7-A784-558B-B63C-B1626C893D86}"/>
              </a:ext>
            </a:extLst>
          </p:cNvPr>
          <p:cNvSpPr>
            <a:spLocks noGrp="1"/>
          </p:cNvSpPr>
          <p:nvPr>
            <p:ph type="dt" sz="half" idx="10"/>
          </p:nvPr>
        </p:nvSpPr>
        <p:spPr/>
        <p:txBody>
          <a:bodyPr/>
          <a:lstStyle/>
          <a:p>
            <a:fld id="{A095E84C-799E-434B-B555-A2CE91254D07}" type="datetimeFigureOut">
              <a:rPr lang="en-US" smtClean="0"/>
              <a:t>1/26/2026</a:t>
            </a:fld>
            <a:endParaRPr lang="en-US"/>
          </a:p>
        </p:txBody>
      </p:sp>
      <p:sp>
        <p:nvSpPr>
          <p:cNvPr id="6" name="Footer Placeholder 5">
            <a:extLst>
              <a:ext uri="{FF2B5EF4-FFF2-40B4-BE49-F238E27FC236}">
                <a16:creationId xmlns:a16="http://schemas.microsoft.com/office/drawing/2014/main" id="{9B7197DC-60BC-865E-B2A4-F9D051F2C8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2A1B62-8D8D-6F5D-5203-3AB5177036CE}"/>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3247925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1963A-1AC8-540F-A4F8-84983BD9F6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F7C2F5B-2AE0-8C9D-1884-B27B07E2AD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C76CAB-F7FC-1D04-90E2-8C936FC8C72E}"/>
              </a:ext>
            </a:extLst>
          </p:cNvPr>
          <p:cNvSpPr>
            <a:spLocks noGrp="1"/>
          </p:cNvSpPr>
          <p:nvPr>
            <p:ph type="dt" sz="half" idx="10"/>
          </p:nvPr>
        </p:nvSpPr>
        <p:spPr/>
        <p:txBody>
          <a:bodyPr/>
          <a:lstStyle/>
          <a:p>
            <a:fld id="{A095E84C-799E-434B-B555-A2CE91254D07}" type="datetimeFigureOut">
              <a:rPr lang="en-US" smtClean="0"/>
              <a:t>1/26/2026</a:t>
            </a:fld>
            <a:endParaRPr lang="en-US"/>
          </a:p>
        </p:txBody>
      </p:sp>
      <p:sp>
        <p:nvSpPr>
          <p:cNvPr id="5" name="Footer Placeholder 4">
            <a:extLst>
              <a:ext uri="{FF2B5EF4-FFF2-40B4-BE49-F238E27FC236}">
                <a16:creationId xmlns:a16="http://schemas.microsoft.com/office/drawing/2014/main" id="{AE3CF53C-93EB-03F8-680F-5923D6C168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28CA3C-B0B1-8680-C180-DBD9FF19D3D3}"/>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774372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834398-6BAE-A05C-3C0F-133E3D7104F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06DF5D-53A3-2411-FA1E-ABC16C270F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94B064-1F56-3165-08CC-E2D4086C80EB}"/>
              </a:ext>
            </a:extLst>
          </p:cNvPr>
          <p:cNvSpPr>
            <a:spLocks noGrp="1"/>
          </p:cNvSpPr>
          <p:nvPr>
            <p:ph type="dt" sz="half" idx="10"/>
          </p:nvPr>
        </p:nvSpPr>
        <p:spPr/>
        <p:txBody>
          <a:bodyPr/>
          <a:lstStyle/>
          <a:p>
            <a:fld id="{A095E84C-799E-434B-B555-A2CE91254D07}" type="datetimeFigureOut">
              <a:rPr lang="en-US" smtClean="0"/>
              <a:t>1/26/2026</a:t>
            </a:fld>
            <a:endParaRPr lang="en-US"/>
          </a:p>
        </p:txBody>
      </p:sp>
      <p:sp>
        <p:nvSpPr>
          <p:cNvPr id="5" name="Footer Placeholder 4">
            <a:extLst>
              <a:ext uri="{FF2B5EF4-FFF2-40B4-BE49-F238E27FC236}">
                <a16:creationId xmlns:a16="http://schemas.microsoft.com/office/drawing/2014/main" id="{9DA3E57F-B3C9-3F4E-765F-CEA04B84AF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BBCBD3-DD10-22B1-99C8-86C02B6C80D8}"/>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1164278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596CD0-2B46-8B9D-F2A1-D843A6D083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C9E834-A0CE-4A1D-D2BA-B8D3A1EFE7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D539A5-42B7-50EA-D013-1914F482E2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95E84C-799E-434B-B555-A2CE91254D07}" type="datetimeFigureOut">
              <a:rPr lang="en-US" smtClean="0"/>
              <a:t>1/26/2026</a:t>
            </a:fld>
            <a:endParaRPr lang="en-US"/>
          </a:p>
        </p:txBody>
      </p:sp>
      <p:sp>
        <p:nvSpPr>
          <p:cNvPr id="5" name="Footer Placeholder 4">
            <a:extLst>
              <a:ext uri="{FF2B5EF4-FFF2-40B4-BE49-F238E27FC236}">
                <a16:creationId xmlns:a16="http://schemas.microsoft.com/office/drawing/2014/main" id="{36CCD56E-5957-AD9F-7F83-D432AB4A4A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D761CFA-3AD2-14EE-2F5D-06968474C8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BAB500F-868A-4BEF-936A-CD95339AAD41}" type="slidenum">
              <a:rPr lang="en-US" smtClean="0"/>
              <a:t>‹#›</a:t>
            </a:fld>
            <a:endParaRPr lang="en-US"/>
          </a:p>
        </p:txBody>
      </p:sp>
    </p:spTree>
    <p:extLst>
      <p:ext uri="{BB962C8B-B14F-4D97-AF65-F5344CB8AC3E}">
        <p14:creationId xmlns:p14="http://schemas.microsoft.com/office/powerpoint/2010/main" val="8104228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C74E2-B062-D8FA-236A-6245A0DE1EE7}"/>
              </a:ext>
            </a:extLst>
          </p:cNvPr>
          <p:cNvSpPr>
            <a:spLocks noGrp="1"/>
          </p:cNvSpPr>
          <p:nvPr>
            <p:ph type="ctrTitle"/>
          </p:nvPr>
        </p:nvSpPr>
        <p:spPr/>
        <p:txBody>
          <a:bodyPr/>
          <a:lstStyle/>
          <a:p>
            <a:r>
              <a:rPr lang="en-US" dirty="0"/>
              <a:t>Unit  2 For Live Session Assignment	</a:t>
            </a:r>
          </a:p>
        </p:txBody>
      </p:sp>
      <p:sp>
        <p:nvSpPr>
          <p:cNvPr id="3" name="Subtitle 2">
            <a:extLst>
              <a:ext uri="{FF2B5EF4-FFF2-40B4-BE49-F238E27FC236}">
                <a16:creationId xmlns:a16="http://schemas.microsoft.com/office/drawing/2014/main" id="{0849C751-F9E3-A2B9-AF7E-8CE9B5298F13}"/>
              </a:ext>
            </a:extLst>
          </p:cNvPr>
          <p:cNvSpPr>
            <a:spLocks noGrp="1"/>
          </p:cNvSpPr>
          <p:nvPr>
            <p:ph type="subTitle" idx="1"/>
          </p:nvPr>
        </p:nvSpPr>
        <p:spPr/>
        <p:txBody>
          <a:bodyPr/>
          <a:lstStyle/>
          <a:p>
            <a:r>
              <a:rPr lang="en-US" dirty="0"/>
              <a:t>Isabella Westlauer</a:t>
            </a:r>
          </a:p>
          <a:p>
            <a:r>
              <a:rPr lang="en-US"/>
              <a:t>1/26/2026</a:t>
            </a:r>
            <a:endParaRPr lang="en-US" dirty="0"/>
          </a:p>
        </p:txBody>
      </p:sp>
    </p:spTree>
    <p:extLst>
      <p:ext uri="{BB962C8B-B14F-4D97-AF65-F5344CB8AC3E}">
        <p14:creationId xmlns:p14="http://schemas.microsoft.com/office/powerpoint/2010/main" val="3032043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B2948BF-89DA-B54C-42BE-AFAD6D83647F}"/>
              </a:ext>
            </a:extLst>
          </p:cNvPr>
          <p:cNvPicPr>
            <a:picLocks noChangeAspect="1"/>
          </p:cNvPicPr>
          <p:nvPr/>
        </p:nvPicPr>
        <p:blipFill>
          <a:blip r:embed="rId3"/>
          <a:srcRect b="86468"/>
          <a:stretch>
            <a:fillRect/>
          </a:stretch>
        </p:blipFill>
        <p:spPr>
          <a:xfrm>
            <a:off x="2352543" y="728286"/>
            <a:ext cx="7135221" cy="730940"/>
          </a:xfrm>
          <a:prstGeom prst="rect">
            <a:avLst/>
          </a:prstGeom>
        </p:spPr>
      </p:pic>
      <p:pic>
        <p:nvPicPr>
          <p:cNvPr id="8" name="Picture 7">
            <a:extLst>
              <a:ext uri="{FF2B5EF4-FFF2-40B4-BE49-F238E27FC236}">
                <a16:creationId xmlns:a16="http://schemas.microsoft.com/office/drawing/2014/main" id="{2E317755-CBD8-2304-95B0-661EA3D1E1D7}"/>
              </a:ext>
            </a:extLst>
          </p:cNvPr>
          <p:cNvPicPr>
            <a:picLocks noChangeAspect="1"/>
          </p:cNvPicPr>
          <p:nvPr/>
        </p:nvPicPr>
        <p:blipFill>
          <a:blip r:embed="rId4"/>
          <a:stretch>
            <a:fillRect/>
          </a:stretch>
        </p:blipFill>
        <p:spPr>
          <a:xfrm>
            <a:off x="2514490" y="1611625"/>
            <a:ext cx="6811326" cy="4267796"/>
          </a:xfrm>
          <a:prstGeom prst="rect">
            <a:avLst/>
          </a:prstGeom>
        </p:spPr>
      </p:pic>
    </p:spTree>
    <p:extLst>
      <p:ext uri="{BB962C8B-B14F-4D97-AF65-F5344CB8AC3E}">
        <p14:creationId xmlns:p14="http://schemas.microsoft.com/office/powerpoint/2010/main" val="2965440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4AC10-FC2A-88C1-28BE-2B739E11B5D2}"/>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8DC66573-A1B9-948E-98EA-F9E622B53D91}"/>
              </a:ext>
            </a:extLst>
          </p:cNvPr>
          <p:cNvPicPr>
            <a:picLocks noChangeAspect="1"/>
          </p:cNvPicPr>
          <p:nvPr/>
        </p:nvPicPr>
        <p:blipFill>
          <a:blip r:embed="rId3"/>
          <a:stretch>
            <a:fillRect/>
          </a:stretch>
        </p:blipFill>
        <p:spPr>
          <a:xfrm>
            <a:off x="63741" y="0"/>
            <a:ext cx="6032259" cy="6858000"/>
          </a:xfrm>
          <a:prstGeom prst="rect">
            <a:avLst/>
          </a:prstGeom>
        </p:spPr>
      </p:pic>
      <p:pic>
        <p:nvPicPr>
          <p:cNvPr id="10" name="Picture 9">
            <a:extLst>
              <a:ext uri="{FF2B5EF4-FFF2-40B4-BE49-F238E27FC236}">
                <a16:creationId xmlns:a16="http://schemas.microsoft.com/office/drawing/2014/main" id="{6F429844-EED3-719D-C522-902066D50717}"/>
              </a:ext>
            </a:extLst>
          </p:cNvPr>
          <p:cNvPicPr>
            <a:picLocks noChangeAspect="1"/>
          </p:cNvPicPr>
          <p:nvPr/>
        </p:nvPicPr>
        <p:blipFill>
          <a:blip r:embed="rId4"/>
          <a:stretch>
            <a:fillRect/>
          </a:stretch>
        </p:blipFill>
        <p:spPr>
          <a:xfrm>
            <a:off x="5883373" y="0"/>
            <a:ext cx="6308627" cy="6858000"/>
          </a:xfrm>
          <a:prstGeom prst="rect">
            <a:avLst/>
          </a:prstGeom>
        </p:spPr>
      </p:pic>
    </p:spTree>
    <p:extLst>
      <p:ext uri="{BB962C8B-B14F-4D97-AF65-F5344CB8AC3E}">
        <p14:creationId xmlns:p14="http://schemas.microsoft.com/office/powerpoint/2010/main" val="2825713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2626B-4EB3-7039-FE06-836B706ADDE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668001E-68F5-88A6-68DF-E806D814FCA5}"/>
              </a:ext>
            </a:extLst>
          </p:cNvPr>
          <p:cNvPicPr>
            <a:picLocks noChangeAspect="1"/>
          </p:cNvPicPr>
          <p:nvPr/>
        </p:nvPicPr>
        <p:blipFill>
          <a:blip r:embed="rId3"/>
          <a:stretch>
            <a:fillRect/>
          </a:stretch>
        </p:blipFill>
        <p:spPr>
          <a:xfrm>
            <a:off x="1277815" y="1284087"/>
            <a:ext cx="4818185" cy="5550774"/>
          </a:xfrm>
          <a:prstGeom prst="rect">
            <a:avLst/>
          </a:prstGeom>
        </p:spPr>
      </p:pic>
      <p:pic>
        <p:nvPicPr>
          <p:cNvPr id="9" name="Picture 8">
            <a:extLst>
              <a:ext uri="{FF2B5EF4-FFF2-40B4-BE49-F238E27FC236}">
                <a16:creationId xmlns:a16="http://schemas.microsoft.com/office/drawing/2014/main" id="{60FBAE4C-E8CF-F6D6-562C-ABCEEBB44DAF}"/>
              </a:ext>
            </a:extLst>
          </p:cNvPr>
          <p:cNvPicPr>
            <a:picLocks noChangeAspect="1"/>
          </p:cNvPicPr>
          <p:nvPr/>
        </p:nvPicPr>
        <p:blipFill>
          <a:blip r:embed="rId4"/>
          <a:stretch>
            <a:fillRect/>
          </a:stretch>
        </p:blipFill>
        <p:spPr>
          <a:xfrm>
            <a:off x="6095999" y="1307226"/>
            <a:ext cx="4818185" cy="5504496"/>
          </a:xfrm>
          <a:prstGeom prst="rect">
            <a:avLst/>
          </a:prstGeom>
        </p:spPr>
      </p:pic>
    </p:spTree>
    <p:extLst>
      <p:ext uri="{BB962C8B-B14F-4D97-AF65-F5344CB8AC3E}">
        <p14:creationId xmlns:p14="http://schemas.microsoft.com/office/powerpoint/2010/main" val="2304346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45123F-4838-4134-E4F2-7885B3621950}"/>
              </a:ext>
            </a:extLst>
          </p:cNvPr>
          <p:cNvPicPr>
            <a:picLocks noChangeAspect="1"/>
          </p:cNvPicPr>
          <p:nvPr/>
        </p:nvPicPr>
        <p:blipFill>
          <a:blip r:embed="rId2"/>
          <a:stretch>
            <a:fillRect/>
          </a:stretch>
        </p:blipFill>
        <p:spPr>
          <a:xfrm>
            <a:off x="690597" y="2095587"/>
            <a:ext cx="10810806" cy="2666825"/>
          </a:xfrm>
          <a:prstGeom prst="rect">
            <a:avLst/>
          </a:prstGeom>
        </p:spPr>
      </p:pic>
    </p:spTree>
    <p:extLst>
      <p:ext uri="{BB962C8B-B14F-4D97-AF65-F5344CB8AC3E}">
        <p14:creationId xmlns:p14="http://schemas.microsoft.com/office/powerpoint/2010/main" val="873717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B2A3F-3E98-DF55-C6EA-09D584FEFF7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C8D9154-0048-B4F9-16A6-3E5CA8BD09E4}"/>
              </a:ext>
            </a:extLst>
          </p:cNvPr>
          <p:cNvPicPr>
            <a:picLocks noChangeAspect="1"/>
          </p:cNvPicPr>
          <p:nvPr/>
        </p:nvPicPr>
        <p:blipFill>
          <a:blip r:embed="rId2"/>
          <a:stretch>
            <a:fillRect/>
          </a:stretch>
        </p:blipFill>
        <p:spPr>
          <a:xfrm>
            <a:off x="88703" y="1428471"/>
            <a:ext cx="4582164" cy="4001058"/>
          </a:xfrm>
          <a:prstGeom prst="rect">
            <a:avLst/>
          </a:prstGeom>
        </p:spPr>
      </p:pic>
      <p:pic>
        <p:nvPicPr>
          <p:cNvPr id="7" name="Picture 6">
            <a:extLst>
              <a:ext uri="{FF2B5EF4-FFF2-40B4-BE49-F238E27FC236}">
                <a16:creationId xmlns:a16="http://schemas.microsoft.com/office/drawing/2014/main" id="{1C488AEE-1B15-C584-A5C9-FFAE2B5C4F44}"/>
              </a:ext>
            </a:extLst>
          </p:cNvPr>
          <p:cNvPicPr>
            <a:picLocks noChangeAspect="1"/>
          </p:cNvPicPr>
          <p:nvPr/>
        </p:nvPicPr>
        <p:blipFill>
          <a:blip r:embed="rId3"/>
          <a:stretch>
            <a:fillRect/>
          </a:stretch>
        </p:blipFill>
        <p:spPr>
          <a:xfrm>
            <a:off x="5458483" y="1147444"/>
            <a:ext cx="6315956" cy="4563112"/>
          </a:xfrm>
          <a:prstGeom prst="rect">
            <a:avLst/>
          </a:prstGeom>
        </p:spPr>
      </p:pic>
    </p:spTree>
    <p:extLst>
      <p:ext uri="{BB962C8B-B14F-4D97-AF65-F5344CB8AC3E}">
        <p14:creationId xmlns:p14="http://schemas.microsoft.com/office/powerpoint/2010/main" val="20169463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83C941B-F477-BF77-9BAF-9A6F0B361966}"/>
              </a:ext>
            </a:extLst>
          </p:cNvPr>
          <p:cNvPicPr>
            <a:picLocks noChangeAspect="1"/>
          </p:cNvPicPr>
          <p:nvPr/>
        </p:nvPicPr>
        <p:blipFill>
          <a:blip r:embed="rId3"/>
          <a:stretch>
            <a:fillRect/>
          </a:stretch>
        </p:blipFill>
        <p:spPr>
          <a:xfrm>
            <a:off x="2790363" y="185285"/>
            <a:ext cx="6611273" cy="6487430"/>
          </a:xfrm>
          <a:prstGeom prst="rect">
            <a:avLst/>
          </a:prstGeom>
        </p:spPr>
      </p:pic>
    </p:spTree>
    <p:extLst>
      <p:ext uri="{BB962C8B-B14F-4D97-AF65-F5344CB8AC3E}">
        <p14:creationId xmlns:p14="http://schemas.microsoft.com/office/powerpoint/2010/main" val="3553000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DD4381-997C-036E-A2FD-4BE776FD5C83}"/>
              </a:ext>
            </a:extLst>
          </p:cNvPr>
          <p:cNvPicPr>
            <a:picLocks noChangeAspect="1"/>
          </p:cNvPicPr>
          <p:nvPr/>
        </p:nvPicPr>
        <p:blipFill>
          <a:blip r:embed="rId2"/>
          <a:stretch>
            <a:fillRect/>
          </a:stretch>
        </p:blipFill>
        <p:spPr>
          <a:xfrm>
            <a:off x="5685517" y="1109339"/>
            <a:ext cx="6506483" cy="4639322"/>
          </a:xfrm>
          <a:prstGeom prst="rect">
            <a:avLst/>
          </a:prstGeom>
        </p:spPr>
      </p:pic>
      <p:pic>
        <p:nvPicPr>
          <p:cNvPr id="5" name="Picture 4">
            <a:extLst>
              <a:ext uri="{FF2B5EF4-FFF2-40B4-BE49-F238E27FC236}">
                <a16:creationId xmlns:a16="http://schemas.microsoft.com/office/drawing/2014/main" id="{5F19A338-28C8-33E9-6F95-485E7B0D4F3C}"/>
              </a:ext>
            </a:extLst>
          </p:cNvPr>
          <p:cNvPicPr>
            <a:picLocks noChangeAspect="1"/>
          </p:cNvPicPr>
          <p:nvPr/>
        </p:nvPicPr>
        <p:blipFill>
          <a:blip r:embed="rId3"/>
          <a:stretch>
            <a:fillRect/>
          </a:stretch>
        </p:blipFill>
        <p:spPr>
          <a:xfrm>
            <a:off x="0" y="452022"/>
            <a:ext cx="5820587" cy="5953956"/>
          </a:xfrm>
          <a:prstGeom prst="rect">
            <a:avLst/>
          </a:prstGeom>
        </p:spPr>
      </p:pic>
    </p:spTree>
    <p:extLst>
      <p:ext uri="{BB962C8B-B14F-4D97-AF65-F5344CB8AC3E}">
        <p14:creationId xmlns:p14="http://schemas.microsoft.com/office/powerpoint/2010/main" val="1584995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B7F0E65-FA81-13AC-1881-59C65DF2CACF}"/>
              </a:ext>
            </a:extLst>
          </p:cNvPr>
          <p:cNvPicPr>
            <a:picLocks noChangeAspect="1"/>
          </p:cNvPicPr>
          <p:nvPr/>
        </p:nvPicPr>
        <p:blipFill>
          <a:blip r:embed="rId3"/>
          <a:stretch>
            <a:fillRect/>
          </a:stretch>
        </p:blipFill>
        <p:spPr>
          <a:xfrm>
            <a:off x="2230244" y="0"/>
            <a:ext cx="7731512" cy="6858000"/>
          </a:xfrm>
          <a:prstGeom prst="rect">
            <a:avLst/>
          </a:prstGeom>
        </p:spPr>
      </p:pic>
    </p:spTree>
    <p:extLst>
      <p:ext uri="{BB962C8B-B14F-4D97-AF65-F5344CB8AC3E}">
        <p14:creationId xmlns:p14="http://schemas.microsoft.com/office/powerpoint/2010/main" val="89551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392273D-FD59-CD29-858C-E8EF9E0F796C}"/>
              </a:ext>
            </a:extLst>
          </p:cNvPr>
          <p:cNvPicPr>
            <a:picLocks noChangeAspect="1"/>
          </p:cNvPicPr>
          <p:nvPr/>
        </p:nvPicPr>
        <p:blipFill>
          <a:blip r:embed="rId3"/>
          <a:stretch>
            <a:fillRect/>
          </a:stretch>
        </p:blipFill>
        <p:spPr>
          <a:xfrm>
            <a:off x="465939" y="383460"/>
            <a:ext cx="5630061" cy="1495634"/>
          </a:xfrm>
          <a:prstGeom prst="rect">
            <a:avLst/>
          </a:prstGeom>
        </p:spPr>
      </p:pic>
      <p:pic>
        <p:nvPicPr>
          <p:cNvPr id="6" name="Picture 5">
            <a:extLst>
              <a:ext uri="{FF2B5EF4-FFF2-40B4-BE49-F238E27FC236}">
                <a16:creationId xmlns:a16="http://schemas.microsoft.com/office/drawing/2014/main" id="{CE8F9093-49AF-39F8-8277-C829D4761C4B}"/>
              </a:ext>
            </a:extLst>
          </p:cNvPr>
          <p:cNvPicPr>
            <a:picLocks noChangeAspect="1"/>
          </p:cNvPicPr>
          <p:nvPr/>
        </p:nvPicPr>
        <p:blipFill>
          <a:blip r:embed="rId4"/>
          <a:stretch>
            <a:fillRect/>
          </a:stretch>
        </p:blipFill>
        <p:spPr>
          <a:xfrm>
            <a:off x="305440" y="2031493"/>
            <a:ext cx="6563641" cy="4582164"/>
          </a:xfrm>
          <a:prstGeom prst="rect">
            <a:avLst/>
          </a:prstGeom>
        </p:spPr>
      </p:pic>
      <p:pic>
        <p:nvPicPr>
          <p:cNvPr id="3" name="Picture 2">
            <a:extLst>
              <a:ext uri="{FF2B5EF4-FFF2-40B4-BE49-F238E27FC236}">
                <a16:creationId xmlns:a16="http://schemas.microsoft.com/office/drawing/2014/main" id="{70445D4C-4D47-8629-DF24-E596C4457EA5}"/>
              </a:ext>
            </a:extLst>
          </p:cNvPr>
          <p:cNvPicPr>
            <a:picLocks noChangeAspect="1"/>
          </p:cNvPicPr>
          <p:nvPr/>
        </p:nvPicPr>
        <p:blipFill>
          <a:blip r:embed="rId5"/>
          <a:stretch>
            <a:fillRect/>
          </a:stretch>
        </p:blipFill>
        <p:spPr>
          <a:xfrm>
            <a:off x="6161236" y="772655"/>
            <a:ext cx="5725324" cy="1800476"/>
          </a:xfrm>
          <a:prstGeom prst="rect">
            <a:avLst/>
          </a:prstGeom>
        </p:spPr>
      </p:pic>
      <p:pic>
        <p:nvPicPr>
          <p:cNvPr id="7" name="Picture 6">
            <a:extLst>
              <a:ext uri="{FF2B5EF4-FFF2-40B4-BE49-F238E27FC236}">
                <a16:creationId xmlns:a16="http://schemas.microsoft.com/office/drawing/2014/main" id="{7D247A11-6A41-1C79-0931-CB1F201BC074}"/>
              </a:ext>
            </a:extLst>
          </p:cNvPr>
          <p:cNvPicPr>
            <a:picLocks noChangeAspect="1"/>
          </p:cNvPicPr>
          <p:nvPr/>
        </p:nvPicPr>
        <p:blipFill>
          <a:blip r:embed="rId6"/>
          <a:stretch>
            <a:fillRect/>
          </a:stretch>
        </p:blipFill>
        <p:spPr>
          <a:xfrm>
            <a:off x="6096000" y="2649330"/>
            <a:ext cx="5725324" cy="3964327"/>
          </a:xfrm>
          <a:prstGeom prst="rect">
            <a:avLst/>
          </a:prstGeom>
        </p:spPr>
      </p:pic>
      <p:sp>
        <p:nvSpPr>
          <p:cNvPr id="8" name="TextBox 7">
            <a:extLst>
              <a:ext uri="{FF2B5EF4-FFF2-40B4-BE49-F238E27FC236}">
                <a16:creationId xmlns:a16="http://schemas.microsoft.com/office/drawing/2014/main" id="{36081247-D337-28E1-ABD1-82DDC602ABEA}"/>
              </a:ext>
            </a:extLst>
          </p:cNvPr>
          <p:cNvSpPr txBox="1"/>
          <p:nvPr/>
        </p:nvSpPr>
        <p:spPr>
          <a:xfrm>
            <a:off x="6260123" y="126324"/>
            <a:ext cx="5626437" cy="646331"/>
          </a:xfrm>
          <a:prstGeom prst="rect">
            <a:avLst/>
          </a:prstGeom>
          <a:noFill/>
          <a:ln>
            <a:solidFill>
              <a:schemeClr val="tx1"/>
            </a:solidFill>
          </a:ln>
        </p:spPr>
        <p:txBody>
          <a:bodyPr wrap="square" rtlCol="0">
            <a:spAutoFit/>
          </a:bodyPr>
          <a:lstStyle/>
          <a:p>
            <a:r>
              <a:rPr lang="en-US" dirty="0"/>
              <a:t>Based on these plots, the relationship between height and weight does not seem to vary between positions.</a:t>
            </a:r>
          </a:p>
        </p:txBody>
      </p:sp>
    </p:spTree>
    <p:extLst>
      <p:ext uri="{BB962C8B-B14F-4D97-AF65-F5344CB8AC3E}">
        <p14:creationId xmlns:p14="http://schemas.microsoft.com/office/powerpoint/2010/main" val="2162116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5752C8-EEF0-5F45-E86A-65914070EB2B}"/>
              </a:ext>
            </a:extLst>
          </p:cNvPr>
          <p:cNvPicPr>
            <a:picLocks noChangeAspect="1"/>
          </p:cNvPicPr>
          <p:nvPr/>
        </p:nvPicPr>
        <p:blipFill>
          <a:blip r:embed="rId3"/>
          <a:stretch>
            <a:fillRect/>
          </a:stretch>
        </p:blipFill>
        <p:spPr>
          <a:xfrm>
            <a:off x="65833" y="671127"/>
            <a:ext cx="6030167" cy="5515745"/>
          </a:xfrm>
          <a:prstGeom prst="rect">
            <a:avLst/>
          </a:prstGeom>
        </p:spPr>
      </p:pic>
      <p:pic>
        <p:nvPicPr>
          <p:cNvPr id="6" name="Picture 5">
            <a:extLst>
              <a:ext uri="{FF2B5EF4-FFF2-40B4-BE49-F238E27FC236}">
                <a16:creationId xmlns:a16="http://schemas.microsoft.com/office/drawing/2014/main" id="{F872338E-F87E-58E0-D189-66E020E29AF1}"/>
              </a:ext>
            </a:extLst>
          </p:cNvPr>
          <p:cNvPicPr>
            <a:picLocks noChangeAspect="1"/>
          </p:cNvPicPr>
          <p:nvPr/>
        </p:nvPicPr>
        <p:blipFill>
          <a:blip r:embed="rId4"/>
          <a:stretch>
            <a:fillRect/>
          </a:stretch>
        </p:blipFill>
        <p:spPr>
          <a:xfrm>
            <a:off x="6096000" y="1443161"/>
            <a:ext cx="6030167" cy="3971676"/>
          </a:xfrm>
          <a:prstGeom prst="rect">
            <a:avLst/>
          </a:prstGeom>
        </p:spPr>
      </p:pic>
      <p:sp>
        <p:nvSpPr>
          <p:cNvPr id="7" name="TextBox 6">
            <a:extLst>
              <a:ext uri="{FF2B5EF4-FFF2-40B4-BE49-F238E27FC236}">
                <a16:creationId xmlns:a16="http://schemas.microsoft.com/office/drawing/2014/main" id="{6C4B2D1C-7778-53B8-10C4-4111AD14DC9E}"/>
              </a:ext>
            </a:extLst>
          </p:cNvPr>
          <p:cNvSpPr txBox="1"/>
          <p:nvPr/>
        </p:nvSpPr>
        <p:spPr>
          <a:xfrm>
            <a:off x="6271846" y="5477689"/>
            <a:ext cx="5627077" cy="646331"/>
          </a:xfrm>
          <a:prstGeom prst="rect">
            <a:avLst/>
          </a:prstGeom>
          <a:noFill/>
        </p:spPr>
        <p:txBody>
          <a:bodyPr wrap="square" rtlCol="0">
            <a:spAutoFit/>
          </a:bodyPr>
          <a:lstStyle/>
          <a:p>
            <a:r>
              <a:rPr lang="en-US" dirty="0"/>
              <a:t>It looks like the height increase started to level out. What’s up with that?</a:t>
            </a:r>
          </a:p>
        </p:txBody>
      </p:sp>
    </p:spTree>
    <p:extLst>
      <p:ext uri="{BB962C8B-B14F-4D97-AF65-F5344CB8AC3E}">
        <p14:creationId xmlns:p14="http://schemas.microsoft.com/office/powerpoint/2010/main" val="434424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9640FDB-3636-7A9B-FE57-91417F2B6E0E}"/>
              </a:ext>
            </a:extLst>
          </p:cNvPr>
          <p:cNvPicPr>
            <a:picLocks noChangeAspect="1"/>
          </p:cNvPicPr>
          <p:nvPr/>
        </p:nvPicPr>
        <p:blipFill>
          <a:blip r:embed="rId3"/>
          <a:stretch>
            <a:fillRect/>
          </a:stretch>
        </p:blipFill>
        <p:spPr>
          <a:xfrm>
            <a:off x="0" y="0"/>
            <a:ext cx="6897063" cy="6735115"/>
          </a:xfrm>
          <a:prstGeom prst="rect">
            <a:avLst/>
          </a:prstGeom>
        </p:spPr>
      </p:pic>
      <p:pic>
        <p:nvPicPr>
          <p:cNvPr id="6" name="Picture 5">
            <a:extLst>
              <a:ext uri="{FF2B5EF4-FFF2-40B4-BE49-F238E27FC236}">
                <a16:creationId xmlns:a16="http://schemas.microsoft.com/office/drawing/2014/main" id="{16440A94-C578-8942-0A7E-FD6EEDC5D7A2}"/>
              </a:ext>
            </a:extLst>
          </p:cNvPr>
          <p:cNvPicPr>
            <a:picLocks noChangeAspect="1"/>
          </p:cNvPicPr>
          <p:nvPr/>
        </p:nvPicPr>
        <p:blipFill>
          <a:blip r:embed="rId4"/>
          <a:stretch>
            <a:fillRect/>
          </a:stretch>
        </p:blipFill>
        <p:spPr>
          <a:xfrm>
            <a:off x="7050505" y="1939325"/>
            <a:ext cx="5141495" cy="3533758"/>
          </a:xfrm>
          <a:prstGeom prst="rect">
            <a:avLst/>
          </a:prstGeom>
        </p:spPr>
      </p:pic>
      <p:sp>
        <p:nvSpPr>
          <p:cNvPr id="7" name="TextBox 6">
            <a:extLst>
              <a:ext uri="{FF2B5EF4-FFF2-40B4-BE49-F238E27FC236}">
                <a16:creationId xmlns:a16="http://schemas.microsoft.com/office/drawing/2014/main" id="{4B103115-5EC8-9AB4-43B8-122355042346}"/>
              </a:ext>
            </a:extLst>
          </p:cNvPr>
          <p:cNvSpPr txBox="1"/>
          <p:nvPr/>
        </p:nvSpPr>
        <p:spPr>
          <a:xfrm>
            <a:off x="7832558" y="5618747"/>
            <a:ext cx="3850105" cy="369332"/>
          </a:xfrm>
          <a:prstGeom prst="rect">
            <a:avLst/>
          </a:prstGeom>
          <a:noFill/>
        </p:spPr>
        <p:txBody>
          <a:bodyPr wrap="square" rtlCol="0">
            <a:spAutoFit/>
          </a:bodyPr>
          <a:lstStyle/>
          <a:p>
            <a:r>
              <a:rPr lang="en-US" dirty="0" err="1"/>
              <a:t>ggplotly</a:t>
            </a:r>
            <a:r>
              <a:rPr lang="en-US" dirty="0"/>
              <a:t>(p) inspecting outliers</a:t>
            </a:r>
          </a:p>
        </p:txBody>
      </p:sp>
    </p:spTree>
    <p:extLst>
      <p:ext uri="{BB962C8B-B14F-4D97-AF65-F5344CB8AC3E}">
        <p14:creationId xmlns:p14="http://schemas.microsoft.com/office/powerpoint/2010/main" val="723924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22B32D3-FAD5-4A4E-AA93-85E64BEC9447}"/>
              </a:ext>
            </a:extLst>
          </p:cNvPr>
          <p:cNvPicPr>
            <a:picLocks noChangeAspect="1"/>
          </p:cNvPicPr>
          <p:nvPr/>
        </p:nvPicPr>
        <p:blipFill>
          <a:blip r:embed="rId3"/>
          <a:stretch>
            <a:fillRect/>
          </a:stretch>
        </p:blipFill>
        <p:spPr>
          <a:xfrm>
            <a:off x="0" y="895520"/>
            <a:ext cx="6552696" cy="5066960"/>
          </a:xfrm>
          <a:prstGeom prst="rect">
            <a:avLst/>
          </a:prstGeom>
        </p:spPr>
      </p:pic>
      <p:sp>
        <p:nvSpPr>
          <p:cNvPr id="5" name="TextBox 4">
            <a:extLst>
              <a:ext uri="{FF2B5EF4-FFF2-40B4-BE49-F238E27FC236}">
                <a16:creationId xmlns:a16="http://schemas.microsoft.com/office/drawing/2014/main" id="{BECE5536-C37B-89D9-638A-5BFFBDC3B75B}"/>
              </a:ext>
            </a:extLst>
          </p:cNvPr>
          <p:cNvSpPr txBox="1"/>
          <p:nvPr/>
        </p:nvSpPr>
        <p:spPr>
          <a:xfrm>
            <a:off x="7303476" y="1822377"/>
            <a:ext cx="4489939" cy="3416320"/>
          </a:xfrm>
          <a:prstGeom prst="rect">
            <a:avLst/>
          </a:prstGeom>
          <a:noFill/>
        </p:spPr>
        <p:txBody>
          <a:bodyPr wrap="square" rtlCol="0">
            <a:spAutoFit/>
          </a:bodyPr>
          <a:lstStyle/>
          <a:p>
            <a:pPr marL="285750" indent="-285750">
              <a:buFont typeface="Arial" panose="020B0604020202020204" pitchFamily="34" charset="0"/>
              <a:buChar char="•"/>
            </a:pPr>
            <a:r>
              <a:rPr lang="en-US" sz="2000" dirty="0"/>
              <a:t>Classic visualization</a:t>
            </a:r>
          </a:p>
          <a:p>
            <a:pPr marL="285750" indent="-285750">
              <a:buFont typeface="Arial" panose="020B0604020202020204" pitchFamily="34" charset="0"/>
              <a:buChar char="•"/>
            </a:pPr>
            <a:r>
              <a:rPr lang="en-US" sz="2000" dirty="0"/>
              <a:t>Can be hard to read</a:t>
            </a:r>
          </a:p>
          <a:p>
            <a:pPr marL="285750" indent="-285750">
              <a:buFont typeface="Arial" panose="020B0604020202020204" pitchFamily="34" charset="0"/>
              <a:buChar char="•"/>
            </a:pPr>
            <a:r>
              <a:rPr lang="en-US" sz="2000" dirty="0"/>
              <a:t>Do not use with many categories</a:t>
            </a:r>
          </a:p>
          <a:p>
            <a:pPr marL="285750" indent="-285750">
              <a:buFont typeface="Arial" panose="020B0604020202020204" pitchFamily="34" charset="0"/>
              <a:buChar char="•"/>
            </a:pPr>
            <a:r>
              <a:rPr lang="en-US" sz="2000" dirty="0"/>
              <a:t>Color contrast should be immediately clear</a:t>
            </a:r>
            <a:endParaRPr lang="en-US" sz="2000" i="1" dirty="0"/>
          </a:p>
          <a:p>
            <a:endParaRPr lang="en-US" i="1" dirty="0"/>
          </a:p>
          <a:p>
            <a:r>
              <a:rPr lang="en-US" sz="1400" i="1" dirty="0"/>
              <a:t>The pie chart is classic, but some people find it hard to read because it requires you to distinguish between different hues, which can be difficult. </a:t>
            </a:r>
          </a:p>
          <a:p>
            <a:endParaRPr lang="en-US" sz="1400" i="1" dirty="0"/>
          </a:p>
          <a:p>
            <a:r>
              <a:rPr lang="en-US" sz="1400" i="1" dirty="0"/>
              <a:t>Therefore, it works better when the colors contrast more, but if there are many different categories it becomes harder to select sufficiently contrasting colors.</a:t>
            </a:r>
          </a:p>
        </p:txBody>
      </p:sp>
    </p:spTree>
    <p:extLst>
      <p:ext uri="{BB962C8B-B14F-4D97-AF65-F5344CB8AC3E}">
        <p14:creationId xmlns:p14="http://schemas.microsoft.com/office/powerpoint/2010/main" val="1831087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FA1FA-C722-263F-B54D-B11CDEC64D53}"/>
              </a:ext>
            </a:extLst>
          </p:cNvPr>
          <p:cNvSpPr>
            <a:spLocks noGrp="1"/>
          </p:cNvSpPr>
          <p:nvPr>
            <p:ph type="title"/>
          </p:nvPr>
        </p:nvSpPr>
        <p:spPr/>
        <p:txBody>
          <a:bodyPr/>
          <a:lstStyle/>
          <a:p>
            <a:r>
              <a:rPr lang="en-US" dirty="0"/>
              <a:t>Takeaways and Questions</a:t>
            </a:r>
          </a:p>
        </p:txBody>
      </p:sp>
      <p:sp>
        <p:nvSpPr>
          <p:cNvPr id="3" name="TextBox 2">
            <a:extLst>
              <a:ext uri="{FF2B5EF4-FFF2-40B4-BE49-F238E27FC236}">
                <a16:creationId xmlns:a16="http://schemas.microsoft.com/office/drawing/2014/main" id="{B2056608-8FC6-D16A-4BB6-337053D05156}"/>
              </a:ext>
            </a:extLst>
          </p:cNvPr>
          <p:cNvSpPr txBox="1"/>
          <p:nvPr/>
        </p:nvSpPr>
        <p:spPr>
          <a:xfrm>
            <a:off x="926122" y="1690688"/>
            <a:ext cx="10427677" cy="4247317"/>
          </a:xfrm>
          <a:prstGeom prst="rect">
            <a:avLst/>
          </a:prstGeom>
          <a:noFill/>
        </p:spPr>
        <p:txBody>
          <a:bodyPr wrap="square" rtlCol="0">
            <a:spAutoFit/>
          </a:bodyPr>
          <a:lstStyle/>
          <a:p>
            <a:r>
              <a:rPr lang="en-US" dirty="0"/>
              <a:t>Inspect the data first. Look at the summary of the data and notice the min, max, mean. Think about the data types and whether they should be converted for better analysis.</a:t>
            </a:r>
          </a:p>
          <a:p>
            <a:endParaRPr lang="en-US" dirty="0"/>
          </a:p>
          <a:p>
            <a:r>
              <a:rPr lang="en-US" dirty="0"/>
              <a:t>What’s a good way to compare distributions? Other than simply noticing where they’re centered.</a:t>
            </a:r>
          </a:p>
          <a:p>
            <a:endParaRPr lang="en-US" dirty="0"/>
          </a:p>
          <a:p>
            <a:r>
              <a:rPr lang="en-US" dirty="0"/>
              <a:t>Layering density plots of height distribution was easier and looked better than trying to layer histograms of weight distribution.</a:t>
            </a:r>
          </a:p>
          <a:p>
            <a:endParaRPr lang="en-US" dirty="0"/>
          </a:p>
          <a:p>
            <a:r>
              <a:rPr lang="en-US" dirty="0"/>
              <a:t>Maybe putting labels on the lines in the density plot could be easier to read than trying to match the color to the legend. How to do that? Maybe add </a:t>
            </a:r>
            <a:r>
              <a:rPr lang="en-US" dirty="0" err="1"/>
              <a:t>geom_text</a:t>
            </a:r>
            <a:r>
              <a:rPr lang="en-US" dirty="0"/>
              <a:t>(), or just apply </a:t>
            </a:r>
            <a:r>
              <a:rPr lang="en-US" dirty="0" err="1"/>
              <a:t>ggplotly</a:t>
            </a:r>
            <a:r>
              <a:rPr lang="en-US" dirty="0"/>
              <a:t>.</a:t>
            </a:r>
          </a:p>
          <a:p>
            <a:endParaRPr lang="en-US" dirty="0"/>
          </a:p>
          <a:p>
            <a:r>
              <a:rPr lang="en-US" dirty="0"/>
              <a:t>Does the distribution of player heights by year look like it’s starting to level out in the late 1960s?</a:t>
            </a:r>
          </a:p>
          <a:p>
            <a:endParaRPr lang="en-US" dirty="0"/>
          </a:p>
          <a:p>
            <a:endParaRPr lang="en-US" dirty="0"/>
          </a:p>
          <a:p>
            <a:endParaRPr lang="en-US" dirty="0"/>
          </a:p>
        </p:txBody>
      </p:sp>
    </p:spTree>
    <p:extLst>
      <p:ext uri="{BB962C8B-B14F-4D97-AF65-F5344CB8AC3E}">
        <p14:creationId xmlns:p14="http://schemas.microsoft.com/office/powerpoint/2010/main" val="18248882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462</TotalTime>
  <Words>625</Words>
  <Application>Microsoft Office PowerPoint</Application>
  <PresentationFormat>Widescreen</PresentationFormat>
  <Paragraphs>45</Paragraphs>
  <Slides>14</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Unit  2 For Live Session Assignment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Takeaways and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Westlauer, Isabella</dc:creator>
  <cp:lastModifiedBy>Westlauer, Isabella</cp:lastModifiedBy>
  <cp:revision>26</cp:revision>
  <dcterms:created xsi:type="dcterms:W3CDTF">2026-01-23T01:05:28Z</dcterms:created>
  <dcterms:modified xsi:type="dcterms:W3CDTF">2026-01-26T21:42:41Z</dcterms:modified>
</cp:coreProperties>
</file>